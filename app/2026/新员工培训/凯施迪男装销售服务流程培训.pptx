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35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86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5" r:id="rId32"/>
    <p:sldId id="283" r:id="rId33"/>
    <p:sldId id="284" r:id="rId34"/>
  </p:sldIdLst>
  <p:sldSz cx="12192000" cy="6858000"/>
  <p:notesSz cx="6858000" cy="12192000"/>
  <p:embeddedFontLst>
    <p:embeddedFont>
      <p:font typeface="MiSans" pitchFamily="34" charset="-122"/>
      <p:regular r:id="rId40"/>
    </p:embeddedFont>
    <p:embeddedFont>
      <p:font typeface="MiSans" pitchFamily="34" charset="-120"/>
      <p:regular r:id="rId41"/>
    </p:embeddedFont>
    <p:embeddedFont>
      <p:font typeface="Calibri" panose="020F0502020204030204" charset="0"/>
      <p:regular r:id="rId42"/>
      <p:bold r:id="rId43"/>
      <p:italic r:id="rId44"/>
      <p:boldItalic r:id="rId45"/>
    </p:embeddedFont>
    <p:embeddedFont>
      <p:font typeface="微软雅黑" panose="020B0503020204020204" charset="-122"/>
      <p:regular r:id="rId46"/>
    </p:embeddedFont>
    <p:embeddedFont>
      <p:font typeface="等线" panose="02010600030101010101" charset="-122"/>
      <p:regular r:id="rId47"/>
    </p:embeddedFont>
    <p:embeddedFont>
      <p:font typeface="Verdana" panose="020B0604030504040204"/>
      <p:regular r:id="rId48"/>
      <p:bold r:id="rId49"/>
      <p:italic r:id="rId50"/>
      <p:boldItalic r:id="rId5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font" Target="fonts/font12.fntdata"/><Relationship Id="rId50" Type="http://schemas.openxmlformats.org/officeDocument/2006/relationships/font" Target="fonts/font11.fntdata"/><Relationship Id="rId5" Type="http://schemas.openxmlformats.org/officeDocument/2006/relationships/slide" Target="slides/slide2.xml"/><Relationship Id="rId49" Type="http://schemas.openxmlformats.org/officeDocument/2006/relationships/font" Target="fonts/font10.fntdata"/><Relationship Id="rId48" Type="http://schemas.openxmlformats.org/officeDocument/2006/relationships/font" Target="fonts/font9.fntdata"/><Relationship Id="rId47" Type="http://schemas.openxmlformats.org/officeDocument/2006/relationships/font" Target="fonts/font8.fntdata"/><Relationship Id="rId46" Type="http://schemas.openxmlformats.org/officeDocument/2006/relationships/font" Target="fonts/font7.fntdata"/><Relationship Id="rId45" Type="http://schemas.openxmlformats.org/officeDocument/2006/relationships/font" Target="fonts/font6.fntdata"/><Relationship Id="rId44" Type="http://schemas.openxmlformats.org/officeDocument/2006/relationships/font" Target="fonts/font5.fntdata"/><Relationship Id="rId43" Type="http://schemas.openxmlformats.org/officeDocument/2006/relationships/font" Target="fonts/font4.fntdata"/><Relationship Id="rId42" Type="http://schemas.openxmlformats.org/officeDocument/2006/relationships/font" Target="fonts/font3.fntdata"/><Relationship Id="rId41" Type="http://schemas.openxmlformats.org/officeDocument/2006/relationships/font" Target="fonts/font2.fntdata"/><Relationship Id="rId40" Type="http://schemas.openxmlformats.org/officeDocument/2006/relationships/font" Target="fonts/font1.fntdata"/><Relationship Id="rId4" Type="http://schemas.openxmlformats.org/officeDocument/2006/relationships/notesMaster" Target="notesMasters/notesMaster1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3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6897584D-8746-4D72-BA3A-5A81C8B546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fld id="{F68D6209-B3DA-41BE-87E3-CC78C50620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p>
            <a:endParaRPr lang="zh-CN" altLang="en-US"/>
          </a:p>
        </p:txBody>
      </p:sp>
      <p:sp>
        <p:nvSpPr>
          <p:cNvPr id="104859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44341BB1-40C4-4700-B8C2-D06FA29C9A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0">
    <p:random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mens_sales_cover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381000" y="1520230"/>
            <a:ext cx="556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MENSWEAR SALES EXCELLENCE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1901230"/>
            <a:ext cx="5829300" cy="1647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凯施迪男装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销售服务流程培训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377567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381000" y="4118570"/>
            <a:ext cx="5600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销售八步曲 · 打造绅士购物体验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8805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7A5A">
              <a:alpha val="2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514350" y="501392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6789"/>
                </a:moveTo>
                <a:cubicBezTo>
                  <a:pt x="0" y="21878"/>
                  <a:pt x="3981" y="17859"/>
                  <a:pt x="8930" y="17859"/>
                </a:cubicBezTo>
                <a:lnTo>
                  <a:pt x="26789" y="17859"/>
                </a:lnTo>
                <a:cubicBezTo>
                  <a:pt x="31738" y="17859"/>
                  <a:pt x="35719" y="21841"/>
                  <a:pt x="35719" y="26789"/>
                </a:cubicBezTo>
                <a:lnTo>
                  <a:pt x="35719" y="65484"/>
                </a:lnTo>
                <a:lnTo>
                  <a:pt x="44648" y="65484"/>
                </a:lnTo>
                <a:cubicBezTo>
                  <a:pt x="49597" y="65484"/>
                  <a:pt x="53578" y="69466"/>
                  <a:pt x="53578" y="74414"/>
                </a:cubicBezTo>
                <a:cubicBezTo>
                  <a:pt x="53578" y="79363"/>
                  <a:pt x="49597" y="83344"/>
                  <a:pt x="44648" y="83344"/>
                </a:cubicBezTo>
                <a:lnTo>
                  <a:pt x="8930" y="83344"/>
                </a:lnTo>
                <a:cubicBezTo>
                  <a:pt x="3981" y="83344"/>
                  <a:pt x="0" y="79363"/>
                  <a:pt x="0" y="74414"/>
                </a:cubicBezTo>
                <a:cubicBezTo>
                  <a:pt x="0" y="69466"/>
                  <a:pt x="3981" y="65484"/>
                  <a:pt x="8930" y="65484"/>
                </a:cubicBezTo>
                <a:lnTo>
                  <a:pt x="17859" y="65484"/>
                </a:lnTo>
                <a:lnTo>
                  <a:pt x="17859" y="35719"/>
                </a:lnTo>
                <a:lnTo>
                  <a:pt x="8930" y="35719"/>
                </a:lnTo>
                <a:cubicBezTo>
                  <a:pt x="3981" y="35719"/>
                  <a:pt x="0" y="31738"/>
                  <a:pt x="0" y="26789"/>
                </a:cubicBezTo>
                <a:close/>
                <a:moveTo>
                  <a:pt x="11311" y="112068"/>
                </a:moveTo>
                <a:cubicBezTo>
                  <a:pt x="15553" y="108868"/>
                  <a:pt x="20724" y="107156"/>
                  <a:pt x="26045" y="107156"/>
                </a:cubicBezTo>
                <a:lnTo>
                  <a:pt x="27868" y="107156"/>
                </a:lnTo>
                <a:cubicBezTo>
                  <a:pt x="40407" y="107156"/>
                  <a:pt x="50602" y="117351"/>
                  <a:pt x="50602" y="129890"/>
                </a:cubicBezTo>
                <a:cubicBezTo>
                  <a:pt x="50602" y="137182"/>
                  <a:pt x="47104" y="143991"/>
                  <a:pt x="41225" y="148270"/>
                </a:cubicBezTo>
                <a:lnTo>
                  <a:pt x="32296" y="154781"/>
                </a:lnTo>
                <a:lnTo>
                  <a:pt x="44648" y="154781"/>
                </a:lnTo>
                <a:cubicBezTo>
                  <a:pt x="49597" y="154781"/>
                  <a:pt x="53578" y="158762"/>
                  <a:pt x="53578" y="163711"/>
                </a:cubicBezTo>
                <a:cubicBezTo>
                  <a:pt x="53578" y="168659"/>
                  <a:pt x="49597" y="172641"/>
                  <a:pt x="44648" y="172641"/>
                </a:cubicBezTo>
                <a:lnTo>
                  <a:pt x="10902" y="172641"/>
                </a:lnTo>
                <a:cubicBezTo>
                  <a:pt x="4874" y="172641"/>
                  <a:pt x="0" y="167767"/>
                  <a:pt x="0" y="161739"/>
                </a:cubicBezTo>
                <a:cubicBezTo>
                  <a:pt x="0" y="158242"/>
                  <a:pt x="1674" y="154967"/>
                  <a:pt x="4502" y="152921"/>
                </a:cubicBezTo>
                <a:lnTo>
                  <a:pt x="30733" y="133834"/>
                </a:lnTo>
                <a:cubicBezTo>
                  <a:pt x="31998" y="132904"/>
                  <a:pt x="32742" y="131452"/>
                  <a:pt x="32742" y="129890"/>
                </a:cubicBezTo>
                <a:cubicBezTo>
                  <a:pt x="32742" y="127211"/>
                  <a:pt x="30547" y="125016"/>
                  <a:pt x="27868" y="125016"/>
                </a:cubicBezTo>
                <a:lnTo>
                  <a:pt x="26045" y="125016"/>
                </a:lnTo>
                <a:cubicBezTo>
                  <a:pt x="24594" y="125016"/>
                  <a:pt x="23180" y="125499"/>
                  <a:pt x="22027" y="126355"/>
                </a:cubicBezTo>
                <a:lnTo>
                  <a:pt x="14288" y="132159"/>
                </a:lnTo>
                <a:cubicBezTo>
                  <a:pt x="10344" y="135136"/>
                  <a:pt x="4762" y="134317"/>
                  <a:pt x="1786" y="130373"/>
                </a:cubicBezTo>
                <a:cubicBezTo>
                  <a:pt x="-1191" y="126429"/>
                  <a:pt x="-372" y="120848"/>
                  <a:pt x="3572" y="117872"/>
                </a:cubicBezTo>
                <a:lnTo>
                  <a:pt x="11311" y="112068"/>
                </a:lnTo>
                <a:close/>
                <a:moveTo>
                  <a:pt x="83344" y="23812"/>
                </a:move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83344" y="47625"/>
                </a:lnTo>
                <a:cubicBezTo>
                  <a:pt x="76758" y="47625"/>
                  <a:pt x="71438" y="42304"/>
                  <a:pt x="71438" y="35719"/>
                </a:cubicBezTo>
                <a:cubicBezTo>
                  <a:pt x="71438" y="29133"/>
                  <a:pt x="76758" y="23812"/>
                  <a:pt x="83344" y="23812"/>
                </a:cubicBezTo>
                <a:close/>
                <a:moveTo>
                  <a:pt x="83344" y="83344"/>
                </a:move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83344" y="107156"/>
                </a:lnTo>
                <a:cubicBezTo>
                  <a:pt x="76758" y="107156"/>
                  <a:pt x="71438" y="101836"/>
                  <a:pt x="71438" y="95250"/>
                </a:cubicBezTo>
                <a:cubicBezTo>
                  <a:pt x="71438" y="88664"/>
                  <a:pt x="76758" y="83344"/>
                  <a:pt x="83344" y="83344"/>
                </a:cubicBez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0" name="Text 7"/>
          <p:cNvSpPr/>
          <p:nvPr/>
        </p:nvSpPr>
        <p:spPr>
          <a:xfrm>
            <a:off x="952500" y="4880571"/>
            <a:ext cx="685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培训模块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500" y="5071071"/>
            <a:ext cx="704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8个步骤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872853" y="48805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7A5A">
              <a:alpha val="2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2018109" y="501392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Text 11"/>
          <p:cNvSpPr/>
          <p:nvPr/>
        </p:nvSpPr>
        <p:spPr>
          <a:xfrm>
            <a:off x="2444353" y="4880571"/>
            <a:ext cx="752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培训对象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444353" y="5071071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男装顾问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TRAINING CONTENT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培训内容总览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33500"/>
            <a:ext cx="3686175" cy="1609725"/>
          </a:xfrm>
          <a:custGeom>
            <a:avLst/>
            <a:gdLst/>
            <a:ahLst/>
            <a:cxnLst/>
            <a:rect l="l" t="t" r="r" b="b"/>
            <a:pathLst>
              <a:path w="3686175" h="1609725">
                <a:moveTo>
                  <a:pt x="38100" y="0"/>
                </a:moveTo>
                <a:lnTo>
                  <a:pt x="3571868" y="0"/>
                </a:lnTo>
                <a:cubicBezTo>
                  <a:pt x="3634956" y="0"/>
                  <a:pt x="3686175" y="51219"/>
                  <a:pt x="3686175" y="114307"/>
                </a:cubicBezTo>
                <a:lnTo>
                  <a:pt x="3686175" y="1495418"/>
                </a:lnTo>
                <a:cubicBezTo>
                  <a:pt x="3686175" y="1558506"/>
                  <a:pt x="3634956" y="1609725"/>
                  <a:pt x="3571868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400050" y="1333500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609600" y="1730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561975" y="173037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1100" y="18256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迎宾截流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301876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3秒响应·热情问候·专业形象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0850" y="1333500"/>
            <a:ext cx="3686175" cy="1609725"/>
          </a:xfrm>
          <a:custGeom>
            <a:avLst/>
            <a:gdLst/>
            <a:ahLst/>
            <a:cxnLst/>
            <a:rect l="l" t="t" r="r" b="b"/>
            <a:pathLst>
              <a:path w="3686175" h="1609725">
                <a:moveTo>
                  <a:pt x="38100" y="0"/>
                </a:moveTo>
                <a:lnTo>
                  <a:pt x="3571868" y="0"/>
                </a:lnTo>
                <a:cubicBezTo>
                  <a:pt x="3634956" y="0"/>
                  <a:pt x="3686175" y="51219"/>
                  <a:pt x="3686175" y="114307"/>
                </a:cubicBezTo>
                <a:lnTo>
                  <a:pt x="3686175" y="1495418"/>
                </a:lnTo>
                <a:cubicBezTo>
                  <a:pt x="3686175" y="1558506"/>
                  <a:pt x="3634956" y="1609725"/>
                  <a:pt x="3571868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4260850" y="1333500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2" name="Shape 10"/>
          <p:cNvSpPr/>
          <p:nvPr/>
        </p:nvSpPr>
        <p:spPr>
          <a:xfrm>
            <a:off x="4470400" y="1730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3" name="Text 11"/>
          <p:cNvSpPr/>
          <p:nvPr/>
        </p:nvSpPr>
        <p:spPr>
          <a:xfrm>
            <a:off x="4422775" y="173037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41900" y="18256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留意客需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70400" y="2301876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观察入微·捕捉信号·把握时机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1650" y="1333500"/>
            <a:ext cx="3686175" cy="1609725"/>
          </a:xfrm>
          <a:custGeom>
            <a:avLst/>
            <a:gdLst/>
            <a:ahLst/>
            <a:cxnLst/>
            <a:rect l="l" t="t" r="r" b="b"/>
            <a:pathLst>
              <a:path w="3686175" h="1609725">
                <a:moveTo>
                  <a:pt x="38100" y="0"/>
                </a:moveTo>
                <a:lnTo>
                  <a:pt x="3571868" y="0"/>
                </a:lnTo>
                <a:cubicBezTo>
                  <a:pt x="3634956" y="0"/>
                  <a:pt x="3686175" y="51219"/>
                  <a:pt x="3686175" y="114307"/>
                </a:cubicBezTo>
                <a:lnTo>
                  <a:pt x="3686175" y="1495418"/>
                </a:lnTo>
                <a:cubicBezTo>
                  <a:pt x="3686175" y="1558506"/>
                  <a:pt x="3634956" y="1609725"/>
                  <a:pt x="3571868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8121650" y="1333500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8" name="Shape 16"/>
          <p:cNvSpPr/>
          <p:nvPr/>
        </p:nvSpPr>
        <p:spPr>
          <a:xfrm>
            <a:off x="8331200" y="1730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9" name="Text 17"/>
          <p:cNvSpPr/>
          <p:nvPr/>
        </p:nvSpPr>
        <p:spPr>
          <a:xfrm>
            <a:off x="8283575" y="173037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02700" y="18256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破冰四招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31200" y="2301876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拉近距离·建立信任·打开话题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3098800"/>
            <a:ext cx="3686175" cy="1609725"/>
          </a:xfrm>
          <a:custGeom>
            <a:avLst/>
            <a:gdLst/>
            <a:ahLst/>
            <a:cxnLst/>
            <a:rect l="l" t="t" r="r" b="b"/>
            <a:pathLst>
              <a:path w="3686175" h="1609725">
                <a:moveTo>
                  <a:pt x="38100" y="0"/>
                </a:moveTo>
                <a:lnTo>
                  <a:pt x="3571868" y="0"/>
                </a:lnTo>
                <a:cubicBezTo>
                  <a:pt x="3634956" y="0"/>
                  <a:pt x="3686175" y="51219"/>
                  <a:pt x="3686175" y="114307"/>
                </a:cubicBezTo>
                <a:lnTo>
                  <a:pt x="3686175" y="1495418"/>
                </a:lnTo>
                <a:cubicBezTo>
                  <a:pt x="3686175" y="1558506"/>
                  <a:pt x="3634956" y="1609725"/>
                  <a:pt x="3571868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400050" y="3098800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4" name="Shape 22"/>
          <p:cNvSpPr/>
          <p:nvPr/>
        </p:nvSpPr>
        <p:spPr>
          <a:xfrm>
            <a:off x="609600" y="3495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5" name="Text 23"/>
          <p:cNvSpPr/>
          <p:nvPr/>
        </p:nvSpPr>
        <p:spPr>
          <a:xfrm>
            <a:off x="561975" y="349567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1100" y="35909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商品介绍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4067175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专业讲解·突出卖点·激发兴趣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60850" y="3098800"/>
            <a:ext cx="3686175" cy="1609725"/>
          </a:xfrm>
          <a:custGeom>
            <a:avLst/>
            <a:gdLst/>
            <a:ahLst/>
            <a:cxnLst/>
            <a:rect l="l" t="t" r="r" b="b"/>
            <a:pathLst>
              <a:path w="3686175" h="1609725">
                <a:moveTo>
                  <a:pt x="38100" y="0"/>
                </a:moveTo>
                <a:lnTo>
                  <a:pt x="3571868" y="0"/>
                </a:lnTo>
                <a:cubicBezTo>
                  <a:pt x="3634956" y="0"/>
                  <a:pt x="3686175" y="51219"/>
                  <a:pt x="3686175" y="114307"/>
                </a:cubicBezTo>
                <a:lnTo>
                  <a:pt x="3686175" y="1495418"/>
                </a:lnTo>
                <a:cubicBezTo>
                  <a:pt x="3686175" y="1558506"/>
                  <a:pt x="3634956" y="1609725"/>
                  <a:pt x="3571868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9" name="Shape 27"/>
          <p:cNvSpPr/>
          <p:nvPr/>
        </p:nvSpPr>
        <p:spPr>
          <a:xfrm>
            <a:off x="4260850" y="3098800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0" name="Shape 28"/>
          <p:cNvSpPr/>
          <p:nvPr/>
        </p:nvSpPr>
        <p:spPr>
          <a:xfrm>
            <a:off x="4470400" y="3495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1" name="Text 29"/>
          <p:cNvSpPr/>
          <p:nvPr/>
        </p:nvSpPr>
        <p:spPr>
          <a:xfrm>
            <a:off x="4422775" y="349567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41900" y="35909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连带推荐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70400" y="4067175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成套搭配·提升客单·创造惊喜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1650" y="3098800"/>
            <a:ext cx="3686175" cy="1609725"/>
          </a:xfrm>
          <a:custGeom>
            <a:avLst/>
            <a:gdLst/>
            <a:ahLst/>
            <a:cxnLst/>
            <a:rect l="l" t="t" r="r" b="b"/>
            <a:pathLst>
              <a:path w="3686175" h="1609725">
                <a:moveTo>
                  <a:pt x="38100" y="0"/>
                </a:moveTo>
                <a:lnTo>
                  <a:pt x="3571868" y="0"/>
                </a:lnTo>
                <a:cubicBezTo>
                  <a:pt x="3634956" y="0"/>
                  <a:pt x="3686175" y="51219"/>
                  <a:pt x="3686175" y="114307"/>
                </a:cubicBezTo>
                <a:lnTo>
                  <a:pt x="3686175" y="1495418"/>
                </a:lnTo>
                <a:cubicBezTo>
                  <a:pt x="3686175" y="1558506"/>
                  <a:pt x="3634956" y="1609725"/>
                  <a:pt x="3571868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5" name="Shape 33"/>
          <p:cNvSpPr/>
          <p:nvPr/>
        </p:nvSpPr>
        <p:spPr>
          <a:xfrm>
            <a:off x="8121650" y="3098800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6" name="Shape 34"/>
          <p:cNvSpPr/>
          <p:nvPr/>
        </p:nvSpPr>
        <p:spPr>
          <a:xfrm>
            <a:off x="8331200" y="3495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7" name="Text 35"/>
          <p:cNvSpPr/>
          <p:nvPr/>
        </p:nvSpPr>
        <p:spPr>
          <a:xfrm>
            <a:off x="8283575" y="349567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02700" y="35909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试衣服务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31200" y="4067175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专业引领·精心搭配·贴心关怀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4864101"/>
            <a:ext cx="3686175" cy="1609725"/>
          </a:xfrm>
          <a:custGeom>
            <a:avLst/>
            <a:gdLst/>
            <a:ahLst/>
            <a:cxnLst/>
            <a:rect l="l" t="t" r="r" b="b"/>
            <a:pathLst>
              <a:path w="3686175" h="1609725">
                <a:moveTo>
                  <a:pt x="38100" y="0"/>
                </a:moveTo>
                <a:lnTo>
                  <a:pt x="3571868" y="0"/>
                </a:lnTo>
                <a:cubicBezTo>
                  <a:pt x="3634956" y="0"/>
                  <a:pt x="3686175" y="51219"/>
                  <a:pt x="3686175" y="114307"/>
                </a:cubicBezTo>
                <a:lnTo>
                  <a:pt x="3686175" y="1495418"/>
                </a:lnTo>
                <a:cubicBezTo>
                  <a:pt x="3686175" y="1558506"/>
                  <a:pt x="3634956" y="1609725"/>
                  <a:pt x="3571868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Shape 39"/>
          <p:cNvSpPr/>
          <p:nvPr/>
        </p:nvSpPr>
        <p:spPr>
          <a:xfrm>
            <a:off x="400050" y="4864101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42" name="Shape 40"/>
          <p:cNvSpPr/>
          <p:nvPr/>
        </p:nvSpPr>
        <p:spPr>
          <a:xfrm>
            <a:off x="609600" y="526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43" name="Text 41"/>
          <p:cNvSpPr/>
          <p:nvPr/>
        </p:nvSpPr>
        <p:spPr>
          <a:xfrm>
            <a:off x="561975" y="526097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81100" y="53562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异议处理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9600" y="5832475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顺转推技巧·化解疑虑·促成成交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60850" y="4864101"/>
            <a:ext cx="3686175" cy="1609725"/>
          </a:xfrm>
          <a:custGeom>
            <a:avLst/>
            <a:gdLst/>
            <a:ahLst/>
            <a:cxnLst/>
            <a:rect l="l" t="t" r="r" b="b"/>
            <a:pathLst>
              <a:path w="3686175" h="1609725">
                <a:moveTo>
                  <a:pt x="38100" y="0"/>
                </a:moveTo>
                <a:lnTo>
                  <a:pt x="3571868" y="0"/>
                </a:lnTo>
                <a:cubicBezTo>
                  <a:pt x="3634956" y="0"/>
                  <a:pt x="3686175" y="51219"/>
                  <a:pt x="3686175" y="114307"/>
                </a:cubicBezTo>
                <a:lnTo>
                  <a:pt x="3686175" y="1495418"/>
                </a:lnTo>
                <a:cubicBezTo>
                  <a:pt x="3686175" y="1558506"/>
                  <a:pt x="3634956" y="1609725"/>
                  <a:pt x="3571868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7" name="Shape 45"/>
          <p:cNvSpPr/>
          <p:nvPr/>
        </p:nvSpPr>
        <p:spPr>
          <a:xfrm>
            <a:off x="4260850" y="4864101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48" name="Shape 46"/>
          <p:cNvSpPr/>
          <p:nvPr/>
        </p:nvSpPr>
        <p:spPr>
          <a:xfrm>
            <a:off x="4470400" y="526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49" name="Text 47"/>
          <p:cNvSpPr/>
          <p:nvPr/>
        </p:nvSpPr>
        <p:spPr>
          <a:xfrm>
            <a:off x="4422775" y="526097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041900" y="53562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收银送宾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70400" y="5832475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专业服务·二次推荐·完美收尾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21650" y="4864101"/>
            <a:ext cx="3686175" cy="1609725"/>
          </a:xfrm>
          <a:custGeom>
            <a:avLst/>
            <a:gdLst/>
            <a:ahLst/>
            <a:cxnLst/>
            <a:rect l="l" t="t" r="r" b="b"/>
            <a:pathLst>
              <a:path w="3686175" h="1609725">
                <a:moveTo>
                  <a:pt x="38100" y="0"/>
                </a:moveTo>
                <a:lnTo>
                  <a:pt x="3571868" y="0"/>
                </a:lnTo>
                <a:cubicBezTo>
                  <a:pt x="3634956" y="0"/>
                  <a:pt x="3686175" y="51219"/>
                  <a:pt x="3686175" y="114307"/>
                </a:cubicBezTo>
                <a:lnTo>
                  <a:pt x="3686175" y="1495418"/>
                </a:lnTo>
                <a:cubicBezTo>
                  <a:pt x="3686175" y="1558506"/>
                  <a:pt x="3634956" y="1609725"/>
                  <a:pt x="3571868" y="1609725"/>
                </a:cubicBez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Shape 51"/>
          <p:cNvSpPr/>
          <p:nvPr/>
        </p:nvSpPr>
        <p:spPr>
          <a:xfrm>
            <a:off x="8121650" y="4864101"/>
            <a:ext cx="38100" cy="1609725"/>
          </a:xfrm>
          <a:custGeom>
            <a:avLst/>
            <a:gdLst/>
            <a:ahLst/>
            <a:cxnLst/>
            <a:rect l="l" t="t" r="r" b="b"/>
            <a:pathLst>
              <a:path w="38100" h="1609725">
                <a:moveTo>
                  <a:pt x="38100" y="0"/>
                </a:moveTo>
                <a:lnTo>
                  <a:pt x="38100" y="0"/>
                </a:lnTo>
                <a:lnTo>
                  <a:pt x="38100" y="1609725"/>
                </a:lnTo>
                <a:lnTo>
                  <a:pt x="38100" y="1609725"/>
                </a:lnTo>
                <a:cubicBezTo>
                  <a:pt x="17072" y="1609725"/>
                  <a:pt x="0" y="1592653"/>
                  <a:pt x="0" y="15716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54" name="Shape 52"/>
          <p:cNvSpPr/>
          <p:nvPr/>
        </p:nvSpPr>
        <p:spPr>
          <a:xfrm>
            <a:off x="8331200" y="5260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55" name="Shape 53"/>
          <p:cNvSpPr/>
          <p:nvPr/>
        </p:nvSpPr>
        <p:spPr>
          <a:xfrm>
            <a:off x="8488363" y="53943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8902700" y="53562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课后考核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31200" y="5832475"/>
            <a:ext cx="3362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理论测试·实操演练·综合评估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mens_step1_greeting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681438" y="2171700"/>
            <a:ext cx="2828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48088" y="2628900"/>
            <a:ext cx="309562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第一步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35433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633813" y="3886200"/>
            <a:ext cx="29241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迎宾截流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71913" y="4419600"/>
            <a:ext cx="2847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3秒响应 · 热情问候 · 专业形象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4"/>
            <a:ext cx="11595874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kern="0" spc="18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01 · CASE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55295"/>
            <a:ext cx="11685701" cy="3266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迎宾截流 · 案例分析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77" y="1045262"/>
            <a:ext cx="5659113" cy="2825474"/>
          </a:xfrm>
          <a:custGeom>
            <a:avLst/>
            <a:gdLst/>
            <a:ahLst/>
            <a:cxnLst/>
            <a:rect l="l" t="t" r="r" b="b"/>
            <a:pathLst>
              <a:path w="5659113" h="2825474">
                <a:moveTo>
                  <a:pt x="32664" y="0"/>
                </a:moveTo>
                <a:lnTo>
                  <a:pt x="5593788" y="0"/>
                </a:lnTo>
                <a:cubicBezTo>
                  <a:pt x="5629866" y="0"/>
                  <a:pt x="5659113" y="29247"/>
                  <a:pt x="5659113" y="65325"/>
                </a:cubicBezTo>
                <a:lnTo>
                  <a:pt x="5659113" y="2760149"/>
                </a:lnTo>
                <a:cubicBezTo>
                  <a:pt x="5659113" y="2796227"/>
                  <a:pt x="5629866" y="2825474"/>
                  <a:pt x="5593788" y="2825474"/>
                </a:cubicBez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42977" y="1045262"/>
            <a:ext cx="32664" cy="2825474"/>
          </a:xfrm>
          <a:custGeom>
            <a:avLst/>
            <a:gdLst/>
            <a:ahLst/>
            <a:cxnLst/>
            <a:rect l="l" t="t" r="r" b="b"/>
            <a:pathLst>
              <a:path w="32664" h="2825474">
                <a:moveTo>
                  <a:pt x="32664" y="0"/>
                </a:moveTo>
                <a:lnTo>
                  <a:pt x="32664" y="0"/>
                </a:lnTo>
                <a:lnTo>
                  <a:pt x="32664" y="2825474"/>
                </a:ln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547129" y="1224916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97993" y="195987"/>
                </a:moveTo>
                <a:cubicBezTo>
                  <a:pt x="152077" y="195987"/>
                  <a:pt x="195987" y="152077"/>
                  <a:pt x="195987" y="97993"/>
                </a:cubicBezTo>
                <a:cubicBezTo>
                  <a:pt x="195987" y="43909"/>
                  <a:pt x="152077" y="0"/>
                  <a:pt x="97993" y="0"/>
                </a:cubicBezTo>
                <a:cubicBezTo>
                  <a:pt x="43909" y="0"/>
                  <a:pt x="0" y="43909"/>
                  <a:pt x="0" y="97993"/>
                </a:cubicBezTo>
                <a:cubicBezTo>
                  <a:pt x="0" y="152077"/>
                  <a:pt x="43909" y="195987"/>
                  <a:pt x="97993" y="195987"/>
                </a:cubicBezTo>
                <a:close/>
                <a:moveTo>
                  <a:pt x="130300" y="81419"/>
                </a:moveTo>
                <a:lnTo>
                  <a:pt x="99678" y="130415"/>
                </a:lnTo>
                <a:cubicBezTo>
                  <a:pt x="98070" y="132980"/>
                  <a:pt x="95314" y="134588"/>
                  <a:pt x="92290" y="134741"/>
                </a:cubicBezTo>
                <a:cubicBezTo>
                  <a:pt x="89266" y="134894"/>
                  <a:pt x="86357" y="133516"/>
                  <a:pt x="84558" y="131066"/>
                </a:cubicBezTo>
                <a:lnTo>
                  <a:pt x="66184" y="106568"/>
                </a:lnTo>
                <a:cubicBezTo>
                  <a:pt x="63121" y="102510"/>
                  <a:pt x="63964" y="96768"/>
                  <a:pt x="68021" y="93706"/>
                </a:cubicBezTo>
                <a:cubicBezTo>
                  <a:pt x="72079" y="90644"/>
                  <a:pt x="77820" y="91486"/>
                  <a:pt x="80883" y="95543"/>
                </a:cubicBezTo>
                <a:lnTo>
                  <a:pt x="91218" y="109324"/>
                </a:lnTo>
                <a:lnTo>
                  <a:pt x="114721" y="71696"/>
                </a:lnTo>
                <a:cubicBezTo>
                  <a:pt x="117401" y="67409"/>
                  <a:pt x="123066" y="66069"/>
                  <a:pt x="127391" y="68787"/>
                </a:cubicBezTo>
                <a:cubicBezTo>
                  <a:pt x="131717" y="71504"/>
                  <a:pt x="133018" y="77131"/>
                  <a:pt x="130300" y="81457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865608" y="1208584"/>
            <a:ext cx="1551561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正面案例：专业迎宾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2631" y="1567893"/>
            <a:ext cx="538963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2631" y="1861873"/>
            <a:ext cx="5381466" cy="734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一位男士刚走到店门口，销售顾问小王立即面带微笑，用热情的声音问候："您好，欢迎光临凯施迪！"同时与顾客进行眼神交流并保持笑容，顾客进店后，小王保持3秒响应，适时引导顾客浏览新品POLO生活系列。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2631" y="2596823"/>
            <a:ext cx="5316137" cy="1110591"/>
          </a:xfrm>
          <a:custGeom>
            <a:avLst/>
            <a:gdLst/>
            <a:ahLst/>
            <a:cxnLst/>
            <a:rect l="l" t="t" r="r" b="b"/>
            <a:pathLst>
              <a:path w="5316137" h="1110591">
                <a:moveTo>
                  <a:pt x="65325" y="0"/>
                </a:moveTo>
                <a:lnTo>
                  <a:pt x="5250812" y="0"/>
                </a:lnTo>
                <a:cubicBezTo>
                  <a:pt x="5286890" y="0"/>
                  <a:pt x="5316137" y="29247"/>
                  <a:pt x="5316137" y="65325"/>
                </a:cubicBezTo>
                <a:lnTo>
                  <a:pt x="5316137" y="1045266"/>
                </a:lnTo>
                <a:cubicBezTo>
                  <a:pt x="5316137" y="1081344"/>
                  <a:pt x="5286890" y="1110591"/>
                  <a:pt x="5250812" y="1110591"/>
                </a:cubicBezTo>
                <a:lnTo>
                  <a:pt x="65325" y="1110591"/>
                </a:lnTo>
                <a:cubicBezTo>
                  <a:pt x="29247" y="1110591"/>
                  <a:pt x="0" y="1081344"/>
                  <a:pt x="0" y="1045266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20624" y="2694816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成功要点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9811" y="2988796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3" name="Text 11"/>
          <p:cNvSpPr/>
          <p:nvPr/>
        </p:nvSpPr>
        <p:spPr>
          <a:xfrm>
            <a:off x="828860" y="2956131"/>
            <a:ext cx="2025195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门外迎宾：声音热情，有眼神交往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9811" y="3217447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828860" y="3184782"/>
            <a:ext cx="1837374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3秒响应：顾客进店时微笑问候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9811" y="3446098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7" name="Text 15"/>
          <p:cNvSpPr/>
          <p:nvPr/>
        </p:nvSpPr>
        <p:spPr>
          <a:xfrm>
            <a:off x="828860" y="3413433"/>
            <a:ext cx="1894537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避免紧迫跟随，给顾客浏览空间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2977" y="4034058"/>
            <a:ext cx="5659113" cy="2825474"/>
          </a:xfrm>
          <a:custGeom>
            <a:avLst/>
            <a:gdLst/>
            <a:ahLst/>
            <a:cxnLst/>
            <a:rect l="l" t="t" r="r" b="b"/>
            <a:pathLst>
              <a:path w="5659113" h="2825474">
                <a:moveTo>
                  <a:pt x="32664" y="0"/>
                </a:moveTo>
                <a:lnTo>
                  <a:pt x="5593788" y="0"/>
                </a:lnTo>
                <a:cubicBezTo>
                  <a:pt x="5629866" y="0"/>
                  <a:pt x="5659113" y="29247"/>
                  <a:pt x="5659113" y="65325"/>
                </a:cubicBezTo>
                <a:lnTo>
                  <a:pt x="5659113" y="2760149"/>
                </a:lnTo>
                <a:cubicBezTo>
                  <a:pt x="5659113" y="2796227"/>
                  <a:pt x="5629866" y="2825474"/>
                  <a:pt x="5593788" y="2825474"/>
                </a:cubicBez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342977" y="4034058"/>
            <a:ext cx="32664" cy="2825474"/>
          </a:xfrm>
          <a:custGeom>
            <a:avLst/>
            <a:gdLst/>
            <a:ahLst/>
            <a:cxnLst/>
            <a:rect l="l" t="t" r="r" b="b"/>
            <a:pathLst>
              <a:path w="32664" h="2825474">
                <a:moveTo>
                  <a:pt x="32664" y="0"/>
                </a:moveTo>
                <a:lnTo>
                  <a:pt x="32664" y="0"/>
                </a:lnTo>
                <a:lnTo>
                  <a:pt x="32664" y="2825474"/>
                </a:ln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Shape 18"/>
          <p:cNvSpPr/>
          <p:nvPr/>
        </p:nvSpPr>
        <p:spPr>
          <a:xfrm>
            <a:off x="547129" y="4213712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97993" y="195987"/>
                </a:moveTo>
                <a:cubicBezTo>
                  <a:pt x="152077" y="195987"/>
                  <a:pt x="195987" y="152077"/>
                  <a:pt x="195987" y="97993"/>
                </a:cubicBezTo>
                <a:cubicBezTo>
                  <a:pt x="195987" y="43909"/>
                  <a:pt x="152077" y="0"/>
                  <a:pt x="97993" y="0"/>
                </a:cubicBezTo>
                <a:cubicBezTo>
                  <a:pt x="43909" y="0"/>
                  <a:pt x="0" y="43909"/>
                  <a:pt x="0" y="97993"/>
                </a:cubicBezTo>
                <a:cubicBezTo>
                  <a:pt x="0" y="152077"/>
                  <a:pt x="43909" y="195987"/>
                  <a:pt x="97993" y="195987"/>
                </a:cubicBezTo>
                <a:close/>
                <a:moveTo>
                  <a:pt x="63925" y="63925"/>
                </a:moveTo>
                <a:cubicBezTo>
                  <a:pt x="67524" y="60327"/>
                  <a:pt x="73342" y="60327"/>
                  <a:pt x="76902" y="63925"/>
                </a:cubicBezTo>
                <a:lnTo>
                  <a:pt x="97955" y="84979"/>
                </a:lnTo>
                <a:lnTo>
                  <a:pt x="119008" y="63925"/>
                </a:lnTo>
                <a:cubicBezTo>
                  <a:pt x="122606" y="60327"/>
                  <a:pt x="128425" y="60327"/>
                  <a:pt x="131985" y="63925"/>
                </a:cubicBezTo>
                <a:cubicBezTo>
                  <a:pt x="135545" y="67524"/>
                  <a:pt x="135583" y="73342"/>
                  <a:pt x="131985" y="76902"/>
                </a:cubicBezTo>
                <a:lnTo>
                  <a:pt x="110931" y="97955"/>
                </a:lnTo>
                <a:lnTo>
                  <a:pt x="131985" y="119008"/>
                </a:lnTo>
                <a:cubicBezTo>
                  <a:pt x="135583" y="122606"/>
                  <a:pt x="135583" y="128425"/>
                  <a:pt x="131985" y="131985"/>
                </a:cubicBezTo>
                <a:cubicBezTo>
                  <a:pt x="128387" y="135545"/>
                  <a:pt x="122568" y="135583"/>
                  <a:pt x="119008" y="131985"/>
                </a:cubicBezTo>
                <a:lnTo>
                  <a:pt x="97955" y="110931"/>
                </a:lnTo>
                <a:lnTo>
                  <a:pt x="76902" y="131985"/>
                </a:lnTo>
                <a:cubicBezTo>
                  <a:pt x="73304" y="135583"/>
                  <a:pt x="67485" y="135583"/>
                  <a:pt x="63925" y="131985"/>
                </a:cubicBezTo>
                <a:cubicBezTo>
                  <a:pt x="60365" y="128387"/>
                  <a:pt x="60327" y="122568"/>
                  <a:pt x="63925" y="119008"/>
                </a:cubicBezTo>
                <a:lnTo>
                  <a:pt x="84979" y="97955"/>
                </a:lnTo>
                <a:lnTo>
                  <a:pt x="63925" y="76902"/>
                </a:lnTo>
                <a:cubicBezTo>
                  <a:pt x="60327" y="73304"/>
                  <a:pt x="60327" y="67485"/>
                  <a:pt x="63925" y="6392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1" name="Text 19"/>
          <p:cNvSpPr/>
          <p:nvPr/>
        </p:nvSpPr>
        <p:spPr>
          <a:xfrm>
            <a:off x="865608" y="4197380"/>
            <a:ext cx="1551561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反面案例：迎宾失误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2631" y="4556689"/>
            <a:ext cx="538963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2631" y="4850668"/>
            <a:ext cx="5381466" cy="636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顾客走进店内，销售顾问小李正在与同事闲聊，没有注意到顾客进店。顾客在店内浏览了1分钟，小李才反应过来，但问候时态度敷衍，没有眼神交流，顾客感到被忽视，很快离开了店铺。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2631" y="5585618"/>
            <a:ext cx="5316137" cy="1110591"/>
          </a:xfrm>
          <a:custGeom>
            <a:avLst/>
            <a:gdLst/>
            <a:ahLst/>
            <a:cxnLst/>
            <a:rect l="l" t="t" r="r" b="b"/>
            <a:pathLst>
              <a:path w="5316137" h="1110591">
                <a:moveTo>
                  <a:pt x="65325" y="0"/>
                </a:moveTo>
                <a:lnTo>
                  <a:pt x="5250812" y="0"/>
                </a:lnTo>
                <a:cubicBezTo>
                  <a:pt x="5286890" y="0"/>
                  <a:pt x="5316137" y="29247"/>
                  <a:pt x="5316137" y="65325"/>
                </a:cubicBezTo>
                <a:lnTo>
                  <a:pt x="5316137" y="1045266"/>
                </a:lnTo>
                <a:cubicBezTo>
                  <a:pt x="5316137" y="1081344"/>
                  <a:pt x="5286890" y="1110591"/>
                  <a:pt x="5250812" y="1110591"/>
                </a:cubicBezTo>
                <a:lnTo>
                  <a:pt x="65325" y="1110591"/>
                </a:lnTo>
                <a:cubicBezTo>
                  <a:pt x="29247" y="1110591"/>
                  <a:pt x="0" y="1081344"/>
                  <a:pt x="0" y="1045266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20624" y="5683612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问题分析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6956" y="5977591"/>
            <a:ext cx="114326" cy="114326"/>
          </a:xfrm>
          <a:custGeom>
            <a:avLst/>
            <a:gdLst/>
            <a:ahLst/>
            <a:cxnLst/>
            <a:rect l="l" t="t" r="r" b="b"/>
            <a:pathLst>
              <a:path w="114326" h="114326">
                <a:moveTo>
                  <a:pt x="57163" y="0"/>
                </a:moveTo>
                <a:cubicBezTo>
                  <a:pt x="60445" y="0"/>
                  <a:pt x="63460" y="1809"/>
                  <a:pt x="65023" y="4689"/>
                </a:cubicBezTo>
                <a:lnTo>
                  <a:pt x="113254" y="94006"/>
                </a:lnTo>
                <a:cubicBezTo>
                  <a:pt x="114750" y="96775"/>
                  <a:pt x="114683" y="100124"/>
                  <a:pt x="113075" y="102826"/>
                </a:cubicBezTo>
                <a:cubicBezTo>
                  <a:pt x="111467" y="105528"/>
                  <a:pt x="108542" y="107180"/>
                  <a:pt x="105394" y="107180"/>
                </a:cubicBezTo>
                <a:lnTo>
                  <a:pt x="8932" y="107180"/>
                </a:lnTo>
                <a:cubicBezTo>
                  <a:pt x="5783" y="107180"/>
                  <a:pt x="2880" y="105528"/>
                  <a:pt x="1250" y="102826"/>
                </a:cubicBezTo>
                <a:cubicBezTo>
                  <a:pt x="-380" y="100124"/>
                  <a:pt x="-424" y="96775"/>
                  <a:pt x="1072" y="94006"/>
                </a:cubicBezTo>
                <a:lnTo>
                  <a:pt x="49303" y="4689"/>
                </a:lnTo>
                <a:cubicBezTo>
                  <a:pt x="50866" y="1809"/>
                  <a:pt x="53880" y="0"/>
                  <a:pt x="57163" y="0"/>
                </a:cubicBezTo>
                <a:close/>
                <a:moveTo>
                  <a:pt x="57163" y="37513"/>
                </a:moveTo>
                <a:cubicBezTo>
                  <a:pt x="54193" y="37513"/>
                  <a:pt x="51804" y="39902"/>
                  <a:pt x="51804" y="42872"/>
                </a:cubicBezTo>
                <a:lnTo>
                  <a:pt x="51804" y="67881"/>
                </a:lnTo>
                <a:cubicBezTo>
                  <a:pt x="51804" y="70851"/>
                  <a:pt x="54193" y="73240"/>
                  <a:pt x="57163" y="73240"/>
                </a:cubicBezTo>
                <a:cubicBezTo>
                  <a:pt x="60133" y="73240"/>
                  <a:pt x="62522" y="70851"/>
                  <a:pt x="62522" y="67881"/>
                </a:cubicBezTo>
                <a:lnTo>
                  <a:pt x="62522" y="42872"/>
                </a:lnTo>
                <a:cubicBezTo>
                  <a:pt x="62522" y="39902"/>
                  <a:pt x="60133" y="37513"/>
                  <a:pt x="57163" y="37513"/>
                </a:cubicBezTo>
                <a:close/>
                <a:moveTo>
                  <a:pt x="63125" y="85744"/>
                </a:moveTo>
                <a:cubicBezTo>
                  <a:pt x="63260" y="83531"/>
                  <a:pt x="62157" y="81426"/>
                  <a:pt x="60260" y="80278"/>
                </a:cubicBezTo>
                <a:cubicBezTo>
                  <a:pt x="58363" y="79131"/>
                  <a:pt x="55985" y="79131"/>
                  <a:pt x="54088" y="80278"/>
                </a:cubicBezTo>
                <a:cubicBezTo>
                  <a:pt x="52191" y="81426"/>
                  <a:pt x="51088" y="83531"/>
                  <a:pt x="51223" y="85744"/>
                </a:cubicBezTo>
                <a:cubicBezTo>
                  <a:pt x="51088" y="87957"/>
                  <a:pt x="52191" y="90063"/>
                  <a:pt x="54088" y="91210"/>
                </a:cubicBezTo>
                <a:cubicBezTo>
                  <a:pt x="55985" y="92358"/>
                  <a:pt x="58363" y="92358"/>
                  <a:pt x="60260" y="91210"/>
                </a:cubicBezTo>
                <a:cubicBezTo>
                  <a:pt x="62157" y="90063"/>
                  <a:pt x="63260" y="87957"/>
                  <a:pt x="63125" y="85744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7" name="Text 25"/>
          <p:cNvSpPr/>
          <p:nvPr/>
        </p:nvSpPr>
        <p:spPr>
          <a:xfrm>
            <a:off x="828860" y="5944927"/>
            <a:ext cx="1502564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打闹闲聊，忽视顾客进店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956" y="6206242"/>
            <a:ext cx="114326" cy="114326"/>
          </a:xfrm>
          <a:custGeom>
            <a:avLst/>
            <a:gdLst/>
            <a:ahLst/>
            <a:cxnLst/>
            <a:rect l="l" t="t" r="r" b="b"/>
            <a:pathLst>
              <a:path w="114326" h="114326">
                <a:moveTo>
                  <a:pt x="57163" y="0"/>
                </a:moveTo>
                <a:cubicBezTo>
                  <a:pt x="60445" y="0"/>
                  <a:pt x="63460" y="1809"/>
                  <a:pt x="65023" y="4689"/>
                </a:cubicBezTo>
                <a:lnTo>
                  <a:pt x="113254" y="94006"/>
                </a:lnTo>
                <a:cubicBezTo>
                  <a:pt x="114750" y="96775"/>
                  <a:pt x="114683" y="100124"/>
                  <a:pt x="113075" y="102826"/>
                </a:cubicBezTo>
                <a:cubicBezTo>
                  <a:pt x="111467" y="105528"/>
                  <a:pt x="108542" y="107180"/>
                  <a:pt x="105394" y="107180"/>
                </a:cubicBezTo>
                <a:lnTo>
                  <a:pt x="8932" y="107180"/>
                </a:lnTo>
                <a:cubicBezTo>
                  <a:pt x="5783" y="107180"/>
                  <a:pt x="2880" y="105528"/>
                  <a:pt x="1250" y="102826"/>
                </a:cubicBezTo>
                <a:cubicBezTo>
                  <a:pt x="-380" y="100124"/>
                  <a:pt x="-424" y="96775"/>
                  <a:pt x="1072" y="94006"/>
                </a:cubicBezTo>
                <a:lnTo>
                  <a:pt x="49303" y="4689"/>
                </a:lnTo>
                <a:cubicBezTo>
                  <a:pt x="50866" y="1809"/>
                  <a:pt x="53880" y="0"/>
                  <a:pt x="57163" y="0"/>
                </a:cubicBezTo>
                <a:close/>
                <a:moveTo>
                  <a:pt x="57163" y="37513"/>
                </a:moveTo>
                <a:cubicBezTo>
                  <a:pt x="54193" y="37513"/>
                  <a:pt x="51804" y="39902"/>
                  <a:pt x="51804" y="42872"/>
                </a:cubicBezTo>
                <a:lnTo>
                  <a:pt x="51804" y="67881"/>
                </a:lnTo>
                <a:cubicBezTo>
                  <a:pt x="51804" y="70851"/>
                  <a:pt x="54193" y="73240"/>
                  <a:pt x="57163" y="73240"/>
                </a:cubicBezTo>
                <a:cubicBezTo>
                  <a:pt x="60133" y="73240"/>
                  <a:pt x="62522" y="70851"/>
                  <a:pt x="62522" y="67881"/>
                </a:cubicBezTo>
                <a:lnTo>
                  <a:pt x="62522" y="42872"/>
                </a:lnTo>
                <a:cubicBezTo>
                  <a:pt x="62522" y="39902"/>
                  <a:pt x="60133" y="37513"/>
                  <a:pt x="57163" y="37513"/>
                </a:cubicBezTo>
                <a:close/>
                <a:moveTo>
                  <a:pt x="63125" y="85744"/>
                </a:moveTo>
                <a:cubicBezTo>
                  <a:pt x="63260" y="83531"/>
                  <a:pt x="62157" y="81426"/>
                  <a:pt x="60260" y="80278"/>
                </a:cubicBezTo>
                <a:cubicBezTo>
                  <a:pt x="58363" y="79131"/>
                  <a:pt x="55985" y="79131"/>
                  <a:pt x="54088" y="80278"/>
                </a:cubicBezTo>
                <a:cubicBezTo>
                  <a:pt x="52191" y="81426"/>
                  <a:pt x="51088" y="83531"/>
                  <a:pt x="51223" y="85744"/>
                </a:cubicBezTo>
                <a:cubicBezTo>
                  <a:pt x="51088" y="87957"/>
                  <a:pt x="52191" y="90063"/>
                  <a:pt x="54088" y="91210"/>
                </a:cubicBezTo>
                <a:cubicBezTo>
                  <a:pt x="55985" y="92358"/>
                  <a:pt x="58363" y="92358"/>
                  <a:pt x="60260" y="91210"/>
                </a:cubicBezTo>
                <a:cubicBezTo>
                  <a:pt x="62157" y="90063"/>
                  <a:pt x="63260" y="87957"/>
                  <a:pt x="63125" y="85744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9" name="Text 27"/>
          <p:cNvSpPr/>
          <p:nvPr/>
        </p:nvSpPr>
        <p:spPr>
          <a:xfrm>
            <a:off x="828860" y="6173578"/>
            <a:ext cx="144540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响应时间过长，超过3秒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6956" y="6434894"/>
            <a:ext cx="114326" cy="114326"/>
          </a:xfrm>
          <a:custGeom>
            <a:avLst/>
            <a:gdLst/>
            <a:ahLst/>
            <a:cxnLst/>
            <a:rect l="l" t="t" r="r" b="b"/>
            <a:pathLst>
              <a:path w="114326" h="114326">
                <a:moveTo>
                  <a:pt x="57163" y="0"/>
                </a:moveTo>
                <a:cubicBezTo>
                  <a:pt x="60445" y="0"/>
                  <a:pt x="63460" y="1809"/>
                  <a:pt x="65023" y="4689"/>
                </a:cubicBezTo>
                <a:lnTo>
                  <a:pt x="113254" y="94006"/>
                </a:lnTo>
                <a:cubicBezTo>
                  <a:pt x="114750" y="96775"/>
                  <a:pt x="114683" y="100124"/>
                  <a:pt x="113075" y="102826"/>
                </a:cubicBezTo>
                <a:cubicBezTo>
                  <a:pt x="111467" y="105528"/>
                  <a:pt x="108542" y="107180"/>
                  <a:pt x="105394" y="107180"/>
                </a:cubicBezTo>
                <a:lnTo>
                  <a:pt x="8932" y="107180"/>
                </a:lnTo>
                <a:cubicBezTo>
                  <a:pt x="5783" y="107180"/>
                  <a:pt x="2880" y="105528"/>
                  <a:pt x="1250" y="102826"/>
                </a:cubicBezTo>
                <a:cubicBezTo>
                  <a:pt x="-380" y="100124"/>
                  <a:pt x="-424" y="96775"/>
                  <a:pt x="1072" y="94006"/>
                </a:cubicBezTo>
                <a:lnTo>
                  <a:pt x="49303" y="4689"/>
                </a:lnTo>
                <a:cubicBezTo>
                  <a:pt x="50866" y="1809"/>
                  <a:pt x="53880" y="0"/>
                  <a:pt x="57163" y="0"/>
                </a:cubicBezTo>
                <a:close/>
                <a:moveTo>
                  <a:pt x="57163" y="37513"/>
                </a:moveTo>
                <a:cubicBezTo>
                  <a:pt x="54193" y="37513"/>
                  <a:pt x="51804" y="39902"/>
                  <a:pt x="51804" y="42872"/>
                </a:cubicBezTo>
                <a:lnTo>
                  <a:pt x="51804" y="67881"/>
                </a:lnTo>
                <a:cubicBezTo>
                  <a:pt x="51804" y="70851"/>
                  <a:pt x="54193" y="73240"/>
                  <a:pt x="57163" y="73240"/>
                </a:cubicBezTo>
                <a:cubicBezTo>
                  <a:pt x="60133" y="73240"/>
                  <a:pt x="62522" y="70851"/>
                  <a:pt x="62522" y="67881"/>
                </a:cubicBezTo>
                <a:lnTo>
                  <a:pt x="62522" y="42872"/>
                </a:lnTo>
                <a:cubicBezTo>
                  <a:pt x="62522" y="39902"/>
                  <a:pt x="60133" y="37513"/>
                  <a:pt x="57163" y="37513"/>
                </a:cubicBezTo>
                <a:close/>
                <a:moveTo>
                  <a:pt x="63125" y="85744"/>
                </a:moveTo>
                <a:cubicBezTo>
                  <a:pt x="63260" y="83531"/>
                  <a:pt x="62157" y="81426"/>
                  <a:pt x="60260" y="80278"/>
                </a:cubicBezTo>
                <a:cubicBezTo>
                  <a:pt x="58363" y="79131"/>
                  <a:pt x="55985" y="79131"/>
                  <a:pt x="54088" y="80278"/>
                </a:cubicBezTo>
                <a:cubicBezTo>
                  <a:pt x="52191" y="81426"/>
                  <a:pt x="51088" y="83531"/>
                  <a:pt x="51223" y="85744"/>
                </a:cubicBezTo>
                <a:cubicBezTo>
                  <a:pt x="51088" y="87957"/>
                  <a:pt x="52191" y="90063"/>
                  <a:pt x="54088" y="91210"/>
                </a:cubicBezTo>
                <a:cubicBezTo>
                  <a:pt x="55985" y="92358"/>
                  <a:pt x="58363" y="92358"/>
                  <a:pt x="60260" y="91210"/>
                </a:cubicBezTo>
                <a:cubicBezTo>
                  <a:pt x="62157" y="90063"/>
                  <a:pt x="63260" y="87957"/>
                  <a:pt x="63125" y="85744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1" name="Text 29"/>
          <p:cNvSpPr/>
          <p:nvPr/>
        </p:nvSpPr>
        <p:spPr>
          <a:xfrm>
            <a:off x="828860" y="6402229"/>
            <a:ext cx="1241248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态度敷衍，缺乏热情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5354" y="1045262"/>
            <a:ext cx="5675445" cy="4017725"/>
          </a:xfrm>
          <a:custGeom>
            <a:avLst/>
            <a:gdLst/>
            <a:ahLst/>
            <a:cxnLst/>
            <a:rect l="l" t="t" r="r" b="b"/>
            <a:pathLst>
              <a:path w="5675445" h="4017725">
                <a:moveTo>
                  <a:pt x="65328" y="0"/>
                </a:moveTo>
                <a:lnTo>
                  <a:pt x="5610117" y="0"/>
                </a:lnTo>
                <a:cubicBezTo>
                  <a:pt x="5646197" y="0"/>
                  <a:pt x="5675445" y="29248"/>
                  <a:pt x="5675445" y="65328"/>
                </a:cubicBezTo>
                <a:lnTo>
                  <a:pt x="5675445" y="3952397"/>
                </a:lnTo>
                <a:cubicBezTo>
                  <a:pt x="5675445" y="3988477"/>
                  <a:pt x="5646197" y="4017725"/>
                  <a:pt x="5610117" y="4017725"/>
                </a:cubicBezTo>
                <a:lnTo>
                  <a:pt x="65328" y="4017725"/>
                </a:lnTo>
                <a:cubicBezTo>
                  <a:pt x="29248" y="4017725"/>
                  <a:pt x="0" y="3988477"/>
                  <a:pt x="0" y="3952397"/>
                </a:cubicBezTo>
                <a:lnTo>
                  <a:pt x="0" y="65328"/>
                </a:lnTo>
                <a:cubicBezTo>
                  <a:pt x="0" y="29273"/>
                  <a:pt x="29273" y="0"/>
                  <a:pt x="65328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3" name="Text 31"/>
          <p:cNvSpPr/>
          <p:nvPr/>
        </p:nvSpPr>
        <p:spPr>
          <a:xfrm>
            <a:off x="6391341" y="1241248"/>
            <a:ext cx="5365133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迎宾截流核心要点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1341" y="1891816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5" name="Text 33"/>
          <p:cNvSpPr/>
          <p:nvPr/>
        </p:nvSpPr>
        <p:spPr>
          <a:xfrm>
            <a:off x="6350511" y="1891816"/>
            <a:ext cx="473634" cy="3919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13972" y="1891816"/>
            <a:ext cx="2947965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门外迎宾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13972" y="2185796"/>
            <a:ext cx="2939799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声音热情，有眼神交往，主动问候路过的潜在顾客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341" y="2980630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9" name="Text 37"/>
          <p:cNvSpPr/>
          <p:nvPr/>
        </p:nvSpPr>
        <p:spPr>
          <a:xfrm>
            <a:off x="6350511" y="2980630"/>
            <a:ext cx="473634" cy="3919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13972" y="2980630"/>
            <a:ext cx="2498829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3秒响应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13972" y="3274610"/>
            <a:ext cx="2490663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顾客进店后3秒内问候，让顾客感受到重视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1341" y="4069445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Text 41"/>
          <p:cNvSpPr/>
          <p:nvPr/>
        </p:nvSpPr>
        <p:spPr>
          <a:xfrm>
            <a:off x="6350511" y="4069445"/>
            <a:ext cx="473634" cy="3919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13972" y="4069445"/>
            <a:ext cx="2425334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避免紧迫跟随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13972" y="4363425"/>
            <a:ext cx="2417168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给顾客浏览空间，适时引导，不过度打扰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5354" y="5226309"/>
            <a:ext cx="5675445" cy="1633222"/>
          </a:xfrm>
          <a:custGeom>
            <a:avLst/>
            <a:gdLst/>
            <a:ahLst/>
            <a:cxnLst/>
            <a:rect l="l" t="t" r="r" b="b"/>
            <a:pathLst>
              <a:path w="5675445" h="1633222">
                <a:moveTo>
                  <a:pt x="65329" y="0"/>
                </a:moveTo>
                <a:lnTo>
                  <a:pt x="5610117" y="0"/>
                </a:lnTo>
                <a:cubicBezTo>
                  <a:pt x="5646197" y="0"/>
                  <a:pt x="5675445" y="29249"/>
                  <a:pt x="5675445" y="65329"/>
                </a:cubicBezTo>
                <a:lnTo>
                  <a:pt x="5675445" y="1567893"/>
                </a:lnTo>
                <a:cubicBezTo>
                  <a:pt x="5675445" y="1603973"/>
                  <a:pt x="5646197" y="1633222"/>
                  <a:pt x="5610117" y="1633222"/>
                </a:cubicBezTo>
                <a:lnTo>
                  <a:pt x="65329" y="1633222"/>
                </a:lnTo>
                <a:cubicBezTo>
                  <a:pt x="29249" y="1633222"/>
                  <a:pt x="0" y="1603973"/>
                  <a:pt x="0" y="1567893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6358677" y="5389632"/>
            <a:ext cx="5422296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禁止行为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79092" y="5740774"/>
            <a:ext cx="146990" cy="146990"/>
          </a:xfrm>
          <a:custGeom>
            <a:avLst/>
            <a:gdLst/>
            <a:ahLst/>
            <a:cxnLst/>
            <a:rect l="l" t="t" r="r" b="b"/>
            <a:pathLst>
              <a:path w="146990" h="146990">
                <a:moveTo>
                  <a:pt x="105419" y="118425"/>
                </a:moveTo>
                <a:lnTo>
                  <a:pt x="28565" y="41571"/>
                </a:lnTo>
                <a:cubicBezTo>
                  <a:pt x="22135" y="50585"/>
                  <a:pt x="18374" y="61609"/>
                  <a:pt x="18374" y="73495"/>
                </a:cubicBezTo>
                <a:cubicBezTo>
                  <a:pt x="18374" y="103926"/>
                  <a:pt x="43063" y="128616"/>
                  <a:pt x="73495" y="128616"/>
                </a:cubicBezTo>
                <a:cubicBezTo>
                  <a:pt x="85409" y="128616"/>
                  <a:pt x="96433" y="124855"/>
                  <a:pt x="105419" y="118425"/>
                </a:cubicBezTo>
                <a:close/>
                <a:moveTo>
                  <a:pt x="118425" y="105419"/>
                </a:moveTo>
                <a:cubicBezTo>
                  <a:pt x="124855" y="96405"/>
                  <a:pt x="128616" y="85380"/>
                  <a:pt x="128616" y="73495"/>
                </a:cubicBezTo>
                <a:cubicBezTo>
                  <a:pt x="128616" y="43063"/>
                  <a:pt x="103926" y="18374"/>
                  <a:pt x="73495" y="18374"/>
                </a:cubicBezTo>
                <a:cubicBezTo>
                  <a:pt x="61581" y="18374"/>
                  <a:pt x="50557" y="22135"/>
                  <a:pt x="41571" y="28565"/>
                </a:cubicBezTo>
                <a:lnTo>
                  <a:pt x="118425" y="105419"/>
                </a:lnTo>
                <a:close/>
                <a:moveTo>
                  <a:pt x="0" y="73495"/>
                </a:moveTo>
                <a:cubicBezTo>
                  <a:pt x="0" y="32932"/>
                  <a:pt x="32932" y="0"/>
                  <a:pt x="73495" y="0"/>
                </a:cubicBezTo>
                <a:cubicBezTo>
                  <a:pt x="114058" y="0"/>
                  <a:pt x="146990" y="32932"/>
                  <a:pt x="146990" y="73495"/>
                </a:cubicBezTo>
                <a:cubicBezTo>
                  <a:pt x="146990" y="114058"/>
                  <a:pt x="114058" y="146990"/>
                  <a:pt x="73495" y="146990"/>
                </a:cubicBezTo>
                <a:cubicBezTo>
                  <a:pt x="32932" y="146990"/>
                  <a:pt x="0" y="114058"/>
                  <a:pt x="0" y="7349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9" name="Text 47"/>
          <p:cNvSpPr/>
          <p:nvPr/>
        </p:nvSpPr>
        <p:spPr>
          <a:xfrm>
            <a:off x="6640407" y="5716276"/>
            <a:ext cx="1241248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打闹闲聊，忽视顾客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79092" y="6002090"/>
            <a:ext cx="146990" cy="146990"/>
          </a:xfrm>
          <a:custGeom>
            <a:avLst/>
            <a:gdLst/>
            <a:ahLst/>
            <a:cxnLst/>
            <a:rect l="l" t="t" r="r" b="b"/>
            <a:pathLst>
              <a:path w="146990" h="146990">
                <a:moveTo>
                  <a:pt x="105419" y="118425"/>
                </a:moveTo>
                <a:lnTo>
                  <a:pt x="28565" y="41571"/>
                </a:lnTo>
                <a:cubicBezTo>
                  <a:pt x="22135" y="50585"/>
                  <a:pt x="18374" y="61609"/>
                  <a:pt x="18374" y="73495"/>
                </a:cubicBezTo>
                <a:cubicBezTo>
                  <a:pt x="18374" y="103926"/>
                  <a:pt x="43063" y="128616"/>
                  <a:pt x="73495" y="128616"/>
                </a:cubicBezTo>
                <a:cubicBezTo>
                  <a:pt x="85409" y="128616"/>
                  <a:pt x="96433" y="124855"/>
                  <a:pt x="105419" y="118425"/>
                </a:cubicBezTo>
                <a:close/>
                <a:moveTo>
                  <a:pt x="118425" y="105419"/>
                </a:moveTo>
                <a:cubicBezTo>
                  <a:pt x="124855" y="96405"/>
                  <a:pt x="128616" y="85380"/>
                  <a:pt x="128616" y="73495"/>
                </a:cubicBezTo>
                <a:cubicBezTo>
                  <a:pt x="128616" y="43063"/>
                  <a:pt x="103926" y="18374"/>
                  <a:pt x="73495" y="18374"/>
                </a:cubicBezTo>
                <a:cubicBezTo>
                  <a:pt x="61581" y="18374"/>
                  <a:pt x="50557" y="22135"/>
                  <a:pt x="41571" y="28565"/>
                </a:cubicBezTo>
                <a:lnTo>
                  <a:pt x="118425" y="105419"/>
                </a:lnTo>
                <a:close/>
                <a:moveTo>
                  <a:pt x="0" y="73495"/>
                </a:moveTo>
                <a:cubicBezTo>
                  <a:pt x="0" y="32932"/>
                  <a:pt x="32932" y="0"/>
                  <a:pt x="73495" y="0"/>
                </a:cubicBezTo>
                <a:cubicBezTo>
                  <a:pt x="114058" y="0"/>
                  <a:pt x="146990" y="32932"/>
                  <a:pt x="146990" y="73495"/>
                </a:cubicBezTo>
                <a:cubicBezTo>
                  <a:pt x="146990" y="114058"/>
                  <a:pt x="114058" y="146990"/>
                  <a:pt x="73495" y="146990"/>
                </a:cubicBezTo>
                <a:cubicBezTo>
                  <a:pt x="32932" y="146990"/>
                  <a:pt x="0" y="114058"/>
                  <a:pt x="0" y="7349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1" name="Text 49"/>
          <p:cNvSpPr/>
          <p:nvPr/>
        </p:nvSpPr>
        <p:spPr>
          <a:xfrm>
            <a:off x="6640407" y="5977591"/>
            <a:ext cx="979933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倚靠柜台玩手机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79092" y="6263405"/>
            <a:ext cx="146990" cy="146990"/>
          </a:xfrm>
          <a:custGeom>
            <a:avLst/>
            <a:gdLst/>
            <a:ahLst/>
            <a:cxnLst/>
            <a:rect l="l" t="t" r="r" b="b"/>
            <a:pathLst>
              <a:path w="146990" h="146990">
                <a:moveTo>
                  <a:pt x="105419" y="118425"/>
                </a:moveTo>
                <a:lnTo>
                  <a:pt x="28565" y="41571"/>
                </a:lnTo>
                <a:cubicBezTo>
                  <a:pt x="22135" y="50585"/>
                  <a:pt x="18374" y="61609"/>
                  <a:pt x="18374" y="73495"/>
                </a:cubicBezTo>
                <a:cubicBezTo>
                  <a:pt x="18374" y="103926"/>
                  <a:pt x="43063" y="128616"/>
                  <a:pt x="73495" y="128616"/>
                </a:cubicBezTo>
                <a:cubicBezTo>
                  <a:pt x="85409" y="128616"/>
                  <a:pt x="96433" y="124855"/>
                  <a:pt x="105419" y="118425"/>
                </a:cubicBezTo>
                <a:close/>
                <a:moveTo>
                  <a:pt x="118425" y="105419"/>
                </a:moveTo>
                <a:cubicBezTo>
                  <a:pt x="124855" y="96405"/>
                  <a:pt x="128616" y="85380"/>
                  <a:pt x="128616" y="73495"/>
                </a:cubicBezTo>
                <a:cubicBezTo>
                  <a:pt x="128616" y="43063"/>
                  <a:pt x="103926" y="18374"/>
                  <a:pt x="73495" y="18374"/>
                </a:cubicBezTo>
                <a:cubicBezTo>
                  <a:pt x="61581" y="18374"/>
                  <a:pt x="50557" y="22135"/>
                  <a:pt x="41571" y="28565"/>
                </a:cubicBezTo>
                <a:lnTo>
                  <a:pt x="118425" y="105419"/>
                </a:lnTo>
                <a:close/>
                <a:moveTo>
                  <a:pt x="0" y="73495"/>
                </a:moveTo>
                <a:cubicBezTo>
                  <a:pt x="0" y="32932"/>
                  <a:pt x="32932" y="0"/>
                  <a:pt x="73495" y="0"/>
                </a:cubicBezTo>
                <a:cubicBezTo>
                  <a:pt x="114058" y="0"/>
                  <a:pt x="146990" y="32932"/>
                  <a:pt x="146990" y="73495"/>
                </a:cubicBezTo>
                <a:cubicBezTo>
                  <a:pt x="146990" y="114058"/>
                  <a:pt x="114058" y="146990"/>
                  <a:pt x="73495" y="146990"/>
                </a:cubicBezTo>
                <a:cubicBezTo>
                  <a:pt x="32932" y="146990"/>
                  <a:pt x="0" y="114058"/>
                  <a:pt x="0" y="7349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3" name="Text 51"/>
          <p:cNvSpPr/>
          <p:nvPr/>
        </p:nvSpPr>
        <p:spPr>
          <a:xfrm>
            <a:off x="6640407" y="6238907"/>
            <a:ext cx="1241248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接待顾客时语言粗俗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79092" y="6524721"/>
            <a:ext cx="146990" cy="146990"/>
          </a:xfrm>
          <a:custGeom>
            <a:avLst/>
            <a:gdLst/>
            <a:ahLst/>
            <a:cxnLst/>
            <a:rect l="l" t="t" r="r" b="b"/>
            <a:pathLst>
              <a:path w="146990" h="146990">
                <a:moveTo>
                  <a:pt x="105419" y="118425"/>
                </a:moveTo>
                <a:lnTo>
                  <a:pt x="28565" y="41571"/>
                </a:lnTo>
                <a:cubicBezTo>
                  <a:pt x="22135" y="50585"/>
                  <a:pt x="18374" y="61609"/>
                  <a:pt x="18374" y="73495"/>
                </a:cubicBezTo>
                <a:cubicBezTo>
                  <a:pt x="18374" y="103926"/>
                  <a:pt x="43063" y="128616"/>
                  <a:pt x="73495" y="128616"/>
                </a:cubicBezTo>
                <a:cubicBezTo>
                  <a:pt x="85409" y="128616"/>
                  <a:pt x="96433" y="124855"/>
                  <a:pt x="105419" y="118425"/>
                </a:cubicBezTo>
                <a:close/>
                <a:moveTo>
                  <a:pt x="118425" y="105419"/>
                </a:moveTo>
                <a:cubicBezTo>
                  <a:pt x="124855" y="96405"/>
                  <a:pt x="128616" y="85380"/>
                  <a:pt x="128616" y="73495"/>
                </a:cubicBezTo>
                <a:cubicBezTo>
                  <a:pt x="128616" y="43063"/>
                  <a:pt x="103926" y="18374"/>
                  <a:pt x="73495" y="18374"/>
                </a:cubicBezTo>
                <a:cubicBezTo>
                  <a:pt x="61581" y="18374"/>
                  <a:pt x="50557" y="22135"/>
                  <a:pt x="41571" y="28565"/>
                </a:cubicBezTo>
                <a:lnTo>
                  <a:pt x="118425" y="105419"/>
                </a:lnTo>
                <a:close/>
                <a:moveTo>
                  <a:pt x="0" y="73495"/>
                </a:moveTo>
                <a:cubicBezTo>
                  <a:pt x="0" y="32932"/>
                  <a:pt x="32932" y="0"/>
                  <a:pt x="73495" y="0"/>
                </a:cubicBezTo>
                <a:cubicBezTo>
                  <a:pt x="114058" y="0"/>
                  <a:pt x="146990" y="32932"/>
                  <a:pt x="146990" y="73495"/>
                </a:cubicBezTo>
                <a:cubicBezTo>
                  <a:pt x="146990" y="114058"/>
                  <a:pt x="114058" y="146990"/>
                  <a:pt x="73495" y="146990"/>
                </a:cubicBezTo>
                <a:cubicBezTo>
                  <a:pt x="32932" y="146990"/>
                  <a:pt x="0" y="114058"/>
                  <a:pt x="0" y="7349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5" name="Text 53"/>
          <p:cNvSpPr/>
          <p:nvPr/>
        </p:nvSpPr>
        <p:spPr>
          <a:xfrm>
            <a:off x="6640407" y="6500222"/>
            <a:ext cx="1241248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态度冷漠，缺乏热情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01 · SCRIPT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迎宾截流 · 话术总结与重点掌握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14313"/>
                </a:moveTo>
                <a:cubicBezTo>
                  <a:pt x="177433" y="214313"/>
                  <a:pt x="228600" y="166315"/>
                  <a:pt x="228600" y="107156"/>
                </a:cubicBezTo>
                <a:cubicBezTo>
                  <a:pt x="228600" y="47997"/>
                  <a:pt x="177433" y="0"/>
                  <a:pt x="114300" y="0"/>
                </a:cubicBezTo>
                <a:cubicBezTo>
                  <a:pt x="51167" y="0"/>
                  <a:pt x="0" y="47997"/>
                  <a:pt x="0" y="107156"/>
                </a:cubicBezTo>
                <a:cubicBezTo>
                  <a:pt x="0" y="131400"/>
                  <a:pt x="8573" y="153725"/>
                  <a:pt x="23039" y="171673"/>
                </a:cubicBezTo>
                <a:lnTo>
                  <a:pt x="1250" y="212884"/>
                </a:lnTo>
                <a:cubicBezTo>
                  <a:pt x="-893" y="216902"/>
                  <a:pt x="-223" y="221813"/>
                  <a:pt x="2858" y="225162"/>
                </a:cubicBezTo>
                <a:cubicBezTo>
                  <a:pt x="5938" y="228511"/>
                  <a:pt x="10805" y="229538"/>
                  <a:pt x="14957" y="227752"/>
                </a:cubicBezTo>
                <a:lnTo>
                  <a:pt x="67821" y="205115"/>
                </a:lnTo>
                <a:cubicBezTo>
                  <a:pt x="82019" y="211009"/>
                  <a:pt x="97735" y="214313"/>
                  <a:pt x="114300" y="214313"/>
                </a:cubicBezTo>
                <a:close/>
                <a:moveTo>
                  <a:pt x="57150" y="92869"/>
                </a:moveTo>
                <a:cubicBezTo>
                  <a:pt x="65035" y="92869"/>
                  <a:pt x="71438" y="99271"/>
                  <a:pt x="71438" y="107156"/>
                </a:cubicBezTo>
                <a:cubicBezTo>
                  <a:pt x="71438" y="115042"/>
                  <a:pt x="65035" y="121444"/>
                  <a:pt x="57150" y="121444"/>
                </a:cubicBezTo>
                <a:cubicBezTo>
                  <a:pt x="49265" y="121444"/>
                  <a:pt x="42863" y="115042"/>
                  <a:pt x="42863" y="107156"/>
                </a:cubicBezTo>
                <a:cubicBezTo>
                  <a:pt x="42863" y="99271"/>
                  <a:pt x="49265" y="92869"/>
                  <a:pt x="57150" y="92869"/>
                </a:cubicBezTo>
                <a:close/>
                <a:moveTo>
                  <a:pt x="114300" y="92869"/>
                </a:moveTo>
                <a:cubicBezTo>
                  <a:pt x="122185" y="92869"/>
                  <a:pt x="128588" y="99271"/>
                  <a:pt x="128588" y="107156"/>
                </a:cubicBezTo>
                <a:cubicBezTo>
                  <a:pt x="128588" y="115042"/>
                  <a:pt x="122185" y="121444"/>
                  <a:pt x="114300" y="121444"/>
                </a:cubicBezTo>
                <a:cubicBezTo>
                  <a:pt x="106415" y="121444"/>
                  <a:pt x="100013" y="115042"/>
                  <a:pt x="100013" y="107156"/>
                </a:cubicBezTo>
                <a:cubicBezTo>
                  <a:pt x="100013" y="99271"/>
                  <a:pt x="106415" y="92869"/>
                  <a:pt x="114300" y="92869"/>
                </a:cubicBezTo>
                <a:close/>
                <a:moveTo>
                  <a:pt x="157163" y="107156"/>
                </a:moveTo>
                <a:cubicBezTo>
                  <a:pt x="157163" y="99271"/>
                  <a:pt x="163565" y="92869"/>
                  <a:pt x="171450" y="92869"/>
                </a:cubicBezTo>
                <a:cubicBezTo>
                  <a:pt x="179335" y="92869"/>
                  <a:pt x="185738" y="99271"/>
                  <a:pt x="185738" y="107156"/>
                </a:cubicBezTo>
                <a:cubicBezTo>
                  <a:pt x="185738" y="115042"/>
                  <a:pt x="179335" y="121444"/>
                  <a:pt x="171450" y="121444"/>
                </a:cubicBezTo>
                <a:cubicBezTo>
                  <a:pt x="163565" y="121444"/>
                  <a:pt x="157163" y="115042"/>
                  <a:pt x="157163" y="10715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标准话术模板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1600200"/>
          </a:xfrm>
          <a:custGeom>
            <a:avLst/>
            <a:gdLst/>
            <a:ahLst/>
            <a:cxnLst/>
            <a:rect l="l" t="t" r="r" b="b"/>
            <a:pathLst>
              <a:path w="5581650" h="16002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1523998"/>
                </a:lnTo>
                <a:cubicBezTo>
                  <a:pt x="5581650" y="1566083"/>
                  <a:pt x="5547533" y="1600200"/>
                  <a:pt x="55054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Text 6"/>
          <p:cNvSpPr/>
          <p:nvPr/>
        </p:nvSpPr>
        <p:spPr>
          <a:xfrm>
            <a:off x="609600" y="18669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门外迎宾话术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479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"您好，欢迎光临凯施迪男装！"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5527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"早上好/下午好，欢迎进店看看！"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8575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"您好，我们刚到新款POLO，欢迎进店选购！"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429000"/>
            <a:ext cx="5581650" cy="1600200"/>
          </a:xfrm>
          <a:custGeom>
            <a:avLst/>
            <a:gdLst/>
            <a:ahLst/>
            <a:cxnLst/>
            <a:rect l="l" t="t" r="r" b="b"/>
            <a:pathLst>
              <a:path w="5581650" h="16002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1523998"/>
                </a:lnTo>
                <a:cubicBezTo>
                  <a:pt x="5581650" y="1566083"/>
                  <a:pt x="5547533" y="1600200"/>
                  <a:pt x="55054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34290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Text 12"/>
          <p:cNvSpPr/>
          <p:nvPr/>
        </p:nvSpPr>
        <p:spPr>
          <a:xfrm>
            <a:off x="609600" y="36195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店内引导话术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40005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"您好，请随意看看，有需要随时叫我。"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43053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"欢迎光临，这边是我们最新上市的POLO生活系列。"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46101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"您好，请问是想选购POLO装还是休闲装？"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5810250"/>
            <a:ext cx="5600700" cy="857250"/>
          </a:xfrm>
          <a:custGeom>
            <a:avLst/>
            <a:gdLst/>
            <a:ahLst/>
            <a:cxnLst/>
            <a:rect l="l" t="t" r="r" b="b"/>
            <a:pathLst>
              <a:path w="5600700" h="857250">
                <a:moveTo>
                  <a:pt x="76201" y="0"/>
                </a:moveTo>
                <a:lnTo>
                  <a:pt x="5524499" y="0"/>
                </a:lnTo>
                <a:cubicBezTo>
                  <a:pt x="5566584" y="0"/>
                  <a:pt x="5600700" y="34116"/>
                  <a:pt x="5600700" y="76201"/>
                </a:cubicBezTo>
                <a:lnTo>
                  <a:pt x="5600700" y="781049"/>
                </a:lnTo>
                <a:cubicBezTo>
                  <a:pt x="5600700" y="823134"/>
                  <a:pt x="5566584" y="857250"/>
                  <a:pt x="5524499" y="857250"/>
                </a:cubicBezTo>
                <a:lnTo>
                  <a:pt x="76201" y="857250"/>
                </a:lnTo>
                <a:cubicBezTo>
                  <a:pt x="34116" y="857250"/>
                  <a:pt x="0" y="823134"/>
                  <a:pt x="0" y="7810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533400" y="596265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话术要点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3400" y="6267450"/>
            <a:ext cx="5372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声音要洪亮清晰，语速适中，语调热情友好，配合微笑和眼神交流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88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2" name="Text 20"/>
          <p:cNvSpPr/>
          <p:nvPr/>
        </p:nvSpPr>
        <p:spPr>
          <a:xfrm>
            <a:off x="6610350" y="12192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重点掌握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1676400"/>
            <a:ext cx="5600700" cy="3200400"/>
          </a:xfrm>
          <a:custGeom>
            <a:avLst/>
            <a:gdLst/>
            <a:ahLst/>
            <a:cxnLst/>
            <a:rect l="l" t="t" r="r" b="b"/>
            <a:pathLst>
              <a:path w="5600700" h="3200400">
                <a:moveTo>
                  <a:pt x="76202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3124198"/>
                </a:lnTo>
                <a:cubicBezTo>
                  <a:pt x="5600700" y="3166283"/>
                  <a:pt x="5566583" y="3200400"/>
                  <a:pt x="5524498" y="3200400"/>
                </a:cubicBezTo>
                <a:lnTo>
                  <a:pt x="76202" y="3200400"/>
                </a:lnTo>
                <a:cubicBezTo>
                  <a:pt x="34117" y="3200400"/>
                  <a:pt x="0" y="3166283"/>
                  <a:pt x="0" y="3124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6400800" y="1866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5" name="Shape 23"/>
          <p:cNvSpPr/>
          <p:nvPr/>
        </p:nvSpPr>
        <p:spPr>
          <a:xfrm>
            <a:off x="6510338" y="2000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98537" y="12092"/>
                </a:moveTo>
                <a:cubicBezTo>
                  <a:pt x="194704" y="8967"/>
                  <a:pt x="189086" y="9562"/>
                  <a:pt x="185961" y="13395"/>
                </a:cubicBezTo>
                <a:cubicBezTo>
                  <a:pt x="182835" y="17227"/>
                  <a:pt x="183431" y="22845"/>
                  <a:pt x="187263" y="25971"/>
                </a:cubicBezTo>
                <a:cubicBezTo>
                  <a:pt x="207429" y="42342"/>
                  <a:pt x="220266" y="67270"/>
                  <a:pt x="220266" y="95250"/>
                </a:cubicBezTo>
                <a:cubicBezTo>
                  <a:pt x="220266" y="123230"/>
                  <a:pt x="207429" y="148158"/>
                  <a:pt x="187263" y="164567"/>
                </a:cubicBezTo>
                <a:cubicBezTo>
                  <a:pt x="183431" y="167692"/>
                  <a:pt x="182873" y="173310"/>
                  <a:pt x="185961" y="177143"/>
                </a:cubicBezTo>
                <a:cubicBezTo>
                  <a:pt x="189049" y="180975"/>
                  <a:pt x="194704" y="181533"/>
                  <a:pt x="198537" y="178445"/>
                </a:cubicBezTo>
                <a:cubicBezTo>
                  <a:pt x="222684" y="158762"/>
                  <a:pt x="238125" y="128811"/>
                  <a:pt x="238125" y="95250"/>
                </a:cubicBezTo>
                <a:cubicBezTo>
                  <a:pt x="238125" y="61689"/>
                  <a:pt x="222684" y="31700"/>
                  <a:pt x="198537" y="12092"/>
                </a:cubicBezTo>
                <a:close/>
                <a:moveTo>
                  <a:pt x="176026" y="39812"/>
                </a:moveTo>
                <a:cubicBezTo>
                  <a:pt x="172194" y="36686"/>
                  <a:pt x="166576" y="37281"/>
                  <a:pt x="163450" y="41114"/>
                </a:cubicBezTo>
                <a:cubicBezTo>
                  <a:pt x="160325" y="44946"/>
                  <a:pt x="160920" y="50564"/>
                  <a:pt x="164753" y="53690"/>
                </a:cubicBezTo>
                <a:cubicBezTo>
                  <a:pt x="176845" y="63512"/>
                  <a:pt x="184547" y="78470"/>
                  <a:pt x="184547" y="95250"/>
                </a:cubicBezTo>
                <a:cubicBezTo>
                  <a:pt x="184547" y="112030"/>
                  <a:pt x="176845" y="126988"/>
                  <a:pt x="164753" y="136847"/>
                </a:cubicBezTo>
                <a:cubicBezTo>
                  <a:pt x="160920" y="139973"/>
                  <a:pt x="160362" y="145591"/>
                  <a:pt x="163450" y="149423"/>
                </a:cubicBezTo>
                <a:cubicBezTo>
                  <a:pt x="166539" y="153256"/>
                  <a:pt x="172194" y="153814"/>
                  <a:pt x="176026" y="150726"/>
                </a:cubicBezTo>
                <a:cubicBezTo>
                  <a:pt x="192100" y="137629"/>
                  <a:pt x="202406" y="117649"/>
                  <a:pt x="202406" y="95287"/>
                </a:cubicBezTo>
                <a:cubicBezTo>
                  <a:pt x="202406" y="72926"/>
                  <a:pt x="192100" y="52946"/>
                  <a:pt x="176026" y="39849"/>
                </a:cubicBezTo>
                <a:close/>
                <a:moveTo>
                  <a:pt x="153516" y="67531"/>
                </a:moveTo>
                <a:cubicBezTo>
                  <a:pt x="149684" y="64405"/>
                  <a:pt x="144066" y="65001"/>
                  <a:pt x="140940" y="68833"/>
                </a:cubicBezTo>
                <a:cubicBezTo>
                  <a:pt x="137815" y="72665"/>
                  <a:pt x="138410" y="78284"/>
                  <a:pt x="142242" y="81409"/>
                </a:cubicBezTo>
                <a:cubicBezTo>
                  <a:pt x="146261" y="84683"/>
                  <a:pt x="148828" y="89669"/>
                  <a:pt x="148828" y="95250"/>
                </a:cubicBezTo>
                <a:cubicBezTo>
                  <a:pt x="148828" y="100831"/>
                  <a:pt x="146261" y="105817"/>
                  <a:pt x="142242" y="109128"/>
                </a:cubicBezTo>
                <a:cubicBezTo>
                  <a:pt x="138410" y="112254"/>
                  <a:pt x="137852" y="117872"/>
                  <a:pt x="140940" y="121704"/>
                </a:cubicBezTo>
                <a:cubicBezTo>
                  <a:pt x="144028" y="125537"/>
                  <a:pt x="149684" y="126095"/>
                  <a:pt x="153516" y="123006"/>
                </a:cubicBezTo>
                <a:cubicBezTo>
                  <a:pt x="161516" y="116421"/>
                  <a:pt x="166688" y="106449"/>
                  <a:pt x="166688" y="95250"/>
                </a:cubicBezTo>
                <a:cubicBezTo>
                  <a:pt x="166688" y="84051"/>
                  <a:pt x="161516" y="74079"/>
                  <a:pt x="153516" y="67531"/>
                </a:cubicBezTo>
                <a:close/>
                <a:moveTo>
                  <a:pt x="29766" y="130969"/>
                </a:moveTo>
                <a:lnTo>
                  <a:pt x="47625" y="130969"/>
                </a:lnTo>
                <a:lnTo>
                  <a:pt x="97520" y="175320"/>
                </a:lnTo>
                <a:cubicBezTo>
                  <a:pt x="99901" y="177440"/>
                  <a:pt x="102952" y="178594"/>
                  <a:pt x="106114" y="178594"/>
                </a:cubicBezTo>
                <a:cubicBezTo>
                  <a:pt x="113258" y="178594"/>
                  <a:pt x="119063" y="172789"/>
                  <a:pt x="119063" y="165646"/>
                </a:cubicBezTo>
                <a:lnTo>
                  <a:pt x="119063" y="24854"/>
                </a:lnTo>
                <a:cubicBezTo>
                  <a:pt x="119063" y="17711"/>
                  <a:pt x="113258" y="11906"/>
                  <a:pt x="106114" y="11906"/>
                </a:cubicBezTo>
                <a:cubicBezTo>
                  <a:pt x="102952" y="11906"/>
                  <a:pt x="99901" y="13060"/>
                  <a:pt x="97520" y="15180"/>
                </a:cubicBezTo>
                <a:lnTo>
                  <a:pt x="47625" y="59531"/>
                </a:lnTo>
                <a:lnTo>
                  <a:pt x="29766" y="59531"/>
                </a:lnTo>
                <a:cubicBezTo>
                  <a:pt x="19906" y="59531"/>
                  <a:pt x="11906" y="67531"/>
                  <a:pt x="11906" y="77391"/>
                </a:cubicBezTo>
                <a:lnTo>
                  <a:pt x="11906" y="113109"/>
                </a:lnTo>
                <a:cubicBezTo>
                  <a:pt x="11906" y="122969"/>
                  <a:pt x="19906" y="130969"/>
                  <a:pt x="29766" y="13096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7010400" y="1866900"/>
            <a:ext cx="3590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声音热情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0400" y="2209800"/>
            <a:ext cx="3581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用饱满的热情声音问候顾客，让顾客感受到真诚欢迎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2609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9" name="Shape 27"/>
          <p:cNvSpPr/>
          <p:nvPr/>
        </p:nvSpPr>
        <p:spPr>
          <a:xfrm>
            <a:off x="6522244" y="27432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7010400" y="2609850"/>
            <a:ext cx="2676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眼神交往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10400" y="295275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与顾客保持眼神交流，传递关注和尊重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0" y="3352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3" name="Shape 31"/>
          <p:cNvSpPr/>
          <p:nvPr/>
        </p:nvSpPr>
        <p:spPr>
          <a:xfrm>
            <a:off x="6534150" y="3486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7010400" y="3352800"/>
            <a:ext cx="2609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3秒响应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10400" y="3695700"/>
            <a:ext cx="26003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顾客进店后3秒内做出响应，及时问候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0" y="4095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7" name="Shape 35"/>
          <p:cNvSpPr/>
          <p:nvPr/>
        </p:nvSpPr>
        <p:spPr>
          <a:xfrm>
            <a:off x="6557963" y="42291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29766"/>
                </a:moveTo>
                <a:cubicBezTo>
                  <a:pt x="82937" y="29766"/>
                  <a:pt x="92273" y="20429"/>
                  <a:pt x="92273" y="8930"/>
                </a:cubicBezTo>
                <a:cubicBezTo>
                  <a:pt x="92273" y="-2570"/>
                  <a:pt x="82937" y="-11906"/>
                  <a:pt x="71438" y="-11906"/>
                </a:cubicBezTo>
                <a:cubicBezTo>
                  <a:pt x="59938" y="-11906"/>
                  <a:pt x="50602" y="-2570"/>
                  <a:pt x="50602" y="8930"/>
                </a:cubicBezTo>
                <a:cubicBezTo>
                  <a:pt x="50602" y="20429"/>
                  <a:pt x="59938" y="29766"/>
                  <a:pt x="71438" y="29766"/>
                </a:cubicBezTo>
                <a:close/>
                <a:moveTo>
                  <a:pt x="39216" y="84795"/>
                </a:moveTo>
                <a:lnTo>
                  <a:pt x="47625" y="76386"/>
                </a:lnTo>
                <a:lnTo>
                  <a:pt x="47625" y="102171"/>
                </a:lnTo>
                <a:cubicBezTo>
                  <a:pt x="47625" y="112588"/>
                  <a:pt x="52164" y="122523"/>
                  <a:pt x="60089" y="129294"/>
                </a:cubicBezTo>
                <a:lnTo>
                  <a:pt x="86655" y="152065"/>
                </a:lnTo>
                <a:cubicBezTo>
                  <a:pt x="88850" y="153963"/>
                  <a:pt x="90301" y="156567"/>
                  <a:pt x="90711" y="159432"/>
                </a:cubicBezTo>
                <a:lnTo>
                  <a:pt x="95399" y="192212"/>
                </a:lnTo>
                <a:cubicBezTo>
                  <a:pt x="96329" y="198723"/>
                  <a:pt x="102357" y="203262"/>
                  <a:pt x="108868" y="202332"/>
                </a:cubicBezTo>
                <a:cubicBezTo>
                  <a:pt x="115379" y="201402"/>
                  <a:pt x="119918" y="195374"/>
                  <a:pt x="118988" y="188863"/>
                </a:cubicBezTo>
                <a:lnTo>
                  <a:pt x="114300" y="156083"/>
                </a:lnTo>
                <a:cubicBezTo>
                  <a:pt x="113072" y="147489"/>
                  <a:pt x="108756" y="139675"/>
                  <a:pt x="102171" y="134020"/>
                </a:cubicBezTo>
                <a:lnTo>
                  <a:pt x="89334" y="123006"/>
                </a:lnTo>
                <a:lnTo>
                  <a:pt x="89334" y="80144"/>
                </a:lnTo>
                <a:lnTo>
                  <a:pt x="90748" y="81893"/>
                </a:lnTo>
                <a:cubicBezTo>
                  <a:pt x="97520" y="90376"/>
                  <a:pt x="107789" y="95287"/>
                  <a:pt x="118653" y="95287"/>
                </a:cubicBezTo>
                <a:lnTo>
                  <a:pt x="131006" y="95287"/>
                </a:lnTo>
                <a:cubicBezTo>
                  <a:pt x="137592" y="95287"/>
                  <a:pt x="142912" y="89967"/>
                  <a:pt x="142912" y="83381"/>
                </a:cubicBezTo>
                <a:cubicBezTo>
                  <a:pt x="142912" y="76795"/>
                  <a:pt x="137592" y="71475"/>
                  <a:pt x="131006" y="71475"/>
                </a:cubicBezTo>
                <a:lnTo>
                  <a:pt x="118653" y="71475"/>
                </a:lnTo>
                <a:cubicBezTo>
                  <a:pt x="115044" y="71475"/>
                  <a:pt x="111621" y="69838"/>
                  <a:pt x="109351" y="67010"/>
                </a:cubicBezTo>
                <a:lnTo>
                  <a:pt x="102691" y="58675"/>
                </a:lnTo>
                <a:cubicBezTo>
                  <a:pt x="94134" y="47960"/>
                  <a:pt x="81149" y="41709"/>
                  <a:pt x="67419" y="41709"/>
                </a:cubicBezTo>
                <a:cubicBezTo>
                  <a:pt x="55438" y="41709"/>
                  <a:pt x="43942" y="46472"/>
                  <a:pt x="35496" y="54955"/>
                </a:cubicBezTo>
                <a:lnTo>
                  <a:pt x="22361" y="67940"/>
                </a:lnTo>
                <a:cubicBezTo>
                  <a:pt x="15664" y="74637"/>
                  <a:pt x="11906" y="83716"/>
                  <a:pt x="11906" y="93204"/>
                </a:cubicBezTo>
                <a:lnTo>
                  <a:pt x="11906" y="107156"/>
                </a:lnTo>
                <a:cubicBezTo>
                  <a:pt x="11906" y="113742"/>
                  <a:pt x="17227" y="119063"/>
                  <a:pt x="23812" y="119063"/>
                </a:cubicBezTo>
                <a:cubicBezTo>
                  <a:pt x="30398" y="119063"/>
                  <a:pt x="35719" y="113742"/>
                  <a:pt x="35719" y="107156"/>
                </a:cubicBezTo>
                <a:lnTo>
                  <a:pt x="35719" y="93204"/>
                </a:lnTo>
                <a:cubicBezTo>
                  <a:pt x="35719" y="90041"/>
                  <a:pt x="36984" y="87027"/>
                  <a:pt x="39216" y="84795"/>
                </a:cubicBezTo>
                <a:close/>
                <a:moveTo>
                  <a:pt x="43830" y="151544"/>
                </a:moveTo>
                <a:cubicBezTo>
                  <a:pt x="43272" y="153479"/>
                  <a:pt x="42230" y="155265"/>
                  <a:pt x="40816" y="156679"/>
                </a:cubicBezTo>
                <a:lnTo>
                  <a:pt x="15404" y="182091"/>
                </a:lnTo>
                <a:cubicBezTo>
                  <a:pt x="10753" y="186742"/>
                  <a:pt x="10753" y="194295"/>
                  <a:pt x="15404" y="198946"/>
                </a:cubicBezTo>
                <a:cubicBezTo>
                  <a:pt x="20055" y="203597"/>
                  <a:pt x="27608" y="203597"/>
                  <a:pt x="32258" y="198946"/>
                </a:cubicBezTo>
                <a:lnTo>
                  <a:pt x="57671" y="173534"/>
                </a:lnTo>
                <a:cubicBezTo>
                  <a:pt x="61950" y="169255"/>
                  <a:pt x="65075" y="163934"/>
                  <a:pt x="66749" y="158093"/>
                </a:cubicBezTo>
                <a:lnTo>
                  <a:pt x="67568" y="155265"/>
                </a:lnTo>
                <a:lnTo>
                  <a:pt x="50453" y="140605"/>
                </a:lnTo>
                <a:cubicBezTo>
                  <a:pt x="49523" y="139787"/>
                  <a:pt x="48592" y="138968"/>
                  <a:pt x="47699" y="138075"/>
                </a:cubicBezTo>
                <a:lnTo>
                  <a:pt x="43830" y="15154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7010400" y="4095750"/>
            <a:ext cx="2828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避免紧迫跟随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10400" y="4438650"/>
            <a:ext cx="2819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给顾客浏览空间，不过度打扰，适时引导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300" y="5029200"/>
            <a:ext cx="5600700" cy="1638300"/>
          </a:xfrm>
          <a:custGeom>
            <a:avLst/>
            <a:gdLst/>
            <a:ahLst/>
            <a:cxnLst/>
            <a:rect l="l" t="t" r="r" b="b"/>
            <a:pathLst>
              <a:path w="5600700" h="1638300">
                <a:moveTo>
                  <a:pt x="76197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1562103"/>
                </a:lnTo>
                <a:cubicBezTo>
                  <a:pt x="5600700" y="1604185"/>
                  <a:pt x="5566585" y="1638300"/>
                  <a:pt x="55245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362700" y="51816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自检清单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1275" y="5524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91797" y="63311"/>
                </a:moveTo>
                <a:lnTo>
                  <a:pt x="67985" y="101411"/>
                </a:lnTo>
                <a:cubicBezTo>
                  <a:pt x="66735" y="103406"/>
                  <a:pt x="64591" y="104656"/>
                  <a:pt x="62240" y="104775"/>
                </a:cubicBezTo>
                <a:cubicBezTo>
                  <a:pt x="59888" y="104894"/>
                  <a:pt x="57626" y="103823"/>
                  <a:pt x="56227" y="101918"/>
                </a:cubicBezTo>
                <a:lnTo>
                  <a:pt x="41940" y="82867"/>
                </a:lnTo>
                <a:cubicBezTo>
                  <a:pt x="39559" y="79712"/>
                  <a:pt x="40213" y="75248"/>
                  <a:pt x="43369" y="72866"/>
                </a:cubicBezTo>
                <a:cubicBezTo>
                  <a:pt x="46524" y="70485"/>
                  <a:pt x="50989" y="71140"/>
                  <a:pt x="53370" y="74295"/>
                </a:cubicBezTo>
                <a:lnTo>
                  <a:pt x="61406" y="85011"/>
                </a:lnTo>
                <a:lnTo>
                  <a:pt x="79683" y="55751"/>
                </a:lnTo>
                <a:cubicBezTo>
                  <a:pt x="81766" y="52417"/>
                  <a:pt x="86171" y="51375"/>
                  <a:pt x="89535" y="53489"/>
                </a:cubicBezTo>
                <a:cubicBezTo>
                  <a:pt x="92899" y="55602"/>
                  <a:pt x="93911" y="59978"/>
                  <a:pt x="91797" y="63341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Text 41"/>
          <p:cNvSpPr/>
          <p:nvPr/>
        </p:nvSpPr>
        <p:spPr>
          <a:xfrm>
            <a:off x="6629400" y="54864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是否保持专业仪容仪表？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1275" y="5791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91797" y="63311"/>
                </a:moveTo>
                <a:lnTo>
                  <a:pt x="67985" y="101411"/>
                </a:lnTo>
                <a:cubicBezTo>
                  <a:pt x="66735" y="103406"/>
                  <a:pt x="64591" y="104656"/>
                  <a:pt x="62240" y="104775"/>
                </a:cubicBezTo>
                <a:cubicBezTo>
                  <a:pt x="59888" y="104894"/>
                  <a:pt x="57626" y="103823"/>
                  <a:pt x="56227" y="101918"/>
                </a:cubicBezTo>
                <a:lnTo>
                  <a:pt x="41940" y="82867"/>
                </a:lnTo>
                <a:cubicBezTo>
                  <a:pt x="39559" y="79712"/>
                  <a:pt x="40213" y="75248"/>
                  <a:pt x="43369" y="72866"/>
                </a:cubicBezTo>
                <a:cubicBezTo>
                  <a:pt x="46524" y="70485"/>
                  <a:pt x="50989" y="71140"/>
                  <a:pt x="53370" y="74295"/>
                </a:cubicBezTo>
                <a:lnTo>
                  <a:pt x="61406" y="85011"/>
                </a:lnTo>
                <a:lnTo>
                  <a:pt x="79683" y="55751"/>
                </a:lnTo>
                <a:cubicBezTo>
                  <a:pt x="81766" y="52417"/>
                  <a:pt x="86171" y="51375"/>
                  <a:pt x="89535" y="53489"/>
                </a:cubicBezTo>
                <a:cubicBezTo>
                  <a:pt x="92899" y="55602"/>
                  <a:pt x="93911" y="59978"/>
                  <a:pt x="91797" y="63341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6629400" y="5753100"/>
            <a:ext cx="1533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是否3秒内响应顾客？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1275" y="6057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91797" y="63311"/>
                </a:moveTo>
                <a:lnTo>
                  <a:pt x="67985" y="101411"/>
                </a:lnTo>
                <a:cubicBezTo>
                  <a:pt x="66735" y="103406"/>
                  <a:pt x="64591" y="104656"/>
                  <a:pt x="62240" y="104775"/>
                </a:cubicBezTo>
                <a:cubicBezTo>
                  <a:pt x="59888" y="104894"/>
                  <a:pt x="57626" y="103823"/>
                  <a:pt x="56227" y="101918"/>
                </a:cubicBezTo>
                <a:lnTo>
                  <a:pt x="41940" y="82867"/>
                </a:lnTo>
                <a:cubicBezTo>
                  <a:pt x="39559" y="79712"/>
                  <a:pt x="40213" y="75248"/>
                  <a:pt x="43369" y="72866"/>
                </a:cubicBezTo>
                <a:cubicBezTo>
                  <a:pt x="46524" y="70485"/>
                  <a:pt x="50989" y="71140"/>
                  <a:pt x="53370" y="74295"/>
                </a:cubicBezTo>
                <a:lnTo>
                  <a:pt x="61406" y="85011"/>
                </a:lnTo>
                <a:lnTo>
                  <a:pt x="79683" y="55751"/>
                </a:lnTo>
                <a:cubicBezTo>
                  <a:pt x="81766" y="52417"/>
                  <a:pt x="86171" y="51375"/>
                  <a:pt x="89535" y="53489"/>
                </a:cubicBezTo>
                <a:cubicBezTo>
                  <a:pt x="92899" y="55602"/>
                  <a:pt x="93911" y="59978"/>
                  <a:pt x="91797" y="63341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7" name="Text 45"/>
          <p:cNvSpPr/>
          <p:nvPr/>
        </p:nvSpPr>
        <p:spPr>
          <a:xfrm>
            <a:off x="6629400" y="60198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是否保持眼神交流？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1275" y="6324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91797" y="63311"/>
                </a:moveTo>
                <a:lnTo>
                  <a:pt x="67985" y="101411"/>
                </a:lnTo>
                <a:cubicBezTo>
                  <a:pt x="66735" y="103406"/>
                  <a:pt x="64591" y="104656"/>
                  <a:pt x="62240" y="104775"/>
                </a:cubicBezTo>
                <a:cubicBezTo>
                  <a:pt x="59888" y="104894"/>
                  <a:pt x="57626" y="103823"/>
                  <a:pt x="56227" y="101918"/>
                </a:cubicBezTo>
                <a:lnTo>
                  <a:pt x="41940" y="82867"/>
                </a:lnTo>
                <a:cubicBezTo>
                  <a:pt x="39559" y="79712"/>
                  <a:pt x="40213" y="75248"/>
                  <a:pt x="43369" y="72866"/>
                </a:cubicBezTo>
                <a:cubicBezTo>
                  <a:pt x="46524" y="70485"/>
                  <a:pt x="50989" y="71140"/>
                  <a:pt x="53370" y="74295"/>
                </a:cubicBezTo>
                <a:lnTo>
                  <a:pt x="61406" y="85011"/>
                </a:lnTo>
                <a:lnTo>
                  <a:pt x="79683" y="55751"/>
                </a:lnTo>
                <a:cubicBezTo>
                  <a:pt x="81766" y="52417"/>
                  <a:pt x="86171" y="51375"/>
                  <a:pt x="89535" y="53489"/>
                </a:cubicBezTo>
                <a:cubicBezTo>
                  <a:pt x="92899" y="55602"/>
                  <a:pt x="93911" y="59978"/>
                  <a:pt x="91797" y="63341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9" name="Text 47"/>
          <p:cNvSpPr/>
          <p:nvPr/>
        </p:nvSpPr>
        <p:spPr>
          <a:xfrm>
            <a:off x="6629400" y="62865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是否给顾客足够空间？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mens_step2_observing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638973" y="2171700"/>
            <a:ext cx="2914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05623" y="2628900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301" y="35433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591348" y="3886200"/>
            <a:ext cx="3009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留意客需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29448" y="4419600"/>
            <a:ext cx="2933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观察入微 · 捕捉信号 · 把握时机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175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02 · CASE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留意客需 · 案例分析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5667375" cy="2746375"/>
          </a:xfrm>
          <a:custGeom>
            <a:avLst/>
            <a:gdLst/>
            <a:ahLst/>
            <a:cxnLst/>
            <a:rect l="l" t="t" r="r" b="b"/>
            <a:pathLst>
              <a:path w="5667375" h="2746375">
                <a:moveTo>
                  <a:pt x="31750" y="0"/>
                </a:moveTo>
                <a:lnTo>
                  <a:pt x="5603879" y="0"/>
                </a:lnTo>
                <a:cubicBezTo>
                  <a:pt x="5638947" y="0"/>
                  <a:pt x="5667375" y="28428"/>
                  <a:pt x="5667375" y="63496"/>
                </a:cubicBezTo>
                <a:lnTo>
                  <a:pt x="5667375" y="2682879"/>
                </a:lnTo>
                <a:cubicBezTo>
                  <a:pt x="5667375" y="2717947"/>
                  <a:pt x="5638947" y="2746375"/>
                  <a:pt x="5603879" y="2746375"/>
                </a:cubicBezTo>
                <a:lnTo>
                  <a:pt x="31750" y="2746375"/>
                </a:lnTo>
                <a:cubicBezTo>
                  <a:pt x="14227" y="2746375"/>
                  <a:pt x="0" y="2732148"/>
                  <a:pt x="0" y="271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33375" y="1016000"/>
            <a:ext cx="31750" cy="2746375"/>
          </a:xfrm>
          <a:custGeom>
            <a:avLst/>
            <a:gdLst/>
            <a:ahLst/>
            <a:cxnLst/>
            <a:rect l="l" t="t" r="r" b="b"/>
            <a:pathLst>
              <a:path w="31750" h="2746375">
                <a:moveTo>
                  <a:pt x="31750" y="0"/>
                </a:moveTo>
                <a:lnTo>
                  <a:pt x="31750" y="0"/>
                </a:lnTo>
                <a:lnTo>
                  <a:pt x="31750" y="2746375"/>
                </a:lnTo>
                <a:lnTo>
                  <a:pt x="31750" y="2746375"/>
                </a:lnTo>
                <a:cubicBezTo>
                  <a:pt x="14227" y="2746375"/>
                  <a:pt x="0" y="2732148"/>
                  <a:pt x="0" y="271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531813" y="1190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841375" y="1174750"/>
            <a:ext cx="1508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正面案例：敏锐观察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524000"/>
            <a:ext cx="5405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1809750"/>
            <a:ext cx="539750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顾客张先生在店内浏览，当他走到POLO区域时，停下脚步，伸手触摸一件藏青色POLO的面料，并仔细查看了价格标签。销售顾问小李注意到顾客注视该POLO超过3秒，立即上前："您好，这款</a:t>
            </a:r>
            <a:r>
              <a:rPr lang="zh-CN" alt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伊力特</a:t>
            </a: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  <a:sym typeface="+mn-ea"/>
              </a:rPr>
              <a:t>面料</a:t>
            </a: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POLO是我们本季的主打款，</a:t>
            </a:r>
            <a:r>
              <a:rPr lang="zh-CN" alt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您感受一下，像真丝一样的滑，夏天穿上身自带冰凉的空调感</a:t>
            </a: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</a:t>
            </a:r>
            <a:r>
              <a:rPr lang="zh-CN" alt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您可以试一下</a:t>
            </a: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！"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2524125"/>
            <a:ext cx="5334000" cy="1079500"/>
          </a:xfrm>
          <a:custGeom>
            <a:avLst/>
            <a:gdLst/>
            <a:ahLst/>
            <a:cxnLst/>
            <a:rect l="l" t="t" r="r" b="b"/>
            <a:pathLst>
              <a:path w="5334000" h="1079500">
                <a:moveTo>
                  <a:pt x="63496" y="0"/>
                </a:moveTo>
                <a:lnTo>
                  <a:pt x="5270504" y="0"/>
                </a:lnTo>
                <a:cubicBezTo>
                  <a:pt x="5305572" y="0"/>
                  <a:pt x="5334000" y="28428"/>
                  <a:pt x="5334000" y="63496"/>
                </a:cubicBezTo>
                <a:lnTo>
                  <a:pt x="5334000" y="1016004"/>
                </a:lnTo>
                <a:cubicBezTo>
                  <a:pt x="5334000" y="1051072"/>
                  <a:pt x="5305572" y="1079500"/>
                  <a:pt x="52705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03250" y="2619375"/>
            <a:ext cx="5207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成功要点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180" y="290512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3" name="Text 11"/>
          <p:cNvSpPr/>
          <p:nvPr/>
        </p:nvSpPr>
        <p:spPr>
          <a:xfrm>
            <a:off x="805656" y="2873375"/>
            <a:ext cx="222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关注顾客肢体语言：停留、触摸、注视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180" y="312737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805656" y="3095625"/>
            <a:ext cx="1658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把握3秒黄金时机，及时上前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180" y="334962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7" name="Text 15"/>
          <p:cNvSpPr/>
          <p:nvPr/>
        </p:nvSpPr>
        <p:spPr>
          <a:xfrm>
            <a:off x="805656" y="3317875"/>
            <a:ext cx="158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针对性介绍，引发顾客兴趣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375" y="3921125"/>
            <a:ext cx="5667375" cy="2746375"/>
          </a:xfrm>
          <a:custGeom>
            <a:avLst/>
            <a:gdLst/>
            <a:ahLst/>
            <a:cxnLst/>
            <a:rect l="l" t="t" r="r" b="b"/>
            <a:pathLst>
              <a:path w="5667375" h="2746375">
                <a:moveTo>
                  <a:pt x="31750" y="0"/>
                </a:moveTo>
                <a:lnTo>
                  <a:pt x="5603879" y="0"/>
                </a:lnTo>
                <a:cubicBezTo>
                  <a:pt x="5638947" y="0"/>
                  <a:pt x="5667375" y="28428"/>
                  <a:pt x="5667375" y="63496"/>
                </a:cubicBezTo>
                <a:lnTo>
                  <a:pt x="5667375" y="2682879"/>
                </a:lnTo>
                <a:cubicBezTo>
                  <a:pt x="5667375" y="2717947"/>
                  <a:pt x="5638947" y="2746375"/>
                  <a:pt x="5603879" y="2746375"/>
                </a:cubicBezTo>
                <a:lnTo>
                  <a:pt x="31750" y="2746375"/>
                </a:lnTo>
                <a:cubicBezTo>
                  <a:pt x="14227" y="2746375"/>
                  <a:pt x="0" y="2732148"/>
                  <a:pt x="0" y="271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333375" y="3921125"/>
            <a:ext cx="31750" cy="2746375"/>
          </a:xfrm>
          <a:custGeom>
            <a:avLst/>
            <a:gdLst/>
            <a:ahLst/>
            <a:cxnLst/>
            <a:rect l="l" t="t" r="r" b="b"/>
            <a:pathLst>
              <a:path w="31750" h="2746375">
                <a:moveTo>
                  <a:pt x="31750" y="0"/>
                </a:moveTo>
                <a:lnTo>
                  <a:pt x="31750" y="0"/>
                </a:lnTo>
                <a:lnTo>
                  <a:pt x="31750" y="2746375"/>
                </a:lnTo>
                <a:lnTo>
                  <a:pt x="31750" y="2746375"/>
                </a:lnTo>
                <a:cubicBezTo>
                  <a:pt x="14227" y="2746375"/>
                  <a:pt x="0" y="2732148"/>
                  <a:pt x="0" y="271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Shape 18"/>
          <p:cNvSpPr/>
          <p:nvPr/>
        </p:nvSpPr>
        <p:spPr>
          <a:xfrm>
            <a:off x="531813" y="4095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1" name="Text 19"/>
          <p:cNvSpPr/>
          <p:nvPr/>
        </p:nvSpPr>
        <p:spPr>
          <a:xfrm>
            <a:off x="841375" y="4079875"/>
            <a:ext cx="1508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反面案例：错失良机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8000" y="4429125"/>
            <a:ext cx="5405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8000" y="4714875"/>
            <a:ext cx="539750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顾客王先生在POLO区停留了较长时间，反复比较两件POLO，甚至试穿了一件，但销售顾问小陈一直在柜台整理货品，没有注意到顾客的需求信号。顾客最终没有购买就离开了，错失了一次成交机会。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8000" y="5429250"/>
            <a:ext cx="5334000" cy="1079500"/>
          </a:xfrm>
          <a:custGeom>
            <a:avLst/>
            <a:gdLst/>
            <a:ahLst/>
            <a:cxnLst/>
            <a:rect l="l" t="t" r="r" b="b"/>
            <a:pathLst>
              <a:path w="5334000" h="1079500">
                <a:moveTo>
                  <a:pt x="63496" y="0"/>
                </a:moveTo>
                <a:lnTo>
                  <a:pt x="5270504" y="0"/>
                </a:lnTo>
                <a:cubicBezTo>
                  <a:pt x="5305572" y="0"/>
                  <a:pt x="5334000" y="28428"/>
                  <a:pt x="5334000" y="63496"/>
                </a:cubicBezTo>
                <a:lnTo>
                  <a:pt x="5334000" y="1016004"/>
                </a:lnTo>
                <a:cubicBezTo>
                  <a:pt x="5334000" y="1051072"/>
                  <a:pt x="5305572" y="1079500"/>
                  <a:pt x="52705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03250" y="5524500"/>
            <a:ext cx="5207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问题分析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125" y="58102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8753" y="0"/>
                  <a:pt x="61683" y="1758"/>
                  <a:pt x="63202" y="4558"/>
                </a:cubicBezTo>
                <a:lnTo>
                  <a:pt x="110083" y="91374"/>
                </a:lnTo>
                <a:cubicBezTo>
                  <a:pt x="111537" y="94066"/>
                  <a:pt x="111472" y="97321"/>
                  <a:pt x="109910" y="99947"/>
                </a:cubicBezTo>
                <a:cubicBezTo>
                  <a:pt x="108347" y="102574"/>
                  <a:pt x="105504" y="104180"/>
                  <a:pt x="102443" y="104180"/>
                </a:cubicBezTo>
                <a:lnTo>
                  <a:pt x="8682" y="104180"/>
                </a:lnTo>
                <a:cubicBezTo>
                  <a:pt x="5621" y="104180"/>
                  <a:pt x="2800" y="102574"/>
                  <a:pt x="1215" y="99947"/>
                </a:cubicBezTo>
                <a:cubicBezTo>
                  <a:pt x="-369" y="97321"/>
                  <a:pt x="-412" y="94066"/>
                  <a:pt x="1042" y="91374"/>
                </a:cubicBezTo>
                <a:lnTo>
                  <a:pt x="47923" y="4558"/>
                </a:lnTo>
                <a:cubicBezTo>
                  <a:pt x="49442" y="1758"/>
                  <a:pt x="52372" y="0"/>
                  <a:pt x="55563" y="0"/>
                </a:cubicBezTo>
                <a:close/>
                <a:moveTo>
                  <a:pt x="55563" y="36463"/>
                </a:moveTo>
                <a:cubicBezTo>
                  <a:pt x="52676" y="36463"/>
                  <a:pt x="50354" y="38785"/>
                  <a:pt x="50354" y="41672"/>
                </a:cubicBezTo>
                <a:lnTo>
                  <a:pt x="50354" y="65980"/>
                </a:lnTo>
                <a:cubicBezTo>
                  <a:pt x="50354" y="68867"/>
                  <a:pt x="52676" y="71189"/>
                  <a:pt x="55563" y="71189"/>
                </a:cubicBezTo>
                <a:cubicBezTo>
                  <a:pt x="58449" y="71189"/>
                  <a:pt x="60771" y="68867"/>
                  <a:pt x="60771" y="65980"/>
                </a:cubicBezTo>
                <a:lnTo>
                  <a:pt x="60771" y="41672"/>
                </a:lnTo>
                <a:cubicBezTo>
                  <a:pt x="60771" y="38785"/>
                  <a:pt x="58449" y="36463"/>
                  <a:pt x="55563" y="36463"/>
                </a:cubicBezTo>
                <a:close/>
                <a:moveTo>
                  <a:pt x="61357" y="83344"/>
                </a:moveTo>
                <a:cubicBezTo>
                  <a:pt x="61489" y="81193"/>
                  <a:pt x="60417" y="79146"/>
                  <a:pt x="58573" y="78031"/>
                </a:cubicBezTo>
                <a:cubicBezTo>
                  <a:pt x="56729" y="76915"/>
                  <a:pt x="54418" y="76915"/>
                  <a:pt x="52574" y="78031"/>
                </a:cubicBezTo>
                <a:cubicBezTo>
                  <a:pt x="50730" y="79146"/>
                  <a:pt x="49657" y="81193"/>
                  <a:pt x="49789" y="83344"/>
                </a:cubicBezTo>
                <a:cubicBezTo>
                  <a:pt x="49657" y="85495"/>
                  <a:pt x="50730" y="87541"/>
                  <a:pt x="52574" y="88657"/>
                </a:cubicBezTo>
                <a:cubicBezTo>
                  <a:pt x="54418" y="89772"/>
                  <a:pt x="56729" y="89772"/>
                  <a:pt x="58573" y="88657"/>
                </a:cubicBezTo>
                <a:cubicBezTo>
                  <a:pt x="60417" y="87541"/>
                  <a:pt x="61489" y="85495"/>
                  <a:pt x="61357" y="83344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7" name="Text 25"/>
          <p:cNvSpPr/>
          <p:nvPr/>
        </p:nvSpPr>
        <p:spPr>
          <a:xfrm>
            <a:off x="805656" y="5778500"/>
            <a:ext cx="133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没有关注顾客肢体语言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125" y="603250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8753" y="0"/>
                  <a:pt x="61683" y="1758"/>
                  <a:pt x="63202" y="4558"/>
                </a:cubicBezTo>
                <a:lnTo>
                  <a:pt x="110083" y="91374"/>
                </a:lnTo>
                <a:cubicBezTo>
                  <a:pt x="111537" y="94066"/>
                  <a:pt x="111472" y="97321"/>
                  <a:pt x="109910" y="99947"/>
                </a:cubicBezTo>
                <a:cubicBezTo>
                  <a:pt x="108347" y="102574"/>
                  <a:pt x="105504" y="104180"/>
                  <a:pt x="102443" y="104180"/>
                </a:cubicBezTo>
                <a:lnTo>
                  <a:pt x="8682" y="104180"/>
                </a:lnTo>
                <a:cubicBezTo>
                  <a:pt x="5621" y="104180"/>
                  <a:pt x="2800" y="102574"/>
                  <a:pt x="1215" y="99947"/>
                </a:cubicBezTo>
                <a:cubicBezTo>
                  <a:pt x="-369" y="97321"/>
                  <a:pt x="-412" y="94066"/>
                  <a:pt x="1042" y="91374"/>
                </a:cubicBezTo>
                <a:lnTo>
                  <a:pt x="47923" y="4558"/>
                </a:lnTo>
                <a:cubicBezTo>
                  <a:pt x="49442" y="1758"/>
                  <a:pt x="52372" y="0"/>
                  <a:pt x="55563" y="0"/>
                </a:cubicBezTo>
                <a:close/>
                <a:moveTo>
                  <a:pt x="55563" y="36463"/>
                </a:moveTo>
                <a:cubicBezTo>
                  <a:pt x="52676" y="36463"/>
                  <a:pt x="50354" y="38785"/>
                  <a:pt x="50354" y="41672"/>
                </a:cubicBezTo>
                <a:lnTo>
                  <a:pt x="50354" y="65980"/>
                </a:lnTo>
                <a:cubicBezTo>
                  <a:pt x="50354" y="68867"/>
                  <a:pt x="52676" y="71189"/>
                  <a:pt x="55563" y="71189"/>
                </a:cubicBezTo>
                <a:cubicBezTo>
                  <a:pt x="58449" y="71189"/>
                  <a:pt x="60771" y="68867"/>
                  <a:pt x="60771" y="65980"/>
                </a:cubicBezTo>
                <a:lnTo>
                  <a:pt x="60771" y="41672"/>
                </a:lnTo>
                <a:cubicBezTo>
                  <a:pt x="60771" y="38785"/>
                  <a:pt x="58449" y="36463"/>
                  <a:pt x="55563" y="36463"/>
                </a:cubicBezTo>
                <a:close/>
                <a:moveTo>
                  <a:pt x="61357" y="83344"/>
                </a:moveTo>
                <a:cubicBezTo>
                  <a:pt x="61489" y="81193"/>
                  <a:pt x="60417" y="79146"/>
                  <a:pt x="58573" y="78031"/>
                </a:cubicBezTo>
                <a:cubicBezTo>
                  <a:pt x="56729" y="76915"/>
                  <a:pt x="54418" y="76915"/>
                  <a:pt x="52574" y="78031"/>
                </a:cubicBezTo>
                <a:cubicBezTo>
                  <a:pt x="50730" y="79146"/>
                  <a:pt x="49657" y="81193"/>
                  <a:pt x="49789" y="83344"/>
                </a:cubicBezTo>
                <a:cubicBezTo>
                  <a:pt x="49657" y="85495"/>
                  <a:pt x="50730" y="87541"/>
                  <a:pt x="52574" y="88657"/>
                </a:cubicBezTo>
                <a:cubicBezTo>
                  <a:pt x="54418" y="89772"/>
                  <a:pt x="56729" y="89772"/>
                  <a:pt x="58573" y="88657"/>
                </a:cubicBezTo>
                <a:cubicBezTo>
                  <a:pt x="60417" y="87541"/>
                  <a:pt x="61489" y="85495"/>
                  <a:pt x="61357" y="83344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9" name="Text 27"/>
          <p:cNvSpPr/>
          <p:nvPr/>
        </p:nvSpPr>
        <p:spPr>
          <a:xfrm>
            <a:off x="805656" y="6000750"/>
            <a:ext cx="120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错失介入的最佳时机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125" y="62547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8753" y="0"/>
                  <a:pt x="61683" y="1758"/>
                  <a:pt x="63202" y="4558"/>
                </a:cubicBezTo>
                <a:lnTo>
                  <a:pt x="110083" y="91374"/>
                </a:lnTo>
                <a:cubicBezTo>
                  <a:pt x="111537" y="94066"/>
                  <a:pt x="111472" y="97321"/>
                  <a:pt x="109910" y="99947"/>
                </a:cubicBezTo>
                <a:cubicBezTo>
                  <a:pt x="108347" y="102574"/>
                  <a:pt x="105504" y="104180"/>
                  <a:pt x="102443" y="104180"/>
                </a:cubicBezTo>
                <a:lnTo>
                  <a:pt x="8682" y="104180"/>
                </a:lnTo>
                <a:cubicBezTo>
                  <a:pt x="5621" y="104180"/>
                  <a:pt x="2800" y="102574"/>
                  <a:pt x="1215" y="99947"/>
                </a:cubicBezTo>
                <a:cubicBezTo>
                  <a:pt x="-369" y="97321"/>
                  <a:pt x="-412" y="94066"/>
                  <a:pt x="1042" y="91374"/>
                </a:cubicBezTo>
                <a:lnTo>
                  <a:pt x="47923" y="4558"/>
                </a:lnTo>
                <a:cubicBezTo>
                  <a:pt x="49442" y="1758"/>
                  <a:pt x="52372" y="0"/>
                  <a:pt x="55563" y="0"/>
                </a:cubicBezTo>
                <a:close/>
                <a:moveTo>
                  <a:pt x="55563" y="36463"/>
                </a:moveTo>
                <a:cubicBezTo>
                  <a:pt x="52676" y="36463"/>
                  <a:pt x="50354" y="38785"/>
                  <a:pt x="50354" y="41672"/>
                </a:cubicBezTo>
                <a:lnTo>
                  <a:pt x="50354" y="65980"/>
                </a:lnTo>
                <a:cubicBezTo>
                  <a:pt x="50354" y="68867"/>
                  <a:pt x="52676" y="71189"/>
                  <a:pt x="55563" y="71189"/>
                </a:cubicBezTo>
                <a:cubicBezTo>
                  <a:pt x="58449" y="71189"/>
                  <a:pt x="60771" y="68867"/>
                  <a:pt x="60771" y="65980"/>
                </a:cubicBezTo>
                <a:lnTo>
                  <a:pt x="60771" y="41672"/>
                </a:lnTo>
                <a:cubicBezTo>
                  <a:pt x="60771" y="38785"/>
                  <a:pt x="58449" y="36463"/>
                  <a:pt x="55563" y="36463"/>
                </a:cubicBezTo>
                <a:close/>
                <a:moveTo>
                  <a:pt x="61357" y="83344"/>
                </a:moveTo>
                <a:cubicBezTo>
                  <a:pt x="61489" y="81193"/>
                  <a:pt x="60417" y="79146"/>
                  <a:pt x="58573" y="78031"/>
                </a:cubicBezTo>
                <a:cubicBezTo>
                  <a:pt x="56729" y="76915"/>
                  <a:pt x="54418" y="76915"/>
                  <a:pt x="52574" y="78031"/>
                </a:cubicBezTo>
                <a:cubicBezTo>
                  <a:pt x="50730" y="79146"/>
                  <a:pt x="49657" y="81193"/>
                  <a:pt x="49789" y="83344"/>
                </a:cubicBezTo>
                <a:cubicBezTo>
                  <a:pt x="49657" y="85495"/>
                  <a:pt x="50730" y="87541"/>
                  <a:pt x="52574" y="88657"/>
                </a:cubicBezTo>
                <a:cubicBezTo>
                  <a:pt x="54418" y="89772"/>
                  <a:pt x="56729" y="89772"/>
                  <a:pt x="58573" y="88657"/>
                </a:cubicBezTo>
                <a:cubicBezTo>
                  <a:pt x="60417" y="87541"/>
                  <a:pt x="61489" y="85495"/>
                  <a:pt x="61357" y="83344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1" name="Text 29"/>
          <p:cNvSpPr/>
          <p:nvPr/>
        </p:nvSpPr>
        <p:spPr>
          <a:xfrm>
            <a:off x="805656" y="6223000"/>
            <a:ext cx="133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未能及时提供专业建议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1016000"/>
            <a:ext cx="5683250" cy="3905250"/>
          </a:xfrm>
          <a:custGeom>
            <a:avLst/>
            <a:gdLst/>
            <a:ahLst/>
            <a:cxnLst/>
            <a:rect l="l" t="t" r="r" b="b"/>
            <a:pathLst>
              <a:path w="5683250" h="3905250">
                <a:moveTo>
                  <a:pt x="63499" y="0"/>
                </a:moveTo>
                <a:lnTo>
                  <a:pt x="5619751" y="0"/>
                </a:lnTo>
                <a:cubicBezTo>
                  <a:pt x="5654820" y="0"/>
                  <a:pt x="5683250" y="28430"/>
                  <a:pt x="5683250" y="63499"/>
                </a:cubicBezTo>
                <a:lnTo>
                  <a:pt x="5683250" y="3841751"/>
                </a:lnTo>
                <a:cubicBezTo>
                  <a:pt x="5683250" y="3876820"/>
                  <a:pt x="5654820" y="3905250"/>
                  <a:pt x="5619751" y="3905250"/>
                </a:cubicBezTo>
                <a:lnTo>
                  <a:pt x="63499" y="3905250"/>
                </a:lnTo>
                <a:cubicBezTo>
                  <a:pt x="28430" y="3905250"/>
                  <a:pt x="0" y="3876820"/>
                  <a:pt x="0" y="3841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3" name="Text 31"/>
          <p:cNvSpPr/>
          <p:nvPr/>
        </p:nvSpPr>
        <p:spPr>
          <a:xfrm>
            <a:off x="6381750" y="1206500"/>
            <a:ext cx="5381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购买信号识别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1750" y="1555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5" name="Shape 33"/>
          <p:cNvSpPr/>
          <p:nvPr/>
        </p:nvSpPr>
        <p:spPr>
          <a:xfrm>
            <a:off x="6502797" y="166687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39688" y="12402"/>
                </a:moveTo>
                <a:cubicBezTo>
                  <a:pt x="39688" y="5550"/>
                  <a:pt x="45238" y="0"/>
                  <a:pt x="52090" y="0"/>
                </a:cubicBezTo>
                <a:cubicBezTo>
                  <a:pt x="58942" y="0"/>
                  <a:pt x="64492" y="5550"/>
                  <a:pt x="64492" y="12402"/>
                </a:cubicBezTo>
                <a:lnTo>
                  <a:pt x="64492" y="58353"/>
                </a:lnTo>
                <a:cubicBezTo>
                  <a:pt x="67128" y="55997"/>
                  <a:pt x="70600" y="54570"/>
                  <a:pt x="74414" y="54570"/>
                </a:cubicBezTo>
                <a:cubicBezTo>
                  <a:pt x="80801" y="54570"/>
                  <a:pt x="86258" y="58601"/>
                  <a:pt x="88367" y="64244"/>
                </a:cubicBezTo>
                <a:cubicBezTo>
                  <a:pt x="91095" y="61361"/>
                  <a:pt x="94940" y="59531"/>
                  <a:pt x="99219" y="59531"/>
                </a:cubicBezTo>
                <a:cubicBezTo>
                  <a:pt x="107063" y="59531"/>
                  <a:pt x="113481" y="65577"/>
                  <a:pt x="114071" y="73267"/>
                </a:cubicBezTo>
                <a:cubicBezTo>
                  <a:pt x="116706" y="70879"/>
                  <a:pt x="120210" y="69453"/>
                  <a:pt x="124023" y="69453"/>
                </a:cubicBezTo>
                <a:cubicBezTo>
                  <a:pt x="132240" y="69453"/>
                  <a:pt x="138906" y="76119"/>
                  <a:pt x="138906" y="84336"/>
                </a:cubicBezTo>
                <a:lnTo>
                  <a:pt x="138906" y="119062"/>
                </a:lnTo>
                <a:cubicBezTo>
                  <a:pt x="138906" y="140984"/>
                  <a:pt x="121140" y="158750"/>
                  <a:pt x="99219" y="158750"/>
                </a:cubicBezTo>
                <a:lnTo>
                  <a:pt x="72771" y="158750"/>
                </a:lnTo>
                <a:cubicBezTo>
                  <a:pt x="71220" y="158750"/>
                  <a:pt x="69701" y="158657"/>
                  <a:pt x="68213" y="158440"/>
                </a:cubicBezTo>
                <a:cubicBezTo>
                  <a:pt x="51067" y="156704"/>
                  <a:pt x="35285" y="147898"/>
                  <a:pt x="24805" y="133945"/>
                </a:cubicBezTo>
                <a:lnTo>
                  <a:pt x="2480" y="104180"/>
                </a:lnTo>
                <a:cubicBezTo>
                  <a:pt x="-1643" y="98692"/>
                  <a:pt x="-527" y="90940"/>
                  <a:pt x="4961" y="86816"/>
                </a:cubicBezTo>
                <a:cubicBezTo>
                  <a:pt x="10449" y="82693"/>
                  <a:pt x="18200" y="83809"/>
                  <a:pt x="22324" y="89297"/>
                </a:cubicBezTo>
                <a:lnTo>
                  <a:pt x="39688" y="112458"/>
                </a:lnTo>
                <a:lnTo>
                  <a:pt x="39688" y="12402"/>
                </a:lnTo>
                <a:close/>
                <a:moveTo>
                  <a:pt x="74414" y="94258"/>
                </a:moveTo>
                <a:cubicBezTo>
                  <a:pt x="74414" y="91529"/>
                  <a:pt x="72182" y="89297"/>
                  <a:pt x="69453" y="89297"/>
                </a:cubicBezTo>
                <a:cubicBezTo>
                  <a:pt x="66725" y="89297"/>
                  <a:pt x="64492" y="91529"/>
                  <a:pt x="64492" y="94258"/>
                </a:cubicBezTo>
                <a:lnTo>
                  <a:pt x="64492" y="124023"/>
                </a:lnTo>
                <a:cubicBezTo>
                  <a:pt x="64492" y="126752"/>
                  <a:pt x="66725" y="128984"/>
                  <a:pt x="69453" y="128984"/>
                </a:cubicBezTo>
                <a:cubicBezTo>
                  <a:pt x="72182" y="128984"/>
                  <a:pt x="74414" y="126752"/>
                  <a:pt x="74414" y="124023"/>
                </a:cubicBezTo>
                <a:lnTo>
                  <a:pt x="74414" y="94258"/>
                </a:lnTo>
                <a:close/>
                <a:moveTo>
                  <a:pt x="89297" y="89297"/>
                </a:moveTo>
                <a:cubicBezTo>
                  <a:pt x="86568" y="89297"/>
                  <a:pt x="84336" y="91529"/>
                  <a:pt x="84336" y="94258"/>
                </a:cubicBezTo>
                <a:lnTo>
                  <a:pt x="84336" y="124023"/>
                </a:lnTo>
                <a:cubicBezTo>
                  <a:pt x="84336" y="126752"/>
                  <a:pt x="86568" y="128984"/>
                  <a:pt x="89297" y="128984"/>
                </a:cubicBezTo>
                <a:cubicBezTo>
                  <a:pt x="92025" y="128984"/>
                  <a:pt x="94258" y="126752"/>
                  <a:pt x="94258" y="124023"/>
                </a:cubicBezTo>
                <a:lnTo>
                  <a:pt x="94258" y="94258"/>
                </a:lnTo>
                <a:cubicBezTo>
                  <a:pt x="94258" y="91529"/>
                  <a:pt x="92025" y="89297"/>
                  <a:pt x="89297" y="89297"/>
                </a:cubicBezTo>
                <a:close/>
                <a:moveTo>
                  <a:pt x="114102" y="94258"/>
                </a:moveTo>
                <a:cubicBezTo>
                  <a:pt x="114102" y="91529"/>
                  <a:pt x="111869" y="89297"/>
                  <a:pt x="109141" y="89297"/>
                </a:cubicBezTo>
                <a:cubicBezTo>
                  <a:pt x="106412" y="89297"/>
                  <a:pt x="104180" y="91529"/>
                  <a:pt x="104180" y="94258"/>
                </a:cubicBezTo>
                <a:lnTo>
                  <a:pt x="104180" y="124023"/>
                </a:lnTo>
                <a:cubicBezTo>
                  <a:pt x="104180" y="126752"/>
                  <a:pt x="106412" y="128984"/>
                  <a:pt x="109141" y="128984"/>
                </a:cubicBezTo>
                <a:cubicBezTo>
                  <a:pt x="111869" y="128984"/>
                  <a:pt x="114102" y="126752"/>
                  <a:pt x="114102" y="124023"/>
                </a:cubicBezTo>
                <a:lnTo>
                  <a:pt x="114102" y="9425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6889750" y="1555750"/>
            <a:ext cx="2484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触摸商品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89750" y="1809750"/>
            <a:ext cx="247650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顾客伸手触摸POLO面料，表示对材质感兴趣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1750" y="2143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9" name="Shape 37"/>
          <p:cNvSpPr/>
          <p:nvPr/>
        </p:nvSpPr>
        <p:spPr>
          <a:xfrm>
            <a:off x="6482953" y="225425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89297" y="9922"/>
                </a:moveTo>
                <a:cubicBezTo>
                  <a:pt x="64244" y="9922"/>
                  <a:pt x="44183" y="21332"/>
                  <a:pt x="29580" y="34913"/>
                </a:cubicBezTo>
                <a:cubicBezTo>
                  <a:pt x="15069" y="48400"/>
                  <a:pt x="5364" y="64492"/>
                  <a:pt x="744" y="75561"/>
                </a:cubicBezTo>
                <a:cubicBezTo>
                  <a:pt x="-279" y="78011"/>
                  <a:pt x="-279" y="80739"/>
                  <a:pt x="744" y="83189"/>
                </a:cubicBezTo>
                <a:cubicBezTo>
                  <a:pt x="5364" y="94258"/>
                  <a:pt x="15069" y="110381"/>
                  <a:pt x="29580" y="123837"/>
                </a:cubicBezTo>
                <a:cubicBezTo>
                  <a:pt x="44183" y="137387"/>
                  <a:pt x="64244" y="148828"/>
                  <a:pt x="89297" y="148828"/>
                </a:cubicBezTo>
                <a:cubicBezTo>
                  <a:pt x="114350" y="148828"/>
                  <a:pt x="134410" y="137418"/>
                  <a:pt x="149014" y="123837"/>
                </a:cubicBezTo>
                <a:cubicBezTo>
                  <a:pt x="163525" y="110350"/>
                  <a:pt x="173230" y="94258"/>
                  <a:pt x="177850" y="83189"/>
                </a:cubicBezTo>
                <a:cubicBezTo>
                  <a:pt x="178873" y="80739"/>
                  <a:pt x="178873" y="78011"/>
                  <a:pt x="177850" y="75561"/>
                </a:cubicBezTo>
                <a:cubicBezTo>
                  <a:pt x="173230" y="64492"/>
                  <a:pt x="163525" y="48369"/>
                  <a:pt x="149014" y="34913"/>
                </a:cubicBezTo>
                <a:cubicBezTo>
                  <a:pt x="134410" y="21363"/>
                  <a:pt x="114350" y="9922"/>
                  <a:pt x="89297" y="9922"/>
                </a:cubicBezTo>
                <a:close/>
                <a:moveTo>
                  <a:pt x="44648" y="79375"/>
                </a:moveTo>
                <a:cubicBezTo>
                  <a:pt x="44648" y="54733"/>
                  <a:pt x="64655" y="34727"/>
                  <a:pt x="89297" y="34727"/>
                </a:cubicBezTo>
                <a:cubicBezTo>
                  <a:pt x="113939" y="34727"/>
                  <a:pt x="133945" y="54733"/>
                  <a:pt x="133945" y="79375"/>
                </a:cubicBezTo>
                <a:cubicBezTo>
                  <a:pt x="133945" y="104017"/>
                  <a:pt x="113939" y="124023"/>
                  <a:pt x="89297" y="124023"/>
                </a:cubicBezTo>
                <a:cubicBezTo>
                  <a:pt x="64655" y="124023"/>
                  <a:pt x="44648" y="104017"/>
                  <a:pt x="44648" y="79375"/>
                </a:cubicBezTo>
                <a:close/>
                <a:moveTo>
                  <a:pt x="89297" y="59531"/>
                </a:moveTo>
                <a:cubicBezTo>
                  <a:pt x="89297" y="70476"/>
                  <a:pt x="80398" y="79375"/>
                  <a:pt x="69453" y="79375"/>
                </a:cubicBezTo>
                <a:cubicBezTo>
                  <a:pt x="65887" y="79375"/>
                  <a:pt x="62539" y="78445"/>
                  <a:pt x="59624" y="76771"/>
                </a:cubicBezTo>
                <a:cubicBezTo>
                  <a:pt x="59314" y="80150"/>
                  <a:pt x="59593" y="83623"/>
                  <a:pt x="60523" y="87064"/>
                </a:cubicBezTo>
                <a:cubicBezTo>
                  <a:pt x="64771" y="102939"/>
                  <a:pt x="81111" y="112365"/>
                  <a:pt x="96986" y="108117"/>
                </a:cubicBezTo>
                <a:cubicBezTo>
                  <a:pt x="112861" y="103870"/>
                  <a:pt x="122287" y="87530"/>
                  <a:pt x="118039" y="71655"/>
                </a:cubicBezTo>
                <a:cubicBezTo>
                  <a:pt x="114257" y="57485"/>
                  <a:pt x="100831" y="48462"/>
                  <a:pt x="86692" y="49702"/>
                </a:cubicBezTo>
                <a:cubicBezTo>
                  <a:pt x="88336" y="52586"/>
                  <a:pt x="89297" y="55935"/>
                  <a:pt x="89297" y="595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6889750" y="2143125"/>
            <a:ext cx="2230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注视超过3秒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89750" y="2397125"/>
            <a:ext cx="222250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长时间注视某件商品，表示有购买意向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1750" y="273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Shape 41"/>
          <p:cNvSpPr/>
          <p:nvPr/>
        </p:nvSpPr>
        <p:spPr>
          <a:xfrm>
            <a:off x="6502797" y="284162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6889750" y="2730500"/>
            <a:ext cx="2103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停下脚步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89750" y="2984500"/>
            <a:ext cx="209550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在某区域停留，表示对该品类感兴趣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81750" y="3317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7" name="Shape 45"/>
          <p:cNvSpPr/>
          <p:nvPr/>
        </p:nvSpPr>
        <p:spPr>
          <a:xfrm>
            <a:off x="6492875" y="3429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077" y="29766"/>
                </a:moveTo>
                <a:lnTo>
                  <a:pt x="10077" y="76119"/>
                </a:lnTo>
                <a:cubicBezTo>
                  <a:pt x="10077" y="81390"/>
                  <a:pt x="12154" y="86444"/>
                  <a:pt x="15875" y="90165"/>
                </a:cubicBezTo>
                <a:lnTo>
                  <a:pt x="75406" y="149696"/>
                </a:lnTo>
                <a:cubicBezTo>
                  <a:pt x="83158" y="157448"/>
                  <a:pt x="95715" y="157448"/>
                  <a:pt x="103467" y="149696"/>
                </a:cubicBezTo>
                <a:lnTo>
                  <a:pt x="149820" y="103343"/>
                </a:lnTo>
                <a:cubicBezTo>
                  <a:pt x="157572" y="95591"/>
                  <a:pt x="157572" y="83034"/>
                  <a:pt x="149820" y="75282"/>
                </a:cubicBezTo>
                <a:lnTo>
                  <a:pt x="90289" y="15751"/>
                </a:lnTo>
                <a:cubicBezTo>
                  <a:pt x="86568" y="11999"/>
                  <a:pt x="81545" y="9922"/>
                  <a:pt x="76274" y="9922"/>
                </a:cubicBezTo>
                <a:lnTo>
                  <a:pt x="29921" y="9922"/>
                </a:lnTo>
                <a:cubicBezTo>
                  <a:pt x="18976" y="9922"/>
                  <a:pt x="10077" y="18821"/>
                  <a:pt x="10077" y="29766"/>
                </a:cubicBezTo>
                <a:close/>
                <a:moveTo>
                  <a:pt x="44803" y="34727"/>
                </a:moveTo>
                <a:cubicBezTo>
                  <a:pt x="50279" y="34727"/>
                  <a:pt x="54725" y="39172"/>
                  <a:pt x="54725" y="44648"/>
                </a:cubicBezTo>
                <a:cubicBezTo>
                  <a:pt x="54725" y="50124"/>
                  <a:pt x="50279" y="54570"/>
                  <a:pt x="44803" y="54570"/>
                </a:cubicBezTo>
                <a:cubicBezTo>
                  <a:pt x="39327" y="54570"/>
                  <a:pt x="34882" y="50124"/>
                  <a:pt x="34882" y="44648"/>
                </a:cubicBezTo>
                <a:cubicBezTo>
                  <a:pt x="34882" y="39172"/>
                  <a:pt x="39327" y="34727"/>
                  <a:pt x="44803" y="3472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6889750" y="3317875"/>
            <a:ext cx="2103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查看价格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89750" y="3571875"/>
            <a:ext cx="209550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主动查看价格标签，表示在考虑购买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1250" y="5080000"/>
            <a:ext cx="5683250" cy="1587500"/>
          </a:xfrm>
          <a:custGeom>
            <a:avLst/>
            <a:gdLst/>
            <a:ahLst/>
            <a:cxnLst/>
            <a:rect l="l" t="t" r="r" b="b"/>
            <a:pathLst>
              <a:path w="5683250" h="1587500">
                <a:moveTo>
                  <a:pt x="63500" y="0"/>
                </a:moveTo>
                <a:lnTo>
                  <a:pt x="5619750" y="0"/>
                </a:lnTo>
                <a:cubicBezTo>
                  <a:pt x="5654797" y="0"/>
                  <a:pt x="5683250" y="28453"/>
                  <a:pt x="5683250" y="63500"/>
                </a:cubicBezTo>
                <a:lnTo>
                  <a:pt x="5683250" y="1524000"/>
                </a:lnTo>
                <a:cubicBezTo>
                  <a:pt x="5683250" y="1559047"/>
                  <a:pt x="5654797" y="1587500"/>
                  <a:pt x="5619750" y="1587500"/>
                </a:cubicBezTo>
                <a:lnTo>
                  <a:pt x="63500" y="1587500"/>
                </a:lnTo>
                <a:cubicBezTo>
                  <a:pt x="28453" y="1587500"/>
                  <a:pt x="0" y="1559047"/>
                  <a:pt x="0" y="152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6350000" y="5238750"/>
            <a:ext cx="5437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介入时机口诀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0000" y="5556250"/>
            <a:ext cx="5365750" cy="952500"/>
          </a:xfrm>
          <a:custGeom>
            <a:avLst/>
            <a:gdLst/>
            <a:ahLst/>
            <a:cxnLst/>
            <a:rect l="l" t="t" r="r" b="b"/>
            <a:pathLst>
              <a:path w="5365750" h="95250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888997"/>
                </a:lnTo>
                <a:cubicBezTo>
                  <a:pt x="5365750" y="924069"/>
                  <a:pt x="5337319" y="952500"/>
                  <a:pt x="53022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6429375" y="5683250"/>
            <a:ext cx="5207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"三秒法则"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45250" y="6000750"/>
            <a:ext cx="51752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顾客注视、触摸、停留超过3秒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立即上前，主动服务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PA_MH_Others_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26085" y="149225"/>
            <a:ext cx="8218805" cy="8648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销售服务八</a:t>
            </a:r>
            <a:r>
              <a:rPr sz="3600" spc="-5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步</a:t>
            </a:r>
            <a:r>
              <a:rPr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曲</a:t>
            </a:r>
            <a:r>
              <a:rPr sz="3600" spc="29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</a:t>
            </a:r>
            <a:r>
              <a:rPr 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留意客需</a:t>
            </a:r>
            <a:r>
              <a:rPr lang="zh-CN" alt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：</a:t>
            </a:r>
            <a:endParaRPr lang="zh-CN" altLang="en-US" sz="3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48634" name="副标题 4"/>
          <p:cNvSpPr>
            <a:spLocks noGrp="1"/>
          </p:cNvSpPr>
          <p:nvPr/>
        </p:nvSpPr>
        <p:spPr>
          <a:xfrm>
            <a:off x="9599295" y="6129020"/>
            <a:ext cx="2033905" cy="616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 smtClean="0">
                <a:solidFill>
                  <a:srgbClr val="063D54"/>
                </a:solidFill>
                <a:effectLst/>
                <a:latin typeface="Freestyle Script" panose="030804020302050B0404" charset="0"/>
                <a:ea typeface="华文行楷" panose="02010800040101010101" charset="-122"/>
                <a:cs typeface="Freestyle Script" panose="030804020302050B0404" charset="0"/>
              </a:rPr>
              <a:t>WILL WEAR  WILL LIFE</a:t>
            </a:r>
            <a:endParaRPr lang="zh-CN" altLang="en-US" sz="1600" dirty="0" smtClean="0">
              <a:solidFill>
                <a:srgbClr val="063D54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 smtClean="0">
                <a:solidFill>
                  <a:srgbClr val="063D54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   穿   着     懂   生   活 </a:t>
            </a:r>
            <a:endParaRPr lang="zh-CN" altLang="en-US" sz="1000" dirty="0" smtClean="0">
              <a:solidFill>
                <a:srgbClr val="063D54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58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925" y="263525"/>
            <a:ext cx="2108835" cy="120078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132576" y="2293619"/>
            <a:ext cx="519430" cy="1276350"/>
          </a:xfrm>
          <a:custGeom>
            <a:avLst/>
            <a:gdLst/>
            <a:ahLst/>
            <a:cxnLst/>
            <a:rect l="l" t="t" r="r" b="b"/>
            <a:pathLst>
              <a:path w="519429" h="1276350">
                <a:moveTo>
                  <a:pt x="519175" y="1276223"/>
                </a:moveTo>
                <a:lnTo>
                  <a:pt x="0" y="0"/>
                </a:lnTo>
              </a:path>
            </a:pathLst>
          </a:custGeom>
          <a:ln w="9144">
            <a:solidFill>
              <a:srgbClr val="92D050"/>
            </a:solidFill>
          </a:ln>
        </p:spPr>
        <p:txBody>
          <a:bodyPr wrap="square" lIns="0" tIns="0" rIns="0" bIns="0" rtlCol="0"/>
          <a:p/>
        </p:txBody>
      </p:sp>
      <p:sp>
        <p:nvSpPr>
          <p:cNvPr id="8" name="object 8"/>
          <p:cNvSpPr/>
          <p:nvPr/>
        </p:nvSpPr>
        <p:spPr>
          <a:xfrm>
            <a:off x="6896100" y="2634995"/>
            <a:ext cx="556895" cy="1169035"/>
          </a:xfrm>
          <a:custGeom>
            <a:avLst/>
            <a:gdLst/>
            <a:ahLst/>
            <a:cxnLst/>
            <a:rect l="l" t="t" r="r" b="b"/>
            <a:pathLst>
              <a:path w="556895" h="1169035">
                <a:moveTo>
                  <a:pt x="0" y="1168653"/>
                </a:moveTo>
                <a:lnTo>
                  <a:pt x="556768" y="0"/>
                </a:lnTo>
              </a:path>
            </a:pathLst>
          </a:custGeom>
          <a:ln w="9144">
            <a:solidFill>
              <a:srgbClr val="FFC000"/>
            </a:solidFill>
          </a:ln>
        </p:spPr>
        <p:txBody>
          <a:bodyPr wrap="square" lIns="0" tIns="0" rIns="0" bIns="0" rtlCol="0"/>
          <a:p/>
        </p:txBody>
      </p:sp>
      <p:sp>
        <p:nvSpPr>
          <p:cNvPr id="9" name="object 9"/>
          <p:cNvSpPr/>
          <p:nvPr/>
        </p:nvSpPr>
        <p:spPr>
          <a:xfrm>
            <a:off x="6536435" y="3656076"/>
            <a:ext cx="1513205" cy="522605"/>
          </a:xfrm>
          <a:custGeom>
            <a:avLst/>
            <a:gdLst/>
            <a:ahLst/>
            <a:cxnLst/>
            <a:rect l="l" t="t" r="r" b="b"/>
            <a:pathLst>
              <a:path w="1513204" h="522604">
                <a:moveTo>
                  <a:pt x="0" y="522478"/>
                </a:moveTo>
                <a:lnTo>
                  <a:pt x="1513205" y="0"/>
                </a:lnTo>
              </a:path>
            </a:pathLst>
          </a:custGeom>
          <a:ln w="9144">
            <a:solidFill>
              <a:srgbClr val="92D050"/>
            </a:solidFill>
          </a:ln>
        </p:spPr>
        <p:txBody>
          <a:bodyPr wrap="square" lIns="0" tIns="0" rIns="0" bIns="0" rtlCol="0"/>
          <a:p/>
        </p:txBody>
      </p:sp>
      <p:sp>
        <p:nvSpPr>
          <p:cNvPr id="10" name="object 10"/>
          <p:cNvSpPr/>
          <p:nvPr/>
        </p:nvSpPr>
        <p:spPr>
          <a:xfrm>
            <a:off x="6252971" y="4424171"/>
            <a:ext cx="1560195" cy="419734"/>
          </a:xfrm>
          <a:custGeom>
            <a:avLst/>
            <a:gdLst/>
            <a:ahLst/>
            <a:cxnLst/>
            <a:rect l="l" t="t" r="r" b="b"/>
            <a:pathLst>
              <a:path w="1560195" h="419735">
                <a:moveTo>
                  <a:pt x="0" y="0"/>
                </a:moveTo>
                <a:lnTo>
                  <a:pt x="1559941" y="419607"/>
                </a:lnTo>
              </a:path>
            </a:pathLst>
          </a:custGeom>
          <a:ln w="9144">
            <a:solidFill>
              <a:srgbClr val="FFC000"/>
            </a:solidFill>
          </a:ln>
        </p:spPr>
        <p:txBody>
          <a:bodyPr wrap="square" lIns="0" tIns="0" rIns="0" bIns="0" rtlCol="0"/>
          <a:p/>
        </p:txBody>
      </p:sp>
      <p:sp>
        <p:nvSpPr>
          <p:cNvPr id="11" name="object 11"/>
          <p:cNvSpPr/>
          <p:nvPr/>
        </p:nvSpPr>
        <p:spPr>
          <a:xfrm>
            <a:off x="5539740" y="4264151"/>
            <a:ext cx="684530" cy="1103630"/>
          </a:xfrm>
          <a:custGeom>
            <a:avLst/>
            <a:gdLst/>
            <a:ahLst/>
            <a:cxnLst/>
            <a:rect l="l" t="t" r="r" b="b"/>
            <a:pathLst>
              <a:path w="684529" h="1103629">
                <a:moveTo>
                  <a:pt x="0" y="0"/>
                </a:moveTo>
                <a:lnTo>
                  <a:pt x="684276" y="1103629"/>
                </a:lnTo>
              </a:path>
            </a:pathLst>
          </a:custGeom>
          <a:ln w="9144">
            <a:solidFill>
              <a:srgbClr val="92D050"/>
            </a:solidFill>
          </a:ln>
        </p:spPr>
        <p:txBody>
          <a:bodyPr wrap="square" lIns="0" tIns="0" rIns="0" bIns="0" rtlCol="0"/>
          <a:p/>
        </p:txBody>
      </p:sp>
      <p:sp>
        <p:nvSpPr>
          <p:cNvPr id="12" name="object 12"/>
          <p:cNvSpPr/>
          <p:nvPr/>
        </p:nvSpPr>
        <p:spPr>
          <a:xfrm>
            <a:off x="4645152" y="3866388"/>
            <a:ext cx="578485" cy="1132205"/>
          </a:xfrm>
          <a:custGeom>
            <a:avLst/>
            <a:gdLst/>
            <a:ahLst/>
            <a:cxnLst/>
            <a:rect l="l" t="t" r="r" b="b"/>
            <a:pathLst>
              <a:path w="578485" h="1132204">
                <a:moveTo>
                  <a:pt x="578103" y="0"/>
                </a:moveTo>
                <a:lnTo>
                  <a:pt x="0" y="1132205"/>
                </a:lnTo>
              </a:path>
            </a:pathLst>
          </a:custGeom>
          <a:ln w="9144">
            <a:solidFill>
              <a:srgbClr val="FFC000"/>
            </a:solidFill>
          </a:ln>
        </p:spPr>
        <p:txBody>
          <a:bodyPr wrap="square" lIns="0" tIns="0" rIns="0" bIns="0" rtlCol="0"/>
          <a:p/>
        </p:txBody>
      </p:sp>
      <p:sp>
        <p:nvSpPr>
          <p:cNvPr id="13" name="object 13"/>
          <p:cNvSpPr/>
          <p:nvPr/>
        </p:nvSpPr>
        <p:spPr>
          <a:xfrm>
            <a:off x="4137659" y="3313176"/>
            <a:ext cx="1541145" cy="548005"/>
          </a:xfrm>
          <a:custGeom>
            <a:avLst/>
            <a:gdLst/>
            <a:ahLst/>
            <a:cxnLst/>
            <a:rect l="l" t="t" r="r" b="b"/>
            <a:pathLst>
              <a:path w="1541145" h="548004">
                <a:moveTo>
                  <a:pt x="1540764" y="0"/>
                </a:moveTo>
                <a:lnTo>
                  <a:pt x="0" y="547878"/>
                </a:lnTo>
              </a:path>
            </a:pathLst>
          </a:custGeom>
          <a:ln w="9144">
            <a:solidFill>
              <a:srgbClr val="92D050"/>
            </a:solidFill>
          </a:ln>
        </p:spPr>
        <p:txBody>
          <a:bodyPr wrap="square" lIns="0" tIns="0" rIns="0" bIns="0" rtlCol="0"/>
          <a:p/>
        </p:txBody>
      </p:sp>
      <p:sp>
        <p:nvSpPr>
          <p:cNvPr id="14" name="object 14"/>
          <p:cNvSpPr/>
          <p:nvPr/>
        </p:nvSpPr>
        <p:spPr>
          <a:xfrm>
            <a:off x="4645152" y="2863595"/>
            <a:ext cx="1543050" cy="424815"/>
          </a:xfrm>
          <a:custGeom>
            <a:avLst/>
            <a:gdLst/>
            <a:ahLst/>
            <a:cxnLst/>
            <a:rect l="l" t="t" r="r" b="b"/>
            <a:pathLst>
              <a:path w="1543050" h="424814">
                <a:moveTo>
                  <a:pt x="1542923" y="424306"/>
                </a:moveTo>
                <a:lnTo>
                  <a:pt x="0" y="0"/>
                </a:lnTo>
              </a:path>
            </a:pathLst>
          </a:custGeom>
          <a:ln w="9143">
            <a:solidFill>
              <a:srgbClr val="FFC000"/>
            </a:solidFill>
          </a:ln>
        </p:spPr>
        <p:txBody>
          <a:bodyPr wrap="square" lIns="0" tIns="0" rIns="0" bIns="0" rtlCol="0"/>
          <a:p/>
        </p:txBody>
      </p:sp>
      <p:sp>
        <p:nvSpPr>
          <p:cNvPr id="15" name="object 15"/>
          <p:cNvSpPr/>
          <p:nvPr/>
        </p:nvSpPr>
        <p:spPr>
          <a:xfrm>
            <a:off x="5903976" y="18364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33" y="4644"/>
                </a:lnTo>
                <a:lnTo>
                  <a:pt x="139624" y="17966"/>
                </a:lnTo>
                <a:lnTo>
                  <a:pt x="100793" y="39045"/>
                </a:lnTo>
                <a:lnTo>
                  <a:pt x="66960" y="66960"/>
                </a:lnTo>
                <a:lnTo>
                  <a:pt x="39045" y="100793"/>
                </a:lnTo>
                <a:lnTo>
                  <a:pt x="17966" y="139624"/>
                </a:lnTo>
                <a:lnTo>
                  <a:pt x="4644" y="182533"/>
                </a:lnTo>
                <a:lnTo>
                  <a:pt x="0" y="228600"/>
                </a:lnTo>
                <a:lnTo>
                  <a:pt x="4644" y="274666"/>
                </a:lnTo>
                <a:lnTo>
                  <a:pt x="17966" y="317575"/>
                </a:lnTo>
                <a:lnTo>
                  <a:pt x="39045" y="356406"/>
                </a:lnTo>
                <a:lnTo>
                  <a:pt x="66960" y="390239"/>
                </a:lnTo>
                <a:lnTo>
                  <a:pt x="100793" y="418154"/>
                </a:lnTo>
                <a:lnTo>
                  <a:pt x="139624" y="439233"/>
                </a:lnTo>
                <a:lnTo>
                  <a:pt x="182533" y="452555"/>
                </a:lnTo>
                <a:lnTo>
                  <a:pt x="228600" y="457200"/>
                </a:lnTo>
                <a:lnTo>
                  <a:pt x="274666" y="452555"/>
                </a:lnTo>
                <a:lnTo>
                  <a:pt x="317575" y="439233"/>
                </a:lnTo>
                <a:lnTo>
                  <a:pt x="356406" y="418154"/>
                </a:lnTo>
                <a:lnTo>
                  <a:pt x="390239" y="390239"/>
                </a:lnTo>
                <a:lnTo>
                  <a:pt x="418154" y="356406"/>
                </a:lnTo>
                <a:lnTo>
                  <a:pt x="439233" y="317575"/>
                </a:lnTo>
                <a:lnTo>
                  <a:pt x="452555" y="274666"/>
                </a:lnTo>
                <a:lnTo>
                  <a:pt x="457200" y="228600"/>
                </a:lnTo>
                <a:lnTo>
                  <a:pt x="452555" y="182533"/>
                </a:lnTo>
                <a:lnTo>
                  <a:pt x="439233" y="139624"/>
                </a:lnTo>
                <a:lnTo>
                  <a:pt x="418154" y="100793"/>
                </a:lnTo>
                <a:lnTo>
                  <a:pt x="390239" y="66960"/>
                </a:lnTo>
                <a:lnTo>
                  <a:pt x="356406" y="39045"/>
                </a:lnTo>
                <a:lnTo>
                  <a:pt x="317575" y="17966"/>
                </a:lnTo>
                <a:lnTo>
                  <a:pt x="274666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p/>
        </p:txBody>
      </p:sp>
      <p:sp>
        <p:nvSpPr>
          <p:cNvPr id="16" name="object 16"/>
          <p:cNvSpPr txBox="1"/>
          <p:nvPr/>
        </p:nvSpPr>
        <p:spPr>
          <a:xfrm>
            <a:off x="6026911" y="1956307"/>
            <a:ext cx="2114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02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251192" y="2340863"/>
            <a:ext cx="454659" cy="454659"/>
          </a:xfrm>
          <a:custGeom>
            <a:avLst/>
            <a:gdLst/>
            <a:ahLst/>
            <a:cxnLst/>
            <a:rect l="l" t="t" r="r" b="b"/>
            <a:pathLst>
              <a:path w="454659" h="454660">
                <a:moveTo>
                  <a:pt x="227075" y="0"/>
                </a:moveTo>
                <a:lnTo>
                  <a:pt x="181329" y="4615"/>
                </a:lnTo>
                <a:lnTo>
                  <a:pt x="138713" y="17853"/>
                </a:lnTo>
                <a:lnTo>
                  <a:pt x="100142" y="38797"/>
                </a:lnTo>
                <a:lnTo>
                  <a:pt x="66532" y="66532"/>
                </a:lnTo>
                <a:lnTo>
                  <a:pt x="38797" y="100142"/>
                </a:lnTo>
                <a:lnTo>
                  <a:pt x="17853" y="138713"/>
                </a:lnTo>
                <a:lnTo>
                  <a:pt x="4615" y="181329"/>
                </a:lnTo>
                <a:lnTo>
                  <a:pt x="0" y="227075"/>
                </a:lnTo>
                <a:lnTo>
                  <a:pt x="4615" y="272822"/>
                </a:lnTo>
                <a:lnTo>
                  <a:pt x="17853" y="315438"/>
                </a:lnTo>
                <a:lnTo>
                  <a:pt x="38797" y="354009"/>
                </a:lnTo>
                <a:lnTo>
                  <a:pt x="66532" y="387619"/>
                </a:lnTo>
                <a:lnTo>
                  <a:pt x="100142" y="415354"/>
                </a:lnTo>
                <a:lnTo>
                  <a:pt x="138713" y="436298"/>
                </a:lnTo>
                <a:lnTo>
                  <a:pt x="181329" y="449536"/>
                </a:lnTo>
                <a:lnTo>
                  <a:pt x="227075" y="454151"/>
                </a:lnTo>
                <a:lnTo>
                  <a:pt x="272822" y="449536"/>
                </a:lnTo>
                <a:lnTo>
                  <a:pt x="315438" y="436298"/>
                </a:lnTo>
                <a:lnTo>
                  <a:pt x="354009" y="415354"/>
                </a:lnTo>
                <a:lnTo>
                  <a:pt x="387619" y="387619"/>
                </a:lnTo>
                <a:lnTo>
                  <a:pt x="415354" y="354009"/>
                </a:lnTo>
                <a:lnTo>
                  <a:pt x="436298" y="315438"/>
                </a:lnTo>
                <a:lnTo>
                  <a:pt x="449536" y="272822"/>
                </a:lnTo>
                <a:lnTo>
                  <a:pt x="454151" y="227075"/>
                </a:lnTo>
                <a:lnTo>
                  <a:pt x="449536" y="181329"/>
                </a:lnTo>
                <a:lnTo>
                  <a:pt x="436298" y="138713"/>
                </a:lnTo>
                <a:lnTo>
                  <a:pt x="415354" y="100142"/>
                </a:lnTo>
                <a:lnTo>
                  <a:pt x="387619" y="66532"/>
                </a:lnTo>
                <a:lnTo>
                  <a:pt x="354009" y="38797"/>
                </a:lnTo>
                <a:lnTo>
                  <a:pt x="315438" y="17853"/>
                </a:lnTo>
                <a:lnTo>
                  <a:pt x="272822" y="4615"/>
                </a:lnTo>
                <a:lnTo>
                  <a:pt x="22707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p/>
        </p:txBody>
      </p:sp>
      <p:sp>
        <p:nvSpPr>
          <p:cNvPr id="18" name="object 18"/>
          <p:cNvSpPr txBox="1"/>
          <p:nvPr/>
        </p:nvSpPr>
        <p:spPr>
          <a:xfrm>
            <a:off x="7372857" y="2459227"/>
            <a:ext cx="212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03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824216" y="33482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33" y="4644"/>
                </a:lnTo>
                <a:lnTo>
                  <a:pt x="139624" y="17966"/>
                </a:lnTo>
                <a:lnTo>
                  <a:pt x="100793" y="39045"/>
                </a:lnTo>
                <a:lnTo>
                  <a:pt x="66960" y="66960"/>
                </a:lnTo>
                <a:lnTo>
                  <a:pt x="39045" y="100793"/>
                </a:lnTo>
                <a:lnTo>
                  <a:pt x="17966" y="139624"/>
                </a:lnTo>
                <a:lnTo>
                  <a:pt x="4644" y="182533"/>
                </a:lnTo>
                <a:lnTo>
                  <a:pt x="0" y="228600"/>
                </a:lnTo>
                <a:lnTo>
                  <a:pt x="4644" y="274666"/>
                </a:lnTo>
                <a:lnTo>
                  <a:pt x="17966" y="317575"/>
                </a:lnTo>
                <a:lnTo>
                  <a:pt x="39045" y="356406"/>
                </a:lnTo>
                <a:lnTo>
                  <a:pt x="66960" y="390239"/>
                </a:lnTo>
                <a:lnTo>
                  <a:pt x="100793" y="418154"/>
                </a:lnTo>
                <a:lnTo>
                  <a:pt x="139624" y="439233"/>
                </a:lnTo>
                <a:lnTo>
                  <a:pt x="182533" y="452555"/>
                </a:lnTo>
                <a:lnTo>
                  <a:pt x="228600" y="457200"/>
                </a:lnTo>
                <a:lnTo>
                  <a:pt x="274666" y="452555"/>
                </a:lnTo>
                <a:lnTo>
                  <a:pt x="317575" y="439233"/>
                </a:lnTo>
                <a:lnTo>
                  <a:pt x="356406" y="418154"/>
                </a:lnTo>
                <a:lnTo>
                  <a:pt x="390239" y="390239"/>
                </a:lnTo>
                <a:lnTo>
                  <a:pt x="418154" y="356406"/>
                </a:lnTo>
                <a:lnTo>
                  <a:pt x="439233" y="317575"/>
                </a:lnTo>
                <a:lnTo>
                  <a:pt x="452555" y="274666"/>
                </a:lnTo>
                <a:lnTo>
                  <a:pt x="457200" y="228600"/>
                </a:lnTo>
                <a:lnTo>
                  <a:pt x="452555" y="182533"/>
                </a:lnTo>
                <a:lnTo>
                  <a:pt x="439233" y="139624"/>
                </a:lnTo>
                <a:lnTo>
                  <a:pt x="418154" y="100793"/>
                </a:lnTo>
                <a:lnTo>
                  <a:pt x="390239" y="66960"/>
                </a:lnTo>
                <a:lnTo>
                  <a:pt x="356406" y="39045"/>
                </a:lnTo>
                <a:lnTo>
                  <a:pt x="317575" y="17966"/>
                </a:lnTo>
                <a:lnTo>
                  <a:pt x="274666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p/>
        </p:txBody>
      </p:sp>
      <p:sp>
        <p:nvSpPr>
          <p:cNvPr id="20" name="object 20"/>
          <p:cNvSpPr txBox="1"/>
          <p:nvPr/>
        </p:nvSpPr>
        <p:spPr>
          <a:xfrm>
            <a:off x="7947152" y="3468751"/>
            <a:ext cx="2114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04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610856" y="4539995"/>
            <a:ext cx="454659" cy="454659"/>
          </a:xfrm>
          <a:custGeom>
            <a:avLst/>
            <a:gdLst/>
            <a:ahLst/>
            <a:cxnLst/>
            <a:rect l="l" t="t" r="r" b="b"/>
            <a:pathLst>
              <a:path w="454659" h="454660">
                <a:moveTo>
                  <a:pt x="227075" y="0"/>
                </a:moveTo>
                <a:lnTo>
                  <a:pt x="181329" y="4615"/>
                </a:lnTo>
                <a:lnTo>
                  <a:pt x="138713" y="17853"/>
                </a:lnTo>
                <a:lnTo>
                  <a:pt x="100142" y="38797"/>
                </a:lnTo>
                <a:lnTo>
                  <a:pt x="66532" y="66532"/>
                </a:lnTo>
                <a:lnTo>
                  <a:pt x="38797" y="100142"/>
                </a:lnTo>
                <a:lnTo>
                  <a:pt x="17853" y="138713"/>
                </a:lnTo>
                <a:lnTo>
                  <a:pt x="4615" y="181329"/>
                </a:lnTo>
                <a:lnTo>
                  <a:pt x="0" y="227075"/>
                </a:lnTo>
                <a:lnTo>
                  <a:pt x="4615" y="272822"/>
                </a:lnTo>
                <a:lnTo>
                  <a:pt x="17853" y="315438"/>
                </a:lnTo>
                <a:lnTo>
                  <a:pt x="38797" y="354009"/>
                </a:lnTo>
                <a:lnTo>
                  <a:pt x="66532" y="387619"/>
                </a:lnTo>
                <a:lnTo>
                  <a:pt x="100142" y="415354"/>
                </a:lnTo>
                <a:lnTo>
                  <a:pt x="138713" y="436298"/>
                </a:lnTo>
                <a:lnTo>
                  <a:pt x="181329" y="449536"/>
                </a:lnTo>
                <a:lnTo>
                  <a:pt x="227075" y="454151"/>
                </a:lnTo>
                <a:lnTo>
                  <a:pt x="272822" y="449536"/>
                </a:lnTo>
                <a:lnTo>
                  <a:pt x="315438" y="436298"/>
                </a:lnTo>
                <a:lnTo>
                  <a:pt x="354009" y="415354"/>
                </a:lnTo>
                <a:lnTo>
                  <a:pt x="387619" y="387619"/>
                </a:lnTo>
                <a:lnTo>
                  <a:pt x="415354" y="354009"/>
                </a:lnTo>
                <a:lnTo>
                  <a:pt x="436298" y="315438"/>
                </a:lnTo>
                <a:lnTo>
                  <a:pt x="449536" y="272822"/>
                </a:lnTo>
                <a:lnTo>
                  <a:pt x="454151" y="227075"/>
                </a:lnTo>
                <a:lnTo>
                  <a:pt x="449536" y="181329"/>
                </a:lnTo>
                <a:lnTo>
                  <a:pt x="436298" y="138713"/>
                </a:lnTo>
                <a:lnTo>
                  <a:pt x="415354" y="100142"/>
                </a:lnTo>
                <a:lnTo>
                  <a:pt x="387619" y="66532"/>
                </a:lnTo>
                <a:lnTo>
                  <a:pt x="354009" y="38797"/>
                </a:lnTo>
                <a:lnTo>
                  <a:pt x="315438" y="17853"/>
                </a:lnTo>
                <a:lnTo>
                  <a:pt x="272822" y="4615"/>
                </a:lnTo>
                <a:lnTo>
                  <a:pt x="22707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p/>
        </p:txBody>
      </p:sp>
      <p:sp>
        <p:nvSpPr>
          <p:cNvPr id="22" name="object 22"/>
          <p:cNvSpPr txBox="1"/>
          <p:nvPr/>
        </p:nvSpPr>
        <p:spPr>
          <a:xfrm>
            <a:off x="7732903" y="4659248"/>
            <a:ext cx="212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05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23"/>
          <p:cNvSpPr/>
          <p:nvPr/>
        </p:nvSpPr>
        <p:spPr>
          <a:xfrm>
            <a:off x="6024371" y="5052059"/>
            <a:ext cx="455930" cy="457200"/>
          </a:xfrm>
          <a:custGeom>
            <a:avLst/>
            <a:gdLst/>
            <a:ahLst/>
            <a:cxnLst/>
            <a:rect l="l" t="t" r="r" b="b"/>
            <a:pathLst>
              <a:path w="455929" h="457200">
                <a:moveTo>
                  <a:pt x="227837" y="0"/>
                </a:moveTo>
                <a:lnTo>
                  <a:pt x="181913" y="4644"/>
                </a:lnTo>
                <a:lnTo>
                  <a:pt x="139142" y="17966"/>
                </a:lnTo>
                <a:lnTo>
                  <a:pt x="100440" y="39045"/>
                </a:lnTo>
                <a:lnTo>
                  <a:pt x="66722" y="66960"/>
                </a:lnTo>
                <a:lnTo>
                  <a:pt x="38904" y="100793"/>
                </a:lnTo>
                <a:lnTo>
                  <a:pt x="17901" y="139624"/>
                </a:lnTo>
                <a:lnTo>
                  <a:pt x="4627" y="182533"/>
                </a:lnTo>
                <a:lnTo>
                  <a:pt x="0" y="228600"/>
                </a:lnTo>
                <a:lnTo>
                  <a:pt x="4627" y="274666"/>
                </a:lnTo>
                <a:lnTo>
                  <a:pt x="17901" y="317575"/>
                </a:lnTo>
                <a:lnTo>
                  <a:pt x="38904" y="356406"/>
                </a:lnTo>
                <a:lnTo>
                  <a:pt x="66722" y="390239"/>
                </a:lnTo>
                <a:lnTo>
                  <a:pt x="100440" y="418154"/>
                </a:lnTo>
                <a:lnTo>
                  <a:pt x="139142" y="439233"/>
                </a:lnTo>
                <a:lnTo>
                  <a:pt x="181913" y="452555"/>
                </a:lnTo>
                <a:lnTo>
                  <a:pt x="227837" y="457200"/>
                </a:lnTo>
                <a:lnTo>
                  <a:pt x="273762" y="452555"/>
                </a:lnTo>
                <a:lnTo>
                  <a:pt x="316533" y="439233"/>
                </a:lnTo>
                <a:lnTo>
                  <a:pt x="355235" y="418154"/>
                </a:lnTo>
                <a:lnTo>
                  <a:pt x="388953" y="390239"/>
                </a:lnTo>
                <a:lnTo>
                  <a:pt x="416771" y="356406"/>
                </a:lnTo>
                <a:lnTo>
                  <a:pt x="437774" y="317575"/>
                </a:lnTo>
                <a:lnTo>
                  <a:pt x="451048" y="274666"/>
                </a:lnTo>
                <a:lnTo>
                  <a:pt x="455675" y="228600"/>
                </a:lnTo>
                <a:lnTo>
                  <a:pt x="451048" y="182533"/>
                </a:lnTo>
                <a:lnTo>
                  <a:pt x="437774" y="139624"/>
                </a:lnTo>
                <a:lnTo>
                  <a:pt x="416771" y="100793"/>
                </a:lnTo>
                <a:lnTo>
                  <a:pt x="388953" y="66960"/>
                </a:lnTo>
                <a:lnTo>
                  <a:pt x="355235" y="39045"/>
                </a:lnTo>
                <a:lnTo>
                  <a:pt x="316533" y="17966"/>
                </a:lnTo>
                <a:lnTo>
                  <a:pt x="273762" y="4644"/>
                </a:lnTo>
                <a:lnTo>
                  <a:pt x="22783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p/>
        </p:txBody>
      </p:sp>
      <p:sp>
        <p:nvSpPr>
          <p:cNvPr id="2" name="object 24"/>
          <p:cNvSpPr txBox="1"/>
          <p:nvPr/>
        </p:nvSpPr>
        <p:spPr>
          <a:xfrm>
            <a:off x="6146672" y="5172582"/>
            <a:ext cx="212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06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" name="object 25"/>
          <p:cNvSpPr/>
          <p:nvPr/>
        </p:nvSpPr>
        <p:spPr>
          <a:xfrm>
            <a:off x="4466844" y="4693920"/>
            <a:ext cx="454659" cy="454659"/>
          </a:xfrm>
          <a:custGeom>
            <a:avLst/>
            <a:gdLst/>
            <a:ahLst/>
            <a:cxnLst/>
            <a:rect l="l" t="t" r="r" b="b"/>
            <a:pathLst>
              <a:path w="454660" h="454660">
                <a:moveTo>
                  <a:pt x="227075" y="0"/>
                </a:moveTo>
                <a:lnTo>
                  <a:pt x="181329" y="4615"/>
                </a:lnTo>
                <a:lnTo>
                  <a:pt x="138713" y="17853"/>
                </a:lnTo>
                <a:lnTo>
                  <a:pt x="100142" y="38797"/>
                </a:lnTo>
                <a:lnTo>
                  <a:pt x="66532" y="66532"/>
                </a:lnTo>
                <a:lnTo>
                  <a:pt x="38797" y="100142"/>
                </a:lnTo>
                <a:lnTo>
                  <a:pt x="17853" y="138713"/>
                </a:lnTo>
                <a:lnTo>
                  <a:pt x="4615" y="181329"/>
                </a:lnTo>
                <a:lnTo>
                  <a:pt x="0" y="227076"/>
                </a:lnTo>
                <a:lnTo>
                  <a:pt x="4615" y="272822"/>
                </a:lnTo>
                <a:lnTo>
                  <a:pt x="17853" y="315438"/>
                </a:lnTo>
                <a:lnTo>
                  <a:pt x="38797" y="354009"/>
                </a:lnTo>
                <a:lnTo>
                  <a:pt x="66532" y="387619"/>
                </a:lnTo>
                <a:lnTo>
                  <a:pt x="100142" y="415354"/>
                </a:lnTo>
                <a:lnTo>
                  <a:pt x="138713" y="436298"/>
                </a:lnTo>
                <a:lnTo>
                  <a:pt x="181329" y="449536"/>
                </a:lnTo>
                <a:lnTo>
                  <a:pt x="227075" y="454152"/>
                </a:lnTo>
                <a:lnTo>
                  <a:pt x="272822" y="449536"/>
                </a:lnTo>
                <a:lnTo>
                  <a:pt x="315438" y="436298"/>
                </a:lnTo>
                <a:lnTo>
                  <a:pt x="354009" y="415354"/>
                </a:lnTo>
                <a:lnTo>
                  <a:pt x="387619" y="387619"/>
                </a:lnTo>
                <a:lnTo>
                  <a:pt x="415354" y="354009"/>
                </a:lnTo>
                <a:lnTo>
                  <a:pt x="436298" y="315438"/>
                </a:lnTo>
                <a:lnTo>
                  <a:pt x="449536" y="272822"/>
                </a:lnTo>
                <a:lnTo>
                  <a:pt x="454151" y="227076"/>
                </a:lnTo>
                <a:lnTo>
                  <a:pt x="449536" y="181329"/>
                </a:lnTo>
                <a:lnTo>
                  <a:pt x="436298" y="138713"/>
                </a:lnTo>
                <a:lnTo>
                  <a:pt x="415354" y="100142"/>
                </a:lnTo>
                <a:lnTo>
                  <a:pt x="387619" y="66532"/>
                </a:lnTo>
                <a:lnTo>
                  <a:pt x="354009" y="38797"/>
                </a:lnTo>
                <a:lnTo>
                  <a:pt x="315438" y="17853"/>
                </a:lnTo>
                <a:lnTo>
                  <a:pt x="272822" y="4615"/>
                </a:lnTo>
                <a:lnTo>
                  <a:pt x="22707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p/>
        </p:txBody>
      </p:sp>
      <p:sp>
        <p:nvSpPr>
          <p:cNvPr id="4" name="object 26"/>
          <p:cNvSpPr txBox="1"/>
          <p:nvPr/>
        </p:nvSpPr>
        <p:spPr>
          <a:xfrm>
            <a:off x="4588890" y="4813249"/>
            <a:ext cx="21145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07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31920" y="3552444"/>
            <a:ext cx="455930" cy="457200"/>
          </a:xfrm>
          <a:custGeom>
            <a:avLst/>
            <a:gdLst/>
            <a:ahLst/>
            <a:cxnLst/>
            <a:rect l="l" t="t" r="r" b="b"/>
            <a:pathLst>
              <a:path w="455929" h="457200">
                <a:moveTo>
                  <a:pt x="227837" y="0"/>
                </a:moveTo>
                <a:lnTo>
                  <a:pt x="181913" y="4644"/>
                </a:lnTo>
                <a:lnTo>
                  <a:pt x="139142" y="17966"/>
                </a:lnTo>
                <a:lnTo>
                  <a:pt x="100440" y="39045"/>
                </a:lnTo>
                <a:lnTo>
                  <a:pt x="66722" y="66960"/>
                </a:lnTo>
                <a:lnTo>
                  <a:pt x="38904" y="100793"/>
                </a:lnTo>
                <a:lnTo>
                  <a:pt x="17901" y="139624"/>
                </a:lnTo>
                <a:lnTo>
                  <a:pt x="4627" y="182533"/>
                </a:lnTo>
                <a:lnTo>
                  <a:pt x="0" y="228599"/>
                </a:lnTo>
                <a:lnTo>
                  <a:pt x="4627" y="274666"/>
                </a:lnTo>
                <a:lnTo>
                  <a:pt x="17901" y="317575"/>
                </a:lnTo>
                <a:lnTo>
                  <a:pt x="38904" y="356406"/>
                </a:lnTo>
                <a:lnTo>
                  <a:pt x="66722" y="390239"/>
                </a:lnTo>
                <a:lnTo>
                  <a:pt x="100440" y="418154"/>
                </a:lnTo>
                <a:lnTo>
                  <a:pt x="139142" y="439233"/>
                </a:lnTo>
                <a:lnTo>
                  <a:pt x="181913" y="452555"/>
                </a:lnTo>
                <a:lnTo>
                  <a:pt x="227837" y="457199"/>
                </a:lnTo>
                <a:lnTo>
                  <a:pt x="273762" y="452555"/>
                </a:lnTo>
                <a:lnTo>
                  <a:pt x="316533" y="439233"/>
                </a:lnTo>
                <a:lnTo>
                  <a:pt x="355235" y="418154"/>
                </a:lnTo>
                <a:lnTo>
                  <a:pt x="388953" y="390239"/>
                </a:lnTo>
                <a:lnTo>
                  <a:pt x="416771" y="356406"/>
                </a:lnTo>
                <a:lnTo>
                  <a:pt x="437774" y="317575"/>
                </a:lnTo>
                <a:lnTo>
                  <a:pt x="451048" y="274666"/>
                </a:lnTo>
                <a:lnTo>
                  <a:pt x="455675" y="228599"/>
                </a:lnTo>
                <a:lnTo>
                  <a:pt x="451048" y="182533"/>
                </a:lnTo>
                <a:lnTo>
                  <a:pt x="437774" y="139624"/>
                </a:lnTo>
                <a:lnTo>
                  <a:pt x="416771" y="100793"/>
                </a:lnTo>
                <a:lnTo>
                  <a:pt x="388953" y="66960"/>
                </a:lnTo>
                <a:lnTo>
                  <a:pt x="355235" y="39045"/>
                </a:lnTo>
                <a:lnTo>
                  <a:pt x="316533" y="17966"/>
                </a:lnTo>
                <a:lnTo>
                  <a:pt x="273762" y="4644"/>
                </a:lnTo>
                <a:lnTo>
                  <a:pt x="22783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p/>
        </p:txBody>
      </p:sp>
      <p:sp>
        <p:nvSpPr>
          <p:cNvPr id="28" name="object 28"/>
          <p:cNvSpPr txBox="1"/>
          <p:nvPr/>
        </p:nvSpPr>
        <p:spPr>
          <a:xfrm>
            <a:off x="4053585" y="3672966"/>
            <a:ext cx="2114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08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466844" y="2567939"/>
            <a:ext cx="454659" cy="454659"/>
          </a:xfrm>
          <a:custGeom>
            <a:avLst/>
            <a:gdLst/>
            <a:ahLst/>
            <a:cxnLst/>
            <a:rect l="l" t="t" r="r" b="b"/>
            <a:pathLst>
              <a:path w="454660" h="454660">
                <a:moveTo>
                  <a:pt x="227075" y="0"/>
                </a:moveTo>
                <a:lnTo>
                  <a:pt x="181329" y="4615"/>
                </a:lnTo>
                <a:lnTo>
                  <a:pt x="138713" y="17853"/>
                </a:lnTo>
                <a:lnTo>
                  <a:pt x="100142" y="38797"/>
                </a:lnTo>
                <a:lnTo>
                  <a:pt x="66532" y="66532"/>
                </a:lnTo>
                <a:lnTo>
                  <a:pt x="38797" y="100142"/>
                </a:lnTo>
                <a:lnTo>
                  <a:pt x="17853" y="138713"/>
                </a:lnTo>
                <a:lnTo>
                  <a:pt x="4615" y="181329"/>
                </a:lnTo>
                <a:lnTo>
                  <a:pt x="0" y="227075"/>
                </a:lnTo>
                <a:lnTo>
                  <a:pt x="4615" y="272822"/>
                </a:lnTo>
                <a:lnTo>
                  <a:pt x="17853" y="315438"/>
                </a:lnTo>
                <a:lnTo>
                  <a:pt x="38797" y="354009"/>
                </a:lnTo>
                <a:lnTo>
                  <a:pt x="66532" y="387619"/>
                </a:lnTo>
                <a:lnTo>
                  <a:pt x="100142" y="415354"/>
                </a:lnTo>
                <a:lnTo>
                  <a:pt x="138713" y="436298"/>
                </a:lnTo>
                <a:lnTo>
                  <a:pt x="181329" y="449536"/>
                </a:lnTo>
                <a:lnTo>
                  <a:pt x="227075" y="454151"/>
                </a:lnTo>
                <a:lnTo>
                  <a:pt x="272822" y="449536"/>
                </a:lnTo>
                <a:lnTo>
                  <a:pt x="315438" y="436298"/>
                </a:lnTo>
                <a:lnTo>
                  <a:pt x="354009" y="415354"/>
                </a:lnTo>
                <a:lnTo>
                  <a:pt x="387619" y="387619"/>
                </a:lnTo>
                <a:lnTo>
                  <a:pt x="415354" y="354009"/>
                </a:lnTo>
                <a:lnTo>
                  <a:pt x="436298" y="315438"/>
                </a:lnTo>
                <a:lnTo>
                  <a:pt x="449536" y="272822"/>
                </a:lnTo>
                <a:lnTo>
                  <a:pt x="454151" y="227075"/>
                </a:lnTo>
                <a:lnTo>
                  <a:pt x="449536" y="181329"/>
                </a:lnTo>
                <a:lnTo>
                  <a:pt x="436298" y="138713"/>
                </a:lnTo>
                <a:lnTo>
                  <a:pt x="415354" y="100142"/>
                </a:lnTo>
                <a:lnTo>
                  <a:pt x="387619" y="66532"/>
                </a:lnTo>
                <a:lnTo>
                  <a:pt x="354009" y="38797"/>
                </a:lnTo>
                <a:lnTo>
                  <a:pt x="315438" y="17853"/>
                </a:lnTo>
                <a:lnTo>
                  <a:pt x="272822" y="4615"/>
                </a:lnTo>
                <a:lnTo>
                  <a:pt x="22707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p/>
        </p:txBody>
      </p:sp>
      <p:sp>
        <p:nvSpPr>
          <p:cNvPr id="30" name="object 30"/>
          <p:cNvSpPr txBox="1"/>
          <p:nvPr/>
        </p:nvSpPr>
        <p:spPr>
          <a:xfrm>
            <a:off x="4588890" y="2687573"/>
            <a:ext cx="2114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FFFFFF"/>
                </a:solidFill>
                <a:latin typeface="Verdana" panose="020B0604030504040204"/>
                <a:cs typeface="Verdana" panose="020B0604030504040204"/>
              </a:rPr>
              <a:t>01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161026" y="2583941"/>
            <a:ext cx="1892935" cy="1894839"/>
          </a:xfrm>
          <a:custGeom>
            <a:avLst/>
            <a:gdLst/>
            <a:ahLst/>
            <a:cxnLst/>
            <a:rect l="l" t="t" r="r" b="b"/>
            <a:pathLst>
              <a:path w="1892934" h="1894839">
                <a:moveTo>
                  <a:pt x="946403" y="0"/>
                </a:moveTo>
                <a:lnTo>
                  <a:pt x="897697" y="1232"/>
                </a:lnTo>
                <a:lnTo>
                  <a:pt x="849631" y="4890"/>
                </a:lnTo>
                <a:lnTo>
                  <a:pt x="802265" y="10913"/>
                </a:lnTo>
                <a:lnTo>
                  <a:pt x="755656" y="19242"/>
                </a:lnTo>
                <a:lnTo>
                  <a:pt x="709867" y="29818"/>
                </a:lnTo>
                <a:lnTo>
                  <a:pt x="664954" y="42582"/>
                </a:lnTo>
                <a:lnTo>
                  <a:pt x="620979" y="57472"/>
                </a:lnTo>
                <a:lnTo>
                  <a:pt x="578000" y="74431"/>
                </a:lnTo>
                <a:lnTo>
                  <a:pt x="536078" y="93399"/>
                </a:lnTo>
                <a:lnTo>
                  <a:pt x="495270" y="114316"/>
                </a:lnTo>
                <a:lnTo>
                  <a:pt x="455638" y="137122"/>
                </a:lnTo>
                <a:lnTo>
                  <a:pt x="417239" y="161759"/>
                </a:lnTo>
                <a:lnTo>
                  <a:pt x="380134" y="188166"/>
                </a:lnTo>
                <a:lnTo>
                  <a:pt x="344383" y="216284"/>
                </a:lnTo>
                <a:lnTo>
                  <a:pt x="310044" y="246053"/>
                </a:lnTo>
                <a:lnTo>
                  <a:pt x="277177" y="277415"/>
                </a:lnTo>
                <a:lnTo>
                  <a:pt x="245841" y="310309"/>
                </a:lnTo>
                <a:lnTo>
                  <a:pt x="216097" y="344677"/>
                </a:lnTo>
                <a:lnTo>
                  <a:pt x="188002" y="380458"/>
                </a:lnTo>
                <a:lnTo>
                  <a:pt x="161618" y="417593"/>
                </a:lnTo>
                <a:lnTo>
                  <a:pt x="137003" y="456022"/>
                </a:lnTo>
                <a:lnTo>
                  <a:pt x="114216" y="495687"/>
                </a:lnTo>
                <a:lnTo>
                  <a:pt x="93317" y="536527"/>
                </a:lnTo>
                <a:lnTo>
                  <a:pt x="74366" y="578483"/>
                </a:lnTo>
                <a:lnTo>
                  <a:pt x="57422" y="621495"/>
                </a:lnTo>
                <a:lnTo>
                  <a:pt x="42544" y="665504"/>
                </a:lnTo>
                <a:lnTo>
                  <a:pt x="29792" y="710451"/>
                </a:lnTo>
                <a:lnTo>
                  <a:pt x="19225" y="756276"/>
                </a:lnTo>
                <a:lnTo>
                  <a:pt x="10903" y="802920"/>
                </a:lnTo>
                <a:lnTo>
                  <a:pt x="4885" y="850322"/>
                </a:lnTo>
                <a:lnTo>
                  <a:pt x="1231" y="898424"/>
                </a:lnTo>
                <a:lnTo>
                  <a:pt x="0" y="947166"/>
                </a:lnTo>
                <a:lnTo>
                  <a:pt x="1231" y="995907"/>
                </a:lnTo>
                <a:lnTo>
                  <a:pt x="4885" y="1044009"/>
                </a:lnTo>
                <a:lnTo>
                  <a:pt x="10903" y="1091411"/>
                </a:lnTo>
                <a:lnTo>
                  <a:pt x="19225" y="1138055"/>
                </a:lnTo>
                <a:lnTo>
                  <a:pt x="29792" y="1183880"/>
                </a:lnTo>
                <a:lnTo>
                  <a:pt x="42544" y="1228827"/>
                </a:lnTo>
                <a:lnTo>
                  <a:pt x="57422" y="1272836"/>
                </a:lnTo>
                <a:lnTo>
                  <a:pt x="74366" y="1315848"/>
                </a:lnTo>
                <a:lnTo>
                  <a:pt x="93317" y="1357804"/>
                </a:lnTo>
                <a:lnTo>
                  <a:pt x="114216" y="1398644"/>
                </a:lnTo>
                <a:lnTo>
                  <a:pt x="137003" y="1438309"/>
                </a:lnTo>
                <a:lnTo>
                  <a:pt x="161618" y="1476738"/>
                </a:lnTo>
                <a:lnTo>
                  <a:pt x="188002" y="1513873"/>
                </a:lnTo>
                <a:lnTo>
                  <a:pt x="216097" y="1549654"/>
                </a:lnTo>
                <a:lnTo>
                  <a:pt x="245841" y="1584022"/>
                </a:lnTo>
                <a:lnTo>
                  <a:pt x="277177" y="1616916"/>
                </a:lnTo>
                <a:lnTo>
                  <a:pt x="310044" y="1648278"/>
                </a:lnTo>
                <a:lnTo>
                  <a:pt x="344383" y="1678047"/>
                </a:lnTo>
                <a:lnTo>
                  <a:pt x="380134" y="1706165"/>
                </a:lnTo>
                <a:lnTo>
                  <a:pt x="417239" y="1732572"/>
                </a:lnTo>
                <a:lnTo>
                  <a:pt x="455638" y="1757209"/>
                </a:lnTo>
                <a:lnTo>
                  <a:pt x="495270" y="1780015"/>
                </a:lnTo>
                <a:lnTo>
                  <a:pt x="536078" y="1800932"/>
                </a:lnTo>
                <a:lnTo>
                  <a:pt x="578000" y="1819900"/>
                </a:lnTo>
                <a:lnTo>
                  <a:pt x="620979" y="1836859"/>
                </a:lnTo>
                <a:lnTo>
                  <a:pt x="664954" y="1851749"/>
                </a:lnTo>
                <a:lnTo>
                  <a:pt x="709867" y="1864513"/>
                </a:lnTo>
                <a:lnTo>
                  <a:pt x="755656" y="1875089"/>
                </a:lnTo>
                <a:lnTo>
                  <a:pt x="802265" y="1883418"/>
                </a:lnTo>
                <a:lnTo>
                  <a:pt x="849631" y="1889441"/>
                </a:lnTo>
                <a:lnTo>
                  <a:pt x="897697" y="1893099"/>
                </a:lnTo>
                <a:lnTo>
                  <a:pt x="946403" y="1894332"/>
                </a:lnTo>
                <a:lnTo>
                  <a:pt x="995110" y="1893099"/>
                </a:lnTo>
                <a:lnTo>
                  <a:pt x="1043176" y="1889441"/>
                </a:lnTo>
                <a:lnTo>
                  <a:pt x="1090542" y="1883418"/>
                </a:lnTo>
                <a:lnTo>
                  <a:pt x="1137151" y="1875089"/>
                </a:lnTo>
                <a:lnTo>
                  <a:pt x="1182940" y="1864513"/>
                </a:lnTo>
                <a:lnTo>
                  <a:pt x="1227853" y="1851749"/>
                </a:lnTo>
                <a:lnTo>
                  <a:pt x="1271828" y="1836859"/>
                </a:lnTo>
                <a:lnTo>
                  <a:pt x="1314807" y="1819900"/>
                </a:lnTo>
                <a:lnTo>
                  <a:pt x="1356729" y="1800932"/>
                </a:lnTo>
                <a:lnTo>
                  <a:pt x="1397537" y="1780015"/>
                </a:lnTo>
                <a:lnTo>
                  <a:pt x="1437169" y="1757209"/>
                </a:lnTo>
                <a:lnTo>
                  <a:pt x="1475568" y="1732572"/>
                </a:lnTo>
                <a:lnTo>
                  <a:pt x="1512673" y="1706165"/>
                </a:lnTo>
                <a:lnTo>
                  <a:pt x="1548424" y="1678047"/>
                </a:lnTo>
                <a:lnTo>
                  <a:pt x="1582763" y="1648278"/>
                </a:lnTo>
                <a:lnTo>
                  <a:pt x="1615630" y="1616916"/>
                </a:lnTo>
                <a:lnTo>
                  <a:pt x="1646966" y="1584022"/>
                </a:lnTo>
                <a:lnTo>
                  <a:pt x="1676710" y="1549654"/>
                </a:lnTo>
                <a:lnTo>
                  <a:pt x="1704805" y="1513873"/>
                </a:lnTo>
                <a:lnTo>
                  <a:pt x="1731189" y="1476738"/>
                </a:lnTo>
                <a:lnTo>
                  <a:pt x="1755804" y="1438309"/>
                </a:lnTo>
                <a:lnTo>
                  <a:pt x="1778591" y="1398644"/>
                </a:lnTo>
                <a:lnTo>
                  <a:pt x="1799490" y="1357804"/>
                </a:lnTo>
                <a:lnTo>
                  <a:pt x="1818441" y="1315848"/>
                </a:lnTo>
                <a:lnTo>
                  <a:pt x="1835385" y="1272836"/>
                </a:lnTo>
                <a:lnTo>
                  <a:pt x="1850263" y="1228827"/>
                </a:lnTo>
                <a:lnTo>
                  <a:pt x="1863015" y="1183880"/>
                </a:lnTo>
                <a:lnTo>
                  <a:pt x="1873582" y="1138055"/>
                </a:lnTo>
                <a:lnTo>
                  <a:pt x="1881904" y="1091411"/>
                </a:lnTo>
                <a:lnTo>
                  <a:pt x="1887922" y="1044009"/>
                </a:lnTo>
                <a:lnTo>
                  <a:pt x="1891576" y="995907"/>
                </a:lnTo>
                <a:lnTo>
                  <a:pt x="1892807" y="947166"/>
                </a:lnTo>
                <a:lnTo>
                  <a:pt x="1891576" y="898424"/>
                </a:lnTo>
                <a:lnTo>
                  <a:pt x="1887922" y="850322"/>
                </a:lnTo>
                <a:lnTo>
                  <a:pt x="1881904" y="802920"/>
                </a:lnTo>
                <a:lnTo>
                  <a:pt x="1873582" y="756276"/>
                </a:lnTo>
                <a:lnTo>
                  <a:pt x="1863015" y="710451"/>
                </a:lnTo>
                <a:lnTo>
                  <a:pt x="1850263" y="665504"/>
                </a:lnTo>
                <a:lnTo>
                  <a:pt x="1835385" y="621495"/>
                </a:lnTo>
                <a:lnTo>
                  <a:pt x="1818441" y="578483"/>
                </a:lnTo>
                <a:lnTo>
                  <a:pt x="1799490" y="536527"/>
                </a:lnTo>
                <a:lnTo>
                  <a:pt x="1778591" y="495687"/>
                </a:lnTo>
                <a:lnTo>
                  <a:pt x="1755804" y="456022"/>
                </a:lnTo>
                <a:lnTo>
                  <a:pt x="1731189" y="417593"/>
                </a:lnTo>
                <a:lnTo>
                  <a:pt x="1704805" y="380458"/>
                </a:lnTo>
                <a:lnTo>
                  <a:pt x="1676710" y="344677"/>
                </a:lnTo>
                <a:lnTo>
                  <a:pt x="1646966" y="310309"/>
                </a:lnTo>
                <a:lnTo>
                  <a:pt x="1615630" y="277415"/>
                </a:lnTo>
                <a:lnTo>
                  <a:pt x="1582763" y="246053"/>
                </a:lnTo>
                <a:lnTo>
                  <a:pt x="1548424" y="216284"/>
                </a:lnTo>
                <a:lnTo>
                  <a:pt x="1512673" y="188166"/>
                </a:lnTo>
                <a:lnTo>
                  <a:pt x="1475568" y="161759"/>
                </a:lnTo>
                <a:lnTo>
                  <a:pt x="1437169" y="137122"/>
                </a:lnTo>
                <a:lnTo>
                  <a:pt x="1397537" y="114316"/>
                </a:lnTo>
                <a:lnTo>
                  <a:pt x="1356729" y="93399"/>
                </a:lnTo>
                <a:lnTo>
                  <a:pt x="1314807" y="74431"/>
                </a:lnTo>
                <a:lnTo>
                  <a:pt x="1271828" y="57472"/>
                </a:lnTo>
                <a:lnTo>
                  <a:pt x="1227853" y="42582"/>
                </a:lnTo>
                <a:lnTo>
                  <a:pt x="1182940" y="29818"/>
                </a:lnTo>
                <a:lnTo>
                  <a:pt x="1137151" y="19242"/>
                </a:lnTo>
                <a:lnTo>
                  <a:pt x="1090542" y="10913"/>
                </a:lnTo>
                <a:lnTo>
                  <a:pt x="1043176" y="4890"/>
                </a:lnTo>
                <a:lnTo>
                  <a:pt x="995110" y="1232"/>
                </a:lnTo>
                <a:lnTo>
                  <a:pt x="94640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p/>
        </p:txBody>
      </p:sp>
      <p:sp>
        <p:nvSpPr>
          <p:cNvPr id="32" name="object 32"/>
          <p:cNvSpPr/>
          <p:nvPr/>
        </p:nvSpPr>
        <p:spPr>
          <a:xfrm>
            <a:off x="5288026" y="2710941"/>
            <a:ext cx="1892935" cy="1894839"/>
          </a:xfrm>
          <a:custGeom>
            <a:avLst/>
            <a:gdLst/>
            <a:ahLst/>
            <a:cxnLst/>
            <a:rect l="l" t="t" r="r" b="b"/>
            <a:pathLst>
              <a:path w="1892934" h="1894839">
                <a:moveTo>
                  <a:pt x="0" y="947166"/>
                </a:moveTo>
                <a:lnTo>
                  <a:pt x="1231" y="898424"/>
                </a:lnTo>
                <a:lnTo>
                  <a:pt x="4885" y="850322"/>
                </a:lnTo>
                <a:lnTo>
                  <a:pt x="10903" y="802920"/>
                </a:lnTo>
                <a:lnTo>
                  <a:pt x="19225" y="756276"/>
                </a:lnTo>
                <a:lnTo>
                  <a:pt x="29792" y="710451"/>
                </a:lnTo>
                <a:lnTo>
                  <a:pt x="42544" y="665504"/>
                </a:lnTo>
                <a:lnTo>
                  <a:pt x="57422" y="621495"/>
                </a:lnTo>
                <a:lnTo>
                  <a:pt x="74366" y="578483"/>
                </a:lnTo>
                <a:lnTo>
                  <a:pt x="93317" y="536527"/>
                </a:lnTo>
                <a:lnTo>
                  <a:pt x="114216" y="495687"/>
                </a:lnTo>
                <a:lnTo>
                  <a:pt x="137003" y="456022"/>
                </a:lnTo>
                <a:lnTo>
                  <a:pt x="161618" y="417593"/>
                </a:lnTo>
                <a:lnTo>
                  <a:pt x="188002" y="380458"/>
                </a:lnTo>
                <a:lnTo>
                  <a:pt x="216097" y="344677"/>
                </a:lnTo>
                <a:lnTo>
                  <a:pt x="245841" y="310309"/>
                </a:lnTo>
                <a:lnTo>
                  <a:pt x="277177" y="277415"/>
                </a:lnTo>
                <a:lnTo>
                  <a:pt x="310044" y="246053"/>
                </a:lnTo>
                <a:lnTo>
                  <a:pt x="344383" y="216284"/>
                </a:lnTo>
                <a:lnTo>
                  <a:pt x="380134" y="188166"/>
                </a:lnTo>
                <a:lnTo>
                  <a:pt x="417239" y="161759"/>
                </a:lnTo>
                <a:lnTo>
                  <a:pt x="455638" y="137122"/>
                </a:lnTo>
                <a:lnTo>
                  <a:pt x="495270" y="114316"/>
                </a:lnTo>
                <a:lnTo>
                  <a:pt x="536078" y="93399"/>
                </a:lnTo>
                <a:lnTo>
                  <a:pt x="578000" y="74431"/>
                </a:lnTo>
                <a:lnTo>
                  <a:pt x="620979" y="57472"/>
                </a:lnTo>
                <a:lnTo>
                  <a:pt x="664954" y="42582"/>
                </a:lnTo>
                <a:lnTo>
                  <a:pt x="709867" y="29818"/>
                </a:lnTo>
                <a:lnTo>
                  <a:pt x="755656" y="19242"/>
                </a:lnTo>
                <a:lnTo>
                  <a:pt x="802265" y="10913"/>
                </a:lnTo>
                <a:lnTo>
                  <a:pt x="849631" y="4890"/>
                </a:lnTo>
                <a:lnTo>
                  <a:pt x="897697" y="1232"/>
                </a:lnTo>
                <a:lnTo>
                  <a:pt x="946403" y="0"/>
                </a:lnTo>
                <a:lnTo>
                  <a:pt x="995110" y="1232"/>
                </a:lnTo>
                <a:lnTo>
                  <a:pt x="1043176" y="4890"/>
                </a:lnTo>
                <a:lnTo>
                  <a:pt x="1090542" y="10913"/>
                </a:lnTo>
                <a:lnTo>
                  <a:pt x="1137151" y="19242"/>
                </a:lnTo>
                <a:lnTo>
                  <a:pt x="1182940" y="29818"/>
                </a:lnTo>
                <a:lnTo>
                  <a:pt x="1227853" y="42582"/>
                </a:lnTo>
                <a:lnTo>
                  <a:pt x="1271828" y="57472"/>
                </a:lnTo>
                <a:lnTo>
                  <a:pt x="1314807" y="74431"/>
                </a:lnTo>
                <a:lnTo>
                  <a:pt x="1356729" y="93399"/>
                </a:lnTo>
                <a:lnTo>
                  <a:pt x="1397537" y="114316"/>
                </a:lnTo>
                <a:lnTo>
                  <a:pt x="1437169" y="137122"/>
                </a:lnTo>
                <a:lnTo>
                  <a:pt x="1475568" y="161759"/>
                </a:lnTo>
                <a:lnTo>
                  <a:pt x="1512673" y="188166"/>
                </a:lnTo>
                <a:lnTo>
                  <a:pt x="1548424" y="216284"/>
                </a:lnTo>
                <a:lnTo>
                  <a:pt x="1582763" y="246053"/>
                </a:lnTo>
                <a:lnTo>
                  <a:pt x="1615630" y="277415"/>
                </a:lnTo>
                <a:lnTo>
                  <a:pt x="1646966" y="310309"/>
                </a:lnTo>
                <a:lnTo>
                  <a:pt x="1676710" y="344677"/>
                </a:lnTo>
                <a:lnTo>
                  <a:pt x="1704805" y="380458"/>
                </a:lnTo>
                <a:lnTo>
                  <a:pt x="1731189" y="417593"/>
                </a:lnTo>
                <a:lnTo>
                  <a:pt x="1755804" y="456022"/>
                </a:lnTo>
                <a:lnTo>
                  <a:pt x="1778591" y="495687"/>
                </a:lnTo>
                <a:lnTo>
                  <a:pt x="1799490" y="536527"/>
                </a:lnTo>
                <a:lnTo>
                  <a:pt x="1818441" y="578483"/>
                </a:lnTo>
                <a:lnTo>
                  <a:pt x="1835385" y="621495"/>
                </a:lnTo>
                <a:lnTo>
                  <a:pt x="1850263" y="665504"/>
                </a:lnTo>
                <a:lnTo>
                  <a:pt x="1863015" y="710451"/>
                </a:lnTo>
                <a:lnTo>
                  <a:pt x="1873582" y="756276"/>
                </a:lnTo>
                <a:lnTo>
                  <a:pt x="1881904" y="802920"/>
                </a:lnTo>
                <a:lnTo>
                  <a:pt x="1887922" y="850322"/>
                </a:lnTo>
                <a:lnTo>
                  <a:pt x="1891576" y="898424"/>
                </a:lnTo>
                <a:lnTo>
                  <a:pt x="1892807" y="947166"/>
                </a:lnTo>
                <a:lnTo>
                  <a:pt x="1891576" y="995907"/>
                </a:lnTo>
                <a:lnTo>
                  <a:pt x="1887922" y="1044009"/>
                </a:lnTo>
                <a:lnTo>
                  <a:pt x="1881904" y="1091411"/>
                </a:lnTo>
                <a:lnTo>
                  <a:pt x="1873582" y="1138055"/>
                </a:lnTo>
                <a:lnTo>
                  <a:pt x="1863015" y="1183880"/>
                </a:lnTo>
                <a:lnTo>
                  <a:pt x="1850263" y="1228827"/>
                </a:lnTo>
                <a:lnTo>
                  <a:pt x="1835385" y="1272836"/>
                </a:lnTo>
                <a:lnTo>
                  <a:pt x="1818441" y="1315848"/>
                </a:lnTo>
                <a:lnTo>
                  <a:pt x="1799490" y="1357804"/>
                </a:lnTo>
                <a:lnTo>
                  <a:pt x="1778591" y="1398644"/>
                </a:lnTo>
                <a:lnTo>
                  <a:pt x="1755804" y="1438309"/>
                </a:lnTo>
                <a:lnTo>
                  <a:pt x="1731189" y="1476738"/>
                </a:lnTo>
                <a:lnTo>
                  <a:pt x="1704805" y="1513873"/>
                </a:lnTo>
                <a:lnTo>
                  <a:pt x="1676710" y="1549654"/>
                </a:lnTo>
                <a:lnTo>
                  <a:pt x="1646966" y="1584022"/>
                </a:lnTo>
                <a:lnTo>
                  <a:pt x="1615630" y="1616916"/>
                </a:lnTo>
                <a:lnTo>
                  <a:pt x="1582763" y="1648278"/>
                </a:lnTo>
                <a:lnTo>
                  <a:pt x="1548424" y="1678047"/>
                </a:lnTo>
                <a:lnTo>
                  <a:pt x="1512673" y="1706165"/>
                </a:lnTo>
                <a:lnTo>
                  <a:pt x="1475568" y="1732572"/>
                </a:lnTo>
                <a:lnTo>
                  <a:pt x="1437169" y="1757209"/>
                </a:lnTo>
                <a:lnTo>
                  <a:pt x="1397537" y="1780015"/>
                </a:lnTo>
                <a:lnTo>
                  <a:pt x="1356729" y="1800932"/>
                </a:lnTo>
                <a:lnTo>
                  <a:pt x="1314807" y="1819900"/>
                </a:lnTo>
                <a:lnTo>
                  <a:pt x="1271828" y="1836859"/>
                </a:lnTo>
                <a:lnTo>
                  <a:pt x="1227853" y="1851749"/>
                </a:lnTo>
                <a:lnTo>
                  <a:pt x="1182940" y="1864513"/>
                </a:lnTo>
                <a:lnTo>
                  <a:pt x="1137151" y="1875089"/>
                </a:lnTo>
                <a:lnTo>
                  <a:pt x="1090542" y="1883418"/>
                </a:lnTo>
                <a:lnTo>
                  <a:pt x="1043176" y="1889441"/>
                </a:lnTo>
                <a:lnTo>
                  <a:pt x="995110" y="1893099"/>
                </a:lnTo>
                <a:lnTo>
                  <a:pt x="946403" y="1894332"/>
                </a:lnTo>
                <a:lnTo>
                  <a:pt x="897697" y="1893099"/>
                </a:lnTo>
                <a:lnTo>
                  <a:pt x="849631" y="1889441"/>
                </a:lnTo>
                <a:lnTo>
                  <a:pt x="802265" y="1883418"/>
                </a:lnTo>
                <a:lnTo>
                  <a:pt x="755656" y="1875089"/>
                </a:lnTo>
                <a:lnTo>
                  <a:pt x="709867" y="1864513"/>
                </a:lnTo>
                <a:lnTo>
                  <a:pt x="664954" y="1851749"/>
                </a:lnTo>
                <a:lnTo>
                  <a:pt x="620979" y="1836859"/>
                </a:lnTo>
                <a:lnTo>
                  <a:pt x="578000" y="1819900"/>
                </a:lnTo>
                <a:lnTo>
                  <a:pt x="536078" y="1800932"/>
                </a:lnTo>
                <a:lnTo>
                  <a:pt x="495270" y="1780015"/>
                </a:lnTo>
                <a:lnTo>
                  <a:pt x="455638" y="1757209"/>
                </a:lnTo>
                <a:lnTo>
                  <a:pt x="417239" y="1732572"/>
                </a:lnTo>
                <a:lnTo>
                  <a:pt x="380134" y="1706165"/>
                </a:lnTo>
                <a:lnTo>
                  <a:pt x="344383" y="1678047"/>
                </a:lnTo>
                <a:lnTo>
                  <a:pt x="310044" y="1648278"/>
                </a:lnTo>
                <a:lnTo>
                  <a:pt x="277177" y="1616916"/>
                </a:lnTo>
                <a:lnTo>
                  <a:pt x="245841" y="1584022"/>
                </a:lnTo>
                <a:lnTo>
                  <a:pt x="216097" y="1549654"/>
                </a:lnTo>
                <a:lnTo>
                  <a:pt x="188002" y="1513873"/>
                </a:lnTo>
                <a:lnTo>
                  <a:pt x="161618" y="1476738"/>
                </a:lnTo>
                <a:lnTo>
                  <a:pt x="137003" y="1438309"/>
                </a:lnTo>
                <a:lnTo>
                  <a:pt x="114216" y="1398644"/>
                </a:lnTo>
                <a:lnTo>
                  <a:pt x="93317" y="1357804"/>
                </a:lnTo>
                <a:lnTo>
                  <a:pt x="74366" y="1315848"/>
                </a:lnTo>
                <a:lnTo>
                  <a:pt x="57422" y="1272836"/>
                </a:lnTo>
                <a:lnTo>
                  <a:pt x="42544" y="1228827"/>
                </a:lnTo>
                <a:lnTo>
                  <a:pt x="29792" y="1183880"/>
                </a:lnTo>
                <a:lnTo>
                  <a:pt x="19225" y="1138055"/>
                </a:lnTo>
                <a:lnTo>
                  <a:pt x="10903" y="1091411"/>
                </a:lnTo>
                <a:lnTo>
                  <a:pt x="4885" y="1044009"/>
                </a:lnTo>
                <a:lnTo>
                  <a:pt x="1231" y="995907"/>
                </a:lnTo>
                <a:lnTo>
                  <a:pt x="0" y="947166"/>
                </a:lnTo>
                <a:close/>
              </a:path>
            </a:pathLst>
          </a:custGeom>
          <a:ln w="32003">
            <a:solidFill>
              <a:srgbClr val="5A5A5A"/>
            </a:solidFill>
          </a:ln>
        </p:spPr>
        <p:txBody>
          <a:bodyPr wrap="square" lIns="0" tIns="0" rIns="0" bIns="0" rtlCol="0"/>
          <a:p/>
        </p:txBody>
      </p:sp>
      <p:sp>
        <p:nvSpPr>
          <p:cNvPr id="33" name="object 33"/>
          <p:cNvSpPr/>
          <p:nvPr/>
        </p:nvSpPr>
        <p:spPr>
          <a:xfrm>
            <a:off x="5433059" y="3290315"/>
            <a:ext cx="1368552" cy="579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34" name="object 34"/>
          <p:cNvSpPr txBox="1"/>
          <p:nvPr/>
        </p:nvSpPr>
        <p:spPr>
          <a:xfrm>
            <a:off x="5585586" y="3355339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Noto Sans CJK JP Regular"/>
                <a:cs typeface="Noto Sans CJK JP Regular"/>
              </a:rPr>
              <a:t>八大时机</a:t>
            </a:r>
            <a:endParaRPr sz="2000">
              <a:latin typeface="Noto Sans CJK JP Regular"/>
              <a:cs typeface="Noto Sans CJK JP Regular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27123" y="2657982"/>
            <a:ext cx="2660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Noto Sans CJK JP Regular"/>
                <a:cs typeface="Noto Sans CJK JP Regular"/>
              </a:rPr>
              <a:t>顾客一直注视着同一件产品时</a:t>
            </a:r>
            <a:endParaRPr sz="1600">
              <a:latin typeface="Noto Sans CJK JP Regular"/>
              <a:cs typeface="Noto Sans CJK JP Regular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24046" y="1837181"/>
            <a:ext cx="1849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Noto Sans CJK JP Regular"/>
                <a:cs typeface="Noto Sans CJK JP Regular"/>
              </a:rPr>
              <a:t>顾客用手触摸产品时</a:t>
            </a:r>
            <a:endParaRPr sz="1600">
              <a:latin typeface="Noto Sans CJK JP Regular"/>
              <a:cs typeface="Noto Sans CJK JP Regular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80426" y="2415920"/>
            <a:ext cx="2660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Noto Sans CJK JP Regular"/>
                <a:cs typeface="Noto Sans CJK JP Regular"/>
              </a:rPr>
              <a:t>顾客从看产品的地方抬起头时</a:t>
            </a:r>
            <a:endParaRPr sz="1600">
              <a:latin typeface="Noto Sans CJK JP Regular"/>
              <a:cs typeface="Noto Sans CJK JP Regular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432672" y="3493770"/>
            <a:ext cx="1849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Noto Sans CJK JP Regular"/>
                <a:cs typeface="Noto Sans CJK JP Regular"/>
              </a:rPr>
              <a:t>顾客脚步静止不动时</a:t>
            </a:r>
            <a:endParaRPr sz="1600">
              <a:latin typeface="Noto Sans CJK JP Regular"/>
              <a:cs typeface="Noto Sans CJK JP Regular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216645" y="4645914"/>
            <a:ext cx="1849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Noto Sans CJK JP Regular"/>
                <a:cs typeface="Noto Sans CJK JP Regular"/>
              </a:rPr>
              <a:t>顾客像是在找寻什么</a:t>
            </a:r>
            <a:endParaRPr sz="1600">
              <a:latin typeface="Noto Sans CJK JP Regular"/>
              <a:cs typeface="Noto Sans CJK JP Regular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32193" y="5222239"/>
            <a:ext cx="164718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Noto Sans CJK JP Regular"/>
                <a:cs typeface="Noto Sans CJK JP Regular"/>
              </a:rPr>
              <a:t>和顾客眼神碰上时</a:t>
            </a:r>
            <a:endParaRPr sz="1600">
              <a:latin typeface="Noto Sans CJK JP Regular"/>
              <a:cs typeface="Noto Sans CJK JP Regular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03654" y="4811724"/>
            <a:ext cx="24580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Noto Sans CJK JP Regular"/>
                <a:cs typeface="Noto Sans CJK JP Regular"/>
              </a:rPr>
              <a:t>顾客将拿在手里的手提袋或</a:t>
            </a:r>
            <a:endParaRPr sz="1600">
              <a:latin typeface="Noto Sans CJK JP Regular"/>
              <a:cs typeface="Noto Sans CJK JP Regular"/>
            </a:endParaRPr>
          </a:p>
          <a:p>
            <a:pPr marL="82359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Noto Sans CJK JP Regular"/>
                <a:cs typeface="Noto Sans CJK JP Regular"/>
              </a:rPr>
              <a:t>者随身物品放下时</a:t>
            </a:r>
            <a:endParaRPr sz="1600">
              <a:latin typeface="Noto Sans CJK JP Regular"/>
              <a:cs typeface="Noto Sans CJK JP Regular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59813" y="3640912"/>
            <a:ext cx="2255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Noto Sans CJK JP Regular"/>
                <a:cs typeface="Noto Sans CJK JP Regular"/>
              </a:rPr>
              <a:t>顾客就产品与同伴交流时</a:t>
            </a:r>
            <a:endParaRPr sz="1600">
              <a:latin typeface="Noto Sans CJK JP Regular"/>
              <a:cs typeface="Noto Sans CJK JP Regular"/>
            </a:endParaRPr>
          </a:p>
        </p:txBody>
      </p:sp>
    </p:spTree>
    <p:custDataLst>
      <p:tags r:id="rId4"/>
    </p:custData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1048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104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02 · SCRIPT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留意客需 · 话术总结与重点掌握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14313"/>
                </a:moveTo>
                <a:cubicBezTo>
                  <a:pt x="177433" y="214313"/>
                  <a:pt x="228600" y="166315"/>
                  <a:pt x="228600" y="107156"/>
                </a:cubicBezTo>
                <a:cubicBezTo>
                  <a:pt x="228600" y="47997"/>
                  <a:pt x="177433" y="0"/>
                  <a:pt x="114300" y="0"/>
                </a:cubicBezTo>
                <a:cubicBezTo>
                  <a:pt x="51167" y="0"/>
                  <a:pt x="0" y="47997"/>
                  <a:pt x="0" y="107156"/>
                </a:cubicBezTo>
                <a:cubicBezTo>
                  <a:pt x="0" y="131400"/>
                  <a:pt x="8573" y="153725"/>
                  <a:pt x="23039" y="171673"/>
                </a:cubicBezTo>
                <a:lnTo>
                  <a:pt x="1250" y="212884"/>
                </a:lnTo>
                <a:cubicBezTo>
                  <a:pt x="-893" y="216902"/>
                  <a:pt x="-223" y="221813"/>
                  <a:pt x="2858" y="225162"/>
                </a:cubicBezTo>
                <a:cubicBezTo>
                  <a:pt x="5938" y="228511"/>
                  <a:pt x="10805" y="229538"/>
                  <a:pt x="14957" y="227752"/>
                </a:cubicBezTo>
                <a:lnTo>
                  <a:pt x="67821" y="205115"/>
                </a:lnTo>
                <a:cubicBezTo>
                  <a:pt x="82019" y="211009"/>
                  <a:pt x="97735" y="214313"/>
                  <a:pt x="114300" y="214313"/>
                </a:cubicBezTo>
                <a:close/>
                <a:moveTo>
                  <a:pt x="57150" y="92869"/>
                </a:moveTo>
                <a:cubicBezTo>
                  <a:pt x="65035" y="92869"/>
                  <a:pt x="71438" y="99271"/>
                  <a:pt x="71438" y="107156"/>
                </a:cubicBezTo>
                <a:cubicBezTo>
                  <a:pt x="71438" y="115042"/>
                  <a:pt x="65035" y="121444"/>
                  <a:pt x="57150" y="121444"/>
                </a:cubicBezTo>
                <a:cubicBezTo>
                  <a:pt x="49265" y="121444"/>
                  <a:pt x="42863" y="115042"/>
                  <a:pt x="42863" y="107156"/>
                </a:cubicBezTo>
                <a:cubicBezTo>
                  <a:pt x="42863" y="99271"/>
                  <a:pt x="49265" y="92869"/>
                  <a:pt x="57150" y="92869"/>
                </a:cubicBezTo>
                <a:close/>
                <a:moveTo>
                  <a:pt x="114300" y="92869"/>
                </a:moveTo>
                <a:cubicBezTo>
                  <a:pt x="122185" y="92869"/>
                  <a:pt x="128588" y="99271"/>
                  <a:pt x="128588" y="107156"/>
                </a:cubicBezTo>
                <a:cubicBezTo>
                  <a:pt x="128588" y="115042"/>
                  <a:pt x="122185" y="121444"/>
                  <a:pt x="114300" y="121444"/>
                </a:cubicBezTo>
                <a:cubicBezTo>
                  <a:pt x="106415" y="121444"/>
                  <a:pt x="100013" y="115042"/>
                  <a:pt x="100013" y="107156"/>
                </a:cubicBezTo>
                <a:cubicBezTo>
                  <a:pt x="100013" y="99271"/>
                  <a:pt x="106415" y="92869"/>
                  <a:pt x="114300" y="92869"/>
                </a:cubicBezTo>
                <a:close/>
                <a:moveTo>
                  <a:pt x="157163" y="107156"/>
                </a:moveTo>
                <a:cubicBezTo>
                  <a:pt x="157163" y="99271"/>
                  <a:pt x="163565" y="92869"/>
                  <a:pt x="171450" y="92869"/>
                </a:cubicBezTo>
                <a:cubicBezTo>
                  <a:pt x="179335" y="92869"/>
                  <a:pt x="185738" y="99271"/>
                  <a:pt x="185738" y="107156"/>
                </a:cubicBezTo>
                <a:cubicBezTo>
                  <a:pt x="185738" y="115042"/>
                  <a:pt x="179335" y="121444"/>
                  <a:pt x="171450" y="121444"/>
                </a:cubicBezTo>
                <a:cubicBezTo>
                  <a:pt x="163565" y="121444"/>
                  <a:pt x="157163" y="115042"/>
                  <a:pt x="157163" y="10715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介入话术模板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1295400"/>
          </a:xfrm>
          <a:custGeom>
            <a:avLst/>
            <a:gdLst/>
            <a:ahLst/>
            <a:cxnLst/>
            <a:rect l="l" t="t" r="r" b="b"/>
            <a:pathLst>
              <a:path w="5581650" h="1295400">
                <a:moveTo>
                  <a:pt x="38100" y="0"/>
                </a:moveTo>
                <a:lnTo>
                  <a:pt x="5505455" y="0"/>
                </a:lnTo>
                <a:cubicBezTo>
                  <a:pt x="5547508" y="0"/>
                  <a:pt x="5581650" y="34142"/>
                  <a:pt x="5581650" y="76195"/>
                </a:cubicBezTo>
                <a:lnTo>
                  <a:pt x="5581650" y="1219205"/>
                </a:lnTo>
                <a:cubicBezTo>
                  <a:pt x="5581650" y="1261286"/>
                  <a:pt x="5547536" y="1295400"/>
                  <a:pt x="55054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Text 6"/>
          <p:cNvSpPr/>
          <p:nvPr/>
        </p:nvSpPr>
        <p:spPr>
          <a:xfrm>
            <a:off x="609600" y="18669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触摸商品时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479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"您好，这款采用XX面料，手感特别好。"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5527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"您眼光真好，这款POLO是我们的人气款。"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124200"/>
            <a:ext cx="5581650" cy="1295400"/>
          </a:xfrm>
          <a:custGeom>
            <a:avLst/>
            <a:gdLst/>
            <a:ahLst/>
            <a:cxnLst/>
            <a:rect l="l" t="t" r="r" b="b"/>
            <a:pathLst>
              <a:path w="5581650" h="1295400">
                <a:moveTo>
                  <a:pt x="38100" y="0"/>
                </a:moveTo>
                <a:lnTo>
                  <a:pt x="5505455" y="0"/>
                </a:lnTo>
                <a:cubicBezTo>
                  <a:pt x="5547508" y="0"/>
                  <a:pt x="5581650" y="34142"/>
                  <a:pt x="5581650" y="76195"/>
                </a:cubicBezTo>
                <a:lnTo>
                  <a:pt x="5581650" y="1219205"/>
                </a:lnTo>
                <a:cubicBezTo>
                  <a:pt x="5581650" y="1261286"/>
                  <a:pt x="5547536" y="1295400"/>
                  <a:pt x="55054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400050" y="31242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3" name="Text 11"/>
          <p:cNvSpPr/>
          <p:nvPr/>
        </p:nvSpPr>
        <p:spPr>
          <a:xfrm>
            <a:off x="609600" y="33147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注视商品时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36957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"您好，这款是本周刚到的新款，设计很经典。"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40005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"您对这款POLO感兴趣吗？需要我帮您拿合适的尺码试试吗？"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572000"/>
            <a:ext cx="5581650" cy="1295400"/>
          </a:xfrm>
          <a:custGeom>
            <a:avLst/>
            <a:gdLst/>
            <a:ahLst/>
            <a:cxnLst/>
            <a:rect l="l" t="t" r="r" b="b"/>
            <a:pathLst>
              <a:path w="5581650" h="1295400">
                <a:moveTo>
                  <a:pt x="38100" y="0"/>
                </a:moveTo>
                <a:lnTo>
                  <a:pt x="5505455" y="0"/>
                </a:lnTo>
                <a:cubicBezTo>
                  <a:pt x="5547508" y="0"/>
                  <a:pt x="5581650" y="34142"/>
                  <a:pt x="5581650" y="76195"/>
                </a:cubicBezTo>
                <a:lnTo>
                  <a:pt x="5581650" y="1219205"/>
                </a:lnTo>
                <a:cubicBezTo>
                  <a:pt x="5581650" y="1261286"/>
                  <a:pt x="5547536" y="1295400"/>
                  <a:pt x="55054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400050" y="45720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18" name="Text 16"/>
          <p:cNvSpPr/>
          <p:nvPr/>
        </p:nvSpPr>
        <p:spPr>
          <a:xfrm>
            <a:off x="609600" y="47625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查看价格时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51435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"您好，这款性价比很高，现在还有优惠活动。"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54483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"这款虽然价格稍高，但质量和剪裁都很值得。"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88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2" name="Text 20"/>
          <p:cNvSpPr/>
          <p:nvPr/>
        </p:nvSpPr>
        <p:spPr>
          <a:xfrm>
            <a:off x="6610350" y="12192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重点掌握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1676400"/>
            <a:ext cx="5600700" cy="3200400"/>
          </a:xfrm>
          <a:custGeom>
            <a:avLst/>
            <a:gdLst/>
            <a:ahLst/>
            <a:cxnLst/>
            <a:rect l="l" t="t" r="r" b="b"/>
            <a:pathLst>
              <a:path w="5600700" h="3200400">
                <a:moveTo>
                  <a:pt x="76202" y="0"/>
                </a:moveTo>
                <a:lnTo>
                  <a:pt x="5524498" y="0"/>
                </a:lnTo>
                <a:cubicBezTo>
                  <a:pt x="5566583" y="0"/>
                  <a:pt x="5600700" y="34117"/>
                  <a:pt x="5600700" y="76202"/>
                </a:cubicBezTo>
                <a:lnTo>
                  <a:pt x="5600700" y="3124198"/>
                </a:lnTo>
                <a:cubicBezTo>
                  <a:pt x="5600700" y="3166283"/>
                  <a:pt x="5566583" y="3200400"/>
                  <a:pt x="5524498" y="3200400"/>
                </a:cubicBezTo>
                <a:lnTo>
                  <a:pt x="76202" y="3200400"/>
                </a:lnTo>
                <a:cubicBezTo>
                  <a:pt x="34117" y="3200400"/>
                  <a:pt x="0" y="3166283"/>
                  <a:pt x="0" y="3124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6400800" y="1866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5" name="Shape 23"/>
          <p:cNvSpPr/>
          <p:nvPr/>
        </p:nvSpPr>
        <p:spPr>
          <a:xfrm>
            <a:off x="6510338" y="2000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7010400" y="1866900"/>
            <a:ext cx="3590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关注客户肢体语言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0400" y="2171700"/>
            <a:ext cx="3581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观察顾客的停留、触摸、注视等行为，判断购买意向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2571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9" name="Shape 27"/>
          <p:cNvSpPr/>
          <p:nvPr/>
        </p:nvSpPr>
        <p:spPr>
          <a:xfrm>
            <a:off x="6546056" y="2705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694" y="0"/>
                </a:moveTo>
                <a:cubicBezTo>
                  <a:pt x="57745" y="0"/>
                  <a:pt x="53764" y="3981"/>
                  <a:pt x="53764" y="8930"/>
                </a:cubicBezTo>
                <a:cubicBezTo>
                  <a:pt x="53764" y="13878"/>
                  <a:pt x="57745" y="17859"/>
                  <a:pt x="62694" y="17859"/>
                </a:cubicBezTo>
                <a:lnTo>
                  <a:pt x="74600" y="17859"/>
                </a:lnTo>
                <a:lnTo>
                  <a:pt x="74600" y="27273"/>
                </a:lnTo>
                <a:cubicBezTo>
                  <a:pt x="34417" y="31700"/>
                  <a:pt x="3163" y="65782"/>
                  <a:pt x="3163" y="107156"/>
                </a:cubicBezTo>
                <a:cubicBezTo>
                  <a:pt x="3163" y="151544"/>
                  <a:pt x="39142" y="187523"/>
                  <a:pt x="83530" y="187523"/>
                </a:cubicBezTo>
                <a:cubicBezTo>
                  <a:pt x="127918" y="187523"/>
                  <a:pt x="163897" y="151544"/>
                  <a:pt x="163897" y="107156"/>
                </a:cubicBezTo>
                <a:cubicBezTo>
                  <a:pt x="163897" y="92348"/>
                  <a:pt x="159879" y="78470"/>
                  <a:pt x="152884" y="66526"/>
                </a:cubicBezTo>
                <a:lnTo>
                  <a:pt x="163376" y="56034"/>
                </a:lnTo>
                <a:cubicBezTo>
                  <a:pt x="168027" y="51383"/>
                  <a:pt x="168027" y="43830"/>
                  <a:pt x="163376" y="39179"/>
                </a:cubicBezTo>
                <a:cubicBezTo>
                  <a:pt x="158725" y="34528"/>
                  <a:pt x="151172" y="34528"/>
                  <a:pt x="146521" y="39179"/>
                </a:cubicBezTo>
                <a:lnTo>
                  <a:pt x="137815" y="47885"/>
                </a:lnTo>
                <a:cubicBezTo>
                  <a:pt x="125574" y="36649"/>
                  <a:pt x="109835" y="29170"/>
                  <a:pt x="92422" y="27236"/>
                </a:cubicBezTo>
                <a:lnTo>
                  <a:pt x="92422" y="17822"/>
                </a:lnTo>
                <a:lnTo>
                  <a:pt x="104329" y="17822"/>
                </a:lnTo>
                <a:cubicBezTo>
                  <a:pt x="109277" y="17822"/>
                  <a:pt x="113258" y="13841"/>
                  <a:pt x="113258" y="8892"/>
                </a:cubicBezTo>
                <a:cubicBezTo>
                  <a:pt x="113258" y="3944"/>
                  <a:pt x="109277" y="-37"/>
                  <a:pt x="104329" y="-37"/>
                </a:cubicBezTo>
                <a:lnTo>
                  <a:pt x="62657" y="-37"/>
                </a:lnTo>
                <a:close/>
                <a:moveTo>
                  <a:pt x="92459" y="68461"/>
                </a:moveTo>
                <a:lnTo>
                  <a:pt x="92459" y="107156"/>
                </a:lnTo>
                <a:cubicBezTo>
                  <a:pt x="92459" y="112105"/>
                  <a:pt x="88478" y="116086"/>
                  <a:pt x="83530" y="116086"/>
                </a:cubicBezTo>
                <a:cubicBezTo>
                  <a:pt x="78581" y="116086"/>
                  <a:pt x="74600" y="112105"/>
                  <a:pt x="74600" y="107156"/>
                </a:cubicBezTo>
                <a:lnTo>
                  <a:pt x="74600" y="68461"/>
                </a:lnTo>
                <a:cubicBezTo>
                  <a:pt x="74600" y="63512"/>
                  <a:pt x="78581" y="59531"/>
                  <a:pt x="83530" y="59531"/>
                </a:cubicBezTo>
                <a:cubicBezTo>
                  <a:pt x="88478" y="59531"/>
                  <a:pt x="92459" y="63512"/>
                  <a:pt x="92459" y="6846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7010400" y="2571750"/>
            <a:ext cx="3219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3秒黄金时机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10400" y="2876550"/>
            <a:ext cx="320992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顾客注视或触摸商品超过3秒，是最佳介入时机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0" y="327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3" name="Shape 31"/>
          <p:cNvSpPr/>
          <p:nvPr/>
        </p:nvSpPr>
        <p:spPr>
          <a:xfrm>
            <a:off x="6534150" y="3409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7010400" y="3276600"/>
            <a:ext cx="2676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识别购买信号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10400" y="358140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学会识别各种购买信号，把握成交机会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0" y="3981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7" name="Shape 35"/>
          <p:cNvSpPr/>
          <p:nvPr/>
        </p:nvSpPr>
        <p:spPr>
          <a:xfrm>
            <a:off x="6534150" y="4114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4" y="35719"/>
                </a:moveTo>
                <a:cubicBezTo>
                  <a:pt x="185179" y="35719"/>
                  <a:pt x="190500" y="41039"/>
                  <a:pt x="190500" y="47625"/>
                </a:cubicBezTo>
                <a:cubicBezTo>
                  <a:pt x="190500" y="54211"/>
                  <a:pt x="185179" y="59531"/>
                  <a:pt x="178594" y="59531"/>
                </a:cubicBezTo>
                <a:lnTo>
                  <a:pt x="101203" y="59531"/>
                </a:lnTo>
                <a:lnTo>
                  <a:pt x="101203" y="35719"/>
                </a:lnTo>
                <a:lnTo>
                  <a:pt x="178594" y="35719"/>
                </a:lnTo>
                <a:close/>
                <a:moveTo>
                  <a:pt x="119063" y="107156"/>
                </a:moveTo>
                <a:cubicBezTo>
                  <a:pt x="125648" y="107156"/>
                  <a:pt x="130969" y="112477"/>
                  <a:pt x="130969" y="119063"/>
                </a:cubicBezTo>
                <a:cubicBezTo>
                  <a:pt x="130969" y="125648"/>
                  <a:pt x="125648" y="130969"/>
                  <a:pt x="119063" y="130969"/>
                </a:cubicBezTo>
                <a:lnTo>
                  <a:pt x="95250" y="130969"/>
                </a:lnTo>
                <a:cubicBezTo>
                  <a:pt x="88664" y="130969"/>
                  <a:pt x="83344" y="125648"/>
                  <a:pt x="83344" y="119063"/>
                </a:cubicBezTo>
                <a:cubicBezTo>
                  <a:pt x="83344" y="112477"/>
                  <a:pt x="88664" y="107156"/>
                  <a:pt x="95250" y="107156"/>
                </a:cubicBezTo>
                <a:lnTo>
                  <a:pt x="119063" y="107156"/>
                </a:lnTo>
                <a:close/>
                <a:moveTo>
                  <a:pt x="142875" y="83344"/>
                </a:moveTo>
                <a:cubicBezTo>
                  <a:pt x="142875" y="89929"/>
                  <a:pt x="137554" y="95250"/>
                  <a:pt x="130969" y="95250"/>
                </a:cubicBezTo>
                <a:lnTo>
                  <a:pt x="113109" y="95250"/>
                </a:lnTo>
                <a:cubicBezTo>
                  <a:pt x="106524" y="95250"/>
                  <a:pt x="101203" y="89929"/>
                  <a:pt x="101203" y="83344"/>
                </a:cubicBezTo>
                <a:cubicBezTo>
                  <a:pt x="101203" y="76758"/>
                  <a:pt x="106524" y="71438"/>
                  <a:pt x="113109" y="71438"/>
                </a:cubicBezTo>
                <a:lnTo>
                  <a:pt x="130969" y="71438"/>
                </a:lnTo>
                <a:cubicBezTo>
                  <a:pt x="137554" y="71438"/>
                  <a:pt x="142875" y="76758"/>
                  <a:pt x="142875" y="83344"/>
                </a:cubicBezTo>
                <a:close/>
                <a:moveTo>
                  <a:pt x="107156" y="142875"/>
                </a:moveTo>
                <a:cubicBezTo>
                  <a:pt x="113742" y="142875"/>
                  <a:pt x="119063" y="148196"/>
                  <a:pt x="119063" y="154781"/>
                </a:cubicBezTo>
                <a:cubicBezTo>
                  <a:pt x="119063" y="161367"/>
                  <a:pt x="113742" y="166688"/>
                  <a:pt x="107156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lnTo>
                  <a:pt x="107156" y="142875"/>
                </a:lnTo>
                <a:close/>
                <a:moveTo>
                  <a:pt x="74414" y="107156"/>
                </a:moveTo>
                <a:lnTo>
                  <a:pt x="74637" y="107156"/>
                </a:lnTo>
                <a:cubicBezTo>
                  <a:pt x="72628" y="110654"/>
                  <a:pt x="71438" y="114709"/>
                  <a:pt x="71438" y="119063"/>
                </a:cubicBezTo>
                <a:cubicBezTo>
                  <a:pt x="71438" y="123974"/>
                  <a:pt x="72926" y="128513"/>
                  <a:pt x="75456" y="132308"/>
                </a:cubicBezTo>
                <a:cubicBezTo>
                  <a:pt x="66191" y="135545"/>
                  <a:pt x="59531" y="144400"/>
                  <a:pt x="59531" y="154781"/>
                </a:cubicBezTo>
                <a:cubicBezTo>
                  <a:pt x="59531" y="159134"/>
                  <a:pt x="60685" y="163190"/>
                  <a:pt x="62731" y="166688"/>
                </a:cubicBezTo>
                <a:lnTo>
                  <a:pt x="59531" y="166688"/>
                </a:lnTo>
                <a:cubicBezTo>
                  <a:pt x="26640" y="166688"/>
                  <a:pt x="0" y="140047"/>
                  <a:pt x="0" y="107156"/>
                </a:cubicBezTo>
                <a:lnTo>
                  <a:pt x="0" y="84200"/>
                </a:lnTo>
                <a:cubicBezTo>
                  <a:pt x="0" y="68424"/>
                  <a:pt x="6288" y="53280"/>
                  <a:pt x="17450" y="42118"/>
                </a:cubicBezTo>
                <a:lnTo>
                  <a:pt x="21766" y="37802"/>
                </a:lnTo>
                <a:cubicBezTo>
                  <a:pt x="30696" y="28835"/>
                  <a:pt x="42825" y="23812"/>
                  <a:pt x="55438" y="23812"/>
                </a:cubicBezTo>
                <a:lnTo>
                  <a:pt x="65484" y="23812"/>
                </a:lnTo>
                <a:cubicBezTo>
                  <a:pt x="78618" y="23812"/>
                  <a:pt x="89297" y="34491"/>
                  <a:pt x="89297" y="47625"/>
                </a:cubicBezTo>
                <a:lnTo>
                  <a:pt x="89297" y="80367"/>
                </a:lnTo>
                <a:cubicBezTo>
                  <a:pt x="89297" y="88590"/>
                  <a:pt x="82637" y="95250"/>
                  <a:pt x="74414" y="95250"/>
                </a:cubicBezTo>
                <a:cubicBezTo>
                  <a:pt x="66191" y="95250"/>
                  <a:pt x="59531" y="88590"/>
                  <a:pt x="59531" y="80367"/>
                </a:cubicBezTo>
                <a:lnTo>
                  <a:pt x="59531" y="59531"/>
                </a:lnTo>
                <a:cubicBezTo>
                  <a:pt x="59531" y="56257"/>
                  <a:pt x="56852" y="53578"/>
                  <a:pt x="53578" y="53578"/>
                </a:cubicBezTo>
                <a:cubicBezTo>
                  <a:pt x="50304" y="53578"/>
                  <a:pt x="47625" y="56257"/>
                  <a:pt x="47625" y="59531"/>
                </a:cubicBezTo>
                <a:lnTo>
                  <a:pt x="47625" y="80367"/>
                </a:lnTo>
                <a:cubicBezTo>
                  <a:pt x="47625" y="95176"/>
                  <a:pt x="59606" y="107156"/>
                  <a:pt x="74414" y="1071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7010400" y="3981450"/>
            <a:ext cx="2219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把握最佳时机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10400" y="4286250"/>
            <a:ext cx="2209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时机把握得当，成交率大幅提升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300" y="50292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76198" y="0"/>
                </a:moveTo>
                <a:lnTo>
                  <a:pt x="5524502" y="0"/>
                </a:lnTo>
                <a:cubicBezTo>
                  <a:pt x="5566557" y="0"/>
                  <a:pt x="5600700" y="34143"/>
                  <a:pt x="5600700" y="76198"/>
                </a:cubicBezTo>
                <a:lnTo>
                  <a:pt x="5600700" y="1371602"/>
                </a:lnTo>
                <a:cubicBezTo>
                  <a:pt x="5600700" y="1413657"/>
                  <a:pt x="5566557" y="1447800"/>
                  <a:pt x="5524502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362700" y="51816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观察要点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1275" y="5524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Text 41"/>
          <p:cNvSpPr/>
          <p:nvPr/>
        </p:nvSpPr>
        <p:spPr>
          <a:xfrm>
            <a:off x="6629400" y="54864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顾客浏览路线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77325" y="5524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9315450" y="54864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停留区域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1275" y="5829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7" name="Text 45"/>
          <p:cNvSpPr/>
          <p:nvPr/>
        </p:nvSpPr>
        <p:spPr>
          <a:xfrm>
            <a:off x="6629400" y="57912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触摸商品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77325" y="5829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9" name="Text 47"/>
          <p:cNvSpPr/>
          <p:nvPr/>
        </p:nvSpPr>
        <p:spPr>
          <a:xfrm>
            <a:off x="9315450" y="57912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注视时间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1275" y="6134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1" name="Text 49"/>
          <p:cNvSpPr/>
          <p:nvPr/>
        </p:nvSpPr>
        <p:spPr>
          <a:xfrm>
            <a:off x="6629400" y="60960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查看价格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77325" y="6134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3" name="Text 51"/>
          <p:cNvSpPr/>
          <p:nvPr/>
        </p:nvSpPr>
        <p:spPr>
          <a:xfrm>
            <a:off x="9315450" y="60960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试穿意愿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mens_step3_rapport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638973" y="2171700"/>
            <a:ext cx="2914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05623" y="2628900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301" y="35433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591348" y="3886200"/>
            <a:ext cx="3009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破冰四招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29448" y="4419600"/>
            <a:ext cx="2933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拉近距离 · 建立信任 · 打开话题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486" y="334486"/>
            <a:ext cx="11581564" cy="167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184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03 · CASE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486" y="568626"/>
            <a:ext cx="11673547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破冰四招 · 案例分析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210" y="1036905"/>
            <a:ext cx="5661169" cy="2826403"/>
          </a:xfrm>
          <a:custGeom>
            <a:avLst/>
            <a:gdLst/>
            <a:ahLst/>
            <a:cxnLst/>
            <a:rect l="l" t="t" r="r" b="b"/>
            <a:pathLst>
              <a:path w="5661169" h="2826403">
                <a:moveTo>
                  <a:pt x="33449" y="0"/>
                </a:moveTo>
                <a:lnTo>
                  <a:pt x="5594268" y="0"/>
                </a:lnTo>
                <a:cubicBezTo>
                  <a:pt x="5631216" y="0"/>
                  <a:pt x="5661169" y="29953"/>
                  <a:pt x="5661169" y="66901"/>
                </a:cubicBezTo>
                <a:lnTo>
                  <a:pt x="5661169" y="2759502"/>
                </a:lnTo>
                <a:cubicBezTo>
                  <a:pt x="5661169" y="2796451"/>
                  <a:pt x="5631216" y="2826403"/>
                  <a:pt x="5594268" y="2826403"/>
                </a:cubicBezTo>
                <a:lnTo>
                  <a:pt x="33449" y="2826403"/>
                </a:lnTo>
                <a:cubicBezTo>
                  <a:pt x="14975" y="2826403"/>
                  <a:pt x="0" y="2811428"/>
                  <a:pt x="0" y="2792955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51210" y="1036905"/>
            <a:ext cx="33449" cy="2826403"/>
          </a:xfrm>
          <a:custGeom>
            <a:avLst/>
            <a:gdLst/>
            <a:ahLst/>
            <a:cxnLst/>
            <a:rect l="l" t="t" r="r" b="b"/>
            <a:pathLst>
              <a:path w="33449" h="2826403">
                <a:moveTo>
                  <a:pt x="33449" y="0"/>
                </a:moveTo>
                <a:lnTo>
                  <a:pt x="33449" y="0"/>
                </a:lnTo>
                <a:lnTo>
                  <a:pt x="33449" y="2826403"/>
                </a:lnTo>
                <a:lnTo>
                  <a:pt x="33449" y="2826403"/>
                </a:lnTo>
                <a:cubicBezTo>
                  <a:pt x="14975" y="2826403"/>
                  <a:pt x="0" y="2811428"/>
                  <a:pt x="0" y="2792955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535177" y="1204148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497547" y="1204148"/>
            <a:ext cx="409745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0008" y="1254321"/>
            <a:ext cx="418107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赞美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5177" y="1638979"/>
            <a:ext cx="5376856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案例场景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5177" y="1906568"/>
            <a:ext cx="5376856" cy="6522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顾客李先生进店后，销售顾问小王观察到顾客气质稳重，便真诚地说："您好，您的气质很好，这款修身POLO特别适合您这种商务精英的风格。"李先生听后很开心，开始与小王交流。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5177" y="2558815"/>
            <a:ext cx="5309959" cy="1137251"/>
          </a:xfrm>
          <a:custGeom>
            <a:avLst/>
            <a:gdLst/>
            <a:ahLst/>
            <a:cxnLst/>
            <a:rect l="l" t="t" r="r" b="b"/>
            <a:pathLst>
              <a:path w="5309959" h="1137251">
                <a:moveTo>
                  <a:pt x="66893" y="0"/>
                </a:moveTo>
                <a:lnTo>
                  <a:pt x="5243066" y="0"/>
                </a:lnTo>
                <a:cubicBezTo>
                  <a:pt x="5280010" y="0"/>
                  <a:pt x="5309959" y="29949"/>
                  <a:pt x="5309959" y="66893"/>
                </a:cubicBezTo>
                <a:lnTo>
                  <a:pt x="5309959" y="1070358"/>
                </a:lnTo>
                <a:cubicBezTo>
                  <a:pt x="5309959" y="1107302"/>
                  <a:pt x="5280010" y="1137251"/>
                  <a:pt x="5243066" y="1137251"/>
                </a:cubicBezTo>
                <a:lnTo>
                  <a:pt x="66893" y="1137251"/>
                </a:lnTo>
                <a:cubicBezTo>
                  <a:pt x="29949" y="1137251"/>
                  <a:pt x="0" y="1107302"/>
                  <a:pt x="0" y="1070358"/>
                </a:cubicBezTo>
                <a:lnTo>
                  <a:pt x="0" y="66893"/>
                </a:lnTo>
                <a:cubicBezTo>
                  <a:pt x="0" y="29949"/>
                  <a:pt x="29949" y="0"/>
                  <a:pt x="66893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35523" y="2659160"/>
            <a:ext cx="5176165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要点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930" y="2960198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Text 12"/>
          <p:cNvSpPr/>
          <p:nvPr/>
        </p:nvSpPr>
        <p:spPr>
          <a:xfrm>
            <a:off x="848757" y="2926749"/>
            <a:ext cx="1003457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赞美要真诚具体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930" y="3194337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6" name="Text 14"/>
          <p:cNvSpPr/>
          <p:nvPr/>
        </p:nvSpPr>
        <p:spPr>
          <a:xfrm>
            <a:off x="848757" y="3160889"/>
            <a:ext cx="869663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与产品相关联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4930" y="3428477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8" name="Text 16"/>
          <p:cNvSpPr/>
          <p:nvPr/>
        </p:nvSpPr>
        <p:spPr>
          <a:xfrm>
            <a:off x="848757" y="3395029"/>
            <a:ext cx="869663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避免过度夸张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5388" y="1036905"/>
            <a:ext cx="5661169" cy="2826403"/>
          </a:xfrm>
          <a:custGeom>
            <a:avLst/>
            <a:gdLst/>
            <a:ahLst/>
            <a:cxnLst/>
            <a:rect l="l" t="t" r="r" b="b"/>
            <a:pathLst>
              <a:path w="5661169" h="2826403">
                <a:moveTo>
                  <a:pt x="33449" y="0"/>
                </a:moveTo>
                <a:lnTo>
                  <a:pt x="5594268" y="0"/>
                </a:lnTo>
                <a:cubicBezTo>
                  <a:pt x="5631216" y="0"/>
                  <a:pt x="5661169" y="29953"/>
                  <a:pt x="5661169" y="66901"/>
                </a:cubicBezTo>
                <a:lnTo>
                  <a:pt x="5661169" y="2759502"/>
                </a:lnTo>
                <a:cubicBezTo>
                  <a:pt x="5661169" y="2796451"/>
                  <a:pt x="5631216" y="2826403"/>
                  <a:pt x="5594268" y="2826403"/>
                </a:cubicBezTo>
                <a:lnTo>
                  <a:pt x="33449" y="2826403"/>
                </a:lnTo>
                <a:cubicBezTo>
                  <a:pt x="14975" y="2826403"/>
                  <a:pt x="0" y="2811428"/>
                  <a:pt x="0" y="2792955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Shape 18"/>
          <p:cNvSpPr/>
          <p:nvPr/>
        </p:nvSpPr>
        <p:spPr>
          <a:xfrm>
            <a:off x="6195388" y="1036905"/>
            <a:ext cx="33449" cy="2826403"/>
          </a:xfrm>
          <a:custGeom>
            <a:avLst/>
            <a:gdLst/>
            <a:ahLst/>
            <a:cxnLst/>
            <a:rect l="l" t="t" r="r" b="b"/>
            <a:pathLst>
              <a:path w="33449" h="2826403">
                <a:moveTo>
                  <a:pt x="33449" y="0"/>
                </a:moveTo>
                <a:lnTo>
                  <a:pt x="33449" y="0"/>
                </a:lnTo>
                <a:lnTo>
                  <a:pt x="33449" y="2826403"/>
                </a:lnTo>
                <a:lnTo>
                  <a:pt x="33449" y="2826403"/>
                </a:lnTo>
                <a:cubicBezTo>
                  <a:pt x="14975" y="2826403"/>
                  <a:pt x="0" y="2811428"/>
                  <a:pt x="0" y="2792955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1" name="Shape 19"/>
          <p:cNvSpPr/>
          <p:nvPr/>
        </p:nvSpPr>
        <p:spPr>
          <a:xfrm>
            <a:off x="6379355" y="1204148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2" name="Text 20"/>
          <p:cNvSpPr/>
          <p:nvPr/>
        </p:nvSpPr>
        <p:spPr>
          <a:xfrm>
            <a:off x="6341725" y="1204148"/>
            <a:ext cx="409745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4186" y="1254321"/>
            <a:ext cx="752593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非销三聊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9355" y="1638979"/>
            <a:ext cx="5376856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案例场景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79355" y="1906568"/>
            <a:ext cx="5376856" cy="6522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顾客张先生在挑选POLO，销售顾问小李发现顾客手腕上戴着一块机械手表，便聊道："您这块手表很专业，平时对腕表有研究吧？"张先生来了兴致，聊起了收藏爱好，气氛变得轻松。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79355" y="2558815"/>
            <a:ext cx="5309959" cy="1137251"/>
          </a:xfrm>
          <a:custGeom>
            <a:avLst/>
            <a:gdLst/>
            <a:ahLst/>
            <a:cxnLst/>
            <a:rect l="l" t="t" r="r" b="b"/>
            <a:pathLst>
              <a:path w="5309959" h="1137251">
                <a:moveTo>
                  <a:pt x="66893" y="0"/>
                </a:moveTo>
                <a:lnTo>
                  <a:pt x="5243066" y="0"/>
                </a:lnTo>
                <a:cubicBezTo>
                  <a:pt x="5280010" y="0"/>
                  <a:pt x="5309959" y="29949"/>
                  <a:pt x="5309959" y="66893"/>
                </a:cubicBezTo>
                <a:lnTo>
                  <a:pt x="5309959" y="1070358"/>
                </a:lnTo>
                <a:cubicBezTo>
                  <a:pt x="5309959" y="1107302"/>
                  <a:pt x="5280010" y="1137251"/>
                  <a:pt x="5243066" y="1137251"/>
                </a:cubicBezTo>
                <a:lnTo>
                  <a:pt x="66893" y="1137251"/>
                </a:lnTo>
                <a:cubicBezTo>
                  <a:pt x="29949" y="1137251"/>
                  <a:pt x="0" y="1107302"/>
                  <a:pt x="0" y="1070358"/>
                </a:cubicBezTo>
                <a:lnTo>
                  <a:pt x="0" y="66893"/>
                </a:lnTo>
                <a:cubicBezTo>
                  <a:pt x="0" y="29949"/>
                  <a:pt x="29949" y="0"/>
                  <a:pt x="66893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479700" y="2659160"/>
            <a:ext cx="5176165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话题方向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89108" y="2960198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9" name="Text 27"/>
          <p:cNvSpPr/>
          <p:nvPr/>
        </p:nvSpPr>
        <p:spPr>
          <a:xfrm>
            <a:off x="6692935" y="2926749"/>
            <a:ext cx="735868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聊穿着打扮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89108" y="3194337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1" name="Text 29"/>
          <p:cNvSpPr/>
          <p:nvPr/>
        </p:nvSpPr>
        <p:spPr>
          <a:xfrm>
            <a:off x="6692935" y="3160889"/>
            <a:ext cx="735868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聊配饰配件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89108" y="3428477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3" name="Text 31"/>
          <p:cNvSpPr/>
          <p:nvPr/>
        </p:nvSpPr>
        <p:spPr>
          <a:xfrm>
            <a:off x="6692935" y="3395029"/>
            <a:ext cx="735868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聊场合需求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51210" y="4030551"/>
            <a:ext cx="5661169" cy="2826403"/>
          </a:xfrm>
          <a:custGeom>
            <a:avLst/>
            <a:gdLst/>
            <a:ahLst/>
            <a:cxnLst/>
            <a:rect l="l" t="t" r="r" b="b"/>
            <a:pathLst>
              <a:path w="5661169" h="2826403">
                <a:moveTo>
                  <a:pt x="33449" y="0"/>
                </a:moveTo>
                <a:lnTo>
                  <a:pt x="5594268" y="0"/>
                </a:lnTo>
                <a:cubicBezTo>
                  <a:pt x="5631216" y="0"/>
                  <a:pt x="5661169" y="29953"/>
                  <a:pt x="5661169" y="66901"/>
                </a:cubicBezTo>
                <a:lnTo>
                  <a:pt x="5661169" y="2759502"/>
                </a:lnTo>
                <a:cubicBezTo>
                  <a:pt x="5661169" y="2796451"/>
                  <a:pt x="5631216" y="2826403"/>
                  <a:pt x="5594268" y="2826403"/>
                </a:cubicBezTo>
                <a:lnTo>
                  <a:pt x="33449" y="2826403"/>
                </a:lnTo>
                <a:cubicBezTo>
                  <a:pt x="14975" y="2826403"/>
                  <a:pt x="0" y="2811428"/>
                  <a:pt x="0" y="2792955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5" name="Shape 33"/>
          <p:cNvSpPr/>
          <p:nvPr/>
        </p:nvSpPr>
        <p:spPr>
          <a:xfrm>
            <a:off x="351210" y="4030551"/>
            <a:ext cx="33449" cy="2826403"/>
          </a:xfrm>
          <a:custGeom>
            <a:avLst/>
            <a:gdLst/>
            <a:ahLst/>
            <a:cxnLst/>
            <a:rect l="l" t="t" r="r" b="b"/>
            <a:pathLst>
              <a:path w="33449" h="2826403">
                <a:moveTo>
                  <a:pt x="33449" y="0"/>
                </a:moveTo>
                <a:lnTo>
                  <a:pt x="33449" y="0"/>
                </a:lnTo>
                <a:lnTo>
                  <a:pt x="33449" y="2826403"/>
                </a:lnTo>
                <a:lnTo>
                  <a:pt x="33449" y="2826403"/>
                </a:lnTo>
                <a:cubicBezTo>
                  <a:pt x="14975" y="2826403"/>
                  <a:pt x="0" y="2811428"/>
                  <a:pt x="0" y="2792955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36" name="Shape 34"/>
          <p:cNvSpPr/>
          <p:nvPr/>
        </p:nvSpPr>
        <p:spPr>
          <a:xfrm>
            <a:off x="535177" y="4197794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37" name="Text 35"/>
          <p:cNvSpPr/>
          <p:nvPr/>
        </p:nvSpPr>
        <p:spPr>
          <a:xfrm>
            <a:off x="497547" y="4197794"/>
            <a:ext cx="409745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70008" y="4247967"/>
            <a:ext cx="752593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引导提问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5177" y="4632626"/>
            <a:ext cx="5376856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案例场景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5177" y="4900214"/>
            <a:ext cx="5376856" cy="6522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顾客王先生在挑选衣服，销售顾问小陈问："您好，请问今天是想选购什么场合穿的衣服呢？是商务会议、日常上班还是参加宴会？"王先生回答是要参加婚礼，小陈便推荐了适合的款式。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5177" y="5552461"/>
            <a:ext cx="5309959" cy="1137251"/>
          </a:xfrm>
          <a:custGeom>
            <a:avLst/>
            <a:gdLst/>
            <a:ahLst/>
            <a:cxnLst/>
            <a:rect l="l" t="t" r="r" b="b"/>
            <a:pathLst>
              <a:path w="5309959" h="1137251">
                <a:moveTo>
                  <a:pt x="66893" y="0"/>
                </a:moveTo>
                <a:lnTo>
                  <a:pt x="5243066" y="0"/>
                </a:lnTo>
                <a:cubicBezTo>
                  <a:pt x="5280010" y="0"/>
                  <a:pt x="5309959" y="29949"/>
                  <a:pt x="5309959" y="66893"/>
                </a:cubicBezTo>
                <a:lnTo>
                  <a:pt x="5309959" y="1070358"/>
                </a:lnTo>
                <a:cubicBezTo>
                  <a:pt x="5309959" y="1107302"/>
                  <a:pt x="5280010" y="1137251"/>
                  <a:pt x="5243066" y="1137251"/>
                </a:cubicBezTo>
                <a:lnTo>
                  <a:pt x="66893" y="1137251"/>
                </a:lnTo>
                <a:cubicBezTo>
                  <a:pt x="29949" y="1137251"/>
                  <a:pt x="0" y="1107302"/>
                  <a:pt x="0" y="1070358"/>
                </a:cubicBezTo>
                <a:lnTo>
                  <a:pt x="0" y="66893"/>
                </a:lnTo>
                <a:cubicBezTo>
                  <a:pt x="0" y="29949"/>
                  <a:pt x="29949" y="0"/>
                  <a:pt x="66893" y="0"/>
                </a:cubicBezTo>
                <a:close/>
              </a:path>
            </a:pathLst>
          </a:custGeom>
          <a:solidFill>
            <a:srgbClr val="A9A299">
              <a:alpha val="1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635523" y="5652807"/>
            <a:ext cx="5176165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提问技巧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4930" y="5953844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4" name="Text 42"/>
          <p:cNvSpPr/>
          <p:nvPr/>
        </p:nvSpPr>
        <p:spPr>
          <a:xfrm>
            <a:off x="848757" y="5920395"/>
            <a:ext cx="735868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开放式问题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4930" y="6187984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6" name="Text 44"/>
          <p:cNvSpPr/>
          <p:nvPr/>
        </p:nvSpPr>
        <p:spPr>
          <a:xfrm>
            <a:off x="848757" y="6154535"/>
            <a:ext cx="869663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了解真实需求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4930" y="6422123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8" name="Text 46"/>
          <p:cNvSpPr/>
          <p:nvPr/>
        </p:nvSpPr>
        <p:spPr>
          <a:xfrm>
            <a:off x="848757" y="6388675"/>
            <a:ext cx="735868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针对性推荐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5388" y="4030551"/>
            <a:ext cx="5661169" cy="2826403"/>
          </a:xfrm>
          <a:custGeom>
            <a:avLst/>
            <a:gdLst/>
            <a:ahLst/>
            <a:cxnLst/>
            <a:rect l="l" t="t" r="r" b="b"/>
            <a:pathLst>
              <a:path w="5661169" h="2826403">
                <a:moveTo>
                  <a:pt x="33449" y="0"/>
                </a:moveTo>
                <a:lnTo>
                  <a:pt x="5594268" y="0"/>
                </a:lnTo>
                <a:cubicBezTo>
                  <a:pt x="5631216" y="0"/>
                  <a:pt x="5661169" y="29953"/>
                  <a:pt x="5661169" y="66901"/>
                </a:cubicBezTo>
                <a:lnTo>
                  <a:pt x="5661169" y="2759502"/>
                </a:lnTo>
                <a:cubicBezTo>
                  <a:pt x="5661169" y="2796451"/>
                  <a:pt x="5631216" y="2826403"/>
                  <a:pt x="5594268" y="2826403"/>
                </a:cubicBezTo>
                <a:lnTo>
                  <a:pt x="33449" y="2826403"/>
                </a:lnTo>
                <a:cubicBezTo>
                  <a:pt x="14975" y="2826403"/>
                  <a:pt x="0" y="2811428"/>
                  <a:pt x="0" y="2792955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0" name="Shape 48"/>
          <p:cNvSpPr/>
          <p:nvPr/>
        </p:nvSpPr>
        <p:spPr>
          <a:xfrm>
            <a:off x="6195388" y="4030551"/>
            <a:ext cx="33449" cy="2826403"/>
          </a:xfrm>
          <a:custGeom>
            <a:avLst/>
            <a:gdLst/>
            <a:ahLst/>
            <a:cxnLst/>
            <a:rect l="l" t="t" r="r" b="b"/>
            <a:pathLst>
              <a:path w="33449" h="2826403">
                <a:moveTo>
                  <a:pt x="33449" y="0"/>
                </a:moveTo>
                <a:lnTo>
                  <a:pt x="33449" y="0"/>
                </a:lnTo>
                <a:lnTo>
                  <a:pt x="33449" y="2826403"/>
                </a:lnTo>
                <a:lnTo>
                  <a:pt x="33449" y="2826403"/>
                </a:lnTo>
                <a:cubicBezTo>
                  <a:pt x="14975" y="2826403"/>
                  <a:pt x="0" y="2811428"/>
                  <a:pt x="0" y="2792955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51" name="Shape 49"/>
          <p:cNvSpPr/>
          <p:nvPr/>
        </p:nvSpPr>
        <p:spPr>
          <a:xfrm>
            <a:off x="6379355" y="4197794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167243" y="0"/>
                </a:moveTo>
                <a:lnTo>
                  <a:pt x="167243" y="0"/>
                </a:lnTo>
                <a:cubicBezTo>
                  <a:pt x="259608" y="0"/>
                  <a:pt x="334486" y="74877"/>
                  <a:pt x="334486" y="167243"/>
                </a:cubicBezTo>
                <a:lnTo>
                  <a:pt x="334486" y="167243"/>
                </a:lnTo>
                <a:cubicBezTo>
                  <a:pt x="334486" y="259608"/>
                  <a:pt x="259608" y="334486"/>
                  <a:pt x="167243" y="334486"/>
                </a:cubicBezTo>
                <a:lnTo>
                  <a:pt x="167243" y="334486"/>
                </a:lnTo>
                <a:cubicBezTo>
                  <a:pt x="74877" y="334486"/>
                  <a:pt x="0" y="259608"/>
                  <a:pt x="0" y="167243"/>
                </a:cubicBezTo>
                <a:lnTo>
                  <a:pt x="0" y="167243"/>
                </a:lnTo>
                <a:cubicBezTo>
                  <a:pt x="0" y="74877"/>
                  <a:pt x="74877" y="0"/>
                  <a:pt x="167243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52" name="Text 50"/>
          <p:cNvSpPr/>
          <p:nvPr/>
        </p:nvSpPr>
        <p:spPr>
          <a:xfrm>
            <a:off x="6341725" y="4197794"/>
            <a:ext cx="409745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14186" y="4247967"/>
            <a:ext cx="752593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单刀直入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79355" y="4632626"/>
            <a:ext cx="5376856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案例场景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79355" y="4900214"/>
            <a:ext cx="5376856" cy="6522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顾客刘先生进店后直接说："我想买一件衬衫，要正式一点的。"销售顾问小赵立即回应："好的，这边是我们的商务衬衫区，这款免烫衬衫特别适合您，需要我拿合适的尺码给您试试吗？"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79355" y="5552461"/>
            <a:ext cx="5309959" cy="1137251"/>
          </a:xfrm>
          <a:custGeom>
            <a:avLst/>
            <a:gdLst/>
            <a:ahLst/>
            <a:cxnLst/>
            <a:rect l="l" t="t" r="r" b="b"/>
            <a:pathLst>
              <a:path w="5309959" h="1137251">
                <a:moveTo>
                  <a:pt x="66893" y="0"/>
                </a:moveTo>
                <a:lnTo>
                  <a:pt x="5243066" y="0"/>
                </a:lnTo>
                <a:cubicBezTo>
                  <a:pt x="5280010" y="0"/>
                  <a:pt x="5309959" y="29949"/>
                  <a:pt x="5309959" y="66893"/>
                </a:cubicBezTo>
                <a:lnTo>
                  <a:pt x="5309959" y="1070358"/>
                </a:lnTo>
                <a:cubicBezTo>
                  <a:pt x="5309959" y="1107302"/>
                  <a:pt x="5280010" y="1137251"/>
                  <a:pt x="5243066" y="1137251"/>
                </a:cubicBezTo>
                <a:lnTo>
                  <a:pt x="66893" y="1137251"/>
                </a:lnTo>
                <a:cubicBezTo>
                  <a:pt x="29949" y="1137251"/>
                  <a:pt x="0" y="1107302"/>
                  <a:pt x="0" y="1070358"/>
                </a:cubicBezTo>
                <a:lnTo>
                  <a:pt x="0" y="66893"/>
                </a:lnTo>
                <a:cubicBezTo>
                  <a:pt x="0" y="29949"/>
                  <a:pt x="29949" y="0"/>
                  <a:pt x="66893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6479700" y="5652807"/>
            <a:ext cx="5176165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89108" y="5953844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59" name="Text 57"/>
          <p:cNvSpPr/>
          <p:nvPr/>
        </p:nvSpPr>
        <p:spPr>
          <a:xfrm>
            <a:off x="6692935" y="5920395"/>
            <a:ext cx="869663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顾客目的明确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89108" y="6187984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61" name="Text 59"/>
          <p:cNvSpPr/>
          <p:nvPr/>
        </p:nvSpPr>
        <p:spPr>
          <a:xfrm>
            <a:off x="6692935" y="6154535"/>
            <a:ext cx="735868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时间紧迫时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489108" y="6422123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70768" y="-4322"/>
                </a:moveTo>
                <a:cubicBezTo>
                  <a:pt x="69830" y="-6151"/>
                  <a:pt x="67933" y="-7317"/>
                  <a:pt x="65875" y="-7317"/>
                </a:cubicBezTo>
                <a:cubicBezTo>
                  <a:pt x="63817" y="-7317"/>
                  <a:pt x="61919" y="-6151"/>
                  <a:pt x="60982" y="-4322"/>
                </a:cubicBezTo>
                <a:lnTo>
                  <a:pt x="44153" y="28650"/>
                </a:lnTo>
                <a:lnTo>
                  <a:pt x="7591" y="34458"/>
                </a:lnTo>
                <a:cubicBezTo>
                  <a:pt x="5556" y="34778"/>
                  <a:pt x="3864" y="36219"/>
                  <a:pt x="3224" y="38185"/>
                </a:cubicBezTo>
                <a:cubicBezTo>
                  <a:pt x="2584" y="40151"/>
                  <a:pt x="3110" y="42301"/>
                  <a:pt x="4550" y="43764"/>
                </a:cubicBezTo>
                <a:lnTo>
                  <a:pt x="30708" y="69945"/>
                </a:lnTo>
                <a:lnTo>
                  <a:pt x="24946" y="106506"/>
                </a:lnTo>
                <a:cubicBezTo>
                  <a:pt x="24626" y="108541"/>
                  <a:pt x="25472" y="110599"/>
                  <a:pt x="27141" y="111811"/>
                </a:cubicBezTo>
                <a:cubicBezTo>
                  <a:pt x="28810" y="113023"/>
                  <a:pt x="31005" y="113206"/>
                  <a:pt x="32857" y="112268"/>
                </a:cubicBezTo>
                <a:lnTo>
                  <a:pt x="65875" y="95485"/>
                </a:lnTo>
                <a:lnTo>
                  <a:pt x="98869" y="112268"/>
                </a:lnTo>
                <a:cubicBezTo>
                  <a:pt x="100698" y="113206"/>
                  <a:pt x="102916" y="113023"/>
                  <a:pt x="104586" y="111811"/>
                </a:cubicBezTo>
                <a:cubicBezTo>
                  <a:pt x="106255" y="110599"/>
                  <a:pt x="107101" y="108564"/>
                  <a:pt x="106781" y="106506"/>
                </a:cubicBezTo>
                <a:lnTo>
                  <a:pt x="100996" y="69945"/>
                </a:lnTo>
                <a:lnTo>
                  <a:pt x="127154" y="43764"/>
                </a:lnTo>
                <a:cubicBezTo>
                  <a:pt x="128617" y="42301"/>
                  <a:pt x="129120" y="40151"/>
                  <a:pt x="128480" y="38185"/>
                </a:cubicBezTo>
                <a:cubicBezTo>
                  <a:pt x="127839" y="36219"/>
                  <a:pt x="126170" y="34778"/>
                  <a:pt x="124112" y="34458"/>
                </a:cubicBezTo>
                <a:lnTo>
                  <a:pt x="87574" y="28650"/>
                </a:lnTo>
                <a:lnTo>
                  <a:pt x="70768" y="-432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63" name="Text 61"/>
          <p:cNvSpPr/>
          <p:nvPr/>
        </p:nvSpPr>
        <p:spPr>
          <a:xfrm>
            <a:off x="6692935" y="6388675"/>
            <a:ext cx="602074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直接高效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553538" cy="1749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b="1" kern="0" spc="193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03 · SCRIPT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594732"/>
            <a:ext cx="11649745" cy="349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破冰四招 · 话术总结与重点掌握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6080" y="1119495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104953" y="196786"/>
                </a:moveTo>
                <a:cubicBezTo>
                  <a:pt x="162923" y="196786"/>
                  <a:pt x="209905" y="152714"/>
                  <a:pt x="209905" y="98393"/>
                </a:cubicBezTo>
                <a:cubicBezTo>
                  <a:pt x="209905" y="44072"/>
                  <a:pt x="162923" y="0"/>
                  <a:pt x="104953" y="0"/>
                </a:cubicBezTo>
                <a:cubicBezTo>
                  <a:pt x="46983" y="0"/>
                  <a:pt x="0" y="44072"/>
                  <a:pt x="0" y="98393"/>
                </a:cubicBezTo>
                <a:cubicBezTo>
                  <a:pt x="0" y="120655"/>
                  <a:pt x="7871" y="141153"/>
                  <a:pt x="21155" y="157634"/>
                </a:cubicBezTo>
                <a:lnTo>
                  <a:pt x="1148" y="195474"/>
                </a:lnTo>
                <a:cubicBezTo>
                  <a:pt x="-820" y="199164"/>
                  <a:pt x="-205" y="203674"/>
                  <a:pt x="2624" y="206749"/>
                </a:cubicBezTo>
                <a:cubicBezTo>
                  <a:pt x="5453" y="209823"/>
                  <a:pt x="9921" y="210766"/>
                  <a:pt x="13734" y="209126"/>
                </a:cubicBezTo>
                <a:lnTo>
                  <a:pt x="62275" y="188341"/>
                </a:lnTo>
                <a:cubicBezTo>
                  <a:pt x="75312" y="193752"/>
                  <a:pt x="89743" y="196786"/>
                  <a:pt x="104953" y="196786"/>
                </a:cubicBezTo>
                <a:close/>
                <a:moveTo>
                  <a:pt x="52476" y="85274"/>
                </a:moveTo>
                <a:cubicBezTo>
                  <a:pt x="59717" y="85274"/>
                  <a:pt x="65595" y="91152"/>
                  <a:pt x="65595" y="98393"/>
                </a:cubicBezTo>
                <a:cubicBezTo>
                  <a:pt x="65595" y="105634"/>
                  <a:pt x="59717" y="111512"/>
                  <a:pt x="52476" y="111512"/>
                </a:cubicBezTo>
                <a:cubicBezTo>
                  <a:pt x="45236" y="111512"/>
                  <a:pt x="39357" y="105634"/>
                  <a:pt x="39357" y="98393"/>
                </a:cubicBezTo>
                <a:cubicBezTo>
                  <a:pt x="39357" y="91152"/>
                  <a:pt x="45236" y="85274"/>
                  <a:pt x="52476" y="85274"/>
                </a:cubicBezTo>
                <a:close/>
                <a:moveTo>
                  <a:pt x="104953" y="85274"/>
                </a:moveTo>
                <a:cubicBezTo>
                  <a:pt x="112193" y="85274"/>
                  <a:pt x="118072" y="91152"/>
                  <a:pt x="118072" y="98393"/>
                </a:cubicBezTo>
                <a:cubicBezTo>
                  <a:pt x="118072" y="105634"/>
                  <a:pt x="112193" y="111512"/>
                  <a:pt x="104953" y="111512"/>
                </a:cubicBezTo>
                <a:cubicBezTo>
                  <a:pt x="97712" y="111512"/>
                  <a:pt x="91834" y="105634"/>
                  <a:pt x="91834" y="98393"/>
                </a:cubicBezTo>
                <a:cubicBezTo>
                  <a:pt x="91834" y="91152"/>
                  <a:pt x="97712" y="85274"/>
                  <a:pt x="104953" y="85274"/>
                </a:cubicBezTo>
                <a:close/>
                <a:moveTo>
                  <a:pt x="144310" y="98393"/>
                </a:moveTo>
                <a:cubicBezTo>
                  <a:pt x="144310" y="91152"/>
                  <a:pt x="150188" y="85274"/>
                  <a:pt x="157429" y="85274"/>
                </a:cubicBezTo>
                <a:cubicBezTo>
                  <a:pt x="164670" y="85274"/>
                  <a:pt x="170548" y="91152"/>
                  <a:pt x="170548" y="98393"/>
                </a:cubicBezTo>
                <a:cubicBezTo>
                  <a:pt x="170548" y="105634"/>
                  <a:pt x="164670" y="111512"/>
                  <a:pt x="157429" y="111512"/>
                </a:cubicBezTo>
                <a:cubicBezTo>
                  <a:pt x="150188" y="111512"/>
                  <a:pt x="144310" y="105634"/>
                  <a:pt x="144310" y="9839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17176" y="1084511"/>
            <a:ext cx="1154479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话术模板库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7334" y="1504321"/>
            <a:ext cx="5623713" cy="1259432"/>
          </a:xfrm>
          <a:custGeom>
            <a:avLst/>
            <a:gdLst/>
            <a:ahLst/>
            <a:cxnLst/>
            <a:rect l="l" t="t" r="r" b="b"/>
            <a:pathLst>
              <a:path w="5623713" h="1259432">
                <a:moveTo>
                  <a:pt x="34984" y="0"/>
                </a:moveTo>
                <a:lnTo>
                  <a:pt x="5553739" y="0"/>
                </a:lnTo>
                <a:cubicBezTo>
                  <a:pt x="5592385" y="0"/>
                  <a:pt x="5623713" y="31328"/>
                  <a:pt x="5623713" y="69974"/>
                </a:cubicBezTo>
                <a:lnTo>
                  <a:pt x="5623713" y="1189458"/>
                </a:lnTo>
                <a:cubicBezTo>
                  <a:pt x="5623713" y="1228103"/>
                  <a:pt x="5592385" y="1259432"/>
                  <a:pt x="5553739" y="1259432"/>
                </a:cubicBezTo>
                <a:lnTo>
                  <a:pt x="34984" y="1259432"/>
                </a:lnTo>
                <a:cubicBezTo>
                  <a:pt x="15663" y="1259432"/>
                  <a:pt x="0" y="1243769"/>
                  <a:pt x="0" y="122444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367334" y="1504321"/>
            <a:ext cx="34984" cy="1259432"/>
          </a:xfrm>
          <a:custGeom>
            <a:avLst/>
            <a:gdLst/>
            <a:ahLst/>
            <a:cxnLst/>
            <a:rect l="l" t="t" r="r" b="b"/>
            <a:pathLst>
              <a:path w="34984" h="1259432">
                <a:moveTo>
                  <a:pt x="34984" y="0"/>
                </a:moveTo>
                <a:lnTo>
                  <a:pt x="34984" y="0"/>
                </a:lnTo>
                <a:lnTo>
                  <a:pt x="34984" y="1259432"/>
                </a:lnTo>
                <a:lnTo>
                  <a:pt x="34984" y="1259432"/>
                </a:lnTo>
                <a:cubicBezTo>
                  <a:pt x="15663" y="1259432"/>
                  <a:pt x="0" y="1243769"/>
                  <a:pt x="0" y="122444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Shape 6"/>
          <p:cNvSpPr/>
          <p:nvPr/>
        </p:nvSpPr>
        <p:spPr>
          <a:xfrm>
            <a:off x="542255" y="1679242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65869" y="23806"/>
                </a:moveTo>
                <a:lnTo>
                  <a:pt x="69968" y="29463"/>
                </a:lnTo>
                <a:lnTo>
                  <a:pt x="74068" y="23806"/>
                </a:lnTo>
                <a:cubicBezTo>
                  <a:pt x="80901" y="14349"/>
                  <a:pt x="91888" y="8746"/>
                  <a:pt x="103559" y="8746"/>
                </a:cubicBezTo>
                <a:cubicBezTo>
                  <a:pt x="123647" y="8746"/>
                  <a:pt x="139937" y="25036"/>
                  <a:pt x="139937" y="45124"/>
                </a:cubicBezTo>
                <a:lnTo>
                  <a:pt x="139937" y="45835"/>
                </a:lnTo>
                <a:cubicBezTo>
                  <a:pt x="139937" y="76501"/>
                  <a:pt x="101700" y="112113"/>
                  <a:pt x="81748" y="127337"/>
                </a:cubicBezTo>
                <a:cubicBezTo>
                  <a:pt x="78359" y="129906"/>
                  <a:pt x="74205" y="131191"/>
                  <a:pt x="69968" y="131191"/>
                </a:cubicBezTo>
                <a:cubicBezTo>
                  <a:pt x="65732" y="131191"/>
                  <a:pt x="61550" y="129934"/>
                  <a:pt x="58189" y="127337"/>
                </a:cubicBezTo>
                <a:cubicBezTo>
                  <a:pt x="38237" y="112113"/>
                  <a:pt x="0" y="76501"/>
                  <a:pt x="0" y="45835"/>
                </a:cubicBezTo>
                <a:lnTo>
                  <a:pt x="0" y="45124"/>
                </a:lnTo>
                <a:cubicBezTo>
                  <a:pt x="0" y="25036"/>
                  <a:pt x="16290" y="8746"/>
                  <a:pt x="36378" y="8746"/>
                </a:cubicBezTo>
                <a:cubicBezTo>
                  <a:pt x="48049" y="8746"/>
                  <a:pt x="59036" y="14349"/>
                  <a:pt x="65869" y="2380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9" name="Text 7"/>
          <p:cNvSpPr/>
          <p:nvPr/>
        </p:nvSpPr>
        <p:spPr>
          <a:xfrm>
            <a:off x="699684" y="1644258"/>
            <a:ext cx="5221395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赞美话术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4763" y="1924132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"您的气质很好，这件POLO特别适合您！"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4763" y="2169022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"您的身材保持得真好，穿什么都很有型！"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4763" y="2413911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"您的穿搭很有品味，这款肯定适合您！"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7334" y="2868706"/>
            <a:ext cx="5623713" cy="1259432"/>
          </a:xfrm>
          <a:custGeom>
            <a:avLst/>
            <a:gdLst/>
            <a:ahLst/>
            <a:cxnLst/>
            <a:rect l="l" t="t" r="r" b="b"/>
            <a:pathLst>
              <a:path w="5623713" h="1259432">
                <a:moveTo>
                  <a:pt x="34984" y="0"/>
                </a:moveTo>
                <a:lnTo>
                  <a:pt x="5553739" y="0"/>
                </a:lnTo>
                <a:cubicBezTo>
                  <a:pt x="5592385" y="0"/>
                  <a:pt x="5623713" y="31328"/>
                  <a:pt x="5623713" y="69974"/>
                </a:cubicBezTo>
                <a:lnTo>
                  <a:pt x="5623713" y="1189458"/>
                </a:lnTo>
                <a:cubicBezTo>
                  <a:pt x="5623713" y="1228103"/>
                  <a:pt x="5592385" y="1259432"/>
                  <a:pt x="5553739" y="1259432"/>
                </a:cubicBezTo>
                <a:lnTo>
                  <a:pt x="34984" y="1259432"/>
                </a:lnTo>
                <a:cubicBezTo>
                  <a:pt x="15663" y="1259432"/>
                  <a:pt x="0" y="1243769"/>
                  <a:pt x="0" y="122444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367334" y="2868706"/>
            <a:ext cx="34984" cy="1259432"/>
          </a:xfrm>
          <a:custGeom>
            <a:avLst/>
            <a:gdLst/>
            <a:ahLst/>
            <a:cxnLst/>
            <a:rect l="l" t="t" r="r" b="b"/>
            <a:pathLst>
              <a:path w="34984" h="1259432">
                <a:moveTo>
                  <a:pt x="34984" y="0"/>
                </a:moveTo>
                <a:lnTo>
                  <a:pt x="34984" y="0"/>
                </a:lnTo>
                <a:lnTo>
                  <a:pt x="34984" y="1259432"/>
                </a:lnTo>
                <a:lnTo>
                  <a:pt x="34984" y="1259432"/>
                </a:lnTo>
                <a:cubicBezTo>
                  <a:pt x="15663" y="1259432"/>
                  <a:pt x="0" y="1243769"/>
                  <a:pt x="0" y="122444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Shape 13"/>
          <p:cNvSpPr/>
          <p:nvPr/>
        </p:nvSpPr>
        <p:spPr>
          <a:xfrm>
            <a:off x="533509" y="3043627"/>
            <a:ext cx="157429" cy="139937"/>
          </a:xfrm>
          <a:custGeom>
            <a:avLst/>
            <a:gdLst/>
            <a:ahLst/>
            <a:cxnLst/>
            <a:rect l="l" t="t" r="r" b="b"/>
            <a:pathLst>
              <a:path w="157429" h="139937">
                <a:moveTo>
                  <a:pt x="104953" y="39357"/>
                </a:moveTo>
                <a:cubicBezTo>
                  <a:pt x="104953" y="65923"/>
                  <a:pt x="81448" y="87461"/>
                  <a:pt x="52476" y="87461"/>
                </a:cubicBezTo>
                <a:cubicBezTo>
                  <a:pt x="45179" y="87461"/>
                  <a:pt x="38237" y="86094"/>
                  <a:pt x="31923" y="83634"/>
                </a:cubicBezTo>
                <a:lnTo>
                  <a:pt x="9621" y="95441"/>
                </a:lnTo>
                <a:cubicBezTo>
                  <a:pt x="7079" y="96781"/>
                  <a:pt x="3963" y="96316"/>
                  <a:pt x="1913" y="94293"/>
                </a:cubicBezTo>
                <a:cubicBezTo>
                  <a:pt x="-137" y="92271"/>
                  <a:pt x="-601" y="89128"/>
                  <a:pt x="765" y="86586"/>
                </a:cubicBezTo>
                <a:lnTo>
                  <a:pt x="10495" y="68219"/>
                </a:lnTo>
                <a:cubicBezTo>
                  <a:pt x="3908" y="60184"/>
                  <a:pt x="0" y="50180"/>
                  <a:pt x="0" y="39357"/>
                </a:cubicBezTo>
                <a:cubicBezTo>
                  <a:pt x="0" y="12791"/>
                  <a:pt x="23505" y="-8746"/>
                  <a:pt x="52476" y="-8746"/>
                </a:cubicBezTo>
                <a:cubicBezTo>
                  <a:pt x="81448" y="-8746"/>
                  <a:pt x="104953" y="12791"/>
                  <a:pt x="104953" y="39357"/>
                </a:cubicBezTo>
                <a:close/>
                <a:moveTo>
                  <a:pt x="104953" y="139937"/>
                </a:moveTo>
                <a:cubicBezTo>
                  <a:pt x="79234" y="139937"/>
                  <a:pt x="57833" y="122964"/>
                  <a:pt x="53351" y="100580"/>
                </a:cubicBezTo>
                <a:cubicBezTo>
                  <a:pt x="86149" y="100170"/>
                  <a:pt x="114655" y="76829"/>
                  <a:pt x="117798" y="45179"/>
                </a:cubicBezTo>
                <a:cubicBezTo>
                  <a:pt x="140565" y="50426"/>
                  <a:pt x="157429" y="69312"/>
                  <a:pt x="157429" y="91834"/>
                </a:cubicBezTo>
                <a:cubicBezTo>
                  <a:pt x="157429" y="102657"/>
                  <a:pt x="153521" y="112660"/>
                  <a:pt x="146934" y="120696"/>
                </a:cubicBezTo>
                <a:lnTo>
                  <a:pt x="156664" y="139062"/>
                </a:lnTo>
                <a:cubicBezTo>
                  <a:pt x="158003" y="141604"/>
                  <a:pt x="157538" y="144720"/>
                  <a:pt x="155516" y="146770"/>
                </a:cubicBezTo>
                <a:cubicBezTo>
                  <a:pt x="153493" y="148820"/>
                  <a:pt x="150350" y="149284"/>
                  <a:pt x="147808" y="147918"/>
                </a:cubicBezTo>
                <a:lnTo>
                  <a:pt x="125506" y="136110"/>
                </a:lnTo>
                <a:cubicBezTo>
                  <a:pt x="119192" y="138570"/>
                  <a:pt x="112250" y="139937"/>
                  <a:pt x="104953" y="139937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6" name="Text 14"/>
          <p:cNvSpPr/>
          <p:nvPr/>
        </p:nvSpPr>
        <p:spPr>
          <a:xfrm>
            <a:off x="699684" y="3008643"/>
            <a:ext cx="5221395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非销话题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4763" y="3288516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"今天天气不错，适合出来逛逛。"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4763" y="3533406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"您这块手表很特别，是什么品牌的？"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4763" y="3778296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"看您的皮鞋很有质感，是在哪里买的？"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7334" y="4233090"/>
            <a:ext cx="5623713" cy="1259432"/>
          </a:xfrm>
          <a:custGeom>
            <a:avLst/>
            <a:gdLst/>
            <a:ahLst/>
            <a:cxnLst/>
            <a:rect l="l" t="t" r="r" b="b"/>
            <a:pathLst>
              <a:path w="5623713" h="1259432">
                <a:moveTo>
                  <a:pt x="34984" y="0"/>
                </a:moveTo>
                <a:lnTo>
                  <a:pt x="5553739" y="0"/>
                </a:lnTo>
                <a:cubicBezTo>
                  <a:pt x="5592385" y="0"/>
                  <a:pt x="5623713" y="31328"/>
                  <a:pt x="5623713" y="69974"/>
                </a:cubicBezTo>
                <a:lnTo>
                  <a:pt x="5623713" y="1189458"/>
                </a:lnTo>
                <a:cubicBezTo>
                  <a:pt x="5623713" y="1228103"/>
                  <a:pt x="5592385" y="1259432"/>
                  <a:pt x="5553739" y="1259432"/>
                </a:cubicBezTo>
                <a:lnTo>
                  <a:pt x="34984" y="1259432"/>
                </a:lnTo>
                <a:cubicBezTo>
                  <a:pt x="15663" y="1259432"/>
                  <a:pt x="0" y="1243769"/>
                  <a:pt x="0" y="122444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67334" y="4233090"/>
            <a:ext cx="34984" cy="1259432"/>
          </a:xfrm>
          <a:custGeom>
            <a:avLst/>
            <a:gdLst/>
            <a:ahLst/>
            <a:cxnLst/>
            <a:rect l="l" t="t" r="r" b="b"/>
            <a:pathLst>
              <a:path w="34984" h="1259432">
                <a:moveTo>
                  <a:pt x="34984" y="0"/>
                </a:moveTo>
                <a:lnTo>
                  <a:pt x="34984" y="0"/>
                </a:lnTo>
                <a:lnTo>
                  <a:pt x="34984" y="1259432"/>
                </a:lnTo>
                <a:lnTo>
                  <a:pt x="34984" y="1259432"/>
                </a:lnTo>
                <a:cubicBezTo>
                  <a:pt x="15663" y="1259432"/>
                  <a:pt x="0" y="1243769"/>
                  <a:pt x="0" y="122444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22" name="Shape 20"/>
          <p:cNvSpPr/>
          <p:nvPr/>
        </p:nvSpPr>
        <p:spPr>
          <a:xfrm>
            <a:off x="542255" y="4408011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69968" y="139937"/>
                </a:moveTo>
                <a:cubicBezTo>
                  <a:pt x="108585" y="139937"/>
                  <a:pt x="139937" y="108585"/>
                  <a:pt x="139937" y="69968"/>
                </a:cubicBezTo>
                <a:cubicBezTo>
                  <a:pt x="139937" y="31352"/>
                  <a:pt x="108585" y="0"/>
                  <a:pt x="69968" y="0"/>
                </a:cubicBezTo>
                <a:cubicBezTo>
                  <a:pt x="31352" y="0"/>
                  <a:pt x="0" y="31352"/>
                  <a:pt x="0" y="69968"/>
                </a:cubicBezTo>
                <a:cubicBezTo>
                  <a:pt x="0" y="108585"/>
                  <a:pt x="31352" y="139937"/>
                  <a:pt x="69968" y="139937"/>
                </a:cubicBezTo>
                <a:close/>
                <a:moveTo>
                  <a:pt x="69968" y="48103"/>
                </a:moveTo>
                <a:cubicBezTo>
                  <a:pt x="65131" y="48103"/>
                  <a:pt x="61222" y="52012"/>
                  <a:pt x="61222" y="56849"/>
                </a:cubicBezTo>
                <a:cubicBezTo>
                  <a:pt x="61222" y="60484"/>
                  <a:pt x="58298" y="63409"/>
                  <a:pt x="54663" y="63409"/>
                </a:cubicBezTo>
                <a:cubicBezTo>
                  <a:pt x="51028" y="63409"/>
                  <a:pt x="48103" y="60484"/>
                  <a:pt x="48103" y="56849"/>
                </a:cubicBezTo>
                <a:cubicBezTo>
                  <a:pt x="48103" y="44769"/>
                  <a:pt x="57888" y="34984"/>
                  <a:pt x="69968" y="34984"/>
                </a:cubicBezTo>
                <a:cubicBezTo>
                  <a:pt x="82049" y="34984"/>
                  <a:pt x="91834" y="44769"/>
                  <a:pt x="91834" y="56849"/>
                </a:cubicBezTo>
                <a:cubicBezTo>
                  <a:pt x="91834" y="69750"/>
                  <a:pt x="81994" y="75216"/>
                  <a:pt x="76528" y="77211"/>
                </a:cubicBezTo>
                <a:lnTo>
                  <a:pt x="76528" y="78250"/>
                </a:lnTo>
                <a:cubicBezTo>
                  <a:pt x="76528" y="81885"/>
                  <a:pt x="73604" y="84809"/>
                  <a:pt x="69968" y="84809"/>
                </a:cubicBezTo>
                <a:cubicBezTo>
                  <a:pt x="66333" y="84809"/>
                  <a:pt x="63409" y="81885"/>
                  <a:pt x="63409" y="78250"/>
                </a:cubicBezTo>
                <a:lnTo>
                  <a:pt x="63409" y="76036"/>
                </a:lnTo>
                <a:cubicBezTo>
                  <a:pt x="63409" y="70433"/>
                  <a:pt x="67454" y="66415"/>
                  <a:pt x="71636" y="65049"/>
                </a:cubicBezTo>
                <a:cubicBezTo>
                  <a:pt x="73385" y="64475"/>
                  <a:pt x="75243" y="63546"/>
                  <a:pt x="76610" y="62234"/>
                </a:cubicBezTo>
                <a:cubicBezTo>
                  <a:pt x="77785" y="61086"/>
                  <a:pt x="78714" y="59501"/>
                  <a:pt x="78714" y="56877"/>
                </a:cubicBezTo>
                <a:cubicBezTo>
                  <a:pt x="78714" y="52039"/>
                  <a:pt x="74806" y="48131"/>
                  <a:pt x="69968" y="48131"/>
                </a:cubicBezTo>
                <a:close/>
                <a:moveTo>
                  <a:pt x="61222" y="100580"/>
                </a:moveTo>
                <a:cubicBezTo>
                  <a:pt x="61222" y="95753"/>
                  <a:pt x="65141" y="91834"/>
                  <a:pt x="69968" y="91834"/>
                </a:cubicBezTo>
                <a:cubicBezTo>
                  <a:pt x="74796" y="91834"/>
                  <a:pt x="78714" y="95753"/>
                  <a:pt x="78714" y="100580"/>
                </a:cubicBezTo>
                <a:cubicBezTo>
                  <a:pt x="78714" y="105407"/>
                  <a:pt x="74796" y="109326"/>
                  <a:pt x="69968" y="109326"/>
                </a:cubicBezTo>
                <a:cubicBezTo>
                  <a:pt x="65141" y="109326"/>
                  <a:pt x="61222" y="105407"/>
                  <a:pt x="61222" y="10058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3" name="Text 21"/>
          <p:cNvSpPr/>
          <p:nvPr/>
        </p:nvSpPr>
        <p:spPr>
          <a:xfrm>
            <a:off x="699684" y="4373027"/>
            <a:ext cx="5221395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引导提问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4763" y="4652901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"请问今天是想选购什么类型的衣服呢？"</a:t>
            </a:r>
            <a:r>
              <a:rPr lang="zh-CN" alt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（开放式提问）</a:t>
            </a:r>
            <a:endParaRPr lang="zh-CN" altLang="en-US" sz="1100" dirty="0">
              <a:solidFill>
                <a:srgbClr val="2E2E2E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4763" y="4897791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"您是想买商务装还是休闲装？"</a:t>
            </a:r>
            <a:r>
              <a:rPr lang="zh-CN" alt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（封闭式提问）</a:t>
            </a:r>
            <a:endParaRPr lang="zh-CN" altLang="en-US" sz="1100" dirty="0">
              <a:solidFill>
                <a:srgbClr val="2E2E2E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4763" y="5142680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"您平时喜欢什么风格的穿搭？</a:t>
            </a:r>
            <a:r>
              <a:rPr lang="zh-CN" alt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（开放式提问）</a:t>
            </a: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7334" y="5597475"/>
            <a:ext cx="5623713" cy="1259432"/>
          </a:xfrm>
          <a:custGeom>
            <a:avLst/>
            <a:gdLst/>
            <a:ahLst/>
            <a:cxnLst/>
            <a:rect l="l" t="t" r="r" b="b"/>
            <a:pathLst>
              <a:path w="5623713" h="1259432">
                <a:moveTo>
                  <a:pt x="34984" y="0"/>
                </a:moveTo>
                <a:lnTo>
                  <a:pt x="5553739" y="0"/>
                </a:lnTo>
                <a:cubicBezTo>
                  <a:pt x="5592385" y="0"/>
                  <a:pt x="5623713" y="31328"/>
                  <a:pt x="5623713" y="69974"/>
                </a:cubicBezTo>
                <a:lnTo>
                  <a:pt x="5623713" y="1189458"/>
                </a:lnTo>
                <a:cubicBezTo>
                  <a:pt x="5623713" y="1228103"/>
                  <a:pt x="5592385" y="1259432"/>
                  <a:pt x="5553739" y="1259432"/>
                </a:cubicBezTo>
                <a:lnTo>
                  <a:pt x="34984" y="1259432"/>
                </a:lnTo>
                <a:cubicBezTo>
                  <a:pt x="15663" y="1259432"/>
                  <a:pt x="0" y="1243769"/>
                  <a:pt x="0" y="122444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Shape 26"/>
          <p:cNvSpPr/>
          <p:nvPr/>
        </p:nvSpPr>
        <p:spPr>
          <a:xfrm>
            <a:off x="367334" y="5597475"/>
            <a:ext cx="34984" cy="1259432"/>
          </a:xfrm>
          <a:custGeom>
            <a:avLst/>
            <a:gdLst/>
            <a:ahLst/>
            <a:cxnLst/>
            <a:rect l="l" t="t" r="r" b="b"/>
            <a:pathLst>
              <a:path w="34984" h="1259432">
                <a:moveTo>
                  <a:pt x="34984" y="0"/>
                </a:moveTo>
                <a:lnTo>
                  <a:pt x="34984" y="0"/>
                </a:lnTo>
                <a:lnTo>
                  <a:pt x="34984" y="1259432"/>
                </a:lnTo>
                <a:lnTo>
                  <a:pt x="34984" y="1259432"/>
                </a:lnTo>
                <a:cubicBezTo>
                  <a:pt x="15663" y="1259432"/>
                  <a:pt x="0" y="1243769"/>
                  <a:pt x="0" y="1224448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9" name="Shape 27"/>
          <p:cNvSpPr/>
          <p:nvPr/>
        </p:nvSpPr>
        <p:spPr>
          <a:xfrm>
            <a:off x="551001" y="5772396"/>
            <a:ext cx="122445" cy="139937"/>
          </a:xfrm>
          <a:custGeom>
            <a:avLst/>
            <a:gdLst/>
            <a:ahLst/>
            <a:cxnLst/>
            <a:rect l="l" t="t" r="r" b="b"/>
            <a:pathLst>
              <a:path w="122445" h="139937">
                <a:moveTo>
                  <a:pt x="92599" y="-2706"/>
                </a:moveTo>
                <a:cubicBezTo>
                  <a:pt x="95851" y="-355"/>
                  <a:pt x="97054" y="3908"/>
                  <a:pt x="95578" y="7625"/>
                </a:cubicBezTo>
                <a:lnTo>
                  <a:pt x="74150" y="61222"/>
                </a:lnTo>
                <a:lnTo>
                  <a:pt x="113699" y="61222"/>
                </a:lnTo>
                <a:cubicBezTo>
                  <a:pt x="117388" y="61222"/>
                  <a:pt x="120668" y="63518"/>
                  <a:pt x="121925" y="66989"/>
                </a:cubicBezTo>
                <a:cubicBezTo>
                  <a:pt x="123183" y="70460"/>
                  <a:pt x="122117" y="74341"/>
                  <a:pt x="119302" y="76692"/>
                </a:cubicBezTo>
                <a:lnTo>
                  <a:pt x="40587" y="142287"/>
                </a:lnTo>
                <a:cubicBezTo>
                  <a:pt x="37499" y="144857"/>
                  <a:pt x="33098" y="144993"/>
                  <a:pt x="29846" y="142643"/>
                </a:cubicBezTo>
                <a:cubicBezTo>
                  <a:pt x="26593" y="140292"/>
                  <a:pt x="25391" y="136028"/>
                  <a:pt x="26867" y="132311"/>
                </a:cubicBezTo>
                <a:lnTo>
                  <a:pt x="48295" y="78714"/>
                </a:lnTo>
                <a:lnTo>
                  <a:pt x="8746" y="78714"/>
                </a:lnTo>
                <a:cubicBezTo>
                  <a:pt x="5056" y="78714"/>
                  <a:pt x="1777" y="76419"/>
                  <a:pt x="519" y="72948"/>
                </a:cubicBezTo>
                <a:cubicBezTo>
                  <a:pt x="-738" y="69476"/>
                  <a:pt x="328" y="65595"/>
                  <a:pt x="3143" y="63245"/>
                </a:cubicBezTo>
                <a:lnTo>
                  <a:pt x="81858" y="-2351"/>
                </a:lnTo>
                <a:cubicBezTo>
                  <a:pt x="84946" y="-4920"/>
                  <a:pt x="89346" y="-5056"/>
                  <a:pt x="92599" y="-270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0" name="Text 28"/>
          <p:cNvSpPr/>
          <p:nvPr/>
        </p:nvSpPr>
        <p:spPr>
          <a:xfrm>
            <a:off x="699684" y="5737412"/>
            <a:ext cx="5221395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单刀直入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4763" y="6017286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"好的，这边请，这是我们的POLO专区。"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4763" y="6262175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"没问题，我拿几款给您看看。"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4763" y="6507065"/>
            <a:ext cx="5396316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"好的，请问您穿多大尺码？"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6189" y="1119495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183667" y="104953"/>
                </a:moveTo>
                <a:cubicBezTo>
                  <a:pt x="183667" y="61509"/>
                  <a:pt x="148396" y="26238"/>
                  <a:pt x="104953" y="26238"/>
                </a:cubicBezTo>
                <a:cubicBezTo>
                  <a:pt x="61509" y="26238"/>
                  <a:pt x="26238" y="61509"/>
                  <a:pt x="26238" y="104953"/>
                </a:cubicBezTo>
                <a:cubicBezTo>
                  <a:pt x="26238" y="148396"/>
                  <a:pt x="61509" y="183667"/>
                  <a:pt x="104953" y="183667"/>
                </a:cubicBezTo>
                <a:cubicBezTo>
                  <a:pt x="148396" y="183667"/>
                  <a:pt x="183667" y="148396"/>
                  <a:pt x="183667" y="104953"/>
                </a:cubicBezTo>
                <a:close/>
                <a:moveTo>
                  <a:pt x="0" y="104953"/>
                </a:moveTo>
                <a:cubicBezTo>
                  <a:pt x="0" y="47028"/>
                  <a:pt x="47028" y="0"/>
                  <a:pt x="104953" y="0"/>
                </a:cubicBezTo>
                <a:cubicBezTo>
                  <a:pt x="162878" y="0"/>
                  <a:pt x="209905" y="47028"/>
                  <a:pt x="209905" y="104953"/>
                </a:cubicBezTo>
                <a:cubicBezTo>
                  <a:pt x="209905" y="162878"/>
                  <a:pt x="162878" y="209905"/>
                  <a:pt x="104953" y="209905"/>
                </a:cubicBezTo>
                <a:cubicBezTo>
                  <a:pt x="47028" y="209905"/>
                  <a:pt x="0" y="162878"/>
                  <a:pt x="0" y="104953"/>
                </a:cubicBezTo>
                <a:close/>
                <a:moveTo>
                  <a:pt x="104953" y="137750"/>
                </a:moveTo>
                <a:cubicBezTo>
                  <a:pt x="123054" y="137750"/>
                  <a:pt x="137750" y="123054"/>
                  <a:pt x="137750" y="104953"/>
                </a:cubicBezTo>
                <a:cubicBezTo>
                  <a:pt x="137750" y="86851"/>
                  <a:pt x="123054" y="72155"/>
                  <a:pt x="104953" y="72155"/>
                </a:cubicBezTo>
                <a:cubicBezTo>
                  <a:pt x="86851" y="72155"/>
                  <a:pt x="72155" y="86851"/>
                  <a:pt x="72155" y="104953"/>
                </a:cubicBezTo>
                <a:cubicBezTo>
                  <a:pt x="72155" y="123054"/>
                  <a:pt x="86851" y="137750"/>
                  <a:pt x="104953" y="137750"/>
                </a:cubicBezTo>
                <a:close/>
                <a:moveTo>
                  <a:pt x="104953" y="45917"/>
                </a:moveTo>
                <a:cubicBezTo>
                  <a:pt x="137535" y="45917"/>
                  <a:pt x="163989" y="72370"/>
                  <a:pt x="163989" y="104953"/>
                </a:cubicBezTo>
                <a:cubicBezTo>
                  <a:pt x="163989" y="137535"/>
                  <a:pt x="137535" y="163989"/>
                  <a:pt x="104953" y="163989"/>
                </a:cubicBezTo>
                <a:cubicBezTo>
                  <a:pt x="72370" y="163989"/>
                  <a:pt x="45917" y="137535"/>
                  <a:pt x="45917" y="104953"/>
                </a:cubicBezTo>
                <a:cubicBezTo>
                  <a:pt x="45917" y="72370"/>
                  <a:pt x="72370" y="45917"/>
                  <a:pt x="104953" y="45917"/>
                </a:cubicBezTo>
                <a:close/>
                <a:moveTo>
                  <a:pt x="91834" y="104953"/>
                </a:moveTo>
                <a:cubicBezTo>
                  <a:pt x="91834" y="97712"/>
                  <a:pt x="97712" y="91834"/>
                  <a:pt x="104953" y="91834"/>
                </a:cubicBezTo>
                <a:cubicBezTo>
                  <a:pt x="112193" y="91834"/>
                  <a:pt x="118072" y="97712"/>
                  <a:pt x="118072" y="104953"/>
                </a:cubicBezTo>
                <a:cubicBezTo>
                  <a:pt x="118072" y="112193"/>
                  <a:pt x="112193" y="118072"/>
                  <a:pt x="104953" y="118072"/>
                </a:cubicBezTo>
                <a:cubicBezTo>
                  <a:pt x="97712" y="118072"/>
                  <a:pt x="91834" y="112193"/>
                  <a:pt x="91834" y="10495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5" name="Text 33"/>
          <p:cNvSpPr/>
          <p:nvPr/>
        </p:nvSpPr>
        <p:spPr>
          <a:xfrm>
            <a:off x="6567285" y="1084511"/>
            <a:ext cx="944574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重点掌握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9951" y="1504321"/>
            <a:ext cx="5641205" cy="3848264"/>
          </a:xfrm>
          <a:custGeom>
            <a:avLst/>
            <a:gdLst/>
            <a:ahLst/>
            <a:cxnLst/>
            <a:rect l="l" t="t" r="r" b="b"/>
            <a:pathLst>
              <a:path w="5641205" h="3848264">
                <a:moveTo>
                  <a:pt x="69961" y="0"/>
                </a:moveTo>
                <a:lnTo>
                  <a:pt x="5571244" y="0"/>
                </a:lnTo>
                <a:cubicBezTo>
                  <a:pt x="5609882" y="0"/>
                  <a:pt x="5641205" y="31323"/>
                  <a:pt x="5641205" y="69961"/>
                </a:cubicBezTo>
                <a:lnTo>
                  <a:pt x="5641205" y="3778303"/>
                </a:lnTo>
                <a:cubicBezTo>
                  <a:pt x="5641205" y="3816941"/>
                  <a:pt x="5609882" y="3848264"/>
                  <a:pt x="5571244" y="3848264"/>
                </a:cubicBezTo>
                <a:lnTo>
                  <a:pt x="69961" y="3848264"/>
                </a:lnTo>
                <a:cubicBezTo>
                  <a:pt x="31323" y="3848264"/>
                  <a:pt x="0" y="3816941"/>
                  <a:pt x="0" y="3778303"/>
                </a:cubicBezTo>
                <a:lnTo>
                  <a:pt x="0" y="69961"/>
                </a:lnTo>
                <a:cubicBezTo>
                  <a:pt x="0" y="31323"/>
                  <a:pt x="31323" y="0"/>
                  <a:pt x="69961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7" name="Text 35"/>
          <p:cNvSpPr/>
          <p:nvPr/>
        </p:nvSpPr>
        <p:spPr>
          <a:xfrm>
            <a:off x="6374872" y="1679242"/>
            <a:ext cx="5370077" cy="244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破冰原则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4872" y="2064069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9" name="Text 37"/>
          <p:cNvSpPr/>
          <p:nvPr/>
        </p:nvSpPr>
        <p:spPr>
          <a:xfrm>
            <a:off x="6344261" y="2064069"/>
            <a:ext cx="341096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59698" y="2064069"/>
            <a:ext cx="2169022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根据顾客类型选择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59698" y="2308958"/>
            <a:ext cx="2169022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观察顾客性格，选择合适破冰方式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74872" y="2623816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Text 41"/>
          <p:cNvSpPr/>
          <p:nvPr/>
        </p:nvSpPr>
        <p:spPr>
          <a:xfrm>
            <a:off x="6344261" y="2623816"/>
            <a:ext cx="341096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59698" y="2623816"/>
            <a:ext cx="1889148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真诚自然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59698" y="2868706"/>
            <a:ext cx="1889148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态度真诚，语言自然，不生硬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74872" y="3183564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7" name="Text 45"/>
          <p:cNvSpPr/>
          <p:nvPr/>
        </p:nvSpPr>
        <p:spPr>
          <a:xfrm>
            <a:off x="6344261" y="3183564"/>
            <a:ext cx="341096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59698" y="3183564"/>
            <a:ext cx="1749211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快速建立信任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59698" y="3428453"/>
            <a:ext cx="1749211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通过破冰拉近与顾客的距离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74872" y="3743311"/>
            <a:ext cx="279874" cy="279874"/>
          </a:xfrm>
          <a:custGeom>
            <a:avLst/>
            <a:gdLst/>
            <a:ahLst/>
            <a:cxnLst/>
            <a:rect l="l" t="t" r="r" b="b"/>
            <a:pathLst>
              <a:path w="279874" h="279874">
                <a:moveTo>
                  <a:pt x="139937" y="0"/>
                </a:moveTo>
                <a:lnTo>
                  <a:pt x="139937" y="0"/>
                </a:lnTo>
                <a:cubicBezTo>
                  <a:pt x="217170" y="0"/>
                  <a:pt x="279874" y="62704"/>
                  <a:pt x="279874" y="139937"/>
                </a:cubicBezTo>
                <a:lnTo>
                  <a:pt x="279874" y="139937"/>
                </a:lnTo>
                <a:cubicBezTo>
                  <a:pt x="279874" y="217170"/>
                  <a:pt x="217170" y="279874"/>
                  <a:pt x="139937" y="279874"/>
                </a:cubicBezTo>
                <a:lnTo>
                  <a:pt x="139937" y="279874"/>
                </a:lnTo>
                <a:cubicBezTo>
                  <a:pt x="62704" y="279874"/>
                  <a:pt x="0" y="217170"/>
                  <a:pt x="0" y="139937"/>
                </a:cubicBezTo>
                <a:lnTo>
                  <a:pt x="0" y="139937"/>
                </a:lnTo>
                <a:cubicBezTo>
                  <a:pt x="0" y="62704"/>
                  <a:pt x="62704" y="0"/>
                  <a:pt x="13993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1" name="Text 49"/>
          <p:cNvSpPr/>
          <p:nvPr/>
        </p:nvSpPr>
        <p:spPr>
          <a:xfrm>
            <a:off x="6344261" y="3743311"/>
            <a:ext cx="341096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759698" y="3743311"/>
            <a:ext cx="1749211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为后续销售铺垫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59698" y="3988201"/>
            <a:ext cx="1749211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破冰成功，后续推荐更顺畅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99951" y="5492522"/>
            <a:ext cx="5641205" cy="1364385"/>
          </a:xfrm>
          <a:custGeom>
            <a:avLst/>
            <a:gdLst/>
            <a:ahLst/>
            <a:cxnLst/>
            <a:rect l="l" t="t" r="r" b="b"/>
            <a:pathLst>
              <a:path w="5641205" h="1364385">
                <a:moveTo>
                  <a:pt x="69966" y="0"/>
                </a:moveTo>
                <a:lnTo>
                  <a:pt x="5571240" y="0"/>
                </a:lnTo>
                <a:cubicBezTo>
                  <a:pt x="5609880" y="0"/>
                  <a:pt x="5641205" y="31325"/>
                  <a:pt x="5641205" y="69966"/>
                </a:cubicBezTo>
                <a:lnTo>
                  <a:pt x="5641205" y="1294419"/>
                </a:lnTo>
                <a:cubicBezTo>
                  <a:pt x="5641205" y="1333060"/>
                  <a:pt x="5609880" y="1364385"/>
                  <a:pt x="5571240" y="1364385"/>
                </a:cubicBezTo>
                <a:lnTo>
                  <a:pt x="69966" y="1364385"/>
                </a:lnTo>
                <a:cubicBezTo>
                  <a:pt x="31325" y="1364385"/>
                  <a:pt x="0" y="1333060"/>
                  <a:pt x="0" y="1294419"/>
                </a:cubicBezTo>
                <a:lnTo>
                  <a:pt x="0" y="69966"/>
                </a:lnTo>
                <a:cubicBezTo>
                  <a:pt x="0" y="31351"/>
                  <a:pt x="31351" y="0"/>
                  <a:pt x="69966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6339888" y="5632459"/>
            <a:ext cx="5431300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破冰时机选择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57380" y="5982301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69968" y="139937"/>
                </a:moveTo>
                <a:cubicBezTo>
                  <a:pt x="108585" y="139937"/>
                  <a:pt x="139937" y="108585"/>
                  <a:pt x="139937" y="69968"/>
                </a:cubicBezTo>
                <a:cubicBezTo>
                  <a:pt x="139937" y="31352"/>
                  <a:pt x="108585" y="0"/>
                  <a:pt x="69968" y="0"/>
                </a:cubicBezTo>
                <a:cubicBezTo>
                  <a:pt x="31352" y="0"/>
                  <a:pt x="0" y="31352"/>
                  <a:pt x="0" y="69968"/>
                </a:cubicBezTo>
                <a:cubicBezTo>
                  <a:pt x="0" y="108585"/>
                  <a:pt x="31352" y="139937"/>
                  <a:pt x="69968" y="139937"/>
                </a:cubicBezTo>
                <a:close/>
                <a:moveTo>
                  <a:pt x="45206" y="87980"/>
                </a:moveTo>
                <a:cubicBezTo>
                  <a:pt x="50782" y="95633"/>
                  <a:pt x="59801" y="100580"/>
                  <a:pt x="69968" y="100580"/>
                </a:cubicBezTo>
                <a:cubicBezTo>
                  <a:pt x="80136" y="100580"/>
                  <a:pt x="89155" y="95633"/>
                  <a:pt x="94731" y="87980"/>
                </a:cubicBezTo>
                <a:cubicBezTo>
                  <a:pt x="96863" y="85055"/>
                  <a:pt x="100962" y="84399"/>
                  <a:pt x="103887" y="86531"/>
                </a:cubicBezTo>
                <a:cubicBezTo>
                  <a:pt x="106811" y="88663"/>
                  <a:pt x="107467" y="92763"/>
                  <a:pt x="105335" y="95687"/>
                </a:cubicBezTo>
                <a:cubicBezTo>
                  <a:pt x="97382" y="106593"/>
                  <a:pt x="84509" y="113699"/>
                  <a:pt x="69968" y="113699"/>
                </a:cubicBezTo>
                <a:cubicBezTo>
                  <a:pt x="55428" y="113699"/>
                  <a:pt x="42555" y="106593"/>
                  <a:pt x="34602" y="95687"/>
                </a:cubicBezTo>
                <a:cubicBezTo>
                  <a:pt x="32470" y="92763"/>
                  <a:pt x="33126" y="88663"/>
                  <a:pt x="36050" y="86531"/>
                </a:cubicBezTo>
                <a:cubicBezTo>
                  <a:pt x="38975" y="84399"/>
                  <a:pt x="43074" y="85055"/>
                  <a:pt x="45206" y="87980"/>
                </a:cubicBezTo>
                <a:close/>
                <a:moveTo>
                  <a:pt x="39357" y="56849"/>
                </a:moveTo>
                <a:cubicBezTo>
                  <a:pt x="39357" y="52022"/>
                  <a:pt x="43276" y="48103"/>
                  <a:pt x="48103" y="48103"/>
                </a:cubicBezTo>
                <a:cubicBezTo>
                  <a:pt x="52930" y="48103"/>
                  <a:pt x="56849" y="52022"/>
                  <a:pt x="56849" y="56849"/>
                </a:cubicBezTo>
                <a:cubicBezTo>
                  <a:pt x="56849" y="61676"/>
                  <a:pt x="52930" y="65595"/>
                  <a:pt x="48103" y="65595"/>
                </a:cubicBezTo>
                <a:cubicBezTo>
                  <a:pt x="43276" y="65595"/>
                  <a:pt x="39357" y="61676"/>
                  <a:pt x="39357" y="56849"/>
                </a:cubicBezTo>
                <a:close/>
                <a:moveTo>
                  <a:pt x="91834" y="48103"/>
                </a:moveTo>
                <a:cubicBezTo>
                  <a:pt x="96661" y="48103"/>
                  <a:pt x="100580" y="52022"/>
                  <a:pt x="100580" y="56849"/>
                </a:cubicBezTo>
                <a:cubicBezTo>
                  <a:pt x="100580" y="61676"/>
                  <a:pt x="96661" y="65595"/>
                  <a:pt x="91834" y="65595"/>
                </a:cubicBezTo>
                <a:cubicBezTo>
                  <a:pt x="87006" y="65595"/>
                  <a:pt x="83088" y="61676"/>
                  <a:pt x="83088" y="56849"/>
                </a:cubicBezTo>
                <a:cubicBezTo>
                  <a:pt x="83088" y="52022"/>
                  <a:pt x="87006" y="48103"/>
                  <a:pt x="91834" y="4810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7" name="Text 55"/>
          <p:cNvSpPr/>
          <p:nvPr/>
        </p:nvSpPr>
        <p:spPr>
          <a:xfrm>
            <a:off x="6584777" y="5947317"/>
            <a:ext cx="2090307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顾客表情轻松时 → 用赞美或非销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57380" y="6262175"/>
            <a:ext cx="139937" cy="139937"/>
          </a:xfrm>
          <a:custGeom>
            <a:avLst/>
            <a:gdLst/>
            <a:ahLst/>
            <a:cxnLst/>
            <a:rect l="l" t="t" r="r" b="b"/>
            <a:pathLst>
              <a:path w="139937" h="139937">
                <a:moveTo>
                  <a:pt x="113699" y="56849"/>
                </a:moveTo>
                <a:cubicBezTo>
                  <a:pt x="113699" y="69394"/>
                  <a:pt x="109626" y="80983"/>
                  <a:pt x="102766" y="90385"/>
                </a:cubicBezTo>
                <a:lnTo>
                  <a:pt x="137368" y="125014"/>
                </a:lnTo>
                <a:cubicBezTo>
                  <a:pt x="140784" y="128430"/>
                  <a:pt x="140784" y="133979"/>
                  <a:pt x="137368" y="137395"/>
                </a:cubicBezTo>
                <a:cubicBezTo>
                  <a:pt x="133951" y="140811"/>
                  <a:pt x="128403" y="140811"/>
                  <a:pt x="124987" y="137395"/>
                </a:cubicBezTo>
                <a:lnTo>
                  <a:pt x="90385" y="102766"/>
                </a:lnTo>
                <a:cubicBezTo>
                  <a:pt x="80983" y="109626"/>
                  <a:pt x="69394" y="113699"/>
                  <a:pt x="56849" y="113699"/>
                </a:cubicBezTo>
                <a:cubicBezTo>
                  <a:pt x="25446" y="113699"/>
                  <a:pt x="0" y="88253"/>
                  <a:pt x="0" y="56849"/>
                </a:cubicBezTo>
                <a:cubicBezTo>
                  <a:pt x="0" y="25446"/>
                  <a:pt x="25446" y="0"/>
                  <a:pt x="56849" y="0"/>
                </a:cubicBezTo>
                <a:cubicBezTo>
                  <a:pt x="88253" y="0"/>
                  <a:pt x="113699" y="25446"/>
                  <a:pt x="113699" y="56849"/>
                </a:cubicBezTo>
                <a:close/>
                <a:moveTo>
                  <a:pt x="56849" y="96207"/>
                </a:moveTo>
                <a:cubicBezTo>
                  <a:pt x="78571" y="96207"/>
                  <a:pt x="96207" y="78571"/>
                  <a:pt x="96207" y="56849"/>
                </a:cubicBezTo>
                <a:cubicBezTo>
                  <a:pt x="96207" y="35127"/>
                  <a:pt x="78571" y="17492"/>
                  <a:pt x="56849" y="17492"/>
                </a:cubicBezTo>
                <a:cubicBezTo>
                  <a:pt x="35127" y="17492"/>
                  <a:pt x="17492" y="35127"/>
                  <a:pt x="17492" y="56849"/>
                </a:cubicBezTo>
                <a:cubicBezTo>
                  <a:pt x="17492" y="78571"/>
                  <a:pt x="35127" y="96207"/>
                  <a:pt x="56849" y="96207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9" name="Text 57"/>
          <p:cNvSpPr/>
          <p:nvPr/>
        </p:nvSpPr>
        <p:spPr>
          <a:xfrm>
            <a:off x="6584777" y="6227191"/>
            <a:ext cx="1810433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顾客在寻找时 → 用引导提问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66126" y="6542049"/>
            <a:ext cx="122445" cy="139937"/>
          </a:xfrm>
          <a:custGeom>
            <a:avLst/>
            <a:gdLst/>
            <a:ahLst/>
            <a:cxnLst/>
            <a:rect l="l" t="t" r="r" b="b"/>
            <a:pathLst>
              <a:path w="122445" h="139937">
                <a:moveTo>
                  <a:pt x="92599" y="-2706"/>
                </a:moveTo>
                <a:cubicBezTo>
                  <a:pt x="95851" y="-355"/>
                  <a:pt x="97054" y="3908"/>
                  <a:pt x="95578" y="7625"/>
                </a:cubicBezTo>
                <a:lnTo>
                  <a:pt x="74150" y="61222"/>
                </a:lnTo>
                <a:lnTo>
                  <a:pt x="113699" y="61222"/>
                </a:lnTo>
                <a:cubicBezTo>
                  <a:pt x="117388" y="61222"/>
                  <a:pt x="120668" y="63518"/>
                  <a:pt x="121925" y="66989"/>
                </a:cubicBezTo>
                <a:cubicBezTo>
                  <a:pt x="123183" y="70460"/>
                  <a:pt x="122117" y="74341"/>
                  <a:pt x="119302" y="76692"/>
                </a:cubicBezTo>
                <a:lnTo>
                  <a:pt x="40587" y="142287"/>
                </a:lnTo>
                <a:cubicBezTo>
                  <a:pt x="37499" y="144857"/>
                  <a:pt x="33098" y="144993"/>
                  <a:pt x="29846" y="142643"/>
                </a:cubicBezTo>
                <a:cubicBezTo>
                  <a:pt x="26593" y="140292"/>
                  <a:pt x="25391" y="136028"/>
                  <a:pt x="26867" y="132311"/>
                </a:cubicBezTo>
                <a:lnTo>
                  <a:pt x="48295" y="78714"/>
                </a:lnTo>
                <a:lnTo>
                  <a:pt x="8746" y="78714"/>
                </a:lnTo>
                <a:cubicBezTo>
                  <a:pt x="5056" y="78714"/>
                  <a:pt x="1777" y="76419"/>
                  <a:pt x="519" y="72948"/>
                </a:cubicBezTo>
                <a:cubicBezTo>
                  <a:pt x="-738" y="69476"/>
                  <a:pt x="328" y="65595"/>
                  <a:pt x="3143" y="63245"/>
                </a:cubicBezTo>
                <a:lnTo>
                  <a:pt x="81858" y="-2351"/>
                </a:lnTo>
                <a:cubicBezTo>
                  <a:pt x="84946" y="-4920"/>
                  <a:pt x="89346" y="-5056"/>
                  <a:pt x="92599" y="-270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61" name="Text 59"/>
          <p:cNvSpPr/>
          <p:nvPr/>
        </p:nvSpPr>
        <p:spPr>
          <a:xfrm>
            <a:off x="6584777" y="6507065"/>
            <a:ext cx="1810433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顾客目的明确时 → 单刀直入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mens_step4_presenting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638973" y="2171700"/>
            <a:ext cx="2914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05623" y="2628900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第四步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301" y="35433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591348" y="3886200"/>
            <a:ext cx="3009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商品介绍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29448" y="4419600"/>
            <a:ext cx="2933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专业讲解 · 突出卖点 · 激发兴趣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4"/>
            <a:ext cx="11595874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kern="0" spc="18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04 · CASE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55295"/>
            <a:ext cx="11685701" cy="3266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商品介绍 · 案例分析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5997" y="1045262"/>
            <a:ext cx="5659113" cy="2825474"/>
          </a:xfrm>
          <a:custGeom>
            <a:avLst/>
            <a:gdLst/>
            <a:ahLst/>
            <a:cxnLst/>
            <a:rect l="l" t="t" r="r" b="b"/>
            <a:pathLst>
              <a:path w="5659113" h="2825474">
                <a:moveTo>
                  <a:pt x="32664" y="0"/>
                </a:moveTo>
                <a:lnTo>
                  <a:pt x="5593788" y="0"/>
                </a:lnTo>
                <a:cubicBezTo>
                  <a:pt x="5629866" y="0"/>
                  <a:pt x="5659113" y="29247"/>
                  <a:pt x="5659113" y="65325"/>
                </a:cubicBezTo>
                <a:lnTo>
                  <a:pt x="5659113" y="2760149"/>
                </a:lnTo>
                <a:cubicBezTo>
                  <a:pt x="5659113" y="2796227"/>
                  <a:pt x="5629866" y="2825474"/>
                  <a:pt x="5593788" y="2825474"/>
                </a:cubicBez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42977" y="1045262"/>
            <a:ext cx="32664" cy="2825474"/>
          </a:xfrm>
          <a:custGeom>
            <a:avLst/>
            <a:gdLst/>
            <a:ahLst/>
            <a:cxnLst/>
            <a:rect l="l" t="t" r="r" b="b"/>
            <a:pathLst>
              <a:path w="32664" h="2825474">
                <a:moveTo>
                  <a:pt x="32664" y="0"/>
                </a:moveTo>
                <a:lnTo>
                  <a:pt x="32664" y="0"/>
                </a:lnTo>
                <a:lnTo>
                  <a:pt x="32664" y="2825474"/>
                </a:ln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547129" y="1224916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44671" y="12938"/>
                </a:moveTo>
                <a:cubicBezTo>
                  <a:pt x="46394" y="10603"/>
                  <a:pt x="49150" y="9187"/>
                  <a:pt x="52059" y="9187"/>
                </a:cubicBezTo>
                <a:lnTo>
                  <a:pt x="143928" y="9187"/>
                </a:lnTo>
                <a:cubicBezTo>
                  <a:pt x="146837" y="9187"/>
                  <a:pt x="149593" y="10565"/>
                  <a:pt x="151315" y="12938"/>
                </a:cubicBezTo>
                <a:lnTo>
                  <a:pt x="194188" y="71122"/>
                </a:lnTo>
                <a:cubicBezTo>
                  <a:pt x="196790" y="74643"/>
                  <a:pt x="196523" y="79505"/>
                  <a:pt x="193613" y="82758"/>
                </a:cubicBezTo>
                <a:lnTo>
                  <a:pt x="104807" y="180752"/>
                </a:lnTo>
                <a:cubicBezTo>
                  <a:pt x="103084" y="182666"/>
                  <a:pt x="100596" y="183776"/>
                  <a:pt x="97993" y="183776"/>
                </a:cubicBezTo>
                <a:cubicBezTo>
                  <a:pt x="95390" y="183776"/>
                  <a:pt x="92941" y="182666"/>
                  <a:pt x="91180" y="180752"/>
                </a:cubicBezTo>
                <a:lnTo>
                  <a:pt x="2373" y="82758"/>
                </a:lnTo>
                <a:cubicBezTo>
                  <a:pt x="-574" y="79505"/>
                  <a:pt x="-804" y="74643"/>
                  <a:pt x="1799" y="71122"/>
                </a:cubicBezTo>
                <a:lnTo>
                  <a:pt x="44671" y="12938"/>
                </a:lnTo>
                <a:close/>
                <a:moveTo>
                  <a:pt x="59408" y="28173"/>
                </a:moveTo>
                <a:cubicBezTo>
                  <a:pt x="58145" y="29130"/>
                  <a:pt x="57801" y="30853"/>
                  <a:pt x="58605" y="32192"/>
                </a:cubicBezTo>
                <a:lnTo>
                  <a:pt x="80577" y="68825"/>
                </a:lnTo>
                <a:lnTo>
                  <a:pt x="24230" y="73495"/>
                </a:lnTo>
                <a:cubicBezTo>
                  <a:pt x="22661" y="73610"/>
                  <a:pt x="21436" y="74950"/>
                  <a:pt x="21436" y="76557"/>
                </a:cubicBezTo>
                <a:cubicBezTo>
                  <a:pt x="21436" y="78165"/>
                  <a:pt x="22661" y="79466"/>
                  <a:pt x="24230" y="79620"/>
                </a:cubicBezTo>
                <a:lnTo>
                  <a:pt x="97725" y="85744"/>
                </a:lnTo>
                <a:cubicBezTo>
                  <a:pt x="97878" y="85744"/>
                  <a:pt x="98070" y="85744"/>
                  <a:pt x="98223" y="85744"/>
                </a:cubicBezTo>
                <a:lnTo>
                  <a:pt x="171718" y="79620"/>
                </a:lnTo>
                <a:cubicBezTo>
                  <a:pt x="173287" y="79505"/>
                  <a:pt x="174512" y="78165"/>
                  <a:pt x="174512" y="76557"/>
                </a:cubicBezTo>
                <a:cubicBezTo>
                  <a:pt x="174512" y="74950"/>
                  <a:pt x="173287" y="73648"/>
                  <a:pt x="171718" y="73495"/>
                </a:cubicBezTo>
                <a:lnTo>
                  <a:pt x="115372" y="68787"/>
                </a:lnTo>
                <a:lnTo>
                  <a:pt x="137344" y="32192"/>
                </a:lnTo>
                <a:cubicBezTo>
                  <a:pt x="138148" y="30853"/>
                  <a:pt x="137803" y="29092"/>
                  <a:pt x="136540" y="28173"/>
                </a:cubicBezTo>
                <a:cubicBezTo>
                  <a:pt x="135277" y="27254"/>
                  <a:pt x="133516" y="27408"/>
                  <a:pt x="132444" y="28556"/>
                </a:cubicBezTo>
                <a:lnTo>
                  <a:pt x="97993" y="65916"/>
                </a:lnTo>
                <a:lnTo>
                  <a:pt x="63504" y="28556"/>
                </a:lnTo>
                <a:cubicBezTo>
                  <a:pt x="62432" y="27408"/>
                  <a:pt x="60672" y="27254"/>
                  <a:pt x="59408" y="28173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865608" y="1208584"/>
            <a:ext cx="1077926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FAB法则案例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2631" y="1567893"/>
            <a:ext cx="538963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2631" y="1861873"/>
            <a:ext cx="5381466" cy="636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顾客对一件羊毛POLO感兴趣，销售顾问小李运用FAB法则介绍："这款POLO采用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伊力特面料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（特性），手感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摸起来像真丝一样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柔软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丝滑，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（优势），穿上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身冰凉自带空调感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，商务场合显得特别有品位（利益）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，今天我们的一位熟客一下子就买了两件了（佐证）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2631" y="2596823"/>
            <a:ext cx="5316137" cy="1110591"/>
          </a:xfrm>
          <a:custGeom>
            <a:avLst/>
            <a:gdLst/>
            <a:ahLst/>
            <a:cxnLst/>
            <a:rect l="l" t="t" r="r" b="b"/>
            <a:pathLst>
              <a:path w="5316137" h="1110591">
                <a:moveTo>
                  <a:pt x="65325" y="0"/>
                </a:moveTo>
                <a:lnTo>
                  <a:pt x="5250812" y="0"/>
                </a:lnTo>
                <a:cubicBezTo>
                  <a:pt x="5286890" y="0"/>
                  <a:pt x="5316137" y="29247"/>
                  <a:pt x="5316137" y="65325"/>
                </a:cubicBezTo>
                <a:lnTo>
                  <a:pt x="5316137" y="1045266"/>
                </a:lnTo>
                <a:cubicBezTo>
                  <a:pt x="5316137" y="1081344"/>
                  <a:pt x="5286890" y="1110591"/>
                  <a:pt x="5250812" y="1110591"/>
                </a:cubicBezTo>
                <a:lnTo>
                  <a:pt x="65325" y="1110591"/>
                </a:lnTo>
                <a:cubicBezTo>
                  <a:pt x="29247" y="1110591"/>
                  <a:pt x="0" y="1081344"/>
                  <a:pt x="0" y="1045266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20624" y="2694816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FAB拆解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0624" y="2956131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F-特性：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伊力特面料（面料、版型、设计工艺）</a:t>
            </a:r>
            <a:endParaRPr lang="zh-CN" altLang="en-US" sz="1030" dirty="0">
              <a:solidFill>
                <a:srgbClr val="2E2E2E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0624" y="3184782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A-优势：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真丝一样的丝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滑</a:t>
            </a:r>
            <a:endParaRPr lang="zh-CN" altLang="en-US" sz="1030" dirty="0">
              <a:solidFill>
                <a:srgbClr val="2E2E2E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0624" y="3413433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B-利益：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冰凉感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，彰显品位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2977" y="4034058"/>
            <a:ext cx="5659113" cy="2825474"/>
          </a:xfrm>
          <a:custGeom>
            <a:avLst/>
            <a:gdLst/>
            <a:ahLst/>
            <a:cxnLst/>
            <a:rect l="l" t="t" r="r" b="b"/>
            <a:pathLst>
              <a:path w="5659113" h="2825474">
                <a:moveTo>
                  <a:pt x="32664" y="0"/>
                </a:moveTo>
                <a:lnTo>
                  <a:pt x="5593788" y="0"/>
                </a:lnTo>
                <a:cubicBezTo>
                  <a:pt x="5629866" y="0"/>
                  <a:pt x="5659113" y="29247"/>
                  <a:pt x="5659113" y="65325"/>
                </a:cubicBezTo>
                <a:lnTo>
                  <a:pt x="5659113" y="2760149"/>
                </a:lnTo>
                <a:cubicBezTo>
                  <a:pt x="5659113" y="2796227"/>
                  <a:pt x="5629866" y="2825474"/>
                  <a:pt x="5593788" y="2825474"/>
                </a:cubicBez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342977" y="4034058"/>
            <a:ext cx="32664" cy="2825474"/>
          </a:xfrm>
          <a:custGeom>
            <a:avLst/>
            <a:gdLst/>
            <a:ahLst/>
            <a:cxnLst/>
            <a:rect l="l" t="t" r="r" b="b"/>
            <a:pathLst>
              <a:path w="32664" h="2825474">
                <a:moveTo>
                  <a:pt x="32664" y="0"/>
                </a:moveTo>
                <a:lnTo>
                  <a:pt x="32664" y="0"/>
                </a:lnTo>
                <a:lnTo>
                  <a:pt x="32664" y="2825474"/>
                </a:ln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7" name="Shape 15"/>
          <p:cNvSpPr/>
          <p:nvPr/>
        </p:nvSpPr>
        <p:spPr>
          <a:xfrm>
            <a:off x="534880" y="4213712"/>
            <a:ext cx="220485" cy="195987"/>
          </a:xfrm>
          <a:custGeom>
            <a:avLst/>
            <a:gdLst/>
            <a:ahLst/>
            <a:cxnLst/>
            <a:rect l="l" t="t" r="r" b="b"/>
            <a:pathLst>
              <a:path w="220485" h="195987">
                <a:moveTo>
                  <a:pt x="118472" y="-7235"/>
                </a:moveTo>
                <a:cubicBezTo>
                  <a:pt x="116903" y="-10297"/>
                  <a:pt x="113726" y="-12249"/>
                  <a:pt x="110281" y="-12249"/>
                </a:cubicBezTo>
                <a:cubicBezTo>
                  <a:pt x="106836" y="-12249"/>
                  <a:pt x="103659" y="-10297"/>
                  <a:pt x="102089" y="-7235"/>
                </a:cubicBezTo>
                <a:lnTo>
                  <a:pt x="73916" y="47963"/>
                </a:lnTo>
                <a:lnTo>
                  <a:pt x="12709" y="57686"/>
                </a:lnTo>
                <a:cubicBezTo>
                  <a:pt x="9302" y="58222"/>
                  <a:pt x="6469" y="60633"/>
                  <a:pt x="5397" y="63925"/>
                </a:cubicBezTo>
                <a:cubicBezTo>
                  <a:pt x="4325" y="67217"/>
                  <a:pt x="5206" y="70815"/>
                  <a:pt x="7617" y="73265"/>
                </a:cubicBezTo>
                <a:lnTo>
                  <a:pt x="51408" y="117094"/>
                </a:lnTo>
                <a:lnTo>
                  <a:pt x="41762" y="178302"/>
                </a:lnTo>
                <a:cubicBezTo>
                  <a:pt x="41226" y="181709"/>
                  <a:pt x="42642" y="185154"/>
                  <a:pt x="45437" y="187183"/>
                </a:cubicBezTo>
                <a:cubicBezTo>
                  <a:pt x="48231" y="189211"/>
                  <a:pt x="51906" y="189518"/>
                  <a:pt x="55006" y="187948"/>
                </a:cubicBezTo>
                <a:lnTo>
                  <a:pt x="110281" y="159852"/>
                </a:lnTo>
                <a:lnTo>
                  <a:pt x="165517" y="187948"/>
                </a:lnTo>
                <a:cubicBezTo>
                  <a:pt x="168579" y="189518"/>
                  <a:pt x="172292" y="189211"/>
                  <a:pt x="175086" y="187183"/>
                </a:cubicBezTo>
                <a:cubicBezTo>
                  <a:pt x="177881" y="185154"/>
                  <a:pt x="179297" y="181747"/>
                  <a:pt x="178761" y="178302"/>
                </a:cubicBezTo>
                <a:lnTo>
                  <a:pt x="169077" y="117094"/>
                </a:lnTo>
                <a:lnTo>
                  <a:pt x="212867" y="73265"/>
                </a:lnTo>
                <a:cubicBezTo>
                  <a:pt x="215317" y="70815"/>
                  <a:pt x="216159" y="67217"/>
                  <a:pt x="215088" y="63925"/>
                </a:cubicBezTo>
                <a:cubicBezTo>
                  <a:pt x="214016" y="60633"/>
                  <a:pt x="211222" y="58222"/>
                  <a:pt x="207776" y="57686"/>
                </a:cubicBezTo>
                <a:lnTo>
                  <a:pt x="146607" y="47963"/>
                </a:lnTo>
                <a:lnTo>
                  <a:pt x="118472" y="-7235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8" name="Text 16"/>
          <p:cNvSpPr/>
          <p:nvPr/>
        </p:nvSpPr>
        <p:spPr>
          <a:xfrm>
            <a:off x="865608" y="4197380"/>
            <a:ext cx="75128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USP案例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2631" y="4556689"/>
            <a:ext cx="538963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2631" y="4850668"/>
            <a:ext cx="5381466" cy="636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顾客在比较两款POLO，销售顾问小王介绍其中一款："这款POLO是我们独家研发的免烫面料，洗后不需要熨烫，直接晾干就能穿，这是其他品牌没有的，特别适合您这样工作忙碌的商务人士。"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2631" y="5585618"/>
            <a:ext cx="5316137" cy="1110591"/>
          </a:xfrm>
          <a:custGeom>
            <a:avLst/>
            <a:gdLst/>
            <a:ahLst/>
            <a:cxnLst/>
            <a:rect l="l" t="t" r="r" b="b"/>
            <a:pathLst>
              <a:path w="5316137" h="1110591">
                <a:moveTo>
                  <a:pt x="65325" y="0"/>
                </a:moveTo>
                <a:lnTo>
                  <a:pt x="5250812" y="0"/>
                </a:lnTo>
                <a:cubicBezTo>
                  <a:pt x="5286890" y="0"/>
                  <a:pt x="5316137" y="29247"/>
                  <a:pt x="5316137" y="65325"/>
                </a:cubicBezTo>
                <a:lnTo>
                  <a:pt x="5316137" y="1045266"/>
                </a:lnTo>
                <a:cubicBezTo>
                  <a:pt x="5316137" y="1081344"/>
                  <a:pt x="5286890" y="1110591"/>
                  <a:pt x="5250812" y="1110591"/>
                </a:cubicBezTo>
                <a:lnTo>
                  <a:pt x="65325" y="1110591"/>
                </a:lnTo>
                <a:cubicBezTo>
                  <a:pt x="29247" y="1110591"/>
                  <a:pt x="0" y="1081344"/>
                  <a:pt x="0" y="1045266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20624" y="5683612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USP要点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0624" y="5944927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独特性：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独家研发免烫面料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0624" y="6173578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差异化：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其他品牌没有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0624" y="6402229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价值点：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省时省力，适合商务人士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5354" y="1045262"/>
            <a:ext cx="5675445" cy="4017725"/>
          </a:xfrm>
          <a:custGeom>
            <a:avLst/>
            <a:gdLst/>
            <a:ahLst/>
            <a:cxnLst/>
            <a:rect l="l" t="t" r="r" b="b"/>
            <a:pathLst>
              <a:path w="5675445" h="4017725">
                <a:moveTo>
                  <a:pt x="65328" y="0"/>
                </a:moveTo>
                <a:lnTo>
                  <a:pt x="5610117" y="0"/>
                </a:lnTo>
                <a:cubicBezTo>
                  <a:pt x="5646197" y="0"/>
                  <a:pt x="5675445" y="29248"/>
                  <a:pt x="5675445" y="65328"/>
                </a:cubicBezTo>
                <a:lnTo>
                  <a:pt x="5675445" y="3952397"/>
                </a:lnTo>
                <a:cubicBezTo>
                  <a:pt x="5675445" y="3988477"/>
                  <a:pt x="5646197" y="4017725"/>
                  <a:pt x="5610117" y="4017725"/>
                </a:cubicBezTo>
                <a:lnTo>
                  <a:pt x="65328" y="4017725"/>
                </a:lnTo>
                <a:cubicBezTo>
                  <a:pt x="29248" y="4017725"/>
                  <a:pt x="0" y="3988477"/>
                  <a:pt x="0" y="3952397"/>
                </a:cubicBezTo>
                <a:lnTo>
                  <a:pt x="0" y="65328"/>
                </a:lnTo>
                <a:cubicBezTo>
                  <a:pt x="0" y="29273"/>
                  <a:pt x="29273" y="0"/>
                  <a:pt x="65328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7" name="Text 25"/>
          <p:cNvSpPr/>
          <p:nvPr/>
        </p:nvSpPr>
        <p:spPr>
          <a:xfrm>
            <a:off x="6391341" y="1241248"/>
            <a:ext cx="5365133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FAB法则详解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91341" y="1600557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9" name="Text 27"/>
          <p:cNvSpPr/>
          <p:nvPr/>
        </p:nvSpPr>
        <p:spPr>
          <a:xfrm>
            <a:off x="6539522" y="1682218"/>
            <a:ext cx="179654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13972" y="1600557"/>
            <a:ext cx="2425334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Feature 特性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13972" y="1861873"/>
            <a:ext cx="2417168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产品的客观属性，如材质、剪裁、工艺等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13972" y="2139520"/>
            <a:ext cx="2409002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例：意大利进口面料、手工缝制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1341" y="2433500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4" name="Text 32"/>
          <p:cNvSpPr/>
          <p:nvPr/>
        </p:nvSpPr>
        <p:spPr>
          <a:xfrm>
            <a:off x="6534928" y="2515161"/>
            <a:ext cx="187820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13972" y="2433500"/>
            <a:ext cx="2425334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Advantage 优势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13972" y="2694816"/>
            <a:ext cx="2417168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特性带来的优点，如舒适、耐穿、有型等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13972" y="2972463"/>
            <a:ext cx="2409002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例：透气性好、不易起皱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341" y="3266443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9" name="Text 37"/>
          <p:cNvSpPr/>
          <p:nvPr/>
        </p:nvSpPr>
        <p:spPr>
          <a:xfrm>
            <a:off x="6531696" y="3348104"/>
            <a:ext cx="195987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13972" y="3266443"/>
            <a:ext cx="1772046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Benefit 利益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13972" y="3527759"/>
            <a:ext cx="1763879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给顾客带来的实际好处和价值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13972" y="3805407"/>
            <a:ext cx="1755713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例：穿着舒适、省心省力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5354" y="5226309"/>
            <a:ext cx="5675445" cy="1633222"/>
          </a:xfrm>
          <a:custGeom>
            <a:avLst/>
            <a:gdLst/>
            <a:ahLst/>
            <a:cxnLst/>
            <a:rect l="l" t="t" r="r" b="b"/>
            <a:pathLst>
              <a:path w="5675445" h="1633222">
                <a:moveTo>
                  <a:pt x="65329" y="0"/>
                </a:moveTo>
                <a:lnTo>
                  <a:pt x="5610117" y="0"/>
                </a:lnTo>
                <a:cubicBezTo>
                  <a:pt x="5646197" y="0"/>
                  <a:pt x="5675445" y="29249"/>
                  <a:pt x="5675445" y="65329"/>
                </a:cubicBezTo>
                <a:lnTo>
                  <a:pt x="5675445" y="1567893"/>
                </a:lnTo>
                <a:cubicBezTo>
                  <a:pt x="5675445" y="1603973"/>
                  <a:pt x="5646197" y="1633222"/>
                  <a:pt x="5610117" y="1633222"/>
                </a:cubicBezTo>
                <a:lnTo>
                  <a:pt x="65329" y="1633222"/>
                </a:lnTo>
                <a:cubicBezTo>
                  <a:pt x="29249" y="1633222"/>
                  <a:pt x="0" y="1603973"/>
                  <a:pt x="0" y="1567893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6358677" y="5389632"/>
            <a:ext cx="5422296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USP独特卖点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5009" y="5748940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6" name="Text 44"/>
          <p:cNvSpPr/>
          <p:nvPr/>
        </p:nvSpPr>
        <p:spPr>
          <a:xfrm>
            <a:off x="6587328" y="5716276"/>
            <a:ext cx="1894537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独家设计：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品牌独有，无法复制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75009" y="6010256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8" name="Text 46"/>
          <p:cNvSpPr/>
          <p:nvPr/>
        </p:nvSpPr>
        <p:spPr>
          <a:xfrm>
            <a:off x="6587328" y="5977591"/>
            <a:ext cx="1894537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专利技术：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独特工艺，品质保证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75009" y="6271571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0" name="Text 48"/>
          <p:cNvSpPr/>
          <p:nvPr/>
        </p:nvSpPr>
        <p:spPr>
          <a:xfrm>
            <a:off x="6587328" y="6238907"/>
            <a:ext cx="1894537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限量发售：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稀缺性，增加价值感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75009" y="6532887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130658"/>
                </a:moveTo>
                <a:cubicBezTo>
                  <a:pt x="101385" y="130658"/>
                  <a:pt x="130658" y="101385"/>
                  <a:pt x="130658" y="65329"/>
                </a:cubicBezTo>
                <a:cubicBezTo>
                  <a:pt x="130658" y="29273"/>
                  <a:pt x="101385" y="0"/>
                  <a:pt x="65329" y="0"/>
                </a:cubicBezTo>
                <a:cubicBezTo>
                  <a:pt x="29273" y="0"/>
                  <a:pt x="0" y="29273"/>
                  <a:pt x="0" y="65329"/>
                </a:cubicBezTo>
                <a:cubicBezTo>
                  <a:pt x="0" y="101385"/>
                  <a:pt x="29273" y="130658"/>
                  <a:pt x="65329" y="130658"/>
                </a:cubicBezTo>
                <a:close/>
                <a:moveTo>
                  <a:pt x="86867" y="54279"/>
                </a:moveTo>
                <a:lnTo>
                  <a:pt x="66452" y="86944"/>
                </a:lnTo>
                <a:cubicBezTo>
                  <a:pt x="65380" y="88653"/>
                  <a:pt x="63543" y="89725"/>
                  <a:pt x="61527" y="89827"/>
                </a:cubicBezTo>
                <a:cubicBezTo>
                  <a:pt x="59511" y="89929"/>
                  <a:pt x="57571" y="89011"/>
                  <a:pt x="56372" y="87377"/>
                </a:cubicBezTo>
                <a:lnTo>
                  <a:pt x="44123" y="71045"/>
                </a:lnTo>
                <a:cubicBezTo>
                  <a:pt x="42081" y="68340"/>
                  <a:pt x="42642" y="64512"/>
                  <a:pt x="45347" y="62471"/>
                </a:cubicBezTo>
                <a:cubicBezTo>
                  <a:pt x="48052" y="60429"/>
                  <a:pt x="51880" y="60991"/>
                  <a:pt x="53922" y="63696"/>
                </a:cubicBezTo>
                <a:lnTo>
                  <a:pt x="60812" y="72883"/>
                </a:lnTo>
                <a:lnTo>
                  <a:pt x="76481" y="47797"/>
                </a:lnTo>
                <a:cubicBezTo>
                  <a:pt x="78267" y="44939"/>
                  <a:pt x="82044" y="44046"/>
                  <a:pt x="84928" y="45858"/>
                </a:cubicBezTo>
                <a:cubicBezTo>
                  <a:pt x="87811" y="47670"/>
                  <a:pt x="88679" y="51421"/>
                  <a:pt x="86867" y="54305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2" name="Text 50"/>
          <p:cNvSpPr/>
          <p:nvPr/>
        </p:nvSpPr>
        <p:spPr>
          <a:xfrm>
            <a:off x="6587328" y="6500222"/>
            <a:ext cx="1894537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明星同款：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时尚潮流，引领风尚</a:t>
            </a:r>
            <a:endParaRPr lang="en-US" sz="1600" dirty="0"/>
          </a:p>
        </p:txBody>
      </p:sp>
      <p:sp>
        <p:nvSpPr>
          <p:cNvPr id="53" name="Text 12"/>
          <p:cNvSpPr/>
          <p:nvPr/>
        </p:nvSpPr>
        <p:spPr>
          <a:xfrm>
            <a:off x="620624" y="3658543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E-</a:t>
            </a:r>
            <a:r>
              <a:rPr lang="zh-CN" alt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佐证</a:t>
            </a:r>
            <a:r>
              <a:rPr lang="en-US" sz="1030" b="1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</a:t>
            </a:r>
            <a:r>
              <a:rPr lang="zh-CN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熟客都买了</a:t>
            </a:r>
            <a:endParaRPr lang="zh-CN" sz="1600" dirty="0"/>
          </a:p>
        </p:txBody>
      </p:sp>
      <p:sp>
        <p:nvSpPr>
          <p:cNvPr id="54" name="Shape 36"/>
          <p:cNvSpPr/>
          <p:nvPr/>
        </p:nvSpPr>
        <p:spPr>
          <a:xfrm>
            <a:off x="6400231" y="4149093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5" name="Text 37"/>
          <p:cNvSpPr/>
          <p:nvPr/>
        </p:nvSpPr>
        <p:spPr>
          <a:xfrm>
            <a:off x="6540586" y="4230754"/>
            <a:ext cx="195987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</a:t>
            </a:r>
            <a:endParaRPr lang="en-US" sz="1600" dirty="0"/>
          </a:p>
        </p:txBody>
      </p:sp>
      <p:sp>
        <p:nvSpPr>
          <p:cNvPr id="56" name="Text 38"/>
          <p:cNvSpPr/>
          <p:nvPr/>
        </p:nvSpPr>
        <p:spPr>
          <a:xfrm>
            <a:off x="6922862" y="4149093"/>
            <a:ext cx="1772046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160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Evidence</a:t>
            </a:r>
            <a:r>
              <a:rPr lang="zh-CN" altLang="en-US" sz="1160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佐证</a:t>
            </a:r>
            <a:endParaRPr lang="zh-CN" altLang="en-US" sz="1160" dirty="0">
              <a:solidFill>
                <a:schemeClr val="bg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57" name="Text 39"/>
          <p:cNvSpPr/>
          <p:nvPr/>
        </p:nvSpPr>
        <p:spPr>
          <a:xfrm>
            <a:off x="6922770" y="4326890"/>
            <a:ext cx="2386330" cy="3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030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真实依据，增强信任、打消顾虑</a:t>
            </a:r>
            <a:endParaRPr lang="zh-CN" altLang="en-US" sz="1030" dirty="0">
              <a:solidFill>
                <a:schemeClr val="bg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58" name="Text 40"/>
          <p:cNvSpPr/>
          <p:nvPr/>
        </p:nvSpPr>
        <p:spPr>
          <a:xfrm>
            <a:off x="6922862" y="4688057"/>
            <a:ext cx="1755713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例：</a:t>
            </a:r>
            <a:r>
              <a:rPr lang="zh-CN" altLang="en-US" sz="900" dirty="0">
                <a:solidFill>
                  <a:srgbClr val="FFFFFF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今年最流行，</a:t>
            </a:r>
            <a:r>
              <a:rPr lang="en-US" altLang="zh-CN" sz="900" dirty="0">
                <a:solidFill>
                  <a:srgbClr val="FFFFFF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XX</a:t>
            </a:r>
            <a:r>
              <a:rPr lang="zh-CN" altLang="en-US" sz="900" dirty="0">
                <a:solidFill>
                  <a:srgbClr val="FFFFFF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明星同款</a:t>
            </a:r>
            <a:endParaRPr lang="zh-CN" altLang="en-US" sz="900" dirty="0">
              <a:solidFill>
                <a:srgbClr val="FFFFFF">
                  <a:alpha val="60000"/>
                </a:srgbClr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04 · SCRIPT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商品介绍 · 话术总结与重点掌握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14313"/>
                </a:moveTo>
                <a:cubicBezTo>
                  <a:pt x="177433" y="214313"/>
                  <a:pt x="228600" y="166315"/>
                  <a:pt x="228600" y="107156"/>
                </a:cubicBezTo>
                <a:cubicBezTo>
                  <a:pt x="228600" y="47997"/>
                  <a:pt x="177433" y="0"/>
                  <a:pt x="114300" y="0"/>
                </a:cubicBezTo>
                <a:cubicBezTo>
                  <a:pt x="51167" y="0"/>
                  <a:pt x="0" y="47997"/>
                  <a:pt x="0" y="107156"/>
                </a:cubicBezTo>
                <a:cubicBezTo>
                  <a:pt x="0" y="131400"/>
                  <a:pt x="8573" y="153725"/>
                  <a:pt x="23039" y="171673"/>
                </a:cubicBezTo>
                <a:lnTo>
                  <a:pt x="1250" y="212884"/>
                </a:lnTo>
                <a:cubicBezTo>
                  <a:pt x="-893" y="216902"/>
                  <a:pt x="-223" y="221813"/>
                  <a:pt x="2858" y="225162"/>
                </a:cubicBezTo>
                <a:cubicBezTo>
                  <a:pt x="5938" y="228511"/>
                  <a:pt x="10805" y="229538"/>
                  <a:pt x="14957" y="227752"/>
                </a:cubicBezTo>
                <a:lnTo>
                  <a:pt x="67821" y="205115"/>
                </a:lnTo>
                <a:cubicBezTo>
                  <a:pt x="82019" y="211009"/>
                  <a:pt x="97735" y="214313"/>
                  <a:pt x="114300" y="214313"/>
                </a:cubicBezTo>
                <a:close/>
                <a:moveTo>
                  <a:pt x="57150" y="92869"/>
                </a:moveTo>
                <a:cubicBezTo>
                  <a:pt x="65035" y="92869"/>
                  <a:pt x="71438" y="99271"/>
                  <a:pt x="71438" y="107156"/>
                </a:cubicBezTo>
                <a:cubicBezTo>
                  <a:pt x="71438" y="115042"/>
                  <a:pt x="65035" y="121444"/>
                  <a:pt x="57150" y="121444"/>
                </a:cubicBezTo>
                <a:cubicBezTo>
                  <a:pt x="49265" y="121444"/>
                  <a:pt x="42863" y="115042"/>
                  <a:pt x="42863" y="107156"/>
                </a:cubicBezTo>
                <a:cubicBezTo>
                  <a:pt x="42863" y="99271"/>
                  <a:pt x="49265" y="92869"/>
                  <a:pt x="57150" y="92869"/>
                </a:cubicBezTo>
                <a:close/>
                <a:moveTo>
                  <a:pt x="114300" y="92869"/>
                </a:moveTo>
                <a:cubicBezTo>
                  <a:pt x="122185" y="92869"/>
                  <a:pt x="128588" y="99271"/>
                  <a:pt x="128588" y="107156"/>
                </a:cubicBezTo>
                <a:cubicBezTo>
                  <a:pt x="128588" y="115042"/>
                  <a:pt x="122185" y="121444"/>
                  <a:pt x="114300" y="121444"/>
                </a:cubicBezTo>
                <a:cubicBezTo>
                  <a:pt x="106415" y="121444"/>
                  <a:pt x="100013" y="115042"/>
                  <a:pt x="100013" y="107156"/>
                </a:cubicBezTo>
                <a:cubicBezTo>
                  <a:pt x="100013" y="99271"/>
                  <a:pt x="106415" y="92869"/>
                  <a:pt x="114300" y="92869"/>
                </a:cubicBezTo>
                <a:close/>
                <a:moveTo>
                  <a:pt x="157163" y="107156"/>
                </a:moveTo>
                <a:cubicBezTo>
                  <a:pt x="157163" y="99271"/>
                  <a:pt x="163565" y="92869"/>
                  <a:pt x="171450" y="92869"/>
                </a:cubicBezTo>
                <a:cubicBezTo>
                  <a:pt x="179335" y="92869"/>
                  <a:pt x="185738" y="99271"/>
                  <a:pt x="185738" y="107156"/>
                </a:cubicBezTo>
                <a:cubicBezTo>
                  <a:pt x="185738" y="115042"/>
                  <a:pt x="179335" y="121444"/>
                  <a:pt x="171450" y="121444"/>
                </a:cubicBezTo>
                <a:cubicBezTo>
                  <a:pt x="163565" y="121444"/>
                  <a:pt x="157163" y="115042"/>
                  <a:pt x="157163" y="10715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5049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FAB话术模板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47800"/>
                </a:lnTo>
                <a:cubicBezTo>
                  <a:pt x="5581650" y="1489856"/>
                  <a:pt x="5547506" y="1524000"/>
                  <a:pt x="55054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Text 6"/>
          <p:cNvSpPr/>
          <p:nvPr/>
        </p:nvSpPr>
        <p:spPr>
          <a:xfrm>
            <a:off x="609600" y="18669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POLO类FAB话术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4790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"这款采用</a:t>
            </a:r>
            <a:r>
              <a:rPr lang="zh-CN" alt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伊力特面料</a:t>
            </a: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（F），手感</a:t>
            </a:r>
            <a:r>
              <a:rPr lang="zh-CN" alt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丝滑、冰凉</a:t>
            </a: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（A），穿上特别有型有品位（B）。"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7813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"这是立体剪裁设计（F），能够修饰身形（A），穿上特别显瘦有气质（B）。"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352800"/>
            <a:ext cx="5581650" cy="1295400"/>
          </a:xfrm>
          <a:custGeom>
            <a:avLst/>
            <a:gdLst/>
            <a:ahLst/>
            <a:cxnLst/>
            <a:rect l="l" t="t" r="r" b="b"/>
            <a:pathLst>
              <a:path w="5581650" h="1295400">
                <a:moveTo>
                  <a:pt x="38100" y="0"/>
                </a:moveTo>
                <a:lnTo>
                  <a:pt x="5505455" y="0"/>
                </a:lnTo>
                <a:cubicBezTo>
                  <a:pt x="5547508" y="0"/>
                  <a:pt x="5581650" y="34142"/>
                  <a:pt x="5581650" y="76195"/>
                </a:cubicBezTo>
                <a:lnTo>
                  <a:pt x="5581650" y="1219205"/>
                </a:lnTo>
                <a:cubicBezTo>
                  <a:pt x="5581650" y="1261286"/>
                  <a:pt x="5547536" y="1295400"/>
                  <a:pt x="55054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400050" y="33528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3" name="Text 11"/>
          <p:cNvSpPr/>
          <p:nvPr/>
        </p:nvSpPr>
        <p:spPr>
          <a:xfrm>
            <a:off x="609600" y="35433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衬衫类FAB话术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39243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"这款采用免烫面料（F），洗后不用熨烫（A），为您节省很多时间（B）。"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42291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"这是高支棉面料（F），透气吸汗（A），夏天穿特别舒适（B）。"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80060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447800"/>
                </a:lnTo>
                <a:cubicBezTo>
                  <a:pt x="5581650" y="1489856"/>
                  <a:pt x="5547506" y="1524000"/>
                  <a:pt x="55054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400050" y="48006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18" name="Text 16"/>
          <p:cNvSpPr/>
          <p:nvPr/>
        </p:nvSpPr>
        <p:spPr>
          <a:xfrm>
            <a:off x="609600" y="49911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休闲装FAB话术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537210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"这款夹克采用弹力面料（F），活动自如不束缚（A），休闲商务两相宜（B）。"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59055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"这是防水涂层工艺（F），小雨天也不怕（A），日常穿着很省心（B）。"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88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2" name="Text 20"/>
          <p:cNvSpPr/>
          <p:nvPr/>
        </p:nvSpPr>
        <p:spPr>
          <a:xfrm>
            <a:off x="6610350" y="12192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重点掌握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1676400"/>
            <a:ext cx="5600700" cy="3276600"/>
          </a:xfrm>
          <a:custGeom>
            <a:avLst/>
            <a:gdLst/>
            <a:ahLst/>
            <a:cxnLst/>
            <a:rect l="l" t="t" r="r" b="b"/>
            <a:pathLst>
              <a:path w="5600700" h="3276600">
                <a:moveTo>
                  <a:pt x="76214" y="0"/>
                </a:moveTo>
                <a:lnTo>
                  <a:pt x="5524486" y="0"/>
                </a:lnTo>
                <a:cubicBezTo>
                  <a:pt x="5566578" y="0"/>
                  <a:pt x="5600700" y="34122"/>
                  <a:pt x="5600700" y="76214"/>
                </a:cubicBezTo>
                <a:lnTo>
                  <a:pt x="5600700" y="3200386"/>
                </a:lnTo>
                <a:cubicBezTo>
                  <a:pt x="5600700" y="3242478"/>
                  <a:pt x="5566578" y="3276600"/>
                  <a:pt x="5524486" y="3276600"/>
                </a:cubicBezTo>
                <a:lnTo>
                  <a:pt x="76214" y="3276600"/>
                </a:lnTo>
                <a:cubicBezTo>
                  <a:pt x="34122" y="3276600"/>
                  <a:pt x="0" y="3242478"/>
                  <a:pt x="0" y="320038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6400800" y="1866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5" name="Shape 23"/>
          <p:cNvSpPr/>
          <p:nvPr/>
        </p:nvSpPr>
        <p:spPr>
          <a:xfrm>
            <a:off x="6534150" y="2000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7010400" y="1866900"/>
            <a:ext cx="3133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产品特性描述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0400" y="2171700"/>
            <a:ext cx="3124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准确描述产品的面料、剪裁、工艺等客观属性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0" y="2571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9" name="Shape 27"/>
          <p:cNvSpPr/>
          <p:nvPr/>
        </p:nvSpPr>
        <p:spPr>
          <a:xfrm>
            <a:off x="6534150" y="2705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9766" y="59531"/>
                </a:moveTo>
                <a:cubicBezTo>
                  <a:pt x="36351" y="59531"/>
                  <a:pt x="41672" y="64852"/>
                  <a:pt x="41672" y="71438"/>
                </a:cubicBezTo>
                <a:lnTo>
                  <a:pt x="41672" y="166688"/>
                </a:lnTo>
                <a:cubicBezTo>
                  <a:pt x="41672" y="173273"/>
                  <a:pt x="36351" y="178594"/>
                  <a:pt x="29766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71438"/>
                </a:lnTo>
                <a:cubicBezTo>
                  <a:pt x="0" y="64852"/>
                  <a:pt x="5321" y="59531"/>
                  <a:pt x="11906" y="59531"/>
                </a:cubicBezTo>
                <a:lnTo>
                  <a:pt x="29766" y="59531"/>
                </a:lnTo>
                <a:close/>
                <a:moveTo>
                  <a:pt x="100682" y="5953"/>
                </a:moveTo>
                <a:cubicBezTo>
                  <a:pt x="110840" y="5953"/>
                  <a:pt x="119063" y="14176"/>
                  <a:pt x="119063" y="24333"/>
                </a:cubicBezTo>
                <a:lnTo>
                  <a:pt x="119063" y="25896"/>
                </a:lnTo>
                <a:cubicBezTo>
                  <a:pt x="119063" y="28426"/>
                  <a:pt x="118579" y="30956"/>
                  <a:pt x="117649" y="33300"/>
                </a:cubicBezTo>
                <a:lnTo>
                  <a:pt x="107156" y="59531"/>
                </a:lnTo>
                <a:lnTo>
                  <a:pt x="166688" y="59531"/>
                </a:lnTo>
                <a:cubicBezTo>
                  <a:pt x="176547" y="59531"/>
                  <a:pt x="184547" y="67531"/>
                  <a:pt x="184547" y="77391"/>
                </a:cubicBezTo>
                <a:cubicBezTo>
                  <a:pt x="184547" y="84720"/>
                  <a:pt x="180119" y="91008"/>
                  <a:pt x="173794" y="93762"/>
                </a:cubicBezTo>
                <a:cubicBezTo>
                  <a:pt x="180119" y="96515"/>
                  <a:pt x="184547" y="102803"/>
                  <a:pt x="184547" y="110133"/>
                </a:cubicBezTo>
                <a:cubicBezTo>
                  <a:pt x="184547" y="118839"/>
                  <a:pt x="178296" y="126095"/>
                  <a:pt x="170036" y="127657"/>
                </a:cubicBezTo>
                <a:cubicBezTo>
                  <a:pt x="171673" y="130373"/>
                  <a:pt x="172641" y="133536"/>
                  <a:pt x="172641" y="136922"/>
                </a:cubicBezTo>
                <a:cubicBezTo>
                  <a:pt x="172641" y="145182"/>
                  <a:pt x="167060" y="152102"/>
                  <a:pt x="159469" y="154149"/>
                </a:cubicBezTo>
                <a:cubicBezTo>
                  <a:pt x="160288" y="156195"/>
                  <a:pt x="160734" y="158428"/>
                  <a:pt x="160734" y="160734"/>
                </a:cubicBezTo>
                <a:cubicBezTo>
                  <a:pt x="160734" y="170594"/>
                  <a:pt x="152735" y="178594"/>
                  <a:pt x="142875" y="178594"/>
                </a:cubicBezTo>
                <a:lnTo>
                  <a:pt x="110170" y="178594"/>
                </a:lnTo>
                <a:cubicBezTo>
                  <a:pt x="96664" y="178594"/>
                  <a:pt x="83530" y="173980"/>
                  <a:pt x="73000" y="165534"/>
                </a:cubicBezTo>
                <a:lnTo>
                  <a:pt x="68461" y="161925"/>
                </a:lnTo>
                <a:cubicBezTo>
                  <a:pt x="62805" y="157423"/>
                  <a:pt x="59531" y="150577"/>
                  <a:pt x="59531" y="143321"/>
                </a:cubicBezTo>
                <a:lnTo>
                  <a:pt x="59531" y="73893"/>
                </a:lnTo>
                <a:cubicBezTo>
                  <a:pt x="59531" y="68349"/>
                  <a:pt x="60833" y="62880"/>
                  <a:pt x="63289" y="57931"/>
                </a:cubicBezTo>
                <a:lnTo>
                  <a:pt x="84200" y="16111"/>
                </a:lnTo>
                <a:cubicBezTo>
                  <a:pt x="87325" y="9897"/>
                  <a:pt x="93687" y="5953"/>
                  <a:pt x="100682" y="595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7010400" y="2571750"/>
            <a:ext cx="2676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优势转化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10400" y="287655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将产品特性转化为顾客能感受到的优点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0" y="327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3" name="Shape 31"/>
          <p:cNvSpPr/>
          <p:nvPr/>
        </p:nvSpPr>
        <p:spPr>
          <a:xfrm>
            <a:off x="6534150" y="3409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621" y="25598"/>
                </a:moveTo>
                <a:cubicBezTo>
                  <a:pt x="122448" y="20799"/>
                  <a:pt x="127583" y="17859"/>
                  <a:pt x="133127" y="17859"/>
                </a:cubicBezTo>
                <a:lnTo>
                  <a:pt x="133945" y="17859"/>
                </a:lnTo>
                <a:cubicBezTo>
                  <a:pt x="142168" y="17859"/>
                  <a:pt x="148828" y="24519"/>
                  <a:pt x="148828" y="32742"/>
                </a:cubicBezTo>
                <a:cubicBezTo>
                  <a:pt x="148828" y="40965"/>
                  <a:pt x="142168" y="47625"/>
                  <a:pt x="133945" y="47625"/>
                </a:cubicBezTo>
                <a:lnTo>
                  <a:pt x="106673" y="47625"/>
                </a:lnTo>
                <a:lnTo>
                  <a:pt x="119621" y="25598"/>
                </a:lnTo>
                <a:close/>
                <a:moveTo>
                  <a:pt x="70879" y="25598"/>
                </a:moveTo>
                <a:lnTo>
                  <a:pt x="83827" y="47625"/>
                </a:lnTo>
                <a:lnTo>
                  <a:pt x="56555" y="47625"/>
                </a:lnTo>
                <a:cubicBezTo>
                  <a:pt x="48332" y="47625"/>
                  <a:pt x="41672" y="40965"/>
                  <a:pt x="41672" y="32742"/>
                </a:cubicBezTo>
                <a:cubicBezTo>
                  <a:pt x="41672" y="24519"/>
                  <a:pt x="48332" y="17859"/>
                  <a:pt x="56555" y="17859"/>
                </a:cubicBezTo>
                <a:lnTo>
                  <a:pt x="57373" y="17859"/>
                </a:lnTo>
                <a:cubicBezTo>
                  <a:pt x="62917" y="17859"/>
                  <a:pt x="68089" y="20799"/>
                  <a:pt x="70879" y="25598"/>
                </a:cubicBezTo>
                <a:close/>
                <a:moveTo>
                  <a:pt x="104217" y="16557"/>
                </a:moveTo>
                <a:lnTo>
                  <a:pt x="95250" y="31812"/>
                </a:lnTo>
                <a:lnTo>
                  <a:pt x="86283" y="16557"/>
                </a:lnTo>
                <a:cubicBezTo>
                  <a:pt x="80256" y="6288"/>
                  <a:pt x="69242" y="0"/>
                  <a:pt x="57373" y="0"/>
                </a:cubicBezTo>
                <a:lnTo>
                  <a:pt x="56555" y="0"/>
                </a:lnTo>
                <a:cubicBezTo>
                  <a:pt x="38472" y="0"/>
                  <a:pt x="23812" y="14660"/>
                  <a:pt x="23812" y="32742"/>
                </a:cubicBezTo>
                <a:cubicBezTo>
                  <a:pt x="23812" y="38100"/>
                  <a:pt x="25115" y="43160"/>
                  <a:pt x="27384" y="47625"/>
                </a:cubicBezTo>
                <a:lnTo>
                  <a:pt x="11906" y="47625"/>
                </a:lnTo>
                <a:cubicBezTo>
                  <a:pt x="5321" y="47625"/>
                  <a:pt x="0" y="52946"/>
                  <a:pt x="0" y="59531"/>
                </a:cubicBezTo>
                <a:lnTo>
                  <a:pt x="0" y="71438"/>
                </a:lnTo>
                <a:cubicBezTo>
                  <a:pt x="0" y="78023"/>
                  <a:pt x="5321" y="83344"/>
                  <a:pt x="11906" y="83344"/>
                </a:cubicBezTo>
                <a:lnTo>
                  <a:pt x="178594" y="83344"/>
                </a:lnTo>
                <a:cubicBezTo>
                  <a:pt x="185179" y="83344"/>
                  <a:pt x="190500" y="78023"/>
                  <a:pt x="190500" y="71438"/>
                </a:cubicBezTo>
                <a:lnTo>
                  <a:pt x="190500" y="59531"/>
                </a:lnTo>
                <a:cubicBezTo>
                  <a:pt x="190500" y="52946"/>
                  <a:pt x="185179" y="47625"/>
                  <a:pt x="178594" y="47625"/>
                </a:cubicBezTo>
                <a:lnTo>
                  <a:pt x="163116" y="47625"/>
                </a:lnTo>
                <a:cubicBezTo>
                  <a:pt x="165385" y="43160"/>
                  <a:pt x="166688" y="38100"/>
                  <a:pt x="166688" y="32742"/>
                </a:cubicBezTo>
                <a:cubicBezTo>
                  <a:pt x="166688" y="14660"/>
                  <a:pt x="152028" y="0"/>
                  <a:pt x="133945" y="0"/>
                </a:cubicBezTo>
                <a:lnTo>
                  <a:pt x="133127" y="0"/>
                </a:lnTo>
                <a:cubicBezTo>
                  <a:pt x="121258" y="0"/>
                  <a:pt x="110244" y="6288"/>
                  <a:pt x="104217" y="16520"/>
                </a:cubicBezTo>
                <a:close/>
                <a:moveTo>
                  <a:pt x="178594" y="101203"/>
                </a:moveTo>
                <a:lnTo>
                  <a:pt x="104180" y="101203"/>
                </a:lnTo>
                <a:lnTo>
                  <a:pt x="104180" y="178594"/>
                </a:lnTo>
                <a:lnTo>
                  <a:pt x="154781" y="178594"/>
                </a:lnTo>
                <a:cubicBezTo>
                  <a:pt x="167915" y="178594"/>
                  <a:pt x="178594" y="167915"/>
                  <a:pt x="178594" y="154781"/>
                </a:cubicBezTo>
                <a:lnTo>
                  <a:pt x="178594" y="101203"/>
                </a:lnTo>
                <a:close/>
                <a:moveTo>
                  <a:pt x="86320" y="101203"/>
                </a:moveTo>
                <a:lnTo>
                  <a:pt x="11906" y="101203"/>
                </a:lnTo>
                <a:lnTo>
                  <a:pt x="11906" y="154781"/>
                </a:lnTo>
                <a:cubicBezTo>
                  <a:pt x="11906" y="167915"/>
                  <a:pt x="22585" y="178594"/>
                  <a:pt x="35719" y="178594"/>
                </a:cubicBezTo>
                <a:lnTo>
                  <a:pt x="86320" y="178594"/>
                </a:lnTo>
                <a:lnTo>
                  <a:pt x="86320" y="10120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7010400" y="3276600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利益点提炼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10400" y="3581400"/>
            <a:ext cx="2362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强调给顾客带来的实际价值和好处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0" y="3981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7" name="Shape 35"/>
          <p:cNvSpPr/>
          <p:nvPr/>
        </p:nvSpPr>
        <p:spPr>
          <a:xfrm>
            <a:off x="6522244" y="41148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7010400" y="3981450"/>
            <a:ext cx="2524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独特卖点挖掘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10400" y="4286250"/>
            <a:ext cx="2514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找出产品的差异化优势，突出竞争力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300" y="5105400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295394"/>
                </a:lnTo>
                <a:cubicBezTo>
                  <a:pt x="5600700" y="1337481"/>
                  <a:pt x="5566581" y="1371600"/>
                  <a:pt x="55244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362700" y="52578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介绍技巧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0" y="5600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Text 41"/>
          <p:cNvSpPr/>
          <p:nvPr/>
        </p:nvSpPr>
        <p:spPr>
          <a:xfrm>
            <a:off x="6629400" y="55626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结合顾客需求，针对性介绍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0" y="58674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6629400" y="58293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语言生动，避免生硬背书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0800" y="61341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7" name="Text 45"/>
          <p:cNvSpPr/>
          <p:nvPr/>
        </p:nvSpPr>
        <p:spPr>
          <a:xfrm>
            <a:off x="6629400" y="60960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鼓励顾客触摸、试穿体验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mens_step5_crosssell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638973" y="2171700"/>
            <a:ext cx="2914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05623" y="2628900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第五步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301" y="35433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591348" y="3886200"/>
            <a:ext cx="3009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连带推荐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29448" y="4419600"/>
            <a:ext cx="2933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成套搭配 · 提升客单 · 创造惊喜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4"/>
            <a:ext cx="11595874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kern="0" spc="18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05 · CASE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55295"/>
            <a:ext cx="11685701" cy="3266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连带推荐 · 案例分析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77" y="1045262"/>
            <a:ext cx="5659113" cy="2825474"/>
          </a:xfrm>
          <a:custGeom>
            <a:avLst/>
            <a:gdLst/>
            <a:ahLst/>
            <a:cxnLst/>
            <a:rect l="l" t="t" r="r" b="b"/>
            <a:pathLst>
              <a:path w="5659113" h="2825474">
                <a:moveTo>
                  <a:pt x="32664" y="0"/>
                </a:moveTo>
                <a:lnTo>
                  <a:pt x="5593788" y="0"/>
                </a:lnTo>
                <a:cubicBezTo>
                  <a:pt x="5629866" y="0"/>
                  <a:pt x="5659113" y="29247"/>
                  <a:pt x="5659113" y="65325"/>
                </a:cubicBezTo>
                <a:lnTo>
                  <a:pt x="5659113" y="2760149"/>
                </a:lnTo>
                <a:cubicBezTo>
                  <a:pt x="5659113" y="2796227"/>
                  <a:pt x="5629866" y="2825474"/>
                  <a:pt x="5593788" y="2825474"/>
                </a:cubicBez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42977" y="1045262"/>
            <a:ext cx="32664" cy="2825474"/>
          </a:xfrm>
          <a:custGeom>
            <a:avLst/>
            <a:gdLst/>
            <a:ahLst/>
            <a:cxnLst/>
            <a:rect l="l" t="t" r="r" b="b"/>
            <a:pathLst>
              <a:path w="32664" h="2825474">
                <a:moveTo>
                  <a:pt x="32664" y="0"/>
                </a:moveTo>
                <a:lnTo>
                  <a:pt x="32664" y="0"/>
                </a:lnTo>
                <a:lnTo>
                  <a:pt x="32664" y="2825474"/>
                </a:ln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559378" y="1224916"/>
            <a:ext cx="171488" cy="195987"/>
          </a:xfrm>
          <a:custGeom>
            <a:avLst/>
            <a:gdLst/>
            <a:ahLst/>
            <a:cxnLst/>
            <a:rect l="l" t="t" r="r" b="b"/>
            <a:pathLst>
              <a:path w="171488" h="195987">
                <a:moveTo>
                  <a:pt x="85744" y="94931"/>
                </a:moveTo>
                <a:cubicBezTo>
                  <a:pt x="60392" y="94931"/>
                  <a:pt x="39810" y="74349"/>
                  <a:pt x="39810" y="48997"/>
                </a:cubicBezTo>
                <a:cubicBezTo>
                  <a:pt x="39810" y="23645"/>
                  <a:pt x="60392" y="3062"/>
                  <a:pt x="85744" y="3062"/>
                </a:cubicBezTo>
                <a:cubicBezTo>
                  <a:pt x="111096" y="3062"/>
                  <a:pt x="131678" y="23645"/>
                  <a:pt x="131678" y="48997"/>
                </a:cubicBezTo>
                <a:cubicBezTo>
                  <a:pt x="131678" y="74349"/>
                  <a:pt x="111096" y="94931"/>
                  <a:pt x="85744" y="94931"/>
                </a:cubicBezTo>
                <a:close/>
                <a:moveTo>
                  <a:pt x="74069" y="116367"/>
                </a:moveTo>
                <a:lnTo>
                  <a:pt x="97419" y="116367"/>
                </a:lnTo>
                <a:cubicBezTo>
                  <a:pt x="101132" y="116367"/>
                  <a:pt x="104118" y="119353"/>
                  <a:pt x="104118" y="123066"/>
                </a:cubicBezTo>
                <a:cubicBezTo>
                  <a:pt x="104118" y="124674"/>
                  <a:pt x="103544" y="126205"/>
                  <a:pt x="102510" y="127430"/>
                </a:cubicBezTo>
                <a:lnTo>
                  <a:pt x="92022" y="139679"/>
                </a:lnTo>
                <a:lnTo>
                  <a:pt x="103888" y="183737"/>
                </a:lnTo>
                <a:lnTo>
                  <a:pt x="104118" y="183737"/>
                </a:lnTo>
                <a:lnTo>
                  <a:pt x="117362" y="130722"/>
                </a:lnTo>
                <a:cubicBezTo>
                  <a:pt x="118204" y="127391"/>
                  <a:pt x="121611" y="125363"/>
                  <a:pt x="124827" y="126587"/>
                </a:cubicBezTo>
                <a:cubicBezTo>
                  <a:pt x="148521" y="135621"/>
                  <a:pt x="165364" y="158588"/>
                  <a:pt x="165364" y="185460"/>
                </a:cubicBezTo>
                <a:cubicBezTo>
                  <a:pt x="165364" y="191240"/>
                  <a:pt x="160655" y="195948"/>
                  <a:pt x="154875" y="195948"/>
                </a:cubicBezTo>
                <a:lnTo>
                  <a:pt x="16613" y="195987"/>
                </a:lnTo>
                <a:cubicBezTo>
                  <a:pt x="10833" y="195987"/>
                  <a:pt x="6125" y="191278"/>
                  <a:pt x="6125" y="185498"/>
                </a:cubicBezTo>
                <a:cubicBezTo>
                  <a:pt x="6125" y="158627"/>
                  <a:pt x="22967" y="135659"/>
                  <a:pt x="46662" y="126626"/>
                </a:cubicBezTo>
                <a:cubicBezTo>
                  <a:pt x="49877" y="125401"/>
                  <a:pt x="53284" y="127430"/>
                  <a:pt x="54126" y="130760"/>
                </a:cubicBezTo>
                <a:lnTo>
                  <a:pt x="67370" y="183776"/>
                </a:lnTo>
                <a:lnTo>
                  <a:pt x="67600" y="183776"/>
                </a:lnTo>
                <a:lnTo>
                  <a:pt x="79466" y="139717"/>
                </a:lnTo>
                <a:lnTo>
                  <a:pt x="68978" y="127468"/>
                </a:lnTo>
                <a:cubicBezTo>
                  <a:pt x="67945" y="126243"/>
                  <a:pt x="67370" y="124712"/>
                  <a:pt x="67370" y="123104"/>
                </a:cubicBezTo>
                <a:cubicBezTo>
                  <a:pt x="67370" y="119391"/>
                  <a:pt x="70356" y="116405"/>
                  <a:pt x="74069" y="116405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865608" y="1208584"/>
            <a:ext cx="1061594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成套搭配案例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2631" y="1567893"/>
            <a:ext cx="538963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2631" y="1861873"/>
            <a:ext cx="5381466" cy="636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顾客选中一件POLO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衫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，销售顾问小王推荐："这件POLO非常经典，我给您搭配一条同色系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弹力休闲裤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和，整体效果会更专业。另外，配一双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小白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鞋，就是一套完整的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高尔夫商务休闲装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了。"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2631" y="2596823"/>
            <a:ext cx="5316137" cy="1110591"/>
          </a:xfrm>
          <a:custGeom>
            <a:avLst/>
            <a:gdLst/>
            <a:ahLst/>
            <a:cxnLst/>
            <a:rect l="l" t="t" r="r" b="b"/>
            <a:pathLst>
              <a:path w="5316137" h="1110591">
                <a:moveTo>
                  <a:pt x="65325" y="0"/>
                </a:moveTo>
                <a:lnTo>
                  <a:pt x="5250812" y="0"/>
                </a:lnTo>
                <a:cubicBezTo>
                  <a:pt x="5286890" y="0"/>
                  <a:pt x="5316137" y="29247"/>
                  <a:pt x="5316137" y="65325"/>
                </a:cubicBezTo>
                <a:lnTo>
                  <a:pt x="5316137" y="1045266"/>
                </a:lnTo>
                <a:cubicBezTo>
                  <a:pt x="5316137" y="1081344"/>
                  <a:pt x="5286890" y="1110591"/>
                  <a:pt x="5250812" y="1110591"/>
                </a:cubicBezTo>
                <a:lnTo>
                  <a:pt x="65325" y="1110591"/>
                </a:lnTo>
                <a:cubicBezTo>
                  <a:pt x="29247" y="1110591"/>
                  <a:pt x="0" y="1081344"/>
                  <a:pt x="0" y="1045266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20624" y="2694816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成功要点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9811" y="2988796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3" name="Text 11"/>
          <p:cNvSpPr/>
          <p:nvPr/>
        </p:nvSpPr>
        <p:spPr>
          <a:xfrm>
            <a:off x="828860" y="2956131"/>
            <a:ext cx="111059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提供完整搭配方案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9811" y="3217447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828860" y="3184782"/>
            <a:ext cx="111059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颜色风格统一协调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9811" y="3446098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7" name="Text 15"/>
          <p:cNvSpPr/>
          <p:nvPr/>
        </p:nvSpPr>
        <p:spPr>
          <a:xfrm>
            <a:off x="828860" y="3413433"/>
            <a:ext cx="111059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提升整体购物体验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2977" y="4034058"/>
            <a:ext cx="5659113" cy="2825474"/>
          </a:xfrm>
          <a:custGeom>
            <a:avLst/>
            <a:gdLst/>
            <a:ahLst/>
            <a:cxnLst/>
            <a:rect l="l" t="t" r="r" b="b"/>
            <a:pathLst>
              <a:path w="5659113" h="2825474">
                <a:moveTo>
                  <a:pt x="32664" y="0"/>
                </a:moveTo>
                <a:lnTo>
                  <a:pt x="5593788" y="0"/>
                </a:lnTo>
                <a:cubicBezTo>
                  <a:pt x="5629866" y="0"/>
                  <a:pt x="5659113" y="29247"/>
                  <a:pt x="5659113" y="65325"/>
                </a:cubicBezTo>
                <a:lnTo>
                  <a:pt x="5659113" y="2760149"/>
                </a:lnTo>
                <a:cubicBezTo>
                  <a:pt x="5659113" y="2796227"/>
                  <a:pt x="5629866" y="2825474"/>
                  <a:pt x="5593788" y="2825474"/>
                </a:cubicBez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342977" y="4034058"/>
            <a:ext cx="32664" cy="2825474"/>
          </a:xfrm>
          <a:custGeom>
            <a:avLst/>
            <a:gdLst/>
            <a:ahLst/>
            <a:cxnLst/>
            <a:rect l="l" t="t" r="r" b="b"/>
            <a:pathLst>
              <a:path w="32664" h="2825474">
                <a:moveTo>
                  <a:pt x="32664" y="0"/>
                </a:moveTo>
                <a:lnTo>
                  <a:pt x="32664" y="0"/>
                </a:lnTo>
                <a:lnTo>
                  <a:pt x="32664" y="2825474"/>
                </a:ln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Shape 18"/>
          <p:cNvSpPr/>
          <p:nvPr/>
        </p:nvSpPr>
        <p:spPr>
          <a:xfrm>
            <a:off x="547129" y="4213712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44671" y="12938"/>
                </a:moveTo>
                <a:cubicBezTo>
                  <a:pt x="46394" y="10603"/>
                  <a:pt x="49150" y="9187"/>
                  <a:pt x="52059" y="9187"/>
                </a:cubicBezTo>
                <a:lnTo>
                  <a:pt x="143928" y="9187"/>
                </a:lnTo>
                <a:cubicBezTo>
                  <a:pt x="146837" y="9187"/>
                  <a:pt x="149593" y="10565"/>
                  <a:pt x="151315" y="12938"/>
                </a:cubicBezTo>
                <a:lnTo>
                  <a:pt x="194188" y="71122"/>
                </a:lnTo>
                <a:cubicBezTo>
                  <a:pt x="196790" y="74643"/>
                  <a:pt x="196523" y="79505"/>
                  <a:pt x="193613" y="82758"/>
                </a:cubicBezTo>
                <a:lnTo>
                  <a:pt x="104807" y="180752"/>
                </a:lnTo>
                <a:cubicBezTo>
                  <a:pt x="103084" y="182666"/>
                  <a:pt x="100596" y="183776"/>
                  <a:pt x="97993" y="183776"/>
                </a:cubicBezTo>
                <a:cubicBezTo>
                  <a:pt x="95390" y="183776"/>
                  <a:pt x="92941" y="182666"/>
                  <a:pt x="91180" y="180752"/>
                </a:cubicBezTo>
                <a:lnTo>
                  <a:pt x="2373" y="82758"/>
                </a:lnTo>
                <a:cubicBezTo>
                  <a:pt x="-574" y="79505"/>
                  <a:pt x="-804" y="74643"/>
                  <a:pt x="1799" y="71122"/>
                </a:cubicBezTo>
                <a:lnTo>
                  <a:pt x="44671" y="12938"/>
                </a:lnTo>
                <a:close/>
                <a:moveTo>
                  <a:pt x="59408" y="28173"/>
                </a:moveTo>
                <a:cubicBezTo>
                  <a:pt x="58145" y="29130"/>
                  <a:pt x="57801" y="30853"/>
                  <a:pt x="58605" y="32192"/>
                </a:cubicBezTo>
                <a:lnTo>
                  <a:pt x="80577" y="68825"/>
                </a:lnTo>
                <a:lnTo>
                  <a:pt x="24230" y="73495"/>
                </a:lnTo>
                <a:cubicBezTo>
                  <a:pt x="22661" y="73610"/>
                  <a:pt x="21436" y="74950"/>
                  <a:pt x="21436" y="76557"/>
                </a:cubicBezTo>
                <a:cubicBezTo>
                  <a:pt x="21436" y="78165"/>
                  <a:pt x="22661" y="79466"/>
                  <a:pt x="24230" y="79620"/>
                </a:cubicBezTo>
                <a:lnTo>
                  <a:pt x="97725" y="85744"/>
                </a:lnTo>
                <a:cubicBezTo>
                  <a:pt x="97878" y="85744"/>
                  <a:pt x="98070" y="85744"/>
                  <a:pt x="98223" y="85744"/>
                </a:cubicBezTo>
                <a:lnTo>
                  <a:pt x="171718" y="79620"/>
                </a:lnTo>
                <a:cubicBezTo>
                  <a:pt x="173287" y="79505"/>
                  <a:pt x="174512" y="78165"/>
                  <a:pt x="174512" y="76557"/>
                </a:cubicBezTo>
                <a:cubicBezTo>
                  <a:pt x="174512" y="74950"/>
                  <a:pt x="173287" y="73648"/>
                  <a:pt x="171718" y="73495"/>
                </a:cubicBezTo>
                <a:lnTo>
                  <a:pt x="115372" y="68787"/>
                </a:lnTo>
                <a:lnTo>
                  <a:pt x="137344" y="32192"/>
                </a:lnTo>
                <a:cubicBezTo>
                  <a:pt x="138148" y="30853"/>
                  <a:pt x="137803" y="29092"/>
                  <a:pt x="136540" y="28173"/>
                </a:cubicBezTo>
                <a:cubicBezTo>
                  <a:pt x="135277" y="27254"/>
                  <a:pt x="133516" y="27408"/>
                  <a:pt x="132444" y="28556"/>
                </a:cubicBezTo>
                <a:lnTo>
                  <a:pt x="97993" y="65916"/>
                </a:lnTo>
                <a:lnTo>
                  <a:pt x="63504" y="28556"/>
                </a:lnTo>
                <a:cubicBezTo>
                  <a:pt x="62432" y="27408"/>
                  <a:pt x="60672" y="27254"/>
                  <a:pt x="59408" y="2817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1" name="Text 19"/>
          <p:cNvSpPr/>
          <p:nvPr/>
        </p:nvSpPr>
        <p:spPr>
          <a:xfrm>
            <a:off x="865608" y="4197380"/>
            <a:ext cx="1061594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配件附加案例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2631" y="4556689"/>
            <a:ext cx="538963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2631" y="4850668"/>
            <a:ext cx="5381466" cy="636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顾客决定购买一套POLO，销售顾问小李说："这套POLO配一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顶棒球帽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会更显档次，我们还有同系列的皮带，搭配起来非常精致。现在购买配件还有9折优惠，您要不要一起看看？"顾客接受了推荐，额外购买了领带和皮带。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2631" y="5585618"/>
            <a:ext cx="5316137" cy="1110591"/>
          </a:xfrm>
          <a:custGeom>
            <a:avLst/>
            <a:gdLst/>
            <a:ahLst/>
            <a:cxnLst/>
            <a:rect l="l" t="t" r="r" b="b"/>
            <a:pathLst>
              <a:path w="5316137" h="1110591">
                <a:moveTo>
                  <a:pt x="65325" y="0"/>
                </a:moveTo>
                <a:lnTo>
                  <a:pt x="5250812" y="0"/>
                </a:lnTo>
                <a:cubicBezTo>
                  <a:pt x="5286890" y="0"/>
                  <a:pt x="5316137" y="29247"/>
                  <a:pt x="5316137" y="65325"/>
                </a:cubicBezTo>
                <a:lnTo>
                  <a:pt x="5316137" y="1045266"/>
                </a:lnTo>
                <a:cubicBezTo>
                  <a:pt x="5316137" y="1081344"/>
                  <a:pt x="5286890" y="1110591"/>
                  <a:pt x="5250812" y="1110591"/>
                </a:cubicBezTo>
                <a:lnTo>
                  <a:pt x="65325" y="1110591"/>
                </a:lnTo>
                <a:cubicBezTo>
                  <a:pt x="29247" y="1110591"/>
                  <a:pt x="0" y="1081344"/>
                  <a:pt x="0" y="1045266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20624" y="5683612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成功要点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9811" y="5977591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7" name="Text 25"/>
          <p:cNvSpPr/>
          <p:nvPr/>
        </p:nvSpPr>
        <p:spPr>
          <a:xfrm>
            <a:off x="828860" y="5944927"/>
            <a:ext cx="1502564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配件能提升整体造型档次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9811" y="6206242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9" name="Text 27"/>
          <p:cNvSpPr/>
          <p:nvPr/>
        </p:nvSpPr>
        <p:spPr>
          <a:xfrm>
            <a:off x="828860" y="6173578"/>
            <a:ext cx="1371906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利用优惠活动促进连带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9811" y="6434894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1" name="Text 29"/>
          <p:cNvSpPr/>
          <p:nvPr/>
        </p:nvSpPr>
        <p:spPr>
          <a:xfrm>
            <a:off x="828860" y="6402229"/>
            <a:ext cx="1633222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时机把握：顾客决定购买后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5354" y="1045262"/>
            <a:ext cx="5675445" cy="4017725"/>
          </a:xfrm>
          <a:custGeom>
            <a:avLst/>
            <a:gdLst/>
            <a:ahLst/>
            <a:cxnLst/>
            <a:rect l="l" t="t" r="r" b="b"/>
            <a:pathLst>
              <a:path w="5675445" h="4017725">
                <a:moveTo>
                  <a:pt x="65328" y="0"/>
                </a:moveTo>
                <a:lnTo>
                  <a:pt x="5610117" y="0"/>
                </a:lnTo>
                <a:cubicBezTo>
                  <a:pt x="5646197" y="0"/>
                  <a:pt x="5675445" y="29248"/>
                  <a:pt x="5675445" y="65328"/>
                </a:cubicBezTo>
                <a:lnTo>
                  <a:pt x="5675445" y="3952397"/>
                </a:lnTo>
                <a:cubicBezTo>
                  <a:pt x="5675445" y="3988477"/>
                  <a:pt x="5646197" y="4017725"/>
                  <a:pt x="5610117" y="4017725"/>
                </a:cubicBezTo>
                <a:lnTo>
                  <a:pt x="65328" y="4017725"/>
                </a:lnTo>
                <a:cubicBezTo>
                  <a:pt x="29248" y="4017725"/>
                  <a:pt x="0" y="3988477"/>
                  <a:pt x="0" y="3952397"/>
                </a:cubicBezTo>
                <a:lnTo>
                  <a:pt x="0" y="65328"/>
                </a:lnTo>
                <a:cubicBezTo>
                  <a:pt x="0" y="29273"/>
                  <a:pt x="29273" y="0"/>
                  <a:pt x="65328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3" name="Text 31"/>
          <p:cNvSpPr/>
          <p:nvPr/>
        </p:nvSpPr>
        <p:spPr>
          <a:xfrm>
            <a:off x="6391341" y="1241248"/>
            <a:ext cx="5365133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连带推荐策略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1341" y="1600557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5" name="Shape 33"/>
          <p:cNvSpPr/>
          <p:nvPr/>
        </p:nvSpPr>
        <p:spPr>
          <a:xfrm>
            <a:off x="6505667" y="1714883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74165" y="1659"/>
                </a:moveTo>
                <a:cubicBezTo>
                  <a:pt x="78918" y="-542"/>
                  <a:pt x="84404" y="-542"/>
                  <a:pt x="89157" y="1659"/>
                </a:cubicBezTo>
                <a:lnTo>
                  <a:pt x="158888" y="33877"/>
                </a:lnTo>
                <a:cubicBezTo>
                  <a:pt x="161600" y="35121"/>
                  <a:pt x="163322" y="37832"/>
                  <a:pt x="163322" y="40831"/>
                </a:cubicBezTo>
                <a:cubicBezTo>
                  <a:pt x="163322" y="43829"/>
                  <a:pt x="161600" y="46540"/>
                  <a:pt x="158888" y="47784"/>
                </a:cubicBezTo>
                <a:lnTo>
                  <a:pt x="89157" y="80002"/>
                </a:lnTo>
                <a:cubicBezTo>
                  <a:pt x="84404" y="82203"/>
                  <a:pt x="78918" y="82203"/>
                  <a:pt x="74165" y="80002"/>
                </a:cubicBezTo>
                <a:lnTo>
                  <a:pt x="4434" y="47784"/>
                </a:lnTo>
                <a:cubicBezTo>
                  <a:pt x="1723" y="46509"/>
                  <a:pt x="0" y="43797"/>
                  <a:pt x="0" y="40831"/>
                </a:cubicBezTo>
                <a:cubicBezTo>
                  <a:pt x="0" y="37864"/>
                  <a:pt x="1723" y="35121"/>
                  <a:pt x="4434" y="33877"/>
                </a:cubicBezTo>
                <a:lnTo>
                  <a:pt x="74165" y="1659"/>
                </a:lnTo>
                <a:close/>
                <a:moveTo>
                  <a:pt x="15343" y="69667"/>
                </a:moveTo>
                <a:lnTo>
                  <a:pt x="67753" y="93878"/>
                </a:lnTo>
                <a:cubicBezTo>
                  <a:pt x="76589" y="97961"/>
                  <a:pt x="86765" y="97961"/>
                  <a:pt x="95601" y="93878"/>
                </a:cubicBezTo>
                <a:lnTo>
                  <a:pt x="148011" y="69667"/>
                </a:lnTo>
                <a:lnTo>
                  <a:pt x="158888" y="74707"/>
                </a:lnTo>
                <a:cubicBezTo>
                  <a:pt x="161600" y="75951"/>
                  <a:pt x="163322" y="78663"/>
                  <a:pt x="163322" y="81661"/>
                </a:cubicBezTo>
                <a:cubicBezTo>
                  <a:pt x="163322" y="84660"/>
                  <a:pt x="161600" y="87371"/>
                  <a:pt x="158888" y="88615"/>
                </a:cubicBezTo>
                <a:lnTo>
                  <a:pt x="89157" y="120833"/>
                </a:lnTo>
                <a:cubicBezTo>
                  <a:pt x="84404" y="123034"/>
                  <a:pt x="78918" y="123034"/>
                  <a:pt x="74165" y="120833"/>
                </a:cubicBezTo>
                <a:lnTo>
                  <a:pt x="4434" y="88615"/>
                </a:lnTo>
                <a:cubicBezTo>
                  <a:pt x="1723" y="87339"/>
                  <a:pt x="0" y="84628"/>
                  <a:pt x="0" y="81661"/>
                </a:cubicBezTo>
                <a:cubicBezTo>
                  <a:pt x="0" y="78694"/>
                  <a:pt x="1723" y="75951"/>
                  <a:pt x="4434" y="74707"/>
                </a:cubicBezTo>
                <a:lnTo>
                  <a:pt x="15311" y="69667"/>
                </a:lnTo>
                <a:close/>
                <a:moveTo>
                  <a:pt x="4434" y="115538"/>
                </a:moveTo>
                <a:lnTo>
                  <a:pt x="15311" y="110498"/>
                </a:lnTo>
                <a:lnTo>
                  <a:pt x="67721" y="134709"/>
                </a:lnTo>
                <a:cubicBezTo>
                  <a:pt x="76557" y="138792"/>
                  <a:pt x="86733" y="138792"/>
                  <a:pt x="95569" y="134709"/>
                </a:cubicBezTo>
                <a:lnTo>
                  <a:pt x="147979" y="110498"/>
                </a:lnTo>
                <a:lnTo>
                  <a:pt x="158856" y="115538"/>
                </a:lnTo>
                <a:cubicBezTo>
                  <a:pt x="161568" y="116782"/>
                  <a:pt x="163290" y="119493"/>
                  <a:pt x="163290" y="122492"/>
                </a:cubicBezTo>
                <a:cubicBezTo>
                  <a:pt x="163290" y="125490"/>
                  <a:pt x="161568" y="128202"/>
                  <a:pt x="158856" y="129446"/>
                </a:cubicBezTo>
                <a:lnTo>
                  <a:pt x="89125" y="161663"/>
                </a:lnTo>
                <a:cubicBezTo>
                  <a:pt x="84372" y="163864"/>
                  <a:pt x="78886" y="163864"/>
                  <a:pt x="74133" y="161663"/>
                </a:cubicBezTo>
                <a:lnTo>
                  <a:pt x="4434" y="129446"/>
                </a:lnTo>
                <a:cubicBezTo>
                  <a:pt x="1723" y="128170"/>
                  <a:pt x="0" y="125458"/>
                  <a:pt x="0" y="122492"/>
                </a:cubicBezTo>
                <a:cubicBezTo>
                  <a:pt x="0" y="119525"/>
                  <a:pt x="1723" y="116782"/>
                  <a:pt x="4434" y="11553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6913972" y="1600557"/>
            <a:ext cx="2180351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成套搭配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13972" y="1861873"/>
            <a:ext cx="2172185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POLO+西裤+衬衫，打造完整商务造型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341" y="2204849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9" name="Shape 37"/>
          <p:cNvSpPr/>
          <p:nvPr/>
        </p:nvSpPr>
        <p:spPr>
          <a:xfrm>
            <a:off x="6505667" y="2319175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163322" y="81661"/>
                </a:moveTo>
                <a:cubicBezTo>
                  <a:pt x="163322" y="81948"/>
                  <a:pt x="163322" y="82235"/>
                  <a:pt x="163322" y="82522"/>
                </a:cubicBezTo>
                <a:cubicBezTo>
                  <a:pt x="163195" y="94165"/>
                  <a:pt x="152604" y="102076"/>
                  <a:pt x="140961" y="102076"/>
                </a:cubicBezTo>
                <a:lnTo>
                  <a:pt x="109732" y="102076"/>
                </a:lnTo>
                <a:cubicBezTo>
                  <a:pt x="101279" y="102076"/>
                  <a:pt x="94421" y="108935"/>
                  <a:pt x="94421" y="117388"/>
                </a:cubicBezTo>
                <a:cubicBezTo>
                  <a:pt x="94421" y="118472"/>
                  <a:pt x="94548" y="119525"/>
                  <a:pt x="94740" y="120546"/>
                </a:cubicBezTo>
                <a:cubicBezTo>
                  <a:pt x="95409" y="123799"/>
                  <a:pt x="96813" y="126926"/>
                  <a:pt x="98185" y="130084"/>
                </a:cubicBezTo>
                <a:cubicBezTo>
                  <a:pt x="100131" y="134486"/>
                  <a:pt x="102044" y="138856"/>
                  <a:pt x="102044" y="143481"/>
                </a:cubicBezTo>
                <a:cubicBezTo>
                  <a:pt x="102044" y="153625"/>
                  <a:pt x="95154" y="162844"/>
                  <a:pt x="85010" y="163258"/>
                </a:cubicBezTo>
                <a:cubicBezTo>
                  <a:pt x="83894" y="163290"/>
                  <a:pt x="82778" y="163322"/>
                  <a:pt x="81629" y="163322"/>
                </a:cubicBezTo>
                <a:cubicBezTo>
                  <a:pt x="36524" y="163322"/>
                  <a:pt x="-32" y="126766"/>
                  <a:pt x="-32" y="81661"/>
                </a:cubicBezTo>
                <a:cubicBezTo>
                  <a:pt x="-32" y="36556"/>
                  <a:pt x="36556" y="0"/>
                  <a:pt x="81661" y="0"/>
                </a:cubicBezTo>
                <a:cubicBezTo>
                  <a:pt x="126766" y="0"/>
                  <a:pt x="163322" y="36556"/>
                  <a:pt x="163322" y="81661"/>
                </a:cubicBezTo>
                <a:close/>
                <a:moveTo>
                  <a:pt x="40831" y="91869"/>
                </a:moveTo>
                <a:cubicBezTo>
                  <a:pt x="40831" y="86235"/>
                  <a:pt x="36257" y="81661"/>
                  <a:pt x="30623" y="81661"/>
                </a:cubicBezTo>
                <a:cubicBezTo>
                  <a:pt x="24989" y="81661"/>
                  <a:pt x="20415" y="86235"/>
                  <a:pt x="20415" y="91869"/>
                </a:cubicBezTo>
                <a:cubicBezTo>
                  <a:pt x="20415" y="97502"/>
                  <a:pt x="24989" y="102076"/>
                  <a:pt x="30623" y="102076"/>
                </a:cubicBezTo>
                <a:cubicBezTo>
                  <a:pt x="36257" y="102076"/>
                  <a:pt x="40831" y="97502"/>
                  <a:pt x="40831" y="91869"/>
                </a:cubicBezTo>
                <a:close/>
                <a:moveTo>
                  <a:pt x="40831" y="61246"/>
                </a:moveTo>
                <a:cubicBezTo>
                  <a:pt x="46464" y="61246"/>
                  <a:pt x="51038" y="56672"/>
                  <a:pt x="51038" y="51038"/>
                </a:cubicBezTo>
                <a:cubicBezTo>
                  <a:pt x="51038" y="45404"/>
                  <a:pt x="46464" y="40831"/>
                  <a:pt x="40831" y="40831"/>
                </a:cubicBezTo>
                <a:cubicBezTo>
                  <a:pt x="35197" y="40831"/>
                  <a:pt x="30623" y="45404"/>
                  <a:pt x="30623" y="51038"/>
                </a:cubicBezTo>
                <a:cubicBezTo>
                  <a:pt x="30623" y="56672"/>
                  <a:pt x="35197" y="61246"/>
                  <a:pt x="40831" y="61246"/>
                </a:cubicBezTo>
                <a:close/>
                <a:moveTo>
                  <a:pt x="91869" y="30623"/>
                </a:moveTo>
                <a:cubicBezTo>
                  <a:pt x="91869" y="24989"/>
                  <a:pt x="87295" y="20415"/>
                  <a:pt x="81661" y="20415"/>
                </a:cubicBezTo>
                <a:cubicBezTo>
                  <a:pt x="76027" y="20415"/>
                  <a:pt x="71453" y="24989"/>
                  <a:pt x="71453" y="30623"/>
                </a:cubicBezTo>
                <a:cubicBezTo>
                  <a:pt x="71453" y="36257"/>
                  <a:pt x="76027" y="40831"/>
                  <a:pt x="81661" y="40831"/>
                </a:cubicBezTo>
                <a:cubicBezTo>
                  <a:pt x="87295" y="40831"/>
                  <a:pt x="91869" y="36257"/>
                  <a:pt x="91869" y="30623"/>
                </a:cubicBezTo>
                <a:close/>
                <a:moveTo>
                  <a:pt x="122492" y="61246"/>
                </a:moveTo>
                <a:cubicBezTo>
                  <a:pt x="128125" y="61246"/>
                  <a:pt x="132699" y="56672"/>
                  <a:pt x="132699" y="51038"/>
                </a:cubicBezTo>
                <a:cubicBezTo>
                  <a:pt x="132699" y="45404"/>
                  <a:pt x="128125" y="40831"/>
                  <a:pt x="122492" y="40831"/>
                </a:cubicBezTo>
                <a:cubicBezTo>
                  <a:pt x="116858" y="40831"/>
                  <a:pt x="112284" y="45404"/>
                  <a:pt x="112284" y="51038"/>
                </a:cubicBezTo>
                <a:cubicBezTo>
                  <a:pt x="112284" y="56672"/>
                  <a:pt x="116858" y="61246"/>
                  <a:pt x="122492" y="6124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6913972" y="2204849"/>
            <a:ext cx="2033361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风格延伸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13972" y="2466165"/>
            <a:ext cx="2025195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商务装→休闲装，满足多场合需求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1341" y="2809141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Shape 41"/>
          <p:cNvSpPr/>
          <p:nvPr/>
        </p:nvSpPr>
        <p:spPr>
          <a:xfrm>
            <a:off x="6505667" y="2923467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20415" y="66350"/>
                </a:moveTo>
                <a:cubicBezTo>
                  <a:pt x="20415" y="68838"/>
                  <a:pt x="21819" y="72315"/>
                  <a:pt x="25870" y="76015"/>
                </a:cubicBezTo>
                <a:cubicBezTo>
                  <a:pt x="40352" y="68295"/>
                  <a:pt x="60225" y="63798"/>
                  <a:pt x="81661" y="63798"/>
                </a:cubicBezTo>
                <a:cubicBezTo>
                  <a:pt x="103097" y="63798"/>
                  <a:pt x="122970" y="68295"/>
                  <a:pt x="137452" y="76015"/>
                </a:cubicBezTo>
                <a:cubicBezTo>
                  <a:pt x="141535" y="72315"/>
                  <a:pt x="142907" y="68838"/>
                  <a:pt x="142907" y="66350"/>
                </a:cubicBezTo>
                <a:cubicBezTo>
                  <a:pt x="142907" y="62426"/>
                  <a:pt x="139462" y="56142"/>
                  <a:pt x="127627" y="50209"/>
                </a:cubicBezTo>
                <a:cubicBezTo>
                  <a:pt x="116399" y="44595"/>
                  <a:pt x="100162" y="40831"/>
                  <a:pt x="81661" y="40831"/>
                </a:cubicBezTo>
                <a:cubicBezTo>
                  <a:pt x="63160" y="40831"/>
                  <a:pt x="46923" y="44595"/>
                  <a:pt x="35695" y="50209"/>
                </a:cubicBezTo>
                <a:cubicBezTo>
                  <a:pt x="23860" y="56142"/>
                  <a:pt x="20415" y="62426"/>
                  <a:pt x="20415" y="66350"/>
                </a:cubicBezTo>
                <a:close/>
                <a:moveTo>
                  <a:pt x="81661" y="79109"/>
                </a:moveTo>
                <a:cubicBezTo>
                  <a:pt x="66669" y="79109"/>
                  <a:pt x="53175" y="81533"/>
                  <a:pt x="42457" y="85393"/>
                </a:cubicBezTo>
                <a:cubicBezTo>
                  <a:pt x="53048" y="89349"/>
                  <a:pt x="66605" y="91869"/>
                  <a:pt x="81661" y="91869"/>
                </a:cubicBezTo>
                <a:cubicBezTo>
                  <a:pt x="96717" y="91869"/>
                  <a:pt x="110274" y="89381"/>
                  <a:pt x="120865" y="85393"/>
                </a:cubicBezTo>
                <a:cubicBezTo>
                  <a:pt x="110147" y="81533"/>
                  <a:pt x="96654" y="79109"/>
                  <a:pt x="81661" y="79109"/>
                </a:cubicBezTo>
                <a:close/>
                <a:moveTo>
                  <a:pt x="0" y="66350"/>
                </a:moveTo>
                <a:cubicBezTo>
                  <a:pt x="0" y="50528"/>
                  <a:pt x="12568" y="38980"/>
                  <a:pt x="26572" y="31963"/>
                </a:cubicBezTo>
                <a:cubicBezTo>
                  <a:pt x="41181" y="24658"/>
                  <a:pt x="60704" y="20415"/>
                  <a:pt x="81661" y="20415"/>
                </a:cubicBezTo>
                <a:cubicBezTo>
                  <a:pt x="102619" y="20415"/>
                  <a:pt x="122141" y="24658"/>
                  <a:pt x="136750" y="31963"/>
                </a:cubicBezTo>
                <a:cubicBezTo>
                  <a:pt x="150754" y="38980"/>
                  <a:pt x="163322" y="50528"/>
                  <a:pt x="163322" y="66350"/>
                </a:cubicBezTo>
                <a:lnTo>
                  <a:pt x="163322" y="96973"/>
                </a:lnTo>
                <a:cubicBezTo>
                  <a:pt x="163322" y="112794"/>
                  <a:pt x="150754" y="124342"/>
                  <a:pt x="136750" y="131360"/>
                </a:cubicBezTo>
                <a:cubicBezTo>
                  <a:pt x="122109" y="138664"/>
                  <a:pt x="102619" y="142907"/>
                  <a:pt x="81661" y="142907"/>
                </a:cubicBezTo>
                <a:cubicBezTo>
                  <a:pt x="60704" y="142907"/>
                  <a:pt x="41181" y="138664"/>
                  <a:pt x="26572" y="131360"/>
                </a:cubicBezTo>
                <a:cubicBezTo>
                  <a:pt x="12568" y="124342"/>
                  <a:pt x="0" y="112794"/>
                  <a:pt x="0" y="96973"/>
                </a:cubicBezTo>
                <a:lnTo>
                  <a:pt x="0" y="663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6913972" y="2809141"/>
            <a:ext cx="2294676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配件附加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13972" y="3070457"/>
            <a:ext cx="2286510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领带、皮带、皮鞋、袖扣，提升精致度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1341" y="3413433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7" name="Shape 45"/>
          <p:cNvSpPr/>
          <p:nvPr/>
        </p:nvSpPr>
        <p:spPr>
          <a:xfrm>
            <a:off x="6515874" y="3527759"/>
            <a:ext cx="142907" cy="163322"/>
          </a:xfrm>
          <a:custGeom>
            <a:avLst/>
            <a:gdLst/>
            <a:ahLst/>
            <a:cxnLst/>
            <a:rect l="l" t="t" r="r" b="b"/>
            <a:pathLst>
              <a:path w="142907" h="163322">
                <a:moveTo>
                  <a:pt x="61246" y="40831"/>
                </a:moveTo>
                <a:cubicBezTo>
                  <a:pt x="61246" y="23929"/>
                  <a:pt x="47524" y="10208"/>
                  <a:pt x="30623" y="10208"/>
                </a:cubicBezTo>
                <a:cubicBezTo>
                  <a:pt x="13722" y="10208"/>
                  <a:pt x="0" y="23929"/>
                  <a:pt x="0" y="40831"/>
                </a:cubicBezTo>
                <a:cubicBezTo>
                  <a:pt x="0" y="57732"/>
                  <a:pt x="13722" y="71453"/>
                  <a:pt x="30623" y="71453"/>
                </a:cubicBezTo>
                <a:cubicBezTo>
                  <a:pt x="47524" y="71453"/>
                  <a:pt x="61246" y="57732"/>
                  <a:pt x="61246" y="40831"/>
                </a:cubicBezTo>
                <a:close/>
                <a:moveTo>
                  <a:pt x="142907" y="122492"/>
                </a:moveTo>
                <a:cubicBezTo>
                  <a:pt x="142907" y="105590"/>
                  <a:pt x="129185" y="91869"/>
                  <a:pt x="112284" y="91869"/>
                </a:cubicBezTo>
                <a:cubicBezTo>
                  <a:pt x="95383" y="91869"/>
                  <a:pt x="81661" y="105590"/>
                  <a:pt x="81661" y="122492"/>
                </a:cubicBezTo>
                <a:cubicBezTo>
                  <a:pt x="81661" y="139393"/>
                  <a:pt x="95383" y="153115"/>
                  <a:pt x="112284" y="153115"/>
                </a:cubicBezTo>
                <a:cubicBezTo>
                  <a:pt x="129185" y="153115"/>
                  <a:pt x="142907" y="139393"/>
                  <a:pt x="142907" y="122492"/>
                </a:cubicBezTo>
                <a:close/>
                <a:moveTo>
                  <a:pt x="139908" y="27624"/>
                </a:moveTo>
                <a:cubicBezTo>
                  <a:pt x="143896" y="23637"/>
                  <a:pt x="143896" y="17162"/>
                  <a:pt x="139908" y="13174"/>
                </a:cubicBezTo>
                <a:cubicBezTo>
                  <a:pt x="135921" y="9187"/>
                  <a:pt x="129446" y="9187"/>
                  <a:pt x="125458" y="13174"/>
                </a:cubicBezTo>
                <a:lnTo>
                  <a:pt x="2967" y="135666"/>
                </a:lnTo>
                <a:cubicBezTo>
                  <a:pt x="-1021" y="139653"/>
                  <a:pt x="-1021" y="146129"/>
                  <a:pt x="2967" y="150116"/>
                </a:cubicBezTo>
                <a:cubicBezTo>
                  <a:pt x="6954" y="154103"/>
                  <a:pt x="13429" y="154103"/>
                  <a:pt x="17417" y="150116"/>
                </a:cubicBezTo>
                <a:lnTo>
                  <a:pt x="139908" y="2762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6913972" y="3413433"/>
            <a:ext cx="1902703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活动促进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13972" y="3674749"/>
            <a:ext cx="1894537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利用满减、折扣等活动推动连带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5354" y="5226309"/>
            <a:ext cx="5675445" cy="1633222"/>
          </a:xfrm>
          <a:custGeom>
            <a:avLst/>
            <a:gdLst/>
            <a:ahLst/>
            <a:cxnLst/>
            <a:rect l="l" t="t" r="r" b="b"/>
            <a:pathLst>
              <a:path w="5675445" h="1633222">
                <a:moveTo>
                  <a:pt x="65329" y="0"/>
                </a:moveTo>
                <a:lnTo>
                  <a:pt x="5610117" y="0"/>
                </a:lnTo>
                <a:cubicBezTo>
                  <a:pt x="5646197" y="0"/>
                  <a:pt x="5675445" y="29249"/>
                  <a:pt x="5675445" y="65329"/>
                </a:cubicBezTo>
                <a:lnTo>
                  <a:pt x="5675445" y="1567893"/>
                </a:lnTo>
                <a:cubicBezTo>
                  <a:pt x="5675445" y="1603973"/>
                  <a:pt x="5646197" y="1633222"/>
                  <a:pt x="5610117" y="1633222"/>
                </a:cubicBezTo>
                <a:lnTo>
                  <a:pt x="65329" y="1633222"/>
                </a:lnTo>
                <a:cubicBezTo>
                  <a:pt x="29249" y="1633222"/>
                  <a:pt x="0" y="1603973"/>
                  <a:pt x="0" y="1567893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6358677" y="5389632"/>
            <a:ext cx="5422296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连带时机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75009" y="5748940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0"/>
                </a:moveTo>
                <a:cubicBezTo>
                  <a:pt x="101385" y="0"/>
                  <a:pt x="130658" y="29273"/>
                  <a:pt x="130658" y="65329"/>
                </a:cubicBezTo>
                <a:cubicBezTo>
                  <a:pt x="130658" y="101385"/>
                  <a:pt x="101385" y="130658"/>
                  <a:pt x="65329" y="130658"/>
                </a:cubicBezTo>
                <a:cubicBezTo>
                  <a:pt x="29273" y="130658"/>
                  <a:pt x="0" y="101385"/>
                  <a:pt x="0" y="65329"/>
                </a:cubicBezTo>
                <a:cubicBezTo>
                  <a:pt x="0" y="29273"/>
                  <a:pt x="29273" y="0"/>
                  <a:pt x="65329" y="0"/>
                </a:cubicBezTo>
                <a:close/>
                <a:moveTo>
                  <a:pt x="59204" y="30623"/>
                </a:moveTo>
                <a:lnTo>
                  <a:pt x="59204" y="65329"/>
                </a:lnTo>
                <a:cubicBezTo>
                  <a:pt x="59204" y="67370"/>
                  <a:pt x="60225" y="69284"/>
                  <a:pt x="61935" y="70433"/>
                </a:cubicBezTo>
                <a:lnTo>
                  <a:pt x="86433" y="86765"/>
                </a:lnTo>
                <a:cubicBezTo>
                  <a:pt x="89240" y="88653"/>
                  <a:pt x="93043" y="87888"/>
                  <a:pt x="94931" y="85055"/>
                </a:cubicBezTo>
                <a:cubicBezTo>
                  <a:pt x="96819" y="82223"/>
                  <a:pt x="96054" y="78446"/>
                  <a:pt x="93221" y="76557"/>
                </a:cubicBezTo>
                <a:lnTo>
                  <a:pt x="71453" y="62062"/>
                </a:lnTo>
                <a:lnTo>
                  <a:pt x="71453" y="30623"/>
                </a:lnTo>
                <a:cubicBezTo>
                  <a:pt x="71453" y="27229"/>
                  <a:pt x="68723" y="24498"/>
                  <a:pt x="65329" y="24498"/>
                </a:cubicBezTo>
                <a:cubicBezTo>
                  <a:pt x="61935" y="24498"/>
                  <a:pt x="59204" y="27229"/>
                  <a:pt x="59204" y="3062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3" name="Text 51"/>
          <p:cNvSpPr/>
          <p:nvPr/>
        </p:nvSpPr>
        <p:spPr>
          <a:xfrm>
            <a:off x="6587328" y="5716276"/>
            <a:ext cx="979933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顾客试穿满意时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75009" y="6010256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0"/>
                </a:moveTo>
                <a:cubicBezTo>
                  <a:pt x="101385" y="0"/>
                  <a:pt x="130658" y="29273"/>
                  <a:pt x="130658" y="65329"/>
                </a:cubicBezTo>
                <a:cubicBezTo>
                  <a:pt x="130658" y="101385"/>
                  <a:pt x="101385" y="130658"/>
                  <a:pt x="65329" y="130658"/>
                </a:cubicBezTo>
                <a:cubicBezTo>
                  <a:pt x="29273" y="130658"/>
                  <a:pt x="0" y="101385"/>
                  <a:pt x="0" y="65329"/>
                </a:cubicBezTo>
                <a:cubicBezTo>
                  <a:pt x="0" y="29273"/>
                  <a:pt x="29273" y="0"/>
                  <a:pt x="65329" y="0"/>
                </a:cubicBezTo>
                <a:close/>
                <a:moveTo>
                  <a:pt x="59204" y="30623"/>
                </a:moveTo>
                <a:lnTo>
                  <a:pt x="59204" y="65329"/>
                </a:lnTo>
                <a:cubicBezTo>
                  <a:pt x="59204" y="67370"/>
                  <a:pt x="60225" y="69284"/>
                  <a:pt x="61935" y="70433"/>
                </a:cubicBezTo>
                <a:lnTo>
                  <a:pt x="86433" y="86765"/>
                </a:lnTo>
                <a:cubicBezTo>
                  <a:pt x="89240" y="88653"/>
                  <a:pt x="93043" y="87888"/>
                  <a:pt x="94931" y="85055"/>
                </a:cubicBezTo>
                <a:cubicBezTo>
                  <a:pt x="96819" y="82223"/>
                  <a:pt x="96054" y="78446"/>
                  <a:pt x="93221" y="76557"/>
                </a:cubicBezTo>
                <a:lnTo>
                  <a:pt x="71453" y="62062"/>
                </a:lnTo>
                <a:lnTo>
                  <a:pt x="71453" y="30623"/>
                </a:lnTo>
                <a:cubicBezTo>
                  <a:pt x="71453" y="27229"/>
                  <a:pt x="68723" y="24498"/>
                  <a:pt x="65329" y="24498"/>
                </a:cubicBezTo>
                <a:cubicBezTo>
                  <a:pt x="61935" y="24498"/>
                  <a:pt x="59204" y="27229"/>
                  <a:pt x="59204" y="3062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5" name="Text 53"/>
          <p:cNvSpPr/>
          <p:nvPr/>
        </p:nvSpPr>
        <p:spPr>
          <a:xfrm>
            <a:off x="6587328" y="5977591"/>
            <a:ext cx="979933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顾客决定购买时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75009" y="6271571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0"/>
                </a:moveTo>
                <a:cubicBezTo>
                  <a:pt x="101385" y="0"/>
                  <a:pt x="130658" y="29273"/>
                  <a:pt x="130658" y="65329"/>
                </a:cubicBezTo>
                <a:cubicBezTo>
                  <a:pt x="130658" y="101385"/>
                  <a:pt x="101385" y="130658"/>
                  <a:pt x="65329" y="130658"/>
                </a:cubicBezTo>
                <a:cubicBezTo>
                  <a:pt x="29273" y="130658"/>
                  <a:pt x="0" y="101385"/>
                  <a:pt x="0" y="65329"/>
                </a:cubicBezTo>
                <a:cubicBezTo>
                  <a:pt x="0" y="29273"/>
                  <a:pt x="29273" y="0"/>
                  <a:pt x="65329" y="0"/>
                </a:cubicBezTo>
                <a:close/>
                <a:moveTo>
                  <a:pt x="59204" y="30623"/>
                </a:moveTo>
                <a:lnTo>
                  <a:pt x="59204" y="65329"/>
                </a:lnTo>
                <a:cubicBezTo>
                  <a:pt x="59204" y="67370"/>
                  <a:pt x="60225" y="69284"/>
                  <a:pt x="61935" y="70433"/>
                </a:cubicBezTo>
                <a:lnTo>
                  <a:pt x="86433" y="86765"/>
                </a:lnTo>
                <a:cubicBezTo>
                  <a:pt x="89240" y="88653"/>
                  <a:pt x="93043" y="87888"/>
                  <a:pt x="94931" y="85055"/>
                </a:cubicBezTo>
                <a:cubicBezTo>
                  <a:pt x="96819" y="82223"/>
                  <a:pt x="96054" y="78446"/>
                  <a:pt x="93221" y="76557"/>
                </a:cubicBezTo>
                <a:lnTo>
                  <a:pt x="71453" y="62062"/>
                </a:lnTo>
                <a:lnTo>
                  <a:pt x="71453" y="30623"/>
                </a:lnTo>
                <a:cubicBezTo>
                  <a:pt x="71453" y="27229"/>
                  <a:pt x="68723" y="24498"/>
                  <a:pt x="65329" y="24498"/>
                </a:cubicBezTo>
                <a:cubicBezTo>
                  <a:pt x="61935" y="24498"/>
                  <a:pt x="59204" y="27229"/>
                  <a:pt x="59204" y="3062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7" name="Text 55"/>
          <p:cNvSpPr/>
          <p:nvPr/>
        </p:nvSpPr>
        <p:spPr>
          <a:xfrm>
            <a:off x="6587328" y="6238907"/>
            <a:ext cx="979933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顾客犹豫对比时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75009" y="6532887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65329" y="0"/>
                </a:moveTo>
                <a:cubicBezTo>
                  <a:pt x="101385" y="0"/>
                  <a:pt x="130658" y="29273"/>
                  <a:pt x="130658" y="65329"/>
                </a:cubicBezTo>
                <a:cubicBezTo>
                  <a:pt x="130658" y="101385"/>
                  <a:pt x="101385" y="130658"/>
                  <a:pt x="65329" y="130658"/>
                </a:cubicBezTo>
                <a:cubicBezTo>
                  <a:pt x="29273" y="130658"/>
                  <a:pt x="0" y="101385"/>
                  <a:pt x="0" y="65329"/>
                </a:cubicBezTo>
                <a:cubicBezTo>
                  <a:pt x="0" y="29273"/>
                  <a:pt x="29273" y="0"/>
                  <a:pt x="65329" y="0"/>
                </a:cubicBezTo>
                <a:close/>
                <a:moveTo>
                  <a:pt x="59204" y="30623"/>
                </a:moveTo>
                <a:lnTo>
                  <a:pt x="59204" y="65329"/>
                </a:lnTo>
                <a:cubicBezTo>
                  <a:pt x="59204" y="67370"/>
                  <a:pt x="60225" y="69284"/>
                  <a:pt x="61935" y="70433"/>
                </a:cubicBezTo>
                <a:lnTo>
                  <a:pt x="86433" y="86765"/>
                </a:lnTo>
                <a:cubicBezTo>
                  <a:pt x="89240" y="88653"/>
                  <a:pt x="93043" y="87888"/>
                  <a:pt x="94931" y="85055"/>
                </a:cubicBezTo>
                <a:cubicBezTo>
                  <a:pt x="96819" y="82223"/>
                  <a:pt x="96054" y="78446"/>
                  <a:pt x="93221" y="76557"/>
                </a:cubicBezTo>
                <a:lnTo>
                  <a:pt x="71453" y="62062"/>
                </a:lnTo>
                <a:lnTo>
                  <a:pt x="71453" y="30623"/>
                </a:lnTo>
                <a:cubicBezTo>
                  <a:pt x="71453" y="27229"/>
                  <a:pt x="68723" y="24498"/>
                  <a:pt x="65329" y="24498"/>
                </a:cubicBezTo>
                <a:cubicBezTo>
                  <a:pt x="61935" y="24498"/>
                  <a:pt x="59204" y="27229"/>
                  <a:pt x="59204" y="3062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9" name="Text 57"/>
          <p:cNvSpPr/>
          <p:nvPr/>
        </p:nvSpPr>
        <p:spPr>
          <a:xfrm>
            <a:off x="6587328" y="6500222"/>
            <a:ext cx="979933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介绍新品上市时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05 · SCRIPT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连带推荐 · 话术总结与重点掌握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14313"/>
                </a:moveTo>
                <a:cubicBezTo>
                  <a:pt x="177433" y="214313"/>
                  <a:pt x="228600" y="166315"/>
                  <a:pt x="228600" y="107156"/>
                </a:cubicBezTo>
                <a:cubicBezTo>
                  <a:pt x="228600" y="47997"/>
                  <a:pt x="177433" y="0"/>
                  <a:pt x="114300" y="0"/>
                </a:cubicBezTo>
                <a:cubicBezTo>
                  <a:pt x="51167" y="0"/>
                  <a:pt x="0" y="47997"/>
                  <a:pt x="0" y="107156"/>
                </a:cubicBezTo>
                <a:cubicBezTo>
                  <a:pt x="0" y="131400"/>
                  <a:pt x="8573" y="153725"/>
                  <a:pt x="23039" y="171673"/>
                </a:cubicBezTo>
                <a:lnTo>
                  <a:pt x="1250" y="212884"/>
                </a:lnTo>
                <a:cubicBezTo>
                  <a:pt x="-893" y="216902"/>
                  <a:pt x="-223" y="221813"/>
                  <a:pt x="2858" y="225162"/>
                </a:cubicBezTo>
                <a:cubicBezTo>
                  <a:pt x="5938" y="228511"/>
                  <a:pt x="10805" y="229538"/>
                  <a:pt x="14957" y="227752"/>
                </a:cubicBezTo>
                <a:lnTo>
                  <a:pt x="67821" y="205115"/>
                </a:lnTo>
                <a:cubicBezTo>
                  <a:pt x="82019" y="211009"/>
                  <a:pt x="97735" y="214313"/>
                  <a:pt x="114300" y="214313"/>
                </a:cubicBezTo>
                <a:close/>
                <a:moveTo>
                  <a:pt x="57150" y="92869"/>
                </a:moveTo>
                <a:cubicBezTo>
                  <a:pt x="65035" y="92869"/>
                  <a:pt x="71438" y="99271"/>
                  <a:pt x="71438" y="107156"/>
                </a:cubicBezTo>
                <a:cubicBezTo>
                  <a:pt x="71438" y="115042"/>
                  <a:pt x="65035" y="121444"/>
                  <a:pt x="57150" y="121444"/>
                </a:cubicBezTo>
                <a:cubicBezTo>
                  <a:pt x="49265" y="121444"/>
                  <a:pt x="42863" y="115042"/>
                  <a:pt x="42863" y="107156"/>
                </a:cubicBezTo>
                <a:cubicBezTo>
                  <a:pt x="42863" y="99271"/>
                  <a:pt x="49265" y="92869"/>
                  <a:pt x="57150" y="92869"/>
                </a:cubicBezTo>
                <a:close/>
                <a:moveTo>
                  <a:pt x="114300" y="92869"/>
                </a:moveTo>
                <a:cubicBezTo>
                  <a:pt x="122185" y="92869"/>
                  <a:pt x="128588" y="99271"/>
                  <a:pt x="128588" y="107156"/>
                </a:cubicBezTo>
                <a:cubicBezTo>
                  <a:pt x="128588" y="115042"/>
                  <a:pt x="122185" y="121444"/>
                  <a:pt x="114300" y="121444"/>
                </a:cubicBezTo>
                <a:cubicBezTo>
                  <a:pt x="106415" y="121444"/>
                  <a:pt x="100013" y="115042"/>
                  <a:pt x="100013" y="107156"/>
                </a:cubicBezTo>
                <a:cubicBezTo>
                  <a:pt x="100013" y="99271"/>
                  <a:pt x="106415" y="92869"/>
                  <a:pt x="114300" y="92869"/>
                </a:cubicBezTo>
                <a:close/>
                <a:moveTo>
                  <a:pt x="157163" y="107156"/>
                </a:moveTo>
                <a:cubicBezTo>
                  <a:pt x="157163" y="99271"/>
                  <a:pt x="163565" y="92869"/>
                  <a:pt x="171450" y="92869"/>
                </a:cubicBezTo>
                <a:cubicBezTo>
                  <a:pt x="179335" y="92869"/>
                  <a:pt x="185738" y="99271"/>
                  <a:pt x="185738" y="107156"/>
                </a:cubicBezTo>
                <a:cubicBezTo>
                  <a:pt x="185738" y="115042"/>
                  <a:pt x="179335" y="121444"/>
                  <a:pt x="171450" y="121444"/>
                </a:cubicBezTo>
                <a:cubicBezTo>
                  <a:pt x="163565" y="121444"/>
                  <a:pt x="157163" y="115042"/>
                  <a:pt x="157163" y="10715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连带话术模板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1600200"/>
          </a:xfrm>
          <a:custGeom>
            <a:avLst/>
            <a:gdLst/>
            <a:ahLst/>
            <a:cxnLst/>
            <a:rect l="l" t="t" r="r" b="b"/>
            <a:pathLst>
              <a:path w="5581650" h="16002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1523998"/>
                </a:lnTo>
                <a:cubicBezTo>
                  <a:pt x="5581650" y="1566083"/>
                  <a:pt x="5547533" y="1600200"/>
                  <a:pt x="55054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Text 6"/>
          <p:cNvSpPr/>
          <p:nvPr/>
        </p:nvSpPr>
        <p:spPr>
          <a:xfrm>
            <a:off x="609600" y="18669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成套搭配话术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479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"这件POLO搭配这条</a:t>
            </a:r>
            <a:r>
              <a:rPr lang="zh-CN" alt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休闲裤</a:t>
            </a: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特别好看，我帮您一起试试？"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5527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"这套搭配起来很有品位，您</a:t>
            </a:r>
            <a:r>
              <a:rPr lang="zh-CN" alt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可以</a:t>
            </a: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整套带走？"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8575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"现在买整套还有优惠，比单买划算很多。"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429000"/>
            <a:ext cx="5581650" cy="1295400"/>
          </a:xfrm>
          <a:custGeom>
            <a:avLst/>
            <a:gdLst/>
            <a:ahLst/>
            <a:cxnLst/>
            <a:rect l="l" t="t" r="r" b="b"/>
            <a:pathLst>
              <a:path w="5581650" h="1295400">
                <a:moveTo>
                  <a:pt x="38100" y="0"/>
                </a:moveTo>
                <a:lnTo>
                  <a:pt x="5505455" y="0"/>
                </a:lnTo>
                <a:cubicBezTo>
                  <a:pt x="5547508" y="0"/>
                  <a:pt x="5581650" y="34142"/>
                  <a:pt x="5581650" y="76195"/>
                </a:cubicBezTo>
                <a:lnTo>
                  <a:pt x="5581650" y="1219205"/>
                </a:lnTo>
                <a:cubicBezTo>
                  <a:pt x="5581650" y="1261286"/>
                  <a:pt x="5547536" y="1295400"/>
                  <a:pt x="55054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34290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Text 12"/>
          <p:cNvSpPr/>
          <p:nvPr/>
        </p:nvSpPr>
        <p:spPr>
          <a:xfrm>
            <a:off x="609600" y="36195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风格延伸话术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40005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"这件POLO很百搭，还可以搭配牛仔裤穿，更休闲。"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43053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"除了商务场合，这款POLO常穿也很合适。"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876800"/>
            <a:ext cx="5581650" cy="1600200"/>
          </a:xfrm>
          <a:custGeom>
            <a:avLst/>
            <a:gdLst/>
            <a:ahLst/>
            <a:cxnLst/>
            <a:rect l="l" t="t" r="r" b="b"/>
            <a:pathLst>
              <a:path w="5581650" h="16002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1523998"/>
                </a:lnTo>
                <a:cubicBezTo>
                  <a:pt x="5581650" y="1566083"/>
                  <a:pt x="5547533" y="1600200"/>
                  <a:pt x="55054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400050" y="48768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19" name="Text 17"/>
          <p:cNvSpPr/>
          <p:nvPr/>
        </p:nvSpPr>
        <p:spPr>
          <a:xfrm>
            <a:off x="609600" y="50673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配件推荐话术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54483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"配一条</a:t>
            </a:r>
            <a:r>
              <a:rPr lang="zh-CN" alt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棒球帽</a:t>
            </a: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带会更显档次，您要不要试试？"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57531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"这款皮带和您的POLO很搭，现在买还有折扣。"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60579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</a:t>
            </a:r>
            <a:r>
              <a:rPr lang="zh-CN" alt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小白</a:t>
            </a: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鞋是今年的经典款，搭配这套POLO很完美。"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388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4" name="Text 22"/>
          <p:cNvSpPr/>
          <p:nvPr/>
        </p:nvSpPr>
        <p:spPr>
          <a:xfrm>
            <a:off x="6610350" y="12192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重点掌握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1676400"/>
            <a:ext cx="5600700" cy="3276600"/>
          </a:xfrm>
          <a:custGeom>
            <a:avLst/>
            <a:gdLst/>
            <a:ahLst/>
            <a:cxnLst/>
            <a:rect l="l" t="t" r="r" b="b"/>
            <a:pathLst>
              <a:path w="5600700" h="3276600">
                <a:moveTo>
                  <a:pt x="76214" y="0"/>
                </a:moveTo>
                <a:lnTo>
                  <a:pt x="5524486" y="0"/>
                </a:lnTo>
                <a:cubicBezTo>
                  <a:pt x="5566578" y="0"/>
                  <a:pt x="5600700" y="34122"/>
                  <a:pt x="5600700" y="76214"/>
                </a:cubicBezTo>
                <a:lnTo>
                  <a:pt x="5600700" y="3200386"/>
                </a:lnTo>
                <a:cubicBezTo>
                  <a:pt x="5600700" y="3242478"/>
                  <a:pt x="5566578" y="3276600"/>
                  <a:pt x="5524486" y="3276600"/>
                </a:cubicBezTo>
                <a:lnTo>
                  <a:pt x="76214" y="3276600"/>
                </a:lnTo>
                <a:cubicBezTo>
                  <a:pt x="34122" y="3276600"/>
                  <a:pt x="0" y="3242478"/>
                  <a:pt x="0" y="3200386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6400800" y="1866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7" name="Shape 25"/>
          <p:cNvSpPr/>
          <p:nvPr/>
        </p:nvSpPr>
        <p:spPr>
          <a:xfrm>
            <a:off x="6534150" y="2000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7010400" y="1866900"/>
            <a:ext cx="2543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成套搭配技巧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10400" y="2171700"/>
            <a:ext cx="25336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POLO+西裤+衬衫，打造完整商务造型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2571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1" name="Shape 29"/>
          <p:cNvSpPr/>
          <p:nvPr/>
        </p:nvSpPr>
        <p:spPr>
          <a:xfrm>
            <a:off x="6534150" y="2705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95250"/>
                </a:moveTo>
                <a:cubicBezTo>
                  <a:pt x="190500" y="95585"/>
                  <a:pt x="190500" y="95920"/>
                  <a:pt x="190500" y="96255"/>
                </a:cubicBezTo>
                <a:cubicBezTo>
                  <a:pt x="190351" y="109835"/>
                  <a:pt x="177998" y="119063"/>
                  <a:pt x="164418" y="119063"/>
                </a:cubicBezTo>
                <a:lnTo>
                  <a:pt x="127992" y="119063"/>
                </a:lnTo>
                <a:cubicBezTo>
                  <a:pt x="118132" y="119063"/>
                  <a:pt x="110133" y="127062"/>
                  <a:pt x="110133" y="136922"/>
                </a:cubicBezTo>
                <a:cubicBezTo>
                  <a:pt x="110133" y="138187"/>
                  <a:pt x="110282" y="139415"/>
                  <a:pt x="110505" y="140605"/>
                </a:cubicBezTo>
                <a:cubicBezTo>
                  <a:pt x="111286" y="144400"/>
                  <a:pt x="112923" y="148047"/>
                  <a:pt x="114523" y="151730"/>
                </a:cubicBezTo>
                <a:cubicBezTo>
                  <a:pt x="116793" y="156865"/>
                  <a:pt x="119025" y="161962"/>
                  <a:pt x="119025" y="167357"/>
                </a:cubicBezTo>
                <a:cubicBezTo>
                  <a:pt x="119025" y="179189"/>
                  <a:pt x="110989" y="189942"/>
                  <a:pt x="99157" y="190426"/>
                </a:cubicBezTo>
                <a:cubicBezTo>
                  <a:pt x="97854" y="190463"/>
                  <a:pt x="96552" y="190500"/>
                  <a:pt x="95213" y="190500"/>
                </a:cubicBezTo>
                <a:cubicBezTo>
                  <a:pt x="42602" y="190500"/>
                  <a:pt x="-37" y="147861"/>
                  <a:pt x="-37" y="95250"/>
                </a:cubicBezTo>
                <a:cubicBezTo>
                  <a:pt x="-37" y="42639"/>
                  <a:pt x="42639" y="0"/>
                  <a:pt x="95250" y="0"/>
                </a:cubicBezTo>
                <a:cubicBezTo>
                  <a:pt x="147861" y="0"/>
                  <a:pt x="190500" y="42639"/>
                  <a:pt x="190500" y="95250"/>
                </a:cubicBezTo>
                <a:close/>
                <a:moveTo>
                  <a:pt x="47625" y="107156"/>
                </a:moveTo>
                <a:cubicBezTo>
                  <a:pt x="47625" y="100585"/>
                  <a:pt x="42290" y="95250"/>
                  <a:pt x="35719" y="95250"/>
                </a:cubicBezTo>
                <a:cubicBezTo>
                  <a:pt x="29148" y="95250"/>
                  <a:pt x="23812" y="100585"/>
                  <a:pt x="23812" y="107156"/>
                </a:cubicBezTo>
                <a:cubicBezTo>
                  <a:pt x="23812" y="113727"/>
                  <a:pt x="29148" y="119063"/>
                  <a:pt x="35719" y="119063"/>
                </a:cubicBezTo>
                <a:cubicBezTo>
                  <a:pt x="42290" y="119063"/>
                  <a:pt x="47625" y="113727"/>
                  <a:pt x="47625" y="107156"/>
                </a:cubicBezTo>
                <a:close/>
                <a:moveTo>
                  <a:pt x="47625" y="71438"/>
                </a:moveTo>
                <a:cubicBezTo>
                  <a:pt x="54196" y="71438"/>
                  <a:pt x="59531" y="66102"/>
                  <a:pt x="59531" y="59531"/>
                </a:cubicBezTo>
                <a:cubicBezTo>
                  <a:pt x="59531" y="52960"/>
                  <a:pt x="54196" y="47625"/>
                  <a:pt x="47625" y="47625"/>
                </a:cubicBezTo>
                <a:cubicBezTo>
                  <a:pt x="41054" y="47625"/>
                  <a:pt x="35719" y="52960"/>
                  <a:pt x="35719" y="59531"/>
                </a:cubicBezTo>
                <a:cubicBezTo>
                  <a:pt x="35719" y="66102"/>
                  <a:pt x="41054" y="71438"/>
                  <a:pt x="47625" y="71438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142875" y="71438"/>
                </a:moveTo>
                <a:cubicBezTo>
                  <a:pt x="149446" y="71438"/>
                  <a:pt x="154781" y="66102"/>
                  <a:pt x="154781" y="59531"/>
                </a:cubicBezTo>
                <a:cubicBezTo>
                  <a:pt x="154781" y="52960"/>
                  <a:pt x="149446" y="47625"/>
                  <a:pt x="142875" y="47625"/>
                </a:cubicBezTo>
                <a:cubicBezTo>
                  <a:pt x="136304" y="47625"/>
                  <a:pt x="130969" y="52960"/>
                  <a:pt x="130969" y="59531"/>
                </a:cubicBezTo>
                <a:cubicBezTo>
                  <a:pt x="130969" y="66102"/>
                  <a:pt x="136304" y="71438"/>
                  <a:pt x="142875" y="7143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7010400" y="2571750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颜色搭配原则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10400" y="2876550"/>
            <a:ext cx="2362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深色POLO配浅色衬衫，同色系协调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0" y="327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5" name="Shape 33"/>
          <p:cNvSpPr/>
          <p:nvPr/>
        </p:nvSpPr>
        <p:spPr>
          <a:xfrm>
            <a:off x="6534150" y="3409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7010400" y="3276600"/>
            <a:ext cx="1914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配件推荐时机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10400" y="35814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顾客试穿满意或决定购买时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0800" y="3981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9" name="Shape 37"/>
          <p:cNvSpPr/>
          <p:nvPr/>
        </p:nvSpPr>
        <p:spPr>
          <a:xfrm>
            <a:off x="6534150" y="4114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7010400" y="3981450"/>
            <a:ext cx="2219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提升客单方法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10400" y="4286250"/>
            <a:ext cx="22098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展示价值、利用活动、创造需求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0300" y="5105400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295394"/>
                </a:lnTo>
                <a:cubicBezTo>
                  <a:pt x="5600700" y="1337481"/>
                  <a:pt x="5566581" y="1371600"/>
                  <a:pt x="55244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6362700" y="52578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创造惊喜体验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1750" y="560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6629400" y="5562600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让顾客看到意想不到的搭配效果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8175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7" name="Text 45"/>
          <p:cNvSpPr/>
          <p:nvPr/>
        </p:nvSpPr>
        <p:spPr>
          <a:xfrm>
            <a:off x="6629400" y="5829300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提供专业穿搭建议，增加信任感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1750" y="6134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9" name="Text 47"/>
          <p:cNvSpPr/>
          <p:nvPr/>
        </p:nvSpPr>
        <p:spPr>
          <a:xfrm>
            <a:off x="6629400" y="609600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让顾客感受到物超所值的购物体验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mens_step6_fitting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638973" y="2171700"/>
            <a:ext cx="2914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05623" y="2628900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第六步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301" y="35433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591348" y="3886200"/>
            <a:ext cx="3009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试衣服务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29448" y="4419600"/>
            <a:ext cx="2933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专业引领 · 精心搭配 · 贴心关怀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4"/>
            <a:ext cx="11595874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kern="0" spc="18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06 · CASE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55295"/>
            <a:ext cx="11685701" cy="3266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试衣服务 · 案例分析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77" y="1045262"/>
            <a:ext cx="5659113" cy="2825474"/>
          </a:xfrm>
          <a:custGeom>
            <a:avLst/>
            <a:gdLst/>
            <a:ahLst/>
            <a:cxnLst/>
            <a:rect l="l" t="t" r="r" b="b"/>
            <a:pathLst>
              <a:path w="5659113" h="2825474">
                <a:moveTo>
                  <a:pt x="32664" y="0"/>
                </a:moveTo>
                <a:lnTo>
                  <a:pt x="5593788" y="0"/>
                </a:lnTo>
                <a:cubicBezTo>
                  <a:pt x="5629866" y="0"/>
                  <a:pt x="5659113" y="29247"/>
                  <a:pt x="5659113" y="65325"/>
                </a:cubicBezTo>
                <a:lnTo>
                  <a:pt x="5659113" y="2760149"/>
                </a:lnTo>
                <a:cubicBezTo>
                  <a:pt x="5659113" y="2796227"/>
                  <a:pt x="5629866" y="2825474"/>
                  <a:pt x="5593788" y="2825474"/>
                </a:cubicBez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42977" y="1045262"/>
            <a:ext cx="32664" cy="2825474"/>
          </a:xfrm>
          <a:custGeom>
            <a:avLst/>
            <a:gdLst/>
            <a:ahLst/>
            <a:cxnLst/>
            <a:rect l="l" t="t" r="r" b="b"/>
            <a:pathLst>
              <a:path w="32664" h="2825474">
                <a:moveTo>
                  <a:pt x="32664" y="0"/>
                </a:moveTo>
                <a:lnTo>
                  <a:pt x="32664" y="0"/>
                </a:lnTo>
                <a:lnTo>
                  <a:pt x="32664" y="2825474"/>
                </a:ln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559378" y="1224916"/>
            <a:ext cx="171488" cy="195987"/>
          </a:xfrm>
          <a:custGeom>
            <a:avLst/>
            <a:gdLst/>
            <a:ahLst/>
            <a:cxnLst/>
            <a:rect l="l" t="t" r="r" b="b"/>
            <a:pathLst>
              <a:path w="171488" h="195987">
                <a:moveTo>
                  <a:pt x="110242" y="24498"/>
                </a:moveTo>
                <a:lnTo>
                  <a:pt x="134741" y="24498"/>
                </a:lnTo>
                <a:lnTo>
                  <a:pt x="134741" y="183737"/>
                </a:lnTo>
                <a:cubicBezTo>
                  <a:pt x="134741" y="190513"/>
                  <a:pt x="140215" y="195987"/>
                  <a:pt x="146990" y="195987"/>
                </a:cubicBezTo>
                <a:lnTo>
                  <a:pt x="159239" y="195987"/>
                </a:lnTo>
                <a:cubicBezTo>
                  <a:pt x="166014" y="195987"/>
                  <a:pt x="171488" y="190513"/>
                  <a:pt x="171488" y="183737"/>
                </a:cubicBezTo>
                <a:cubicBezTo>
                  <a:pt x="171488" y="176962"/>
                  <a:pt x="166014" y="171488"/>
                  <a:pt x="159239" y="171488"/>
                </a:cubicBezTo>
                <a:lnTo>
                  <a:pt x="159239" y="24498"/>
                </a:lnTo>
                <a:cubicBezTo>
                  <a:pt x="159239" y="10986"/>
                  <a:pt x="148253" y="0"/>
                  <a:pt x="134741" y="0"/>
                </a:cubicBezTo>
                <a:lnTo>
                  <a:pt x="97993" y="0"/>
                </a:lnTo>
                <a:lnTo>
                  <a:pt x="97993" y="0"/>
                </a:lnTo>
                <a:lnTo>
                  <a:pt x="36747" y="0"/>
                </a:lnTo>
                <a:cubicBezTo>
                  <a:pt x="23235" y="0"/>
                  <a:pt x="12249" y="10986"/>
                  <a:pt x="12249" y="24498"/>
                </a:cubicBezTo>
                <a:lnTo>
                  <a:pt x="12249" y="171488"/>
                </a:lnTo>
                <a:cubicBezTo>
                  <a:pt x="5474" y="171488"/>
                  <a:pt x="0" y="176962"/>
                  <a:pt x="0" y="183737"/>
                </a:cubicBezTo>
                <a:cubicBezTo>
                  <a:pt x="0" y="190513"/>
                  <a:pt x="5474" y="195987"/>
                  <a:pt x="12249" y="195987"/>
                </a:cubicBezTo>
                <a:lnTo>
                  <a:pt x="97993" y="195987"/>
                </a:lnTo>
                <a:cubicBezTo>
                  <a:pt x="104769" y="195987"/>
                  <a:pt x="110242" y="190513"/>
                  <a:pt x="110242" y="183737"/>
                </a:cubicBezTo>
                <a:lnTo>
                  <a:pt x="110242" y="24498"/>
                </a:lnTo>
                <a:close/>
                <a:moveTo>
                  <a:pt x="61246" y="97993"/>
                </a:moveTo>
                <a:cubicBezTo>
                  <a:pt x="61246" y="91233"/>
                  <a:pt x="66734" y="85744"/>
                  <a:pt x="73495" y="85744"/>
                </a:cubicBezTo>
                <a:cubicBezTo>
                  <a:pt x="80255" y="85744"/>
                  <a:pt x="85744" y="91233"/>
                  <a:pt x="85744" y="97993"/>
                </a:cubicBezTo>
                <a:cubicBezTo>
                  <a:pt x="85744" y="104754"/>
                  <a:pt x="80255" y="110242"/>
                  <a:pt x="73495" y="110242"/>
                </a:cubicBezTo>
                <a:cubicBezTo>
                  <a:pt x="66734" y="110242"/>
                  <a:pt x="61246" y="104754"/>
                  <a:pt x="61246" y="97993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865608" y="1208584"/>
            <a:ext cx="89827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试衣前服务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2631" y="1567893"/>
            <a:ext cx="538963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2631" y="1861873"/>
            <a:ext cx="5381466" cy="636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顾客选中一件POLO想要试穿，销售顾问小王说："好的，我带您去试衣间。请问您穿多大尺码？我拿48码给您试试。另外，我帮您搭配一条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修身休闲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裤，这样可以看到整体效果。"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2631" y="2596823"/>
            <a:ext cx="5316137" cy="1110591"/>
          </a:xfrm>
          <a:custGeom>
            <a:avLst/>
            <a:gdLst/>
            <a:ahLst/>
            <a:cxnLst/>
            <a:rect l="l" t="t" r="r" b="b"/>
            <a:pathLst>
              <a:path w="5316137" h="1110591">
                <a:moveTo>
                  <a:pt x="65325" y="0"/>
                </a:moveTo>
                <a:lnTo>
                  <a:pt x="5250812" y="0"/>
                </a:lnTo>
                <a:cubicBezTo>
                  <a:pt x="5286890" y="0"/>
                  <a:pt x="5316137" y="29247"/>
                  <a:pt x="5316137" y="65325"/>
                </a:cubicBezTo>
                <a:lnTo>
                  <a:pt x="5316137" y="1045266"/>
                </a:lnTo>
                <a:cubicBezTo>
                  <a:pt x="5316137" y="1081344"/>
                  <a:pt x="5286890" y="1110591"/>
                  <a:pt x="5250812" y="1110591"/>
                </a:cubicBezTo>
                <a:lnTo>
                  <a:pt x="65325" y="1110591"/>
                </a:lnTo>
                <a:cubicBezTo>
                  <a:pt x="29247" y="1110591"/>
                  <a:pt x="0" y="1081344"/>
                  <a:pt x="0" y="1045266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20624" y="2694816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服务要点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9811" y="2988796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3" name="Text 11"/>
          <p:cNvSpPr/>
          <p:nvPr/>
        </p:nvSpPr>
        <p:spPr>
          <a:xfrm>
            <a:off x="828860" y="2956131"/>
            <a:ext cx="1371906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主动引领顾客到试衣间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9811" y="3217447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828860" y="3184782"/>
            <a:ext cx="1502564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询问尺码，准备合适尺寸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9811" y="3446098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7" name="Text 15"/>
          <p:cNvSpPr/>
          <p:nvPr/>
        </p:nvSpPr>
        <p:spPr>
          <a:xfrm>
            <a:off x="828860" y="3413433"/>
            <a:ext cx="17638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准备搭配单品，展示整体效果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2977" y="4034058"/>
            <a:ext cx="5659113" cy="2825474"/>
          </a:xfrm>
          <a:custGeom>
            <a:avLst/>
            <a:gdLst/>
            <a:ahLst/>
            <a:cxnLst/>
            <a:rect l="l" t="t" r="r" b="b"/>
            <a:pathLst>
              <a:path w="5659113" h="2825474">
                <a:moveTo>
                  <a:pt x="32664" y="0"/>
                </a:moveTo>
                <a:lnTo>
                  <a:pt x="5593788" y="0"/>
                </a:lnTo>
                <a:cubicBezTo>
                  <a:pt x="5629866" y="0"/>
                  <a:pt x="5659113" y="29247"/>
                  <a:pt x="5659113" y="65325"/>
                </a:cubicBezTo>
                <a:lnTo>
                  <a:pt x="5659113" y="2760149"/>
                </a:lnTo>
                <a:cubicBezTo>
                  <a:pt x="5659113" y="2796227"/>
                  <a:pt x="5629866" y="2825474"/>
                  <a:pt x="5593788" y="2825474"/>
                </a:cubicBez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342977" y="4034058"/>
            <a:ext cx="32664" cy="2825474"/>
          </a:xfrm>
          <a:custGeom>
            <a:avLst/>
            <a:gdLst/>
            <a:ahLst/>
            <a:cxnLst/>
            <a:rect l="l" t="t" r="r" b="b"/>
            <a:pathLst>
              <a:path w="32664" h="2825474">
                <a:moveTo>
                  <a:pt x="32664" y="0"/>
                </a:moveTo>
                <a:lnTo>
                  <a:pt x="32664" y="0"/>
                </a:lnTo>
                <a:lnTo>
                  <a:pt x="32664" y="2825474"/>
                </a:lnTo>
                <a:lnTo>
                  <a:pt x="32664" y="2825474"/>
                </a:lnTo>
                <a:cubicBezTo>
                  <a:pt x="14624" y="2825474"/>
                  <a:pt x="0" y="2810849"/>
                  <a:pt x="0" y="279280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Shape 18"/>
          <p:cNvSpPr/>
          <p:nvPr/>
        </p:nvSpPr>
        <p:spPr>
          <a:xfrm>
            <a:off x="522631" y="4213712"/>
            <a:ext cx="244983" cy="195987"/>
          </a:xfrm>
          <a:custGeom>
            <a:avLst/>
            <a:gdLst/>
            <a:ahLst/>
            <a:cxnLst/>
            <a:rect l="l" t="t" r="r" b="b"/>
            <a:pathLst>
              <a:path w="244983" h="195987">
                <a:moveTo>
                  <a:pt x="52059" y="48997"/>
                </a:moveTo>
                <a:cubicBezTo>
                  <a:pt x="52059" y="23645"/>
                  <a:pt x="72641" y="3062"/>
                  <a:pt x="97993" y="3062"/>
                </a:cubicBezTo>
                <a:cubicBezTo>
                  <a:pt x="123345" y="3062"/>
                  <a:pt x="143928" y="23645"/>
                  <a:pt x="143928" y="48997"/>
                </a:cubicBezTo>
                <a:cubicBezTo>
                  <a:pt x="143928" y="74349"/>
                  <a:pt x="123345" y="94931"/>
                  <a:pt x="97993" y="94931"/>
                </a:cubicBezTo>
                <a:cubicBezTo>
                  <a:pt x="72641" y="94931"/>
                  <a:pt x="52059" y="74349"/>
                  <a:pt x="52059" y="48997"/>
                </a:cubicBezTo>
                <a:close/>
                <a:moveTo>
                  <a:pt x="18374" y="184618"/>
                </a:moveTo>
                <a:cubicBezTo>
                  <a:pt x="18374" y="146913"/>
                  <a:pt x="48920" y="116367"/>
                  <a:pt x="86625" y="116367"/>
                </a:cubicBezTo>
                <a:lnTo>
                  <a:pt x="109362" y="116367"/>
                </a:lnTo>
                <a:cubicBezTo>
                  <a:pt x="147067" y="116367"/>
                  <a:pt x="177613" y="146913"/>
                  <a:pt x="177613" y="184618"/>
                </a:cubicBezTo>
                <a:cubicBezTo>
                  <a:pt x="177613" y="190896"/>
                  <a:pt x="172522" y="195987"/>
                  <a:pt x="166244" y="195987"/>
                </a:cubicBezTo>
                <a:lnTo>
                  <a:pt x="29742" y="195987"/>
                </a:lnTo>
                <a:cubicBezTo>
                  <a:pt x="23465" y="195987"/>
                  <a:pt x="18374" y="190896"/>
                  <a:pt x="18374" y="184618"/>
                </a:cubicBezTo>
                <a:close/>
                <a:moveTo>
                  <a:pt x="234418" y="50796"/>
                </a:moveTo>
                <a:lnTo>
                  <a:pt x="203795" y="99792"/>
                </a:lnTo>
                <a:cubicBezTo>
                  <a:pt x="202188" y="102357"/>
                  <a:pt x="199432" y="103965"/>
                  <a:pt x="196408" y="104118"/>
                </a:cubicBezTo>
                <a:cubicBezTo>
                  <a:pt x="193384" y="104271"/>
                  <a:pt x="190474" y="102893"/>
                  <a:pt x="188675" y="100443"/>
                </a:cubicBezTo>
                <a:lnTo>
                  <a:pt x="170302" y="75945"/>
                </a:lnTo>
                <a:cubicBezTo>
                  <a:pt x="167239" y="71887"/>
                  <a:pt x="168081" y="66145"/>
                  <a:pt x="172139" y="63083"/>
                </a:cubicBezTo>
                <a:cubicBezTo>
                  <a:pt x="176197" y="60021"/>
                  <a:pt x="181938" y="60863"/>
                  <a:pt x="185001" y="64921"/>
                </a:cubicBezTo>
                <a:lnTo>
                  <a:pt x="195336" y="78701"/>
                </a:lnTo>
                <a:lnTo>
                  <a:pt x="218839" y="41073"/>
                </a:lnTo>
                <a:cubicBezTo>
                  <a:pt x="221518" y="36786"/>
                  <a:pt x="227184" y="35446"/>
                  <a:pt x="231509" y="38164"/>
                </a:cubicBezTo>
                <a:cubicBezTo>
                  <a:pt x="235835" y="40882"/>
                  <a:pt x="237136" y="46509"/>
                  <a:pt x="234418" y="50834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1" name="Text 19"/>
          <p:cNvSpPr/>
          <p:nvPr/>
        </p:nvSpPr>
        <p:spPr>
          <a:xfrm>
            <a:off x="865608" y="4197380"/>
            <a:ext cx="89827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试衣中关怀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2631" y="4556689"/>
            <a:ext cx="538963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2631" y="4850668"/>
            <a:ext cx="5381466" cy="636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顾客在试衣间试穿，销售顾问小李在门外守候。听到顾客出来，立即上前："怎么样？尺码合适吗？肩膀和袖长感觉如何？如果不合适，我拿其他尺码给您试试。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另外我也跟您准备三个类似的款一起给您试一下，对比一下哪个更合适您</a:t>
            </a:r>
            <a:endParaRPr lang="zh-CN" altLang="en-US" sz="1030" dirty="0">
              <a:solidFill>
                <a:srgbClr val="2E2E2E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2631" y="5585618"/>
            <a:ext cx="5316137" cy="1110591"/>
          </a:xfrm>
          <a:custGeom>
            <a:avLst/>
            <a:gdLst/>
            <a:ahLst/>
            <a:cxnLst/>
            <a:rect l="l" t="t" r="r" b="b"/>
            <a:pathLst>
              <a:path w="5316137" h="1110591">
                <a:moveTo>
                  <a:pt x="65325" y="0"/>
                </a:moveTo>
                <a:lnTo>
                  <a:pt x="5250812" y="0"/>
                </a:lnTo>
                <a:cubicBezTo>
                  <a:pt x="5286890" y="0"/>
                  <a:pt x="5316137" y="29247"/>
                  <a:pt x="5316137" y="65325"/>
                </a:cubicBezTo>
                <a:lnTo>
                  <a:pt x="5316137" y="1045266"/>
                </a:lnTo>
                <a:cubicBezTo>
                  <a:pt x="5316137" y="1081344"/>
                  <a:pt x="5286890" y="1110591"/>
                  <a:pt x="5250812" y="1110591"/>
                </a:cubicBezTo>
                <a:lnTo>
                  <a:pt x="65325" y="1110591"/>
                </a:lnTo>
                <a:cubicBezTo>
                  <a:pt x="29247" y="1110591"/>
                  <a:pt x="0" y="1081344"/>
                  <a:pt x="0" y="1045266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20624" y="5683612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服务要点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9811" y="5977591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7" name="Text 25"/>
          <p:cNvSpPr/>
          <p:nvPr/>
        </p:nvSpPr>
        <p:spPr>
          <a:xfrm>
            <a:off x="828860" y="5944927"/>
            <a:ext cx="1633222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在试衣间外守候，随时响应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9811" y="6206242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9" name="Text 27"/>
          <p:cNvSpPr/>
          <p:nvPr/>
        </p:nvSpPr>
        <p:spPr>
          <a:xfrm>
            <a:off x="828860" y="6173578"/>
            <a:ext cx="111059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主动询问试穿感受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9811" y="6434894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1" name="Text 29"/>
          <p:cNvSpPr/>
          <p:nvPr/>
        </p:nvSpPr>
        <p:spPr>
          <a:xfrm>
            <a:off x="828860" y="6402229"/>
            <a:ext cx="849275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提供备选方案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1687" y="1045262"/>
            <a:ext cx="5659113" cy="2907135"/>
          </a:xfrm>
          <a:custGeom>
            <a:avLst/>
            <a:gdLst/>
            <a:ahLst/>
            <a:cxnLst/>
            <a:rect l="l" t="t" r="r" b="b"/>
            <a:pathLst>
              <a:path w="5659113" h="2907135">
                <a:moveTo>
                  <a:pt x="32664" y="0"/>
                </a:moveTo>
                <a:lnTo>
                  <a:pt x="5593790" y="0"/>
                </a:lnTo>
                <a:cubicBezTo>
                  <a:pt x="5629867" y="0"/>
                  <a:pt x="5659113" y="29246"/>
                  <a:pt x="5659113" y="65323"/>
                </a:cubicBezTo>
                <a:lnTo>
                  <a:pt x="5659113" y="2841811"/>
                </a:lnTo>
                <a:cubicBezTo>
                  <a:pt x="5659113" y="2877888"/>
                  <a:pt x="5629867" y="2907135"/>
                  <a:pt x="5593790" y="2907135"/>
                </a:cubicBezTo>
                <a:lnTo>
                  <a:pt x="32664" y="2907135"/>
                </a:lnTo>
                <a:cubicBezTo>
                  <a:pt x="14636" y="2907135"/>
                  <a:pt x="0" y="2892498"/>
                  <a:pt x="0" y="2874470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Shape 31"/>
          <p:cNvSpPr/>
          <p:nvPr/>
        </p:nvSpPr>
        <p:spPr>
          <a:xfrm>
            <a:off x="6211687" y="1045262"/>
            <a:ext cx="32664" cy="2907135"/>
          </a:xfrm>
          <a:custGeom>
            <a:avLst/>
            <a:gdLst/>
            <a:ahLst/>
            <a:cxnLst/>
            <a:rect l="l" t="t" r="r" b="b"/>
            <a:pathLst>
              <a:path w="32664" h="2907135">
                <a:moveTo>
                  <a:pt x="32664" y="0"/>
                </a:moveTo>
                <a:lnTo>
                  <a:pt x="32664" y="0"/>
                </a:lnTo>
                <a:lnTo>
                  <a:pt x="32664" y="2907135"/>
                </a:lnTo>
                <a:lnTo>
                  <a:pt x="32664" y="2907135"/>
                </a:lnTo>
                <a:cubicBezTo>
                  <a:pt x="14624" y="2907135"/>
                  <a:pt x="0" y="2892510"/>
                  <a:pt x="0" y="2874470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34" name="Shape 32"/>
          <p:cNvSpPr/>
          <p:nvPr/>
        </p:nvSpPr>
        <p:spPr>
          <a:xfrm>
            <a:off x="6415839" y="1224916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97993" y="195987"/>
                </a:moveTo>
                <a:cubicBezTo>
                  <a:pt x="152077" y="195987"/>
                  <a:pt x="195987" y="152077"/>
                  <a:pt x="195987" y="97993"/>
                </a:cubicBezTo>
                <a:cubicBezTo>
                  <a:pt x="195987" y="43909"/>
                  <a:pt x="152077" y="0"/>
                  <a:pt x="97993" y="0"/>
                </a:cubicBezTo>
                <a:cubicBezTo>
                  <a:pt x="43909" y="0"/>
                  <a:pt x="0" y="43909"/>
                  <a:pt x="0" y="97993"/>
                </a:cubicBezTo>
                <a:cubicBezTo>
                  <a:pt x="0" y="152077"/>
                  <a:pt x="43909" y="195987"/>
                  <a:pt x="97993" y="195987"/>
                </a:cubicBezTo>
                <a:close/>
                <a:moveTo>
                  <a:pt x="63313" y="123219"/>
                </a:moveTo>
                <a:cubicBezTo>
                  <a:pt x="71122" y="133937"/>
                  <a:pt x="83754" y="140865"/>
                  <a:pt x="97993" y="140865"/>
                </a:cubicBezTo>
                <a:cubicBezTo>
                  <a:pt x="112233" y="140865"/>
                  <a:pt x="124865" y="133937"/>
                  <a:pt x="132674" y="123219"/>
                </a:cubicBezTo>
                <a:cubicBezTo>
                  <a:pt x="135659" y="119123"/>
                  <a:pt x="141401" y="118204"/>
                  <a:pt x="145497" y="121190"/>
                </a:cubicBezTo>
                <a:cubicBezTo>
                  <a:pt x="149593" y="124176"/>
                  <a:pt x="150512" y="129918"/>
                  <a:pt x="147526" y="134013"/>
                </a:cubicBezTo>
                <a:cubicBezTo>
                  <a:pt x="136387" y="149287"/>
                  <a:pt x="118358" y="159239"/>
                  <a:pt x="97993" y="159239"/>
                </a:cubicBezTo>
                <a:cubicBezTo>
                  <a:pt x="77629" y="159239"/>
                  <a:pt x="59600" y="149287"/>
                  <a:pt x="48461" y="134013"/>
                </a:cubicBezTo>
                <a:cubicBezTo>
                  <a:pt x="45475" y="129918"/>
                  <a:pt x="46394" y="124176"/>
                  <a:pt x="50490" y="121190"/>
                </a:cubicBezTo>
                <a:cubicBezTo>
                  <a:pt x="54585" y="118204"/>
                  <a:pt x="60327" y="119123"/>
                  <a:pt x="63313" y="123219"/>
                </a:cubicBezTo>
                <a:close/>
                <a:moveTo>
                  <a:pt x="55121" y="79620"/>
                </a:moveTo>
                <a:cubicBezTo>
                  <a:pt x="55121" y="72859"/>
                  <a:pt x="60610" y="67370"/>
                  <a:pt x="67370" y="67370"/>
                </a:cubicBezTo>
                <a:cubicBezTo>
                  <a:pt x="74131" y="67370"/>
                  <a:pt x="79620" y="72859"/>
                  <a:pt x="79620" y="79620"/>
                </a:cubicBezTo>
                <a:cubicBezTo>
                  <a:pt x="79620" y="86380"/>
                  <a:pt x="74131" y="91869"/>
                  <a:pt x="67370" y="91869"/>
                </a:cubicBezTo>
                <a:cubicBezTo>
                  <a:pt x="60610" y="91869"/>
                  <a:pt x="55121" y="86380"/>
                  <a:pt x="55121" y="79620"/>
                </a:cubicBezTo>
                <a:close/>
                <a:moveTo>
                  <a:pt x="128616" y="67370"/>
                </a:moveTo>
                <a:cubicBezTo>
                  <a:pt x="135377" y="67370"/>
                  <a:pt x="140865" y="72859"/>
                  <a:pt x="140865" y="79620"/>
                </a:cubicBezTo>
                <a:cubicBezTo>
                  <a:pt x="140865" y="86380"/>
                  <a:pt x="135377" y="91869"/>
                  <a:pt x="128616" y="91869"/>
                </a:cubicBezTo>
                <a:cubicBezTo>
                  <a:pt x="121856" y="91869"/>
                  <a:pt x="116367" y="86380"/>
                  <a:pt x="116367" y="79620"/>
                </a:cubicBezTo>
                <a:cubicBezTo>
                  <a:pt x="116367" y="72859"/>
                  <a:pt x="121856" y="67370"/>
                  <a:pt x="128616" y="6737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35" name="Text 33"/>
          <p:cNvSpPr/>
          <p:nvPr/>
        </p:nvSpPr>
        <p:spPr>
          <a:xfrm>
            <a:off x="6734318" y="1208584"/>
            <a:ext cx="89827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试衣后跟进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91341" y="1567893"/>
            <a:ext cx="5389632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91341" y="1861873"/>
            <a:ext cx="5381466" cy="636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顾客试穿后表示满意，销售顾问小张说："太好了！这套POLO真的很适合您，显得特别有型有品位。我帮您把吊牌剪掉，再帮您搭配</a:t>
            </a:r>
            <a:r>
              <a:rPr lang="zh-CN" alt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一顶棒球帽</a:t>
            </a: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，效果会更好。"顾客试穿后非常满意，决定购买。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1341" y="2596823"/>
            <a:ext cx="5316137" cy="1110591"/>
          </a:xfrm>
          <a:custGeom>
            <a:avLst/>
            <a:gdLst/>
            <a:ahLst/>
            <a:cxnLst/>
            <a:rect l="l" t="t" r="r" b="b"/>
            <a:pathLst>
              <a:path w="5316137" h="1110591">
                <a:moveTo>
                  <a:pt x="65325" y="0"/>
                </a:moveTo>
                <a:lnTo>
                  <a:pt x="5250812" y="0"/>
                </a:lnTo>
                <a:cubicBezTo>
                  <a:pt x="5286890" y="0"/>
                  <a:pt x="5316137" y="29247"/>
                  <a:pt x="5316137" y="65325"/>
                </a:cubicBezTo>
                <a:lnTo>
                  <a:pt x="5316137" y="1045266"/>
                </a:lnTo>
                <a:cubicBezTo>
                  <a:pt x="5316137" y="1081344"/>
                  <a:pt x="5286890" y="1110591"/>
                  <a:pt x="5250812" y="1110591"/>
                </a:cubicBezTo>
                <a:lnTo>
                  <a:pt x="65325" y="1110591"/>
                </a:lnTo>
                <a:cubicBezTo>
                  <a:pt x="29247" y="1110591"/>
                  <a:pt x="0" y="1081344"/>
                  <a:pt x="0" y="1045266"/>
                </a:cubicBezTo>
                <a:lnTo>
                  <a:pt x="0" y="65325"/>
                </a:lnTo>
                <a:cubicBezTo>
                  <a:pt x="0" y="29247"/>
                  <a:pt x="29247" y="0"/>
                  <a:pt x="65325" y="0"/>
                </a:cubicBezTo>
                <a:close/>
              </a:path>
            </a:pathLst>
          </a:custGeom>
          <a:solidFill>
            <a:srgbClr val="A9A299">
              <a:alpha val="1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6489334" y="2694816"/>
            <a:ext cx="51854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服务要点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98521" y="2988796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1" name="Text 39"/>
          <p:cNvSpPr/>
          <p:nvPr/>
        </p:nvSpPr>
        <p:spPr>
          <a:xfrm>
            <a:off x="6697570" y="2956131"/>
            <a:ext cx="849275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给予真诚赞美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98521" y="3217447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Text 41"/>
          <p:cNvSpPr/>
          <p:nvPr/>
        </p:nvSpPr>
        <p:spPr>
          <a:xfrm>
            <a:off x="6697570" y="3184782"/>
            <a:ext cx="111059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提供附加搭配建议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98521" y="3446098"/>
            <a:ext cx="128616" cy="114326"/>
          </a:xfrm>
          <a:custGeom>
            <a:avLst/>
            <a:gdLst/>
            <a:ahLst/>
            <a:cxnLst/>
            <a:rect l="l" t="t" r="r" b="b"/>
            <a:pathLst>
              <a:path w="128616" h="114326">
                <a:moveTo>
                  <a:pt x="69109" y="-4220"/>
                </a:moveTo>
                <a:cubicBezTo>
                  <a:pt x="68193" y="-6007"/>
                  <a:pt x="66340" y="-7145"/>
                  <a:pt x="64330" y="-7145"/>
                </a:cubicBezTo>
                <a:cubicBezTo>
                  <a:pt x="62321" y="-7145"/>
                  <a:pt x="60467" y="-6007"/>
                  <a:pt x="59552" y="-4220"/>
                </a:cubicBezTo>
                <a:lnTo>
                  <a:pt x="43118" y="27978"/>
                </a:lnTo>
                <a:lnTo>
                  <a:pt x="7413" y="33650"/>
                </a:lnTo>
                <a:cubicBezTo>
                  <a:pt x="5426" y="33963"/>
                  <a:pt x="3774" y="35369"/>
                  <a:pt x="3148" y="37290"/>
                </a:cubicBezTo>
                <a:cubicBezTo>
                  <a:pt x="2523" y="39210"/>
                  <a:pt x="3037" y="41309"/>
                  <a:pt x="4444" y="42738"/>
                </a:cubicBezTo>
                <a:lnTo>
                  <a:pt x="29988" y="68305"/>
                </a:lnTo>
                <a:lnTo>
                  <a:pt x="24361" y="104009"/>
                </a:lnTo>
                <a:cubicBezTo>
                  <a:pt x="24049" y="105997"/>
                  <a:pt x="24875" y="108006"/>
                  <a:pt x="26505" y="109190"/>
                </a:cubicBezTo>
                <a:cubicBezTo>
                  <a:pt x="28135" y="110373"/>
                  <a:pt x="30278" y="110552"/>
                  <a:pt x="32087" y="109636"/>
                </a:cubicBezTo>
                <a:lnTo>
                  <a:pt x="64330" y="93247"/>
                </a:lnTo>
                <a:lnTo>
                  <a:pt x="96551" y="109636"/>
                </a:lnTo>
                <a:cubicBezTo>
                  <a:pt x="98338" y="110552"/>
                  <a:pt x="100504" y="110373"/>
                  <a:pt x="102134" y="109190"/>
                </a:cubicBezTo>
                <a:cubicBezTo>
                  <a:pt x="103764" y="108006"/>
                  <a:pt x="104590" y="106019"/>
                  <a:pt x="104277" y="104009"/>
                </a:cubicBezTo>
                <a:lnTo>
                  <a:pt x="98628" y="68305"/>
                </a:lnTo>
                <a:lnTo>
                  <a:pt x="124173" y="42738"/>
                </a:lnTo>
                <a:cubicBezTo>
                  <a:pt x="125602" y="41309"/>
                  <a:pt x="126093" y="39210"/>
                  <a:pt x="125468" y="37290"/>
                </a:cubicBezTo>
                <a:cubicBezTo>
                  <a:pt x="124843" y="35369"/>
                  <a:pt x="123213" y="33963"/>
                  <a:pt x="121203" y="33650"/>
                </a:cubicBezTo>
                <a:lnTo>
                  <a:pt x="85521" y="27978"/>
                </a:lnTo>
                <a:lnTo>
                  <a:pt x="69109" y="-422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6697570" y="3413433"/>
            <a:ext cx="587960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引导成交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5354" y="4115719"/>
            <a:ext cx="5675445" cy="2743812"/>
          </a:xfrm>
          <a:custGeom>
            <a:avLst/>
            <a:gdLst/>
            <a:ahLst/>
            <a:cxnLst/>
            <a:rect l="l" t="t" r="r" b="b"/>
            <a:pathLst>
              <a:path w="5675445" h="2743812">
                <a:moveTo>
                  <a:pt x="65330" y="0"/>
                </a:moveTo>
                <a:lnTo>
                  <a:pt x="5610115" y="0"/>
                </a:lnTo>
                <a:cubicBezTo>
                  <a:pt x="5646196" y="0"/>
                  <a:pt x="5675445" y="29249"/>
                  <a:pt x="5675445" y="65330"/>
                </a:cubicBezTo>
                <a:lnTo>
                  <a:pt x="5675445" y="2678482"/>
                </a:lnTo>
                <a:cubicBezTo>
                  <a:pt x="5675445" y="2714563"/>
                  <a:pt x="5646196" y="2743812"/>
                  <a:pt x="5610115" y="2743812"/>
                </a:cubicBezTo>
                <a:lnTo>
                  <a:pt x="65330" y="2743812"/>
                </a:lnTo>
                <a:cubicBezTo>
                  <a:pt x="29249" y="2743812"/>
                  <a:pt x="0" y="2714563"/>
                  <a:pt x="0" y="2678482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47" name="Text 45"/>
          <p:cNvSpPr/>
          <p:nvPr/>
        </p:nvSpPr>
        <p:spPr>
          <a:xfrm>
            <a:off x="6391341" y="4311705"/>
            <a:ext cx="5365133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试衣服务黄金法则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1341" y="4671014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9" name="Text 47"/>
          <p:cNvSpPr/>
          <p:nvPr/>
        </p:nvSpPr>
        <p:spPr>
          <a:xfrm>
            <a:off x="6362760" y="4671014"/>
            <a:ext cx="318478" cy="2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50650" y="4671014"/>
            <a:ext cx="1894537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准备两种风格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50650" y="4899665"/>
            <a:ext cx="1894537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给顾客准备不同风格的搭配选择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1341" y="5193645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3" name="Text 51"/>
          <p:cNvSpPr/>
          <p:nvPr/>
        </p:nvSpPr>
        <p:spPr>
          <a:xfrm>
            <a:off x="6362760" y="5193645"/>
            <a:ext cx="318478" cy="2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50650" y="5193645"/>
            <a:ext cx="17638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全程陪伴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50650" y="5422296"/>
            <a:ext cx="176387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试衣前、中、后全程贴心服务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91341" y="5716276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7" name="Text 55"/>
          <p:cNvSpPr/>
          <p:nvPr/>
        </p:nvSpPr>
        <p:spPr>
          <a:xfrm>
            <a:off x="6362760" y="5716276"/>
            <a:ext cx="318478" cy="2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50650" y="5716276"/>
            <a:ext cx="1633222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专业建议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50650" y="5944927"/>
            <a:ext cx="1633222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提供尺码、剪裁等专业意见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1341" y="6238907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61" name="Text 59"/>
          <p:cNvSpPr/>
          <p:nvPr/>
        </p:nvSpPr>
        <p:spPr>
          <a:xfrm>
            <a:off x="6362760" y="6238907"/>
            <a:ext cx="318478" cy="2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50650" y="6238907"/>
            <a:ext cx="1894537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创造体验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50650" y="6467558"/>
            <a:ext cx="1894537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让顾客享受试衣过程，感受价值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06 · SCRIPT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试衣服务 · 话术总结与重点掌握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95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14313"/>
                </a:moveTo>
                <a:cubicBezTo>
                  <a:pt x="177433" y="214313"/>
                  <a:pt x="228600" y="166315"/>
                  <a:pt x="228600" y="107156"/>
                </a:cubicBezTo>
                <a:cubicBezTo>
                  <a:pt x="228600" y="47997"/>
                  <a:pt x="177433" y="0"/>
                  <a:pt x="114300" y="0"/>
                </a:cubicBezTo>
                <a:cubicBezTo>
                  <a:pt x="51167" y="0"/>
                  <a:pt x="0" y="47997"/>
                  <a:pt x="0" y="107156"/>
                </a:cubicBezTo>
                <a:cubicBezTo>
                  <a:pt x="0" y="131400"/>
                  <a:pt x="8573" y="153725"/>
                  <a:pt x="23039" y="171673"/>
                </a:cubicBezTo>
                <a:lnTo>
                  <a:pt x="1250" y="212884"/>
                </a:lnTo>
                <a:cubicBezTo>
                  <a:pt x="-893" y="216902"/>
                  <a:pt x="-223" y="221813"/>
                  <a:pt x="2858" y="225162"/>
                </a:cubicBezTo>
                <a:cubicBezTo>
                  <a:pt x="5938" y="228511"/>
                  <a:pt x="10805" y="229538"/>
                  <a:pt x="14957" y="227752"/>
                </a:cubicBezTo>
                <a:lnTo>
                  <a:pt x="67821" y="205115"/>
                </a:lnTo>
                <a:cubicBezTo>
                  <a:pt x="82019" y="211009"/>
                  <a:pt x="97735" y="214313"/>
                  <a:pt x="114300" y="214313"/>
                </a:cubicBezTo>
                <a:close/>
                <a:moveTo>
                  <a:pt x="57150" y="92869"/>
                </a:moveTo>
                <a:cubicBezTo>
                  <a:pt x="65035" y="92869"/>
                  <a:pt x="71438" y="99271"/>
                  <a:pt x="71438" y="107156"/>
                </a:cubicBezTo>
                <a:cubicBezTo>
                  <a:pt x="71438" y="115042"/>
                  <a:pt x="65035" y="121444"/>
                  <a:pt x="57150" y="121444"/>
                </a:cubicBezTo>
                <a:cubicBezTo>
                  <a:pt x="49265" y="121444"/>
                  <a:pt x="42863" y="115042"/>
                  <a:pt x="42863" y="107156"/>
                </a:cubicBezTo>
                <a:cubicBezTo>
                  <a:pt x="42863" y="99271"/>
                  <a:pt x="49265" y="92869"/>
                  <a:pt x="57150" y="92869"/>
                </a:cubicBezTo>
                <a:close/>
                <a:moveTo>
                  <a:pt x="114300" y="92869"/>
                </a:moveTo>
                <a:cubicBezTo>
                  <a:pt x="122185" y="92869"/>
                  <a:pt x="128588" y="99271"/>
                  <a:pt x="128588" y="107156"/>
                </a:cubicBezTo>
                <a:cubicBezTo>
                  <a:pt x="128588" y="115042"/>
                  <a:pt x="122185" y="121444"/>
                  <a:pt x="114300" y="121444"/>
                </a:cubicBezTo>
                <a:cubicBezTo>
                  <a:pt x="106415" y="121444"/>
                  <a:pt x="100013" y="115042"/>
                  <a:pt x="100013" y="107156"/>
                </a:cubicBezTo>
                <a:cubicBezTo>
                  <a:pt x="100013" y="99271"/>
                  <a:pt x="106415" y="92869"/>
                  <a:pt x="114300" y="92869"/>
                </a:cubicBezTo>
                <a:close/>
                <a:moveTo>
                  <a:pt x="157163" y="107156"/>
                </a:moveTo>
                <a:cubicBezTo>
                  <a:pt x="157163" y="99271"/>
                  <a:pt x="163565" y="92869"/>
                  <a:pt x="171450" y="92869"/>
                </a:cubicBezTo>
                <a:cubicBezTo>
                  <a:pt x="179335" y="92869"/>
                  <a:pt x="185738" y="99271"/>
                  <a:pt x="185738" y="107156"/>
                </a:cubicBezTo>
                <a:cubicBezTo>
                  <a:pt x="185738" y="115042"/>
                  <a:pt x="179335" y="121444"/>
                  <a:pt x="171450" y="121444"/>
                </a:cubicBezTo>
                <a:cubicBezTo>
                  <a:pt x="163565" y="121444"/>
                  <a:pt x="157163" y="115042"/>
                  <a:pt x="157163" y="10715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81050" y="1219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试衣话术模板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5581650" cy="1600200"/>
          </a:xfrm>
          <a:custGeom>
            <a:avLst/>
            <a:gdLst/>
            <a:ahLst/>
            <a:cxnLst/>
            <a:rect l="l" t="t" r="r" b="b"/>
            <a:pathLst>
              <a:path w="5581650" h="16002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1523998"/>
                </a:lnTo>
                <a:cubicBezTo>
                  <a:pt x="5581650" y="1566083"/>
                  <a:pt x="5547533" y="1600200"/>
                  <a:pt x="55054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Text 6"/>
          <p:cNvSpPr/>
          <p:nvPr/>
        </p:nvSpPr>
        <p:spPr>
          <a:xfrm>
            <a:off x="609600" y="18669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引领话术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479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"好的，我带您去试衣间。"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5527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"试衣间在这边，请跟我来。"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8575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"请问您穿多大尺码？我拿合适的给您试试。"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429000"/>
            <a:ext cx="5581650" cy="1600200"/>
          </a:xfrm>
          <a:custGeom>
            <a:avLst/>
            <a:gdLst/>
            <a:ahLst/>
            <a:cxnLst/>
            <a:rect l="l" t="t" r="r" b="b"/>
            <a:pathLst>
              <a:path w="5581650" h="16002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1523998"/>
                </a:lnTo>
                <a:cubicBezTo>
                  <a:pt x="5581650" y="1566083"/>
                  <a:pt x="5547533" y="1600200"/>
                  <a:pt x="55054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00050" y="34290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4" name="Text 12"/>
          <p:cNvSpPr/>
          <p:nvPr/>
        </p:nvSpPr>
        <p:spPr>
          <a:xfrm>
            <a:off x="609600" y="36195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搭配建议话术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40005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"我帮您搭配一件衬衫，这样可以看到整体效果。"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43053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"我准备了两种风格T</a:t>
            </a:r>
            <a:r>
              <a:rPr lang="zh-CN" alt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恤</a:t>
            </a: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，您都试试，看更喜欢哪种。"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46101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"这件POLO还可以搭配</a:t>
            </a:r>
            <a:r>
              <a:rPr lang="zh-CN" alt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这款休闲裤</a:t>
            </a: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，我拿给您看看。"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5181600"/>
            <a:ext cx="5581650" cy="1600200"/>
          </a:xfrm>
          <a:custGeom>
            <a:avLst/>
            <a:gdLst/>
            <a:ahLst/>
            <a:cxnLst/>
            <a:rect l="l" t="t" r="r" b="b"/>
            <a:pathLst>
              <a:path w="5581650" h="16002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1523998"/>
                </a:lnTo>
                <a:cubicBezTo>
                  <a:pt x="5581650" y="1566083"/>
                  <a:pt x="5547533" y="1600200"/>
                  <a:pt x="55054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400050" y="51816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20" name="Text 18"/>
          <p:cNvSpPr/>
          <p:nvPr/>
        </p:nvSpPr>
        <p:spPr>
          <a:xfrm>
            <a:off x="609600" y="5372100"/>
            <a:ext cx="5267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试衣关怀话术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57531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"怎么样？尺码合适吗？肩膀感觉如何？"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60579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"如果不合适，我拿其他尺码给您试试。"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636270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"这套POLO真的很适合您，显得特别有型。"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38875" y="125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5" name="Text 23"/>
          <p:cNvSpPr/>
          <p:nvPr/>
        </p:nvSpPr>
        <p:spPr>
          <a:xfrm>
            <a:off x="6610350" y="12192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重点掌握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0300" y="1676400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76212" y="0"/>
                </a:moveTo>
                <a:lnTo>
                  <a:pt x="5524488" y="0"/>
                </a:lnTo>
                <a:cubicBezTo>
                  <a:pt x="5566579" y="0"/>
                  <a:pt x="5600700" y="34121"/>
                  <a:pt x="5600700" y="76212"/>
                </a:cubicBezTo>
                <a:lnTo>
                  <a:pt x="5600700" y="3505188"/>
                </a:lnTo>
                <a:cubicBezTo>
                  <a:pt x="5600700" y="3547279"/>
                  <a:pt x="5566579" y="3581400"/>
                  <a:pt x="5524488" y="3581400"/>
                </a:cubicBezTo>
                <a:lnTo>
                  <a:pt x="76212" y="3581400"/>
                </a:lnTo>
                <a:cubicBezTo>
                  <a:pt x="34121" y="3581400"/>
                  <a:pt x="0" y="3547279"/>
                  <a:pt x="0" y="35051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6400800" y="1866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8" name="Shape 26"/>
          <p:cNvSpPr/>
          <p:nvPr/>
        </p:nvSpPr>
        <p:spPr>
          <a:xfrm>
            <a:off x="6546056" y="2000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23812"/>
                </a:moveTo>
                <a:lnTo>
                  <a:pt x="130969" y="23812"/>
                </a:lnTo>
                <a:lnTo>
                  <a:pt x="130969" y="178594"/>
                </a:lnTo>
                <a:cubicBezTo>
                  <a:pt x="130969" y="185179"/>
                  <a:pt x="136289" y="190500"/>
                  <a:pt x="142875" y="190500"/>
                </a:cubicBezTo>
                <a:lnTo>
                  <a:pt x="154781" y="190500"/>
                </a:lnTo>
                <a:cubicBezTo>
                  <a:pt x="161367" y="190500"/>
                  <a:pt x="166688" y="185179"/>
                  <a:pt x="166688" y="178594"/>
                </a:cubicBezTo>
                <a:cubicBezTo>
                  <a:pt x="166688" y="172008"/>
                  <a:pt x="161367" y="166688"/>
                  <a:pt x="154781" y="166688"/>
                </a:cubicBezTo>
                <a:lnTo>
                  <a:pt x="154781" y="23812"/>
                </a:lnTo>
                <a:cubicBezTo>
                  <a:pt x="154781" y="10678"/>
                  <a:pt x="144103" y="0"/>
                  <a:pt x="130969" y="0"/>
                </a:cubicBezTo>
                <a:lnTo>
                  <a:pt x="95250" y="0"/>
                </a:lnTo>
                <a:lnTo>
                  <a:pt x="95250" y="0"/>
                </a:lnTo>
                <a:lnTo>
                  <a:pt x="35719" y="0"/>
                </a:ln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95250" y="190500"/>
                </a:lnTo>
                <a:cubicBezTo>
                  <a:pt x="101836" y="190500"/>
                  <a:pt x="107156" y="185179"/>
                  <a:pt x="107156" y="178594"/>
                </a:cubicBezTo>
                <a:lnTo>
                  <a:pt x="107156" y="23812"/>
                </a:lnTo>
                <a:close/>
                <a:moveTo>
                  <a:pt x="59531" y="95250"/>
                </a:moveTo>
                <a:cubicBezTo>
                  <a:pt x="59531" y="88679"/>
                  <a:pt x="64866" y="83344"/>
                  <a:pt x="71438" y="83344"/>
                </a:cubicBezTo>
                <a:cubicBezTo>
                  <a:pt x="78009" y="83344"/>
                  <a:pt x="83344" y="88679"/>
                  <a:pt x="83344" y="95250"/>
                </a:cubicBezTo>
                <a:cubicBezTo>
                  <a:pt x="83344" y="101821"/>
                  <a:pt x="78009" y="107156"/>
                  <a:pt x="71438" y="107156"/>
                </a:cubicBezTo>
                <a:cubicBezTo>
                  <a:pt x="64866" y="107156"/>
                  <a:pt x="59531" y="101821"/>
                  <a:pt x="59531" y="952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7010400" y="1866900"/>
            <a:ext cx="2828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试衣间准备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10400" y="2171700"/>
            <a:ext cx="28194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提前检查试衣间整洁，准备拖鞋、挂钩等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0" y="2571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2" name="Shape 30"/>
          <p:cNvSpPr/>
          <p:nvPr/>
        </p:nvSpPr>
        <p:spPr>
          <a:xfrm>
            <a:off x="6510338" y="27051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137" y="41672"/>
                </a:moveTo>
                <a:cubicBezTo>
                  <a:pt x="135582" y="41672"/>
                  <a:pt x="148903" y="28352"/>
                  <a:pt x="148903" y="11906"/>
                </a:cubicBezTo>
                <a:lnTo>
                  <a:pt x="168808" y="11906"/>
                </a:lnTo>
                <a:cubicBezTo>
                  <a:pt x="175133" y="11906"/>
                  <a:pt x="181198" y="14399"/>
                  <a:pt x="185663" y="18864"/>
                </a:cubicBezTo>
                <a:lnTo>
                  <a:pt x="229791" y="63029"/>
                </a:lnTo>
                <a:cubicBezTo>
                  <a:pt x="234442" y="67680"/>
                  <a:pt x="234442" y="75233"/>
                  <a:pt x="229791" y="79883"/>
                </a:cubicBezTo>
                <a:lnTo>
                  <a:pt x="210927" y="98747"/>
                </a:lnTo>
                <a:cubicBezTo>
                  <a:pt x="206276" y="103398"/>
                  <a:pt x="198723" y="103398"/>
                  <a:pt x="194072" y="98747"/>
                </a:cubicBezTo>
                <a:lnTo>
                  <a:pt x="178668" y="83344"/>
                </a:lnTo>
                <a:lnTo>
                  <a:pt x="178668" y="166688"/>
                </a:lnTo>
                <a:cubicBezTo>
                  <a:pt x="178668" y="179822"/>
                  <a:pt x="167990" y="190500"/>
                  <a:pt x="154856" y="190500"/>
                </a:cubicBezTo>
                <a:lnTo>
                  <a:pt x="83418" y="190500"/>
                </a:lnTo>
                <a:cubicBezTo>
                  <a:pt x="70284" y="190500"/>
                  <a:pt x="59606" y="179822"/>
                  <a:pt x="59606" y="166688"/>
                </a:cubicBezTo>
                <a:lnTo>
                  <a:pt x="59606" y="83344"/>
                </a:lnTo>
                <a:lnTo>
                  <a:pt x="44202" y="98747"/>
                </a:lnTo>
                <a:cubicBezTo>
                  <a:pt x="39551" y="103398"/>
                  <a:pt x="31998" y="103398"/>
                  <a:pt x="27347" y="98747"/>
                </a:cubicBezTo>
                <a:lnTo>
                  <a:pt x="8520" y="79846"/>
                </a:lnTo>
                <a:cubicBezTo>
                  <a:pt x="3870" y="75195"/>
                  <a:pt x="3870" y="67642"/>
                  <a:pt x="8520" y="62992"/>
                </a:cubicBezTo>
                <a:lnTo>
                  <a:pt x="52648" y="18864"/>
                </a:lnTo>
                <a:cubicBezTo>
                  <a:pt x="57113" y="14399"/>
                  <a:pt x="63178" y="11906"/>
                  <a:pt x="69503" y="11906"/>
                </a:cubicBezTo>
                <a:lnTo>
                  <a:pt x="89408" y="11906"/>
                </a:lnTo>
                <a:cubicBezTo>
                  <a:pt x="89408" y="28352"/>
                  <a:pt x="102729" y="41672"/>
                  <a:pt x="119174" y="4167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7010400" y="2571750"/>
            <a:ext cx="2847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全身搭配技巧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0400" y="2876550"/>
            <a:ext cx="28384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准备POLO+衬衫+西裤，展示完整造型效果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0" y="327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6" name="Shape 34"/>
          <p:cNvSpPr/>
          <p:nvPr/>
        </p:nvSpPr>
        <p:spPr>
          <a:xfrm>
            <a:off x="6534150" y="3409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95250"/>
                </a:moveTo>
                <a:cubicBezTo>
                  <a:pt x="190500" y="95585"/>
                  <a:pt x="190500" y="95920"/>
                  <a:pt x="190500" y="96255"/>
                </a:cubicBezTo>
                <a:cubicBezTo>
                  <a:pt x="190351" y="109835"/>
                  <a:pt x="177998" y="119063"/>
                  <a:pt x="164418" y="119063"/>
                </a:cubicBezTo>
                <a:lnTo>
                  <a:pt x="127992" y="119063"/>
                </a:lnTo>
                <a:cubicBezTo>
                  <a:pt x="118132" y="119063"/>
                  <a:pt x="110133" y="127062"/>
                  <a:pt x="110133" y="136922"/>
                </a:cubicBezTo>
                <a:cubicBezTo>
                  <a:pt x="110133" y="138187"/>
                  <a:pt x="110282" y="139415"/>
                  <a:pt x="110505" y="140605"/>
                </a:cubicBezTo>
                <a:cubicBezTo>
                  <a:pt x="111286" y="144400"/>
                  <a:pt x="112923" y="148047"/>
                  <a:pt x="114523" y="151730"/>
                </a:cubicBezTo>
                <a:cubicBezTo>
                  <a:pt x="116793" y="156865"/>
                  <a:pt x="119025" y="161962"/>
                  <a:pt x="119025" y="167357"/>
                </a:cubicBezTo>
                <a:cubicBezTo>
                  <a:pt x="119025" y="179189"/>
                  <a:pt x="110989" y="189942"/>
                  <a:pt x="99157" y="190426"/>
                </a:cubicBezTo>
                <a:cubicBezTo>
                  <a:pt x="97854" y="190463"/>
                  <a:pt x="96552" y="190500"/>
                  <a:pt x="95213" y="190500"/>
                </a:cubicBezTo>
                <a:cubicBezTo>
                  <a:pt x="42602" y="190500"/>
                  <a:pt x="-37" y="147861"/>
                  <a:pt x="-37" y="95250"/>
                </a:cubicBezTo>
                <a:cubicBezTo>
                  <a:pt x="-37" y="42639"/>
                  <a:pt x="42639" y="0"/>
                  <a:pt x="95250" y="0"/>
                </a:cubicBezTo>
                <a:cubicBezTo>
                  <a:pt x="147861" y="0"/>
                  <a:pt x="190500" y="42639"/>
                  <a:pt x="190500" y="95250"/>
                </a:cubicBezTo>
                <a:close/>
                <a:moveTo>
                  <a:pt x="47625" y="107156"/>
                </a:moveTo>
                <a:cubicBezTo>
                  <a:pt x="47625" y="100585"/>
                  <a:pt x="42290" y="95250"/>
                  <a:pt x="35719" y="95250"/>
                </a:cubicBezTo>
                <a:cubicBezTo>
                  <a:pt x="29148" y="95250"/>
                  <a:pt x="23812" y="100585"/>
                  <a:pt x="23812" y="107156"/>
                </a:cubicBezTo>
                <a:cubicBezTo>
                  <a:pt x="23812" y="113727"/>
                  <a:pt x="29148" y="119063"/>
                  <a:pt x="35719" y="119063"/>
                </a:cubicBezTo>
                <a:cubicBezTo>
                  <a:pt x="42290" y="119063"/>
                  <a:pt x="47625" y="113727"/>
                  <a:pt x="47625" y="107156"/>
                </a:cubicBezTo>
                <a:close/>
                <a:moveTo>
                  <a:pt x="47625" y="71438"/>
                </a:moveTo>
                <a:cubicBezTo>
                  <a:pt x="54196" y="71438"/>
                  <a:pt x="59531" y="66102"/>
                  <a:pt x="59531" y="59531"/>
                </a:cubicBezTo>
                <a:cubicBezTo>
                  <a:pt x="59531" y="52960"/>
                  <a:pt x="54196" y="47625"/>
                  <a:pt x="47625" y="47625"/>
                </a:cubicBezTo>
                <a:cubicBezTo>
                  <a:pt x="41054" y="47625"/>
                  <a:pt x="35719" y="52960"/>
                  <a:pt x="35719" y="59531"/>
                </a:cubicBezTo>
                <a:cubicBezTo>
                  <a:pt x="35719" y="66102"/>
                  <a:pt x="41054" y="71438"/>
                  <a:pt x="47625" y="71438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142875" y="71438"/>
                </a:moveTo>
                <a:cubicBezTo>
                  <a:pt x="149446" y="71438"/>
                  <a:pt x="154781" y="66102"/>
                  <a:pt x="154781" y="59531"/>
                </a:cubicBezTo>
                <a:cubicBezTo>
                  <a:pt x="154781" y="52960"/>
                  <a:pt x="149446" y="47625"/>
                  <a:pt x="142875" y="47625"/>
                </a:cubicBezTo>
                <a:cubicBezTo>
                  <a:pt x="136304" y="47625"/>
                  <a:pt x="130969" y="52960"/>
                  <a:pt x="130969" y="59531"/>
                </a:cubicBezTo>
                <a:cubicBezTo>
                  <a:pt x="130969" y="66102"/>
                  <a:pt x="136304" y="71438"/>
                  <a:pt x="142875" y="7143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7" name="Text 35"/>
          <p:cNvSpPr/>
          <p:nvPr/>
        </p:nvSpPr>
        <p:spPr>
          <a:xfrm>
            <a:off x="7010400" y="3276600"/>
            <a:ext cx="2676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两种风格准备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10400" y="358140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给顾客不同风格选择，满足多样化需求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0" y="3981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40" name="Shape 38"/>
          <p:cNvSpPr/>
          <p:nvPr/>
        </p:nvSpPr>
        <p:spPr>
          <a:xfrm>
            <a:off x="6534150" y="4114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7010400" y="3981450"/>
            <a:ext cx="2524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试衣关怀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10400" y="4286250"/>
            <a:ext cx="2514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全程陪伴，及时响应，提供专业建议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0300" y="5410200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295394"/>
                </a:lnTo>
                <a:cubicBezTo>
                  <a:pt x="5600700" y="1337481"/>
                  <a:pt x="5566581" y="1371600"/>
                  <a:pt x="55244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6362700" y="5562600"/>
            <a:ext cx="537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易错点提醒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1750" y="590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6" name="Text 44"/>
          <p:cNvSpPr/>
          <p:nvPr/>
        </p:nvSpPr>
        <p:spPr>
          <a:xfrm>
            <a:off x="6629400" y="5867400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不要只拿一件衣服，要准备搭配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81750" y="617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8" name="Text 46"/>
          <p:cNvSpPr/>
          <p:nvPr/>
        </p:nvSpPr>
        <p:spPr>
          <a:xfrm>
            <a:off x="6629400" y="61341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不要让顾客独自试衣，要在门外守候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81750" y="6438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0" name="Text 48"/>
          <p:cNvSpPr/>
          <p:nvPr/>
        </p:nvSpPr>
        <p:spPr>
          <a:xfrm>
            <a:off x="6629400" y="6400800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不要强迫顾客接受不喜欢的搭配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mens_step7_objection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543723" y="2171700"/>
            <a:ext cx="3105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07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410373" y="2628900"/>
            <a:ext cx="33718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第七步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301" y="35433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496098" y="3886200"/>
            <a:ext cx="32004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异议处理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34198" y="4419600"/>
            <a:ext cx="31242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顺转推技巧 · 化解疑虑 · 促成成交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729" y="337729"/>
            <a:ext cx="11575645" cy="168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kern="0" spc="186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07 · CASE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7729" y="574139"/>
            <a:ext cx="11668521" cy="3377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异议处理 · 案例分析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4615" y="1046958"/>
            <a:ext cx="5656953" cy="2820033"/>
          </a:xfrm>
          <a:custGeom>
            <a:avLst/>
            <a:gdLst/>
            <a:ahLst/>
            <a:cxnLst/>
            <a:rect l="l" t="t" r="r" b="b"/>
            <a:pathLst>
              <a:path w="5656953" h="2820033">
                <a:moveTo>
                  <a:pt x="33773" y="0"/>
                </a:moveTo>
                <a:lnTo>
                  <a:pt x="5589413" y="0"/>
                </a:lnTo>
                <a:cubicBezTo>
                  <a:pt x="5626714" y="0"/>
                  <a:pt x="5656953" y="30239"/>
                  <a:pt x="5656953" y="67540"/>
                </a:cubicBezTo>
                <a:lnTo>
                  <a:pt x="5656953" y="2752493"/>
                </a:lnTo>
                <a:cubicBezTo>
                  <a:pt x="5656953" y="2789795"/>
                  <a:pt x="5626714" y="2820033"/>
                  <a:pt x="5589413" y="2820033"/>
                </a:cubicBezTo>
                <a:lnTo>
                  <a:pt x="33773" y="2820033"/>
                </a:lnTo>
                <a:cubicBezTo>
                  <a:pt x="15121" y="2820033"/>
                  <a:pt x="0" y="2804913"/>
                  <a:pt x="0" y="278626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54615" y="1046958"/>
            <a:ext cx="33773" cy="2820033"/>
          </a:xfrm>
          <a:custGeom>
            <a:avLst/>
            <a:gdLst/>
            <a:ahLst/>
            <a:cxnLst/>
            <a:rect l="l" t="t" r="r" b="b"/>
            <a:pathLst>
              <a:path w="33773" h="2820033">
                <a:moveTo>
                  <a:pt x="33773" y="0"/>
                </a:moveTo>
                <a:lnTo>
                  <a:pt x="33773" y="0"/>
                </a:lnTo>
                <a:lnTo>
                  <a:pt x="33773" y="2820033"/>
                </a:lnTo>
                <a:lnTo>
                  <a:pt x="33773" y="2820033"/>
                </a:lnTo>
                <a:cubicBezTo>
                  <a:pt x="15121" y="2820033"/>
                  <a:pt x="0" y="2804913"/>
                  <a:pt x="0" y="278626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603690" y="1232709"/>
            <a:ext cx="126648" cy="202637"/>
          </a:xfrm>
          <a:custGeom>
            <a:avLst/>
            <a:gdLst/>
            <a:ahLst/>
            <a:cxnLst/>
            <a:rect l="l" t="t" r="r" b="b"/>
            <a:pathLst>
              <a:path w="126648" h="202637">
                <a:moveTo>
                  <a:pt x="53825" y="9499"/>
                </a:moveTo>
                <a:cubicBezTo>
                  <a:pt x="53825" y="4235"/>
                  <a:pt x="58060" y="0"/>
                  <a:pt x="63324" y="0"/>
                </a:cubicBezTo>
                <a:cubicBezTo>
                  <a:pt x="68588" y="0"/>
                  <a:pt x="72823" y="4235"/>
                  <a:pt x="72823" y="9499"/>
                </a:cubicBezTo>
                <a:lnTo>
                  <a:pt x="72823" y="25330"/>
                </a:lnTo>
                <a:lnTo>
                  <a:pt x="94986" y="25330"/>
                </a:lnTo>
                <a:cubicBezTo>
                  <a:pt x="101991" y="25330"/>
                  <a:pt x="107651" y="30989"/>
                  <a:pt x="107651" y="37994"/>
                </a:cubicBezTo>
                <a:cubicBezTo>
                  <a:pt x="107651" y="45000"/>
                  <a:pt x="101991" y="50659"/>
                  <a:pt x="94986" y="50659"/>
                </a:cubicBezTo>
                <a:lnTo>
                  <a:pt x="49512" y="50659"/>
                </a:lnTo>
                <a:cubicBezTo>
                  <a:pt x="39657" y="50659"/>
                  <a:pt x="31662" y="58654"/>
                  <a:pt x="31662" y="68509"/>
                </a:cubicBezTo>
                <a:cubicBezTo>
                  <a:pt x="31662" y="77414"/>
                  <a:pt x="38192" y="84933"/>
                  <a:pt x="46979" y="86200"/>
                </a:cubicBezTo>
                <a:lnTo>
                  <a:pt x="83232" y="91385"/>
                </a:lnTo>
                <a:cubicBezTo>
                  <a:pt x="104524" y="94432"/>
                  <a:pt x="120316" y="112638"/>
                  <a:pt x="120316" y="134128"/>
                </a:cubicBezTo>
                <a:cubicBezTo>
                  <a:pt x="120316" y="157994"/>
                  <a:pt x="100962" y="177307"/>
                  <a:pt x="77137" y="177307"/>
                </a:cubicBezTo>
                <a:lnTo>
                  <a:pt x="72823" y="177307"/>
                </a:lnTo>
                <a:lnTo>
                  <a:pt x="72823" y="193139"/>
                </a:lnTo>
                <a:cubicBezTo>
                  <a:pt x="72823" y="198402"/>
                  <a:pt x="68588" y="202637"/>
                  <a:pt x="63324" y="202637"/>
                </a:cubicBezTo>
                <a:cubicBezTo>
                  <a:pt x="58060" y="202637"/>
                  <a:pt x="53825" y="198402"/>
                  <a:pt x="53825" y="193139"/>
                </a:cubicBezTo>
                <a:lnTo>
                  <a:pt x="53825" y="177307"/>
                </a:lnTo>
                <a:lnTo>
                  <a:pt x="25330" y="177307"/>
                </a:lnTo>
                <a:cubicBezTo>
                  <a:pt x="18324" y="177307"/>
                  <a:pt x="12665" y="171648"/>
                  <a:pt x="12665" y="164643"/>
                </a:cubicBezTo>
                <a:cubicBezTo>
                  <a:pt x="12665" y="157637"/>
                  <a:pt x="18324" y="151978"/>
                  <a:pt x="25330" y="151978"/>
                </a:cubicBezTo>
                <a:lnTo>
                  <a:pt x="77137" y="151978"/>
                </a:lnTo>
                <a:cubicBezTo>
                  <a:pt x="86991" y="151978"/>
                  <a:pt x="94986" y="143983"/>
                  <a:pt x="94986" y="134128"/>
                </a:cubicBezTo>
                <a:cubicBezTo>
                  <a:pt x="94986" y="125223"/>
                  <a:pt x="88456" y="117704"/>
                  <a:pt x="79670" y="116437"/>
                </a:cubicBezTo>
                <a:lnTo>
                  <a:pt x="43417" y="111253"/>
                </a:lnTo>
                <a:cubicBezTo>
                  <a:pt x="22124" y="108245"/>
                  <a:pt x="6332" y="89999"/>
                  <a:pt x="6332" y="68509"/>
                </a:cubicBezTo>
                <a:cubicBezTo>
                  <a:pt x="6332" y="44683"/>
                  <a:pt x="25686" y="25330"/>
                  <a:pt x="49512" y="25330"/>
                </a:cubicBezTo>
                <a:lnTo>
                  <a:pt x="53825" y="25330"/>
                </a:lnTo>
                <a:lnTo>
                  <a:pt x="53825" y="9499"/>
                </a:ln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894981" y="1215823"/>
            <a:ext cx="759889" cy="236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价格异议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0366" y="1553551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顾客异议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0366" y="1823734"/>
            <a:ext cx="5369884" cy="2195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"这套POLO太贵了，能不能便宜点？"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0366" y="2043258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销售回应（顺-转-推）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0366" y="2313440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"是的，这款价格确实不便宜。"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0366" y="2583623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"但它是采用意大利进口面料，手工缝制，可以穿很多年。"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0366" y="2853806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"而且现在满3000减500，算下来很划算，您要不要考虑下？"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0366" y="3056443"/>
            <a:ext cx="5302338" cy="641684"/>
          </a:xfrm>
          <a:custGeom>
            <a:avLst/>
            <a:gdLst/>
            <a:ahLst/>
            <a:cxnLst/>
            <a:rect l="l" t="t" r="r" b="b"/>
            <a:pathLst>
              <a:path w="5302338" h="641684">
                <a:moveTo>
                  <a:pt x="67544" y="0"/>
                </a:moveTo>
                <a:lnTo>
                  <a:pt x="5234794" y="0"/>
                </a:lnTo>
                <a:cubicBezTo>
                  <a:pt x="5272098" y="0"/>
                  <a:pt x="5302338" y="30240"/>
                  <a:pt x="5302338" y="67544"/>
                </a:cubicBezTo>
                <a:lnTo>
                  <a:pt x="5302338" y="574141"/>
                </a:lnTo>
                <a:cubicBezTo>
                  <a:pt x="5302338" y="611444"/>
                  <a:pt x="5272098" y="641684"/>
                  <a:pt x="5234794" y="641684"/>
                </a:cubicBezTo>
                <a:lnTo>
                  <a:pt x="67544" y="641684"/>
                </a:lnTo>
                <a:cubicBezTo>
                  <a:pt x="30240" y="641684"/>
                  <a:pt x="0" y="611444"/>
                  <a:pt x="0" y="574141"/>
                </a:cubicBezTo>
                <a:lnTo>
                  <a:pt x="0" y="67544"/>
                </a:lnTo>
                <a:cubicBezTo>
                  <a:pt x="0" y="30265"/>
                  <a:pt x="30265" y="0"/>
                  <a:pt x="67544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41684" y="3157762"/>
            <a:ext cx="5167247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处理要点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684" y="3394172"/>
            <a:ext cx="5167247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认同价格，强调价值，利用活动促成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384" y="1046958"/>
            <a:ext cx="5656953" cy="2820033"/>
          </a:xfrm>
          <a:custGeom>
            <a:avLst/>
            <a:gdLst/>
            <a:ahLst/>
            <a:cxnLst/>
            <a:rect l="l" t="t" r="r" b="b"/>
            <a:pathLst>
              <a:path w="5656953" h="2820033">
                <a:moveTo>
                  <a:pt x="33773" y="0"/>
                </a:moveTo>
                <a:lnTo>
                  <a:pt x="5589413" y="0"/>
                </a:lnTo>
                <a:cubicBezTo>
                  <a:pt x="5626714" y="0"/>
                  <a:pt x="5656953" y="30239"/>
                  <a:pt x="5656953" y="67540"/>
                </a:cubicBezTo>
                <a:lnTo>
                  <a:pt x="5656953" y="2752493"/>
                </a:lnTo>
                <a:cubicBezTo>
                  <a:pt x="5656953" y="2789795"/>
                  <a:pt x="5626714" y="2820033"/>
                  <a:pt x="5589413" y="2820033"/>
                </a:cubicBezTo>
                <a:lnTo>
                  <a:pt x="33773" y="2820033"/>
                </a:lnTo>
                <a:cubicBezTo>
                  <a:pt x="15121" y="2820033"/>
                  <a:pt x="0" y="2804913"/>
                  <a:pt x="0" y="278626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6195384" y="1046958"/>
            <a:ext cx="33773" cy="2820033"/>
          </a:xfrm>
          <a:custGeom>
            <a:avLst/>
            <a:gdLst/>
            <a:ahLst/>
            <a:cxnLst/>
            <a:rect l="l" t="t" r="r" b="b"/>
            <a:pathLst>
              <a:path w="33773" h="2820033">
                <a:moveTo>
                  <a:pt x="33773" y="0"/>
                </a:moveTo>
                <a:lnTo>
                  <a:pt x="33773" y="0"/>
                </a:lnTo>
                <a:lnTo>
                  <a:pt x="33773" y="2820033"/>
                </a:lnTo>
                <a:lnTo>
                  <a:pt x="33773" y="2820033"/>
                </a:lnTo>
                <a:cubicBezTo>
                  <a:pt x="15121" y="2820033"/>
                  <a:pt x="0" y="2804913"/>
                  <a:pt x="0" y="278626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9" name="Shape 17"/>
          <p:cNvSpPr/>
          <p:nvPr/>
        </p:nvSpPr>
        <p:spPr>
          <a:xfrm>
            <a:off x="6381135" y="1232709"/>
            <a:ext cx="253296" cy="202637"/>
          </a:xfrm>
          <a:custGeom>
            <a:avLst/>
            <a:gdLst/>
            <a:ahLst/>
            <a:cxnLst/>
            <a:rect l="l" t="t" r="r" b="b"/>
            <a:pathLst>
              <a:path w="253296" h="202637">
                <a:moveTo>
                  <a:pt x="126727" y="44327"/>
                </a:moveTo>
                <a:cubicBezTo>
                  <a:pt x="144221" y="44327"/>
                  <a:pt x="158389" y="30158"/>
                  <a:pt x="158389" y="12665"/>
                </a:cubicBezTo>
                <a:lnTo>
                  <a:pt x="179563" y="12665"/>
                </a:lnTo>
                <a:cubicBezTo>
                  <a:pt x="186292" y="12665"/>
                  <a:pt x="192743" y="15317"/>
                  <a:pt x="197492" y="20066"/>
                </a:cubicBezTo>
                <a:lnTo>
                  <a:pt x="244431" y="67044"/>
                </a:lnTo>
                <a:cubicBezTo>
                  <a:pt x="249378" y="71992"/>
                  <a:pt x="249378" y="80026"/>
                  <a:pt x="244431" y="84973"/>
                </a:cubicBezTo>
                <a:lnTo>
                  <a:pt x="224365" y="105039"/>
                </a:lnTo>
                <a:cubicBezTo>
                  <a:pt x="219418" y="109986"/>
                  <a:pt x="211384" y="109986"/>
                  <a:pt x="206437" y="105039"/>
                </a:cubicBezTo>
                <a:lnTo>
                  <a:pt x="190051" y="88654"/>
                </a:lnTo>
                <a:lnTo>
                  <a:pt x="190051" y="177307"/>
                </a:lnTo>
                <a:cubicBezTo>
                  <a:pt x="190051" y="191278"/>
                  <a:pt x="178693" y="202637"/>
                  <a:pt x="164722" y="202637"/>
                </a:cubicBezTo>
                <a:lnTo>
                  <a:pt x="88733" y="202637"/>
                </a:lnTo>
                <a:cubicBezTo>
                  <a:pt x="74762" y="202637"/>
                  <a:pt x="63403" y="191278"/>
                  <a:pt x="63403" y="177307"/>
                </a:cubicBezTo>
                <a:lnTo>
                  <a:pt x="63403" y="88654"/>
                </a:lnTo>
                <a:lnTo>
                  <a:pt x="47018" y="105039"/>
                </a:lnTo>
                <a:cubicBezTo>
                  <a:pt x="42071" y="109986"/>
                  <a:pt x="34037" y="109986"/>
                  <a:pt x="29090" y="105039"/>
                </a:cubicBezTo>
                <a:lnTo>
                  <a:pt x="9063" y="84933"/>
                </a:lnTo>
                <a:cubicBezTo>
                  <a:pt x="4116" y="79986"/>
                  <a:pt x="4116" y="71952"/>
                  <a:pt x="9063" y="67005"/>
                </a:cubicBezTo>
                <a:lnTo>
                  <a:pt x="56002" y="20066"/>
                </a:lnTo>
                <a:cubicBezTo>
                  <a:pt x="60752" y="15317"/>
                  <a:pt x="67203" y="12665"/>
                  <a:pt x="73931" y="12665"/>
                </a:cubicBezTo>
                <a:lnTo>
                  <a:pt x="95105" y="12665"/>
                </a:lnTo>
                <a:cubicBezTo>
                  <a:pt x="95105" y="30158"/>
                  <a:pt x="109274" y="44327"/>
                  <a:pt x="126767" y="44327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Text 18"/>
          <p:cNvSpPr/>
          <p:nvPr/>
        </p:nvSpPr>
        <p:spPr>
          <a:xfrm>
            <a:off x="6735750" y="1215823"/>
            <a:ext cx="759889" cy="236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款式异议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1135" y="1553551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顾客异议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1135" y="1823734"/>
            <a:ext cx="5369884" cy="2195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"这个款式太普通了，没什么特别的。"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1135" y="2043258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销售回应（顺-转-推）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1135" y="2313440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"确实，这款设计比较经典。"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81135" y="2583623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"但经典才是永恒，不容易过时，而且非常百搭。"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1135" y="2853806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"您看，搭配这条真丝领带，整体感觉就不一样了，要不要试试？"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81135" y="3056443"/>
            <a:ext cx="5302338" cy="641684"/>
          </a:xfrm>
          <a:custGeom>
            <a:avLst/>
            <a:gdLst/>
            <a:ahLst/>
            <a:cxnLst/>
            <a:rect l="l" t="t" r="r" b="b"/>
            <a:pathLst>
              <a:path w="5302338" h="641684">
                <a:moveTo>
                  <a:pt x="67544" y="0"/>
                </a:moveTo>
                <a:lnTo>
                  <a:pt x="5234794" y="0"/>
                </a:lnTo>
                <a:cubicBezTo>
                  <a:pt x="5272098" y="0"/>
                  <a:pt x="5302338" y="30240"/>
                  <a:pt x="5302338" y="67544"/>
                </a:cubicBezTo>
                <a:lnTo>
                  <a:pt x="5302338" y="574141"/>
                </a:lnTo>
                <a:cubicBezTo>
                  <a:pt x="5302338" y="611444"/>
                  <a:pt x="5272098" y="641684"/>
                  <a:pt x="5234794" y="641684"/>
                </a:cubicBezTo>
                <a:lnTo>
                  <a:pt x="67544" y="641684"/>
                </a:lnTo>
                <a:cubicBezTo>
                  <a:pt x="30240" y="641684"/>
                  <a:pt x="0" y="611444"/>
                  <a:pt x="0" y="574141"/>
                </a:cubicBezTo>
                <a:lnTo>
                  <a:pt x="0" y="67544"/>
                </a:lnTo>
                <a:cubicBezTo>
                  <a:pt x="0" y="30265"/>
                  <a:pt x="30265" y="0"/>
                  <a:pt x="67544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6482453" y="3157762"/>
            <a:ext cx="5167247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处理要点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82453" y="3394172"/>
            <a:ext cx="5167247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认同观点，转化角度，展示搭配效果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4615" y="4035856"/>
            <a:ext cx="5656953" cy="2820033"/>
          </a:xfrm>
          <a:custGeom>
            <a:avLst/>
            <a:gdLst/>
            <a:ahLst/>
            <a:cxnLst/>
            <a:rect l="l" t="t" r="r" b="b"/>
            <a:pathLst>
              <a:path w="5656953" h="2820033">
                <a:moveTo>
                  <a:pt x="33773" y="0"/>
                </a:moveTo>
                <a:lnTo>
                  <a:pt x="5589413" y="0"/>
                </a:lnTo>
                <a:cubicBezTo>
                  <a:pt x="5626714" y="0"/>
                  <a:pt x="5656953" y="30239"/>
                  <a:pt x="5656953" y="67540"/>
                </a:cubicBezTo>
                <a:lnTo>
                  <a:pt x="5656953" y="2752493"/>
                </a:lnTo>
                <a:cubicBezTo>
                  <a:pt x="5656953" y="2789795"/>
                  <a:pt x="5626714" y="2820033"/>
                  <a:pt x="5589413" y="2820033"/>
                </a:cubicBezTo>
                <a:lnTo>
                  <a:pt x="33773" y="2820033"/>
                </a:lnTo>
                <a:cubicBezTo>
                  <a:pt x="15121" y="2820033"/>
                  <a:pt x="0" y="2804913"/>
                  <a:pt x="0" y="278626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1" name="Shape 29"/>
          <p:cNvSpPr/>
          <p:nvPr/>
        </p:nvSpPr>
        <p:spPr>
          <a:xfrm>
            <a:off x="354615" y="4035856"/>
            <a:ext cx="33773" cy="2820033"/>
          </a:xfrm>
          <a:custGeom>
            <a:avLst/>
            <a:gdLst/>
            <a:ahLst/>
            <a:cxnLst/>
            <a:rect l="l" t="t" r="r" b="b"/>
            <a:pathLst>
              <a:path w="33773" h="2820033">
                <a:moveTo>
                  <a:pt x="33773" y="0"/>
                </a:moveTo>
                <a:lnTo>
                  <a:pt x="33773" y="0"/>
                </a:lnTo>
                <a:lnTo>
                  <a:pt x="33773" y="2820033"/>
                </a:lnTo>
                <a:lnTo>
                  <a:pt x="33773" y="2820033"/>
                </a:lnTo>
                <a:cubicBezTo>
                  <a:pt x="15121" y="2820033"/>
                  <a:pt x="0" y="2804913"/>
                  <a:pt x="0" y="278626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32" name="Shape 30"/>
          <p:cNvSpPr/>
          <p:nvPr/>
        </p:nvSpPr>
        <p:spPr>
          <a:xfrm>
            <a:off x="553030" y="4221607"/>
            <a:ext cx="227967" cy="202637"/>
          </a:xfrm>
          <a:custGeom>
            <a:avLst/>
            <a:gdLst/>
            <a:ahLst/>
            <a:cxnLst/>
            <a:rect l="l" t="t" r="r" b="b"/>
            <a:pathLst>
              <a:path w="227967" h="202637">
                <a:moveTo>
                  <a:pt x="82757" y="204299"/>
                </a:moveTo>
                <a:cubicBezTo>
                  <a:pt x="75356" y="211700"/>
                  <a:pt x="63324" y="211700"/>
                  <a:pt x="55884" y="204299"/>
                </a:cubicBezTo>
                <a:lnTo>
                  <a:pt x="11121" y="159537"/>
                </a:lnTo>
                <a:cubicBezTo>
                  <a:pt x="3720" y="152136"/>
                  <a:pt x="3720" y="140105"/>
                  <a:pt x="11121" y="132664"/>
                </a:cubicBezTo>
                <a:lnTo>
                  <a:pt x="17849" y="125936"/>
                </a:lnTo>
                <a:lnTo>
                  <a:pt x="46939" y="155025"/>
                </a:lnTo>
                <a:cubicBezTo>
                  <a:pt x="50659" y="158746"/>
                  <a:pt x="56675" y="158746"/>
                  <a:pt x="60356" y="155025"/>
                </a:cubicBezTo>
                <a:cubicBezTo>
                  <a:pt x="64036" y="151305"/>
                  <a:pt x="64076" y="145289"/>
                  <a:pt x="60356" y="141609"/>
                </a:cubicBezTo>
                <a:lnTo>
                  <a:pt x="31266" y="112519"/>
                </a:lnTo>
                <a:lnTo>
                  <a:pt x="44683" y="99102"/>
                </a:lnTo>
                <a:lnTo>
                  <a:pt x="64828" y="119247"/>
                </a:lnTo>
                <a:cubicBezTo>
                  <a:pt x="68548" y="122967"/>
                  <a:pt x="74564" y="122967"/>
                  <a:pt x="78245" y="119247"/>
                </a:cubicBezTo>
                <a:cubicBezTo>
                  <a:pt x="81926" y="115527"/>
                  <a:pt x="81965" y="109511"/>
                  <a:pt x="78245" y="105830"/>
                </a:cubicBezTo>
                <a:lnTo>
                  <a:pt x="58100" y="85685"/>
                </a:lnTo>
                <a:lnTo>
                  <a:pt x="71517" y="72269"/>
                </a:lnTo>
                <a:lnTo>
                  <a:pt x="100606" y="101358"/>
                </a:lnTo>
                <a:cubicBezTo>
                  <a:pt x="104326" y="105078"/>
                  <a:pt x="110342" y="105078"/>
                  <a:pt x="114023" y="101358"/>
                </a:cubicBezTo>
                <a:cubicBezTo>
                  <a:pt x="117704" y="97638"/>
                  <a:pt x="117743" y="91622"/>
                  <a:pt x="114023" y="87941"/>
                </a:cubicBezTo>
                <a:lnTo>
                  <a:pt x="84933" y="58852"/>
                </a:lnTo>
                <a:lnTo>
                  <a:pt x="98350" y="45435"/>
                </a:lnTo>
                <a:lnTo>
                  <a:pt x="118495" y="65580"/>
                </a:lnTo>
                <a:cubicBezTo>
                  <a:pt x="122216" y="69300"/>
                  <a:pt x="128231" y="69300"/>
                  <a:pt x="131912" y="65580"/>
                </a:cubicBezTo>
                <a:cubicBezTo>
                  <a:pt x="135593" y="61860"/>
                  <a:pt x="135632" y="55844"/>
                  <a:pt x="131912" y="52163"/>
                </a:cubicBezTo>
                <a:lnTo>
                  <a:pt x="111767" y="32018"/>
                </a:lnTo>
                <a:lnTo>
                  <a:pt x="125184" y="18601"/>
                </a:lnTo>
                <a:lnTo>
                  <a:pt x="154273" y="47691"/>
                </a:lnTo>
                <a:cubicBezTo>
                  <a:pt x="157994" y="51411"/>
                  <a:pt x="164009" y="51411"/>
                  <a:pt x="167690" y="47691"/>
                </a:cubicBezTo>
                <a:cubicBezTo>
                  <a:pt x="171371" y="43971"/>
                  <a:pt x="171410" y="37955"/>
                  <a:pt x="167690" y="34274"/>
                </a:cubicBezTo>
                <a:lnTo>
                  <a:pt x="138601" y="5185"/>
                </a:lnTo>
                <a:lnTo>
                  <a:pt x="145329" y="-1544"/>
                </a:lnTo>
                <a:cubicBezTo>
                  <a:pt x="152730" y="-8945"/>
                  <a:pt x="164761" y="-8945"/>
                  <a:pt x="172202" y="-1544"/>
                </a:cubicBezTo>
                <a:lnTo>
                  <a:pt x="217083" y="43100"/>
                </a:lnTo>
                <a:cubicBezTo>
                  <a:pt x="224484" y="50501"/>
                  <a:pt x="224484" y="62533"/>
                  <a:pt x="217083" y="69973"/>
                </a:cubicBezTo>
                <a:lnTo>
                  <a:pt x="82757" y="204299"/>
                </a:lnTo>
                <a:close/>
              </a:path>
            </a:pathLst>
          </a:custGeom>
          <a:solidFill>
            <a:srgbClr val="A9A299"/>
          </a:solidFill>
        </p:spPr>
      </p:sp>
      <p:sp>
        <p:nvSpPr>
          <p:cNvPr id="33" name="Text 31"/>
          <p:cNvSpPr/>
          <p:nvPr/>
        </p:nvSpPr>
        <p:spPr>
          <a:xfrm>
            <a:off x="894981" y="4204720"/>
            <a:ext cx="759889" cy="236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尺码异议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0366" y="4542449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顾客异议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0366" y="4812632"/>
            <a:ext cx="5369884" cy="2195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"这个尺码好像有点小，有没有大一点的？"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0366" y="5032155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销售回应（顺-转-推）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0366" y="5302338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"确实，这件感觉稍微紧了一点。"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0366" y="5572521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"这款版型偏小，我拿大一码给您试试。"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0366" y="5842704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"大一号应该更合适，您稍等，我马上拿来。"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0366" y="6045341"/>
            <a:ext cx="5302338" cy="641684"/>
          </a:xfrm>
          <a:custGeom>
            <a:avLst/>
            <a:gdLst/>
            <a:ahLst/>
            <a:cxnLst/>
            <a:rect l="l" t="t" r="r" b="b"/>
            <a:pathLst>
              <a:path w="5302338" h="641684">
                <a:moveTo>
                  <a:pt x="67544" y="0"/>
                </a:moveTo>
                <a:lnTo>
                  <a:pt x="5234794" y="0"/>
                </a:lnTo>
                <a:cubicBezTo>
                  <a:pt x="5272098" y="0"/>
                  <a:pt x="5302338" y="30240"/>
                  <a:pt x="5302338" y="67544"/>
                </a:cubicBezTo>
                <a:lnTo>
                  <a:pt x="5302338" y="574141"/>
                </a:lnTo>
                <a:cubicBezTo>
                  <a:pt x="5302338" y="611444"/>
                  <a:pt x="5272098" y="641684"/>
                  <a:pt x="5234794" y="641684"/>
                </a:cubicBezTo>
                <a:lnTo>
                  <a:pt x="67544" y="641684"/>
                </a:lnTo>
                <a:cubicBezTo>
                  <a:pt x="30240" y="641684"/>
                  <a:pt x="0" y="611444"/>
                  <a:pt x="0" y="574141"/>
                </a:cubicBezTo>
                <a:lnTo>
                  <a:pt x="0" y="67544"/>
                </a:lnTo>
                <a:cubicBezTo>
                  <a:pt x="0" y="30265"/>
                  <a:pt x="30265" y="0"/>
                  <a:pt x="67544" y="0"/>
                </a:cubicBezTo>
                <a:close/>
              </a:path>
            </a:pathLst>
          </a:custGeom>
          <a:solidFill>
            <a:srgbClr val="A9A299">
              <a:alpha val="1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41684" y="6146659"/>
            <a:ext cx="5167247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处理要点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1684" y="6383069"/>
            <a:ext cx="5167247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认同感受，提供解决方案，立即行动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5384" y="4035856"/>
            <a:ext cx="5656953" cy="2820033"/>
          </a:xfrm>
          <a:custGeom>
            <a:avLst/>
            <a:gdLst/>
            <a:ahLst/>
            <a:cxnLst/>
            <a:rect l="l" t="t" r="r" b="b"/>
            <a:pathLst>
              <a:path w="5656953" h="2820033">
                <a:moveTo>
                  <a:pt x="33773" y="0"/>
                </a:moveTo>
                <a:lnTo>
                  <a:pt x="5589413" y="0"/>
                </a:lnTo>
                <a:cubicBezTo>
                  <a:pt x="5626714" y="0"/>
                  <a:pt x="5656953" y="30239"/>
                  <a:pt x="5656953" y="67540"/>
                </a:cubicBezTo>
                <a:lnTo>
                  <a:pt x="5656953" y="2752493"/>
                </a:lnTo>
                <a:cubicBezTo>
                  <a:pt x="5656953" y="2789795"/>
                  <a:pt x="5626714" y="2820033"/>
                  <a:pt x="5589413" y="2820033"/>
                </a:cubicBezTo>
                <a:lnTo>
                  <a:pt x="33773" y="2820033"/>
                </a:lnTo>
                <a:cubicBezTo>
                  <a:pt x="15121" y="2820033"/>
                  <a:pt x="0" y="2804913"/>
                  <a:pt x="0" y="278626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Shape 42"/>
          <p:cNvSpPr/>
          <p:nvPr/>
        </p:nvSpPr>
        <p:spPr>
          <a:xfrm>
            <a:off x="6195384" y="4035856"/>
            <a:ext cx="33773" cy="2820033"/>
          </a:xfrm>
          <a:custGeom>
            <a:avLst/>
            <a:gdLst/>
            <a:ahLst/>
            <a:cxnLst/>
            <a:rect l="l" t="t" r="r" b="b"/>
            <a:pathLst>
              <a:path w="33773" h="2820033">
                <a:moveTo>
                  <a:pt x="33773" y="0"/>
                </a:moveTo>
                <a:lnTo>
                  <a:pt x="33773" y="0"/>
                </a:lnTo>
                <a:lnTo>
                  <a:pt x="33773" y="2820033"/>
                </a:lnTo>
                <a:lnTo>
                  <a:pt x="33773" y="2820033"/>
                </a:lnTo>
                <a:cubicBezTo>
                  <a:pt x="15121" y="2820033"/>
                  <a:pt x="0" y="2804913"/>
                  <a:pt x="0" y="278626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45" name="Shape 43"/>
          <p:cNvSpPr/>
          <p:nvPr/>
        </p:nvSpPr>
        <p:spPr>
          <a:xfrm>
            <a:off x="6406464" y="4221607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101319" y="0"/>
                </a:moveTo>
                <a:cubicBezTo>
                  <a:pt x="103139" y="0"/>
                  <a:pt x="104960" y="396"/>
                  <a:pt x="106622" y="1148"/>
                </a:cubicBezTo>
                <a:lnTo>
                  <a:pt x="181186" y="32770"/>
                </a:lnTo>
                <a:cubicBezTo>
                  <a:pt x="189893" y="36451"/>
                  <a:pt x="196384" y="45039"/>
                  <a:pt x="196344" y="55409"/>
                </a:cubicBezTo>
                <a:cubicBezTo>
                  <a:pt x="196146" y="94670"/>
                  <a:pt x="179999" y="166503"/>
                  <a:pt x="111807" y="199154"/>
                </a:cubicBezTo>
                <a:cubicBezTo>
                  <a:pt x="105197" y="202320"/>
                  <a:pt x="97519" y="202320"/>
                  <a:pt x="90910" y="199154"/>
                </a:cubicBezTo>
                <a:cubicBezTo>
                  <a:pt x="22678" y="166503"/>
                  <a:pt x="6570" y="94670"/>
                  <a:pt x="6372" y="55409"/>
                </a:cubicBezTo>
                <a:cubicBezTo>
                  <a:pt x="6332" y="45039"/>
                  <a:pt x="12823" y="36451"/>
                  <a:pt x="21530" y="32770"/>
                </a:cubicBezTo>
                <a:lnTo>
                  <a:pt x="96055" y="1148"/>
                </a:lnTo>
                <a:cubicBezTo>
                  <a:pt x="97717" y="396"/>
                  <a:pt x="99498" y="0"/>
                  <a:pt x="101319" y="0"/>
                </a:cubicBezTo>
                <a:close/>
                <a:moveTo>
                  <a:pt x="101319" y="26438"/>
                </a:moveTo>
                <a:lnTo>
                  <a:pt x="101319" y="176081"/>
                </a:lnTo>
                <a:cubicBezTo>
                  <a:pt x="155936" y="149643"/>
                  <a:pt x="170619" y="91068"/>
                  <a:pt x="170975" y="56002"/>
                </a:cubicBezTo>
                <a:lnTo>
                  <a:pt x="101319" y="26477"/>
                </a:lnTo>
                <a:lnTo>
                  <a:pt x="101319" y="26477"/>
                </a:lnTo>
                <a:close/>
              </a:path>
            </a:pathLst>
          </a:custGeom>
          <a:solidFill>
            <a:srgbClr val="3A4F41"/>
          </a:solidFill>
        </p:spPr>
      </p:sp>
      <p:sp>
        <p:nvSpPr>
          <p:cNvPr id="46" name="Text 44"/>
          <p:cNvSpPr/>
          <p:nvPr/>
        </p:nvSpPr>
        <p:spPr>
          <a:xfrm>
            <a:off x="6735750" y="4204720"/>
            <a:ext cx="759889" cy="236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质量异议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81135" y="4542449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顾客异议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1135" y="4812632"/>
            <a:ext cx="5369884" cy="2195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"这面料会不会起球？质量怎么样？"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81135" y="5032155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销售回应（顺-转-推）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81135" y="5302338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"您考虑得很周到，质量确实很重要。"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81135" y="5572521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"这款采用高品质面料，经过特殊处理，不容易起球。"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81135" y="5842704"/>
            <a:ext cx="5369884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推：</a:t>
            </a: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"而且我们有三包服务，质量问题可以退换，您放心购买。"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81135" y="6045341"/>
            <a:ext cx="5302338" cy="641684"/>
          </a:xfrm>
          <a:custGeom>
            <a:avLst/>
            <a:gdLst/>
            <a:ahLst/>
            <a:cxnLst/>
            <a:rect l="l" t="t" r="r" b="b"/>
            <a:pathLst>
              <a:path w="5302338" h="641684">
                <a:moveTo>
                  <a:pt x="67544" y="0"/>
                </a:moveTo>
                <a:lnTo>
                  <a:pt x="5234794" y="0"/>
                </a:lnTo>
                <a:cubicBezTo>
                  <a:pt x="5272098" y="0"/>
                  <a:pt x="5302338" y="30240"/>
                  <a:pt x="5302338" y="67544"/>
                </a:cubicBezTo>
                <a:lnTo>
                  <a:pt x="5302338" y="574141"/>
                </a:lnTo>
                <a:cubicBezTo>
                  <a:pt x="5302338" y="611444"/>
                  <a:pt x="5272098" y="641684"/>
                  <a:pt x="5234794" y="641684"/>
                </a:cubicBezTo>
                <a:lnTo>
                  <a:pt x="67544" y="641684"/>
                </a:lnTo>
                <a:cubicBezTo>
                  <a:pt x="30240" y="641684"/>
                  <a:pt x="0" y="611444"/>
                  <a:pt x="0" y="574141"/>
                </a:cubicBezTo>
                <a:lnTo>
                  <a:pt x="0" y="67544"/>
                </a:lnTo>
                <a:cubicBezTo>
                  <a:pt x="0" y="30265"/>
                  <a:pt x="30265" y="0"/>
                  <a:pt x="67544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6482453" y="6146659"/>
            <a:ext cx="5167247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处理要点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82453" y="6383069"/>
            <a:ext cx="5167247" cy="2026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认同顾虑，专业解答，售后保障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0457" cy="189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b="1" kern="0" spc="209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07 · SCRIPT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44177"/>
            <a:ext cx="11604662" cy="378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异议处理 · 话术总结与重点掌握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7347" y="1250462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76956" y="5417"/>
                </a:moveTo>
                <a:lnTo>
                  <a:pt x="137791" y="44583"/>
                </a:lnTo>
                <a:lnTo>
                  <a:pt x="182773" y="89566"/>
                </a:lnTo>
                <a:lnTo>
                  <a:pt x="221939" y="50400"/>
                </a:lnTo>
                <a:cubicBezTo>
                  <a:pt x="225403" y="46892"/>
                  <a:pt x="227357" y="42185"/>
                  <a:pt x="227357" y="37301"/>
                </a:cubicBezTo>
                <a:cubicBezTo>
                  <a:pt x="227357" y="32416"/>
                  <a:pt x="225403" y="27709"/>
                  <a:pt x="221939" y="24201"/>
                </a:cubicBezTo>
                <a:lnTo>
                  <a:pt x="203156" y="5417"/>
                </a:lnTo>
                <a:cubicBezTo>
                  <a:pt x="199648" y="1954"/>
                  <a:pt x="194941" y="0"/>
                  <a:pt x="190056" y="0"/>
                </a:cubicBezTo>
                <a:cubicBezTo>
                  <a:pt x="185171" y="0"/>
                  <a:pt x="180464" y="1954"/>
                  <a:pt x="176956" y="5417"/>
                </a:cubicBezTo>
                <a:close/>
                <a:moveTo>
                  <a:pt x="122737" y="59637"/>
                </a:moveTo>
                <a:lnTo>
                  <a:pt x="5417" y="176956"/>
                </a:lnTo>
                <a:cubicBezTo>
                  <a:pt x="1954" y="180464"/>
                  <a:pt x="0" y="185171"/>
                  <a:pt x="0" y="190056"/>
                </a:cubicBezTo>
                <a:cubicBezTo>
                  <a:pt x="0" y="194941"/>
                  <a:pt x="1954" y="199648"/>
                  <a:pt x="5417" y="203156"/>
                </a:cubicBezTo>
                <a:lnTo>
                  <a:pt x="24201" y="221939"/>
                </a:lnTo>
                <a:cubicBezTo>
                  <a:pt x="27709" y="225403"/>
                  <a:pt x="32416" y="227357"/>
                  <a:pt x="37301" y="227357"/>
                </a:cubicBezTo>
                <a:cubicBezTo>
                  <a:pt x="42185" y="227357"/>
                  <a:pt x="46892" y="225403"/>
                  <a:pt x="50400" y="221939"/>
                </a:cubicBezTo>
                <a:lnTo>
                  <a:pt x="167720" y="104620"/>
                </a:lnTo>
                <a:lnTo>
                  <a:pt x="122737" y="59637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776802" y="1212569"/>
            <a:ext cx="1420979" cy="303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顺-转-推模板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8928" y="1667282"/>
            <a:ext cx="5608131" cy="1629389"/>
          </a:xfrm>
          <a:custGeom>
            <a:avLst/>
            <a:gdLst/>
            <a:ahLst/>
            <a:cxnLst/>
            <a:rect l="l" t="t" r="r" b="b"/>
            <a:pathLst>
              <a:path w="5608131" h="1629389">
                <a:moveTo>
                  <a:pt x="75783" y="0"/>
                </a:moveTo>
                <a:lnTo>
                  <a:pt x="5532348" y="0"/>
                </a:lnTo>
                <a:cubicBezTo>
                  <a:pt x="5574201" y="0"/>
                  <a:pt x="5608131" y="33929"/>
                  <a:pt x="5608131" y="75783"/>
                </a:cubicBezTo>
                <a:lnTo>
                  <a:pt x="5608131" y="1553606"/>
                </a:lnTo>
                <a:cubicBezTo>
                  <a:pt x="5608131" y="1595460"/>
                  <a:pt x="5574201" y="1629389"/>
                  <a:pt x="5532348" y="1629389"/>
                </a:cubicBezTo>
                <a:lnTo>
                  <a:pt x="75783" y="1629389"/>
                </a:lnTo>
                <a:cubicBezTo>
                  <a:pt x="33957" y="1629389"/>
                  <a:pt x="0" y="1595432"/>
                  <a:pt x="0" y="1553606"/>
                </a:cubicBezTo>
                <a:lnTo>
                  <a:pt x="0" y="75783"/>
                </a:lnTo>
                <a:cubicBezTo>
                  <a:pt x="0" y="33957"/>
                  <a:pt x="33957" y="0"/>
                  <a:pt x="75783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568392" y="1856746"/>
            <a:ext cx="5314462" cy="303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FFFFF"/>
                </a:solidFill>
                <a:highlight>
                  <a:srgbClr val="C47A5A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 </a:t>
            </a:r>
            <a:r>
              <a:rPr lang="en-US" sz="134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表示理解认同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8392" y="2273566"/>
            <a:ext cx="530498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"是的，您说得有道理。"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8392" y="2576709"/>
            <a:ext cx="530498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"我理解您的顾虑。"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8392" y="2879851"/>
            <a:ext cx="530498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"确实，这个问题值得考虑。"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8928" y="3448242"/>
            <a:ext cx="5608131" cy="1629389"/>
          </a:xfrm>
          <a:custGeom>
            <a:avLst/>
            <a:gdLst/>
            <a:ahLst/>
            <a:cxnLst/>
            <a:rect l="l" t="t" r="r" b="b"/>
            <a:pathLst>
              <a:path w="5608131" h="1629389">
                <a:moveTo>
                  <a:pt x="75783" y="0"/>
                </a:moveTo>
                <a:lnTo>
                  <a:pt x="5532348" y="0"/>
                </a:lnTo>
                <a:cubicBezTo>
                  <a:pt x="5574201" y="0"/>
                  <a:pt x="5608131" y="33929"/>
                  <a:pt x="5608131" y="75783"/>
                </a:cubicBezTo>
                <a:lnTo>
                  <a:pt x="5608131" y="1553606"/>
                </a:lnTo>
                <a:cubicBezTo>
                  <a:pt x="5608131" y="1595460"/>
                  <a:pt x="5574201" y="1629389"/>
                  <a:pt x="5532348" y="1629389"/>
                </a:cubicBezTo>
                <a:lnTo>
                  <a:pt x="75783" y="1629389"/>
                </a:lnTo>
                <a:cubicBezTo>
                  <a:pt x="33957" y="1629389"/>
                  <a:pt x="0" y="1595432"/>
                  <a:pt x="0" y="1553606"/>
                </a:cubicBezTo>
                <a:lnTo>
                  <a:pt x="0" y="75783"/>
                </a:lnTo>
                <a:cubicBezTo>
                  <a:pt x="0" y="33957"/>
                  <a:pt x="33957" y="0"/>
                  <a:pt x="75783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2" name="Text 10"/>
          <p:cNvSpPr/>
          <p:nvPr/>
        </p:nvSpPr>
        <p:spPr>
          <a:xfrm>
            <a:off x="568392" y="3637706"/>
            <a:ext cx="5314462" cy="303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C47A5A"/>
                </a:solidFill>
                <a:highlight>
                  <a:srgbClr val="FFFFFF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 </a:t>
            </a:r>
            <a:r>
              <a:rPr lang="en-US" sz="134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转化角度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8392" y="4054527"/>
            <a:ext cx="530498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"不过，从另一个角度看..."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8392" y="4357669"/>
            <a:ext cx="530498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"其实，这款产品..."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8392" y="4660811"/>
            <a:ext cx="530498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"让我给您解释一下..."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8928" y="5229203"/>
            <a:ext cx="5608131" cy="1629389"/>
          </a:xfrm>
          <a:custGeom>
            <a:avLst/>
            <a:gdLst/>
            <a:ahLst/>
            <a:cxnLst/>
            <a:rect l="l" t="t" r="r" b="b"/>
            <a:pathLst>
              <a:path w="5608131" h="1629389">
                <a:moveTo>
                  <a:pt x="75783" y="0"/>
                </a:moveTo>
                <a:lnTo>
                  <a:pt x="5532348" y="0"/>
                </a:lnTo>
                <a:cubicBezTo>
                  <a:pt x="5574201" y="0"/>
                  <a:pt x="5608131" y="33929"/>
                  <a:pt x="5608131" y="75783"/>
                </a:cubicBezTo>
                <a:lnTo>
                  <a:pt x="5608131" y="1553606"/>
                </a:lnTo>
                <a:cubicBezTo>
                  <a:pt x="5608131" y="1595460"/>
                  <a:pt x="5574201" y="1629389"/>
                  <a:pt x="5532348" y="1629389"/>
                </a:cubicBezTo>
                <a:lnTo>
                  <a:pt x="75783" y="1629389"/>
                </a:lnTo>
                <a:cubicBezTo>
                  <a:pt x="33957" y="1629389"/>
                  <a:pt x="0" y="1595432"/>
                  <a:pt x="0" y="1553606"/>
                </a:cubicBezTo>
                <a:lnTo>
                  <a:pt x="0" y="75783"/>
                </a:lnTo>
                <a:cubicBezTo>
                  <a:pt x="0" y="33957"/>
                  <a:pt x="33957" y="0"/>
                  <a:pt x="75783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17" name="Text 15"/>
          <p:cNvSpPr/>
          <p:nvPr/>
        </p:nvSpPr>
        <p:spPr>
          <a:xfrm>
            <a:off x="568392" y="5418667"/>
            <a:ext cx="5314462" cy="303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A9A299"/>
                </a:solidFill>
                <a:highlight>
                  <a:srgbClr val="FFFFFF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 </a:t>
            </a:r>
            <a:r>
              <a:rPr lang="en-US" sz="134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推动成交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8392" y="5835487"/>
            <a:ext cx="530498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"您看这样怎么样？"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8392" y="6138629"/>
            <a:ext cx="530498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"要不要试试？"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8392" y="6441772"/>
            <a:ext cx="530498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FFFFF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"现在购买还有优惠..."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8592" y="1250462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98937" y="113678"/>
                </a:moveTo>
                <a:cubicBezTo>
                  <a:pt x="198937" y="66623"/>
                  <a:pt x="160734" y="28420"/>
                  <a:pt x="113678" y="28420"/>
                </a:cubicBezTo>
                <a:cubicBezTo>
                  <a:pt x="66623" y="28420"/>
                  <a:pt x="28420" y="66623"/>
                  <a:pt x="28420" y="113678"/>
                </a:cubicBezTo>
                <a:cubicBezTo>
                  <a:pt x="28420" y="160734"/>
                  <a:pt x="66623" y="198937"/>
                  <a:pt x="113678" y="198937"/>
                </a:cubicBezTo>
                <a:cubicBezTo>
                  <a:pt x="160734" y="198937"/>
                  <a:pt x="198937" y="160734"/>
                  <a:pt x="198937" y="113678"/>
                </a:cubicBezTo>
                <a:close/>
                <a:moveTo>
                  <a:pt x="0" y="113678"/>
                </a:moveTo>
                <a:cubicBezTo>
                  <a:pt x="0" y="50938"/>
                  <a:pt x="50938" y="0"/>
                  <a:pt x="113678" y="0"/>
                </a:cubicBezTo>
                <a:cubicBezTo>
                  <a:pt x="176419" y="0"/>
                  <a:pt x="227357" y="50938"/>
                  <a:pt x="227357" y="113678"/>
                </a:cubicBezTo>
                <a:cubicBezTo>
                  <a:pt x="227357" y="176419"/>
                  <a:pt x="176419" y="227357"/>
                  <a:pt x="113678" y="227357"/>
                </a:cubicBezTo>
                <a:cubicBezTo>
                  <a:pt x="50938" y="227357"/>
                  <a:pt x="0" y="176419"/>
                  <a:pt x="0" y="113678"/>
                </a:cubicBezTo>
                <a:close/>
                <a:moveTo>
                  <a:pt x="113678" y="149203"/>
                </a:moveTo>
                <a:cubicBezTo>
                  <a:pt x="133285" y="149203"/>
                  <a:pt x="149203" y="133285"/>
                  <a:pt x="149203" y="113678"/>
                </a:cubicBezTo>
                <a:cubicBezTo>
                  <a:pt x="149203" y="94072"/>
                  <a:pt x="133285" y="78154"/>
                  <a:pt x="113678" y="78154"/>
                </a:cubicBezTo>
                <a:cubicBezTo>
                  <a:pt x="94072" y="78154"/>
                  <a:pt x="78154" y="94072"/>
                  <a:pt x="78154" y="113678"/>
                </a:cubicBezTo>
                <a:cubicBezTo>
                  <a:pt x="78154" y="133285"/>
                  <a:pt x="94072" y="149203"/>
                  <a:pt x="113678" y="149203"/>
                </a:cubicBezTo>
                <a:close/>
                <a:moveTo>
                  <a:pt x="113678" y="49734"/>
                </a:moveTo>
                <a:cubicBezTo>
                  <a:pt x="148970" y="49734"/>
                  <a:pt x="177622" y="78387"/>
                  <a:pt x="177622" y="113678"/>
                </a:cubicBezTo>
                <a:cubicBezTo>
                  <a:pt x="177622" y="148970"/>
                  <a:pt x="148970" y="177622"/>
                  <a:pt x="113678" y="177622"/>
                </a:cubicBezTo>
                <a:cubicBezTo>
                  <a:pt x="78387" y="177622"/>
                  <a:pt x="49734" y="148970"/>
                  <a:pt x="49734" y="113678"/>
                </a:cubicBezTo>
                <a:cubicBezTo>
                  <a:pt x="49734" y="78387"/>
                  <a:pt x="78387" y="49734"/>
                  <a:pt x="113678" y="49734"/>
                </a:cubicBezTo>
                <a:close/>
                <a:moveTo>
                  <a:pt x="99469" y="113678"/>
                </a:moveTo>
                <a:cubicBezTo>
                  <a:pt x="99469" y="105836"/>
                  <a:pt x="105836" y="99469"/>
                  <a:pt x="113678" y="99469"/>
                </a:cubicBezTo>
                <a:cubicBezTo>
                  <a:pt x="121521" y="99469"/>
                  <a:pt x="127888" y="105836"/>
                  <a:pt x="127888" y="113678"/>
                </a:cubicBezTo>
                <a:cubicBezTo>
                  <a:pt x="127888" y="121521"/>
                  <a:pt x="121521" y="127888"/>
                  <a:pt x="113678" y="127888"/>
                </a:cubicBezTo>
                <a:cubicBezTo>
                  <a:pt x="105836" y="127888"/>
                  <a:pt x="99469" y="121521"/>
                  <a:pt x="99469" y="11367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2" name="Text 20"/>
          <p:cNvSpPr/>
          <p:nvPr/>
        </p:nvSpPr>
        <p:spPr>
          <a:xfrm>
            <a:off x="6608046" y="1212569"/>
            <a:ext cx="1023105" cy="3031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重点掌握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172" y="1667282"/>
            <a:ext cx="5608131" cy="3599814"/>
          </a:xfrm>
          <a:custGeom>
            <a:avLst/>
            <a:gdLst/>
            <a:ahLst/>
            <a:cxnLst/>
            <a:rect l="l" t="t" r="r" b="b"/>
            <a:pathLst>
              <a:path w="5608131" h="3599814">
                <a:moveTo>
                  <a:pt x="75776" y="0"/>
                </a:moveTo>
                <a:lnTo>
                  <a:pt x="5532354" y="0"/>
                </a:lnTo>
                <a:cubicBezTo>
                  <a:pt x="5574204" y="0"/>
                  <a:pt x="5608131" y="33926"/>
                  <a:pt x="5608131" y="75776"/>
                </a:cubicBezTo>
                <a:lnTo>
                  <a:pt x="5608131" y="3524037"/>
                </a:lnTo>
                <a:cubicBezTo>
                  <a:pt x="5608131" y="3565887"/>
                  <a:pt x="5574204" y="3599814"/>
                  <a:pt x="5532354" y="3599814"/>
                </a:cubicBezTo>
                <a:lnTo>
                  <a:pt x="75776" y="3599814"/>
                </a:lnTo>
                <a:cubicBezTo>
                  <a:pt x="33926" y="3599814"/>
                  <a:pt x="0" y="3565887"/>
                  <a:pt x="0" y="3524037"/>
                </a:cubicBezTo>
                <a:lnTo>
                  <a:pt x="0" y="75776"/>
                </a:lnTo>
                <a:cubicBezTo>
                  <a:pt x="0" y="33954"/>
                  <a:pt x="33954" y="0"/>
                  <a:pt x="7577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Shape 22"/>
          <p:cNvSpPr/>
          <p:nvPr/>
        </p:nvSpPr>
        <p:spPr>
          <a:xfrm>
            <a:off x="6399636" y="1856746"/>
            <a:ext cx="454713" cy="454713"/>
          </a:xfrm>
          <a:custGeom>
            <a:avLst/>
            <a:gdLst/>
            <a:ahLst/>
            <a:cxnLst/>
            <a:rect l="l" t="t" r="r" b="b"/>
            <a:pathLst>
              <a:path w="454713" h="454713">
                <a:moveTo>
                  <a:pt x="227357" y="0"/>
                </a:moveTo>
                <a:lnTo>
                  <a:pt x="227357" y="0"/>
                </a:lnTo>
                <a:cubicBezTo>
                  <a:pt x="352838" y="0"/>
                  <a:pt x="454713" y="101875"/>
                  <a:pt x="454713" y="227357"/>
                </a:cubicBezTo>
                <a:lnTo>
                  <a:pt x="454713" y="227357"/>
                </a:lnTo>
                <a:cubicBezTo>
                  <a:pt x="454713" y="352838"/>
                  <a:pt x="352838" y="454713"/>
                  <a:pt x="227357" y="454713"/>
                </a:cubicBezTo>
                <a:lnTo>
                  <a:pt x="227357" y="454713"/>
                </a:lnTo>
                <a:cubicBezTo>
                  <a:pt x="101875" y="454713"/>
                  <a:pt x="0" y="352838"/>
                  <a:pt x="0" y="227357"/>
                </a:cubicBezTo>
                <a:lnTo>
                  <a:pt x="0" y="227357"/>
                </a:lnTo>
                <a:cubicBezTo>
                  <a:pt x="0" y="101875"/>
                  <a:pt x="101875" y="0"/>
                  <a:pt x="227357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5" name="Shape 23"/>
          <p:cNvSpPr/>
          <p:nvPr/>
        </p:nvSpPr>
        <p:spPr>
          <a:xfrm>
            <a:off x="6532261" y="1989371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135881" y="152644"/>
                </a:moveTo>
                <a:lnTo>
                  <a:pt x="36820" y="53583"/>
                </a:lnTo>
                <a:cubicBezTo>
                  <a:pt x="28531" y="65202"/>
                  <a:pt x="23683" y="79412"/>
                  <a:pt x="23683" y="94732"/>
                </a:cubicBezTo>
                <a:cubicBezTo>
                  <a:pt x="23683" y="133957"/>
                  <a:pt x="55507" y="165781"/>
                  <a:pt x="94732" y="165781"/>
                </a:cubicBezTo>
                <a:cubicBezTo>
                  <a:pt x="110089" y="165781"/>
                  <a:pt x="124299" y="160933"/>
                  <a:pt x="135881" y="152644"/>
                </a:cubicBezTo>
                <a:close/>
                <a:moveTo>
                  <a:pt x="152644" y="135881"/>
                </a:moveTo>
                <a:cubicBezTo>
                  <a:pt x="160933" y="124262"/>
                  <a:pt x="165781" y="110052"/>
                  <a:pt x="165781" y="94732"/>
                </a:cubicBezTo>
                <a:cubicBezTo>
                  <a:pt x="165781" y="55507"/>
                  <a:pt x="133957" y="23683"/>
                  <a:pt x="94732" y="23683"/>
                </a:cubicBezTo>
                <a:cubicBezTo>
                  <a:pt x="79375" y="23683"/>
                  <a:pt x="65165" y="28531"/>
                  <a:pt x="53583" y="36820"/>
                </a:cubicBezTo>
                <a:lnTo>
                  <a:pt x="152644" y="135881"/>
                </a:lnTo>
                <a:close/>
                <a:moveTo>
                  <a:pt x="0" y="94732"/>
                </a:moveTo>
                <a:cubicBezTo>
                  <a:pt x="0" y="42448"/>
                  <a:pt x="42448" y="0"/>
                  <a:pt x="94732" y="0"/>
                </a:cubicBezTo>
                <a:cubicBezTo>
                  <a:pt x="147016" y="0"/>
                  <a:pt x="189464" y="42448"/>
                  <a:pt x="189464" y="94732"/>
                </a:cubicBezTo>
                <a:cubicBezTo>
                  <a:pt x="189464" y="147016"/>
                  <a:pt x="147016" y="189464"/>
                  <a:pt x="94732" y="189464"/>
                </a:cubicBezTo>
                <a:cubicBezTo>
                  <a:pt x="42448" y="189464"/>
                  <a:pt x="0" y="147016"/>
                  <a:pt x="0" y="9473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7005920" y="1856746"/>
            <a:ext cx="2207254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不否定不排斥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05920" y="2159888"/>
            <a:ext cx="2197781" cy="2463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不与顾客争辩，先认同顾客观点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99636" y="2557762"/>
            <a:ext cx="454713" cy="454713"/>
          </a:xfrm>
          <a:custGeom>
            <a:avLst/>
            <a:gdLst/>
            <a:ahLst/>
            <a:cxnLst/>
            <a:rect l="l" t="t" r="r" b="b"/>
            <a:pathLst>
              <a:path w="454713" h="454713">
                <a:moveTo>
                  <a:pt x="227357" y="0"/>
                </a:moveTo>
                <a:lnTo>
                  <a:pt x="227357" y="0"/>
                </a:lnTo>
                <a:cubicBezTo>
                  <a:pt x="352838" y="0"/>
                  <a:pt x="454713" y="101875"/>
                  <a:pt x="454713" y="227357"/>
                </a:cubicBezTo>
                <a:lnTo>
                  <a:pt x="454713" y="227357"/>
                </a:lnTo>
                <a:cubicBezTo>
                  <a:pt x="454713" y="352838"/>
                  <a:pt x="352838" y="454713"/>
                  <a:pt x="227357" y="454713"/>
                </a:cubicBezTo>
                <a:lnTo>
                  <a:pt x="227357" y="454713"/>
                </a:lnTo>
                <a:cubicBezTo>
                  <a:pt x="101875" y="454713"/>
                  <a:pt x="0" y="352838"/>
                  <a:pt x="0" y="227357"/>
                </a:cubicBezTo>
                <a:lnTo>
                  <a:pt x="0" y="227357"/>
                </a:lnTo>
                <a:cubicBezTo>
                  <a:pt x="0" y="101875"/>
                  <a:pt x="101875" y="0"/>
                  <a:pt x="227357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9" name="Shape 27"/>
          <p:cNvSpPr/>
          <p:nvPr/>
        </p:nvSpPr>
        <p:spPr>
          <a:xfrm>
            <a:off x="6532261" y="2690387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89181" y="32231"/>
                </a:moveTo>
                <a:lnTo>
                  <a:pt x="94732" y="39891"/>
                </a:lnTo>
                <a:lnTo>
                  <a:pt x="100283" y="32231"/>
                </a:lnTo>
                <a:cubicBezTo>
                  <a:pt x="109534" y="19427"/>
                  <a:pt x="124410" y="11841"/>
                  <a:pt x="140211" y="11841"/>
                </a:cubicBezTo>
                <a:cubicBezTo>
                  <a:pt x="167409" y="11841"/>
                  <a:pt x="189464" y="33896"/>
                  <a:pt x="189464" y="61095"/>
                </a:cubicBezTo>
                <a:lnTo>
                  <a:pt x="189464" y="62057"/>
                </a:lnTo>
                <a:cubicBezTo>
                  <a:pt x="189464" y="103576"/>
                  <a:pt x="137694" y="151793"/>
                  <a:pt x="110681" y="172405"/>
                </a:cubicBezTo>
                <a:cubicBezTo>
                  <a:pt x="106092" y="175883"/>
                  <a:pt x="100468" y="177622"/>
                  <a:pt x="94732" y="177622"/>
                </a:cubicBezTo>
                <a:cubicBezTo>
                  <a:pt x="88996" y="177622"/>
                  <a:pt x="83334" y="175920"/>
                  <a:pt x="78783" y="172405"/>
                </a:cubicBezTo>
                <a:cubicBezTo>
                  <a:pt x="51770" y="151793"/>
                  <a:pt x="0" y="103576"/>
                  <a:pt x="0" y="62057"/>
                </a:cubicBezTo>
                <a:lnTo>
                  <a:pt x="0" y="61095"/>
                </a:lnTo>
                <a:cubicBezTo>
                  <a:pt x="0" y="33896"/>
                  <a:pt x="22055" y="11841"/>
                  <a:pt x="49253" y="11841"/>
                </a:cubicBezTo>
                <a:cubicBezTo>
                  <a:pt x="65054" y="11841"/>
                  <a:pt x="79930" y="19427"/>
                  <a:pt x="89181" y="322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7005920" y="2557762"/>
            <a:ext cx="2055683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表示理解认同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05920" y="2860904"/>
            <a:ext cx="2046210" cy="2463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站在顾客角度，理解顾客顾虑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99636" y="3258779"/>
            <a:ext cx="454713" cy="454713"/>
          </a:xfrm>
          <a:custGeom>
            <a:avLst/>
            <a:gdLst/>
            <a:ahLst/>
            <a:cxnLst/>
            <a:rect l="l" t="t" r="r" b="b"/>
            <a:pathLst>
              <a:path w="454713" h="454713">
                <a:moveTo>
                  <a:pt x="227357" y="0"/>
                </a:moveTo>
                <a:lnTo>
                  <a:pt x="227357" y="0"/>
                </a:lnTo>
                <a:cubicBezTo>
                  <a:pt x="352838" y="0"/>
                  <a:pt x="454713" y="101875"/>
                  <a:pt x="454713" y="227357"/>
                </a:cubicBezTo>
                <a:lnTo>
                  <a:pt x="454713" y="227357"/>
                </a:lnTo>
                <a:cubicBezTo>
                  <a:pt x="454713" y="352838"/>
                  <a:pt x="352838" y="454713"/>
                  <a:pt x="227357" y="454713"/>
                </a:cubicBezTo>
                <a:lnTo>
                  <a:pt x="227357" y="454713"/>
                </a:lnTo>
                <a:cubicBezTo>
                  <a:pt x="101875" y="454713"/>
                  <a:pt x="0" y="352838"/>
                  <a:pt x="0" y="227357"/>
                </a:cubicBezTo>
                <a:lnTo>
                  <a:pt x="0" y="227357"/>
                </a:lnTo>
                <a:cubicBezTo>
                  <a:pt x="0" y="101875"/>
                  <a:pt x="101875" y="0"/>
                  <a:pt x="227357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3" name="Shape 31"/>
          <p:cNvSpPr/>
          <p:nvPr/>
        </p:nvSpPr>
        <p:spPr>
          <a:xfrm>
            <a:off x="6532261" y="3391403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185985" y="55729"/>
                </a:moveTo>
                <a:lnTo>
                  <a:pt x="150461" y="91253"/>
                </a:lnTo>
                <a:cubicBezTo>
                  <a:pt x="147057" y="94658"/>
                  <a:pt x="141987" y="95657"/>
                  <a:pt x="137546" y="93807"/>
                </a:cubicBezTo>
                <a:cubicBezTo>
                  <a:pt x="133106" y="91957"/>
                  <a:pt x="130256" y="87664"/>
                  <a:pt x="130256" y="82890"/>
                </a:cubicBezTo>
                <a:lnTo>
                  <a:pt x="130256" y="59207"/>
                </a:lnTo>
                <a:lnTo>
                  <a:pt x="11841" y="59207"/>
                </a:lnTo>
                <a:cubicBezTo>
                  <a:pt x="5292" y="59207"/>
                  <a:pt x="0" y="53916"/>
                  <a:pt x="0" y="47366"/>
                </a:cubicBezTo>
                <a:cubicBezTo>
                  <a:pt x="0" y="40816"/>
                  <a:pt x="5292" y="35524"/>
                  <a:pt x="11841" y="35524"/>
                </a:cubicBezTo>
                <a:lnTo>
                  <a:pt x="130256" y="35524"/>
                </a:lnTo>
                <a:lnTo>
                  <a:pt x="130256" y="11841"/>
                </a:lnTo>
                <a:cubicBezTo>
                  <a:pt x="130256" y="7068"/>
                  <a:pt x="133143" y="2738"/>
                  <a:pt x="137583" y="888"/>
                </a:cubicBezTo>
                <a:cubicBezTo>
                  <a:pt x="142024" y="-962"/>
                  <a:pt x="147094" y="74"/>
                  <a:pt x="150498" y="3441"/>
                </a:cubicBezTo>
                <a:lnTo>
                  <a:pt x="186022" y="38966"/>
                </a:lnTo>
                <a:cubicBezTo>
                  <a:pt x="190648" y="43591"/>
                  <a:pt x="190648" y="51103"/>
                  <a:pt x="186022" y="55729"/>
                </a:cubicBezTo>
                <a:close/>
                <a:moveTo>
                  <a:pt x="38966" y="185985"/>
                </a:moveTo>
                <a:lnTo>
                  <a:pt x="3441" y="150461"/>
                </a:lnTo>
                <a:cubicBezTo>
                  <a:pt x="-1184" y="145835"/>
                  <a:pt x="-1184" y="138323"/>
                  <a:pt x="3441" y="133698"/>
                </a:cubicBezTo>
                <a:lnTo>
                  <a:pt x="38966" y="98173"/>
                </a:lnTo>
                <a:cubicBezTo>
                  <a:pt x="42370" y="94769"/>
                  <a:pt x="47440" y="93770"/>
                  <a:pt x="51881" y="95620"/>
                </a:cubicBezTo>
                <a:cubicBezTo>
                  <a:pt x="56321" y="97470"/>
                  <a:pt x="59207" y="101800"/>
                  <a:pt x="59207" y="106573"/>
                </a:cubicBezTo>
                <a:lnTo>
                  <a:pt x="59207" y="130256"/>
                </a:lnTo>
                <a:lnTo>
                  <a:pt x="177622" y="130256"/>
                </a:lnTo>
                <a:cubicBezTo>
                  <a:pt x="184172" y="130256"/>
                  <a:pt x="189464" y="135548"/>
                  <a:pt x="189464" y="142098"/>
                </a:cubicBezTo>
                <a:cubicBezTo>
                  <a:pt x="189464" y="148648"/>
                  <a:pt x="184172" y="153939"/>
                  <a:pt x="177622" y="153939"/>
                </a:cubicBezTo>
                <a:lnTo>
                  <a:pt x="59207" y="153939"/>
                </a:lnTo>
                <a:lnTo>
                  <a:pt x="59207" y="177622"/>
                </a:lnTo>
                <a:cubicBezTo>
                  <a:pt x="59207" y="182396"/>
                  <a:pt x="56321" y="186726"/>
                  <a:pt x="51881" y="188576"/>
                </a:cubicBezTo>
                <a:cubicBezTo>
                  <a:pt x="47440" y="190426"/>
                  <a:pt x="42370" y="189390"/>
                  <a:pt x="38966" y="18602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7005920" y="3258779"/>
            <a:ext cx="2358825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顺转推步骤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05920" y="3561921"/>
            <a:ext cx="2349352" cy="2463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先顺后转再推，循序渐进化解异议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9636" y="3959795"/>
            <a:ext cx="454713" cy="454713"/>
          </a:xfrm>
          <a:custGeom>
            <a:avLst/>
            <a:gdLst/>
            <a:ahLst/>
            <a:cxnLst/>
            <a:rect l="l" t="t" r="r" b="b"/>
            <a:pathLst>
              <a:path w="454713" h="454713">
                <a:moveTo>
                  <a:pt x="227357" y="0"/>
                </a:moveTo>
                <a:lnTo>
                  <a:pt x="227357" y="0"/>
                </a:lnTo>
                <a:cubicBezTo>
                  <a:pt x="352838" y="0"/>
                  <a:pt x="454713" y="101875"/>
                  <a:pt x="454713" y="227357"/>
                </a:cubicBezTo>
                <a:lnTo>
                  <a:pt x="454713" y="227357"/>
                </a:lnTo>
                <a:cubicBezTo>
                  <a:pt x="454713" y="352838"/>
                  <a:pt x="352838" y="454713"/>
                  <a:pt x="227357" y="454713"/>
                </a:cubicBezTo>
                <a:lnTo>
                  <a:pt x="227357" y="454713"/>
                </a:lnTo>
                <a:cubicBezTo>
                  <a:pt x="101875" y="454713"/>
                  <a:pt x="0" y="352838"/>
                  <a:pt x="0" y="227357"/>
                </a:cubicBezTo>
                <a:lnTo>
                  <a:pt x="0" y="227357"/>
                </a:lnTo>
                <a:cubicBezTo>
                  <a:pt x="0" y="101875"/>
                  <a:pt x="101875" y="0"/>
                  <a:pt x="227357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7" name="Shape 35"/>
          <p:cNvSpPr/>
          <p:nvPr/>
        </p:nvSpPr>
        <p:spPr>
          <a:xfrm>
            <a:off x="6532261" y="4092420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94732" y="189464"/>
                </a:moveTo>
                <a:cubicBezTo>
                  <a:pt x="147016" y="189464"/>
                  <a:pt x="189464" y="147016"/>
                  <a:pt x="189464" y="94732"/>
                </a:cubicBezTo>
                <a:cubicBezTo>
                  <a:pt x="189464" y="42448"/>
                  <a:pt x="147016" y="0"/>
                  <a:pt x="94732" y="0"/>
                </a:cubicBezTo>
                <a:cubicBezTo>
                  <a:pt x="42448" y="0"/>
                  <a:pt x="0" y="42448"/>
                  <a:pt x="0" y="94732"/>
                </a:cubicBezTo>
                <a:cubicBezTo>
                  <a:pt x="0" y="147016"/>
                  <a:pt x="42448" y="189464"/>
                  <a:pt x="94732" y="189464"/>
                </a:cubicBezTo>
                <a:close/>
                <a:moveTo>
                  <a:pt x="61206" y="119118"/>
                </a:moveTo>
                <a:cubicBezTo>
                  <a:pt x="68755" y="129479"/>
                  <a:pt x="80966" y="136177"/>
                  <a:pt x="94732" y="136177"/>
                </a:cubicBezTo>
                <a:cubicBezTo>
                  <a:pt x="108498" y="136177"/>
                  <a:pt x="120709" y="129479"/>
                  <a:pt x="128258" y="119118"/>
                </a:cubicBezTo>
                <a:cubicBezTo>
                  <a:pt x="131145" y="115159"/>
                  <a:pt x="136695" y="114270"/>
                  <a:pt x="140655" y="117157"/>
                </a:cubicBezTo>
                <a:cubicBezTo>
                  <a:pt x="144614" y="120043"/>
                  <a:pt x="145502" y="125594"/>
                  <a:pt x="142616" y="129553"/>
                </a:cubicBezTo>
                <a:cubicBezTo>
                  <a:pt x="131848" y="144318"/>
                  <a:pt x="114418" y="153939"/>
                  <a:pt x="94732" y="153939"/>
                </a:cubicBezTo>
                <a:cubicBezTo>
                  <a:pt x="75045" y="153939"/>
                  <a:pt x="57616" y="144318"/>
                  <a:pt x="46848" y="129553"/>
                </a:cubicBezTo>
                <a:cubicBezTo>
                  <a:pt x="43962" y="125594"/>
                  <a:pt x="44850" y="120043"/>
                  <a:pt x="48809" y="117157"/>
                </a:cubicBezTo>
                <a:cubicBezTo>
                  <a:pt x="52769" y="114270"/>
                  <a:pt x="58319" y="115159"/>
                  <a:pt x="61206" y="119118"/>
                </a:cubicBezTo>
                <a:close/>
                <a:moveTo>
                  <a:pt x="53287" y="76970"/>
                </a:moveTo>
                <a:cubicBezTo>
                  <a:pt x="53287" y="70434"/>
                  <a:pt x="58593" y="65128"/>
                  <a:pt x="65128" y="65128"/>
                </a:cubicBezTo>
                <a:cubicBezTo>
                  <a:pt x="71664" y="65128"/>
                  <a:pt x="76970" y="70434"/>
                  <a:pt x="76970" y="76970"/>
                </a:cubicBezTo>
                <a:cubicBezTo>
                  <a:pt x="76970" y="83505"/>
                  <a:pt x="71664" y="88811"/>
                  <a:pt x="65128" y="88811"/>
                </a:cubicBezTo>
                <a:cubicBezTo>
                  <a:pt x="58593" y="88811"/>
                  <a:pt x="53287" y="83505"/>
                  <a:pt x="53287" y="76970"/>
                </a:cubicBezTo>
                <a:close/>
                <a:moveTo>
                  <a:pt x="124336" y="65128"/>
                </a:moveTo>
                <a:cubicBezTo>
                  <a:pt x="130871" y="65128"/>
                  <a:pt x="136177" y="70434"/>
                  <a:pt x="136177" y="76970"/>
                </a:cubicBezTo>
                <a:cubicBezTo>
                  <a:pt x="136177" y="83505"/>
                  <a:pt x="130871" y="88811"/>
                  <a:pt x="124336" y="88811"/>
                </a:cubicBezTo>
                <a:cubicBezTo>
                  <a:pt x="117800" y="88811"/>
                  <a:pt x="112494" y="83505"/>
                  <a:pt x="112494" y="76970"/>
                </a:cubicBezTo>
                <a:cubicBezTo>
                  <a:pt x="112494" y="70434"/>
                  <a:pt x="117800" y="65128"/>
                  <a:pt x="124336" y="6512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7005920" y="3959795"/>
            <a:ext cx="2055683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态度诚恳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05920" y="4262937"/>
            <a:ext cx="2046210" cy="2463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真诚对待每一个异议，不敷衍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172" y="5418667"/>
            <a:ext cx="5608131" cy="1439925"/>
          </a:xfrm>
          <a:custGeom>
            <a:avLst/>
            <a:gdLst/>
            <a:ahLst/>
            <a:cxnLst/>
            <a:rect l="l" t="t" r="r" b="b"/>
            <a:pathLst>
              <a:path w="5608131" h="1439925">
                <a:moveTo>
                  <a:pt x="75783" y="0"/>
                </a:moveTo>
                <a:lnTo>
                  <a:pt x="5532347" y="0"/>
                </a:lnTo>
                <a:cubicBezTo>
                  <a:pt x="5574201" y="0"/>
                  <a:pt x="5608131" y="33929"/>
                  <a:pt x="5608131" y="75783"/>
                </a:cubicBezTo>
                <a:lnTo>
                  <a:pt x="5608131" y="1364142"/>
                </a:lnTo>
                <a:cubicBezTo>
                  <a:pt x="5608131" y="1405996"/>
                  <a:pt x="5574201" y="1439925"/>
                  <a:pt x="5532347" y="1439925"/>
                </a:cubicBezTo>
                <a:lnTo>
                  <a:pt x="75783" y="1439925"/>
                </a:lnTo>
                <a:cubicBezTo>
                  <a:pt x="33957" y="1439925"/>
                  <a:pt x="0" y="1405968"/>
                  <a:pt x="0" y="1364142"/>
                </a:cubicBezTo>
                <a:lnTo>
                  <a:pt x="0" y="75783"/>
                </a:lnTo>
                <a:cubicBezTo>
                  <a:pt x="0" y="33929"/>
                  <a:pt x="33929" y="0"/>
                  <a:pt x="75783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361743" y="5570238"/>
            <a:ext cx="5380774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常见异议应对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0163" y="5911273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Text 41"/>
          <p:cNvSpPr/>
          <p:nvPr/>
        </p:nvSpPr>
        <p:spPr>
          <a:xfrm>
            <a:off x="6626993" y="5873380"/>
            <a:ext cx="1288354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价格贵→强调价值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78379" y="5911273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9315208" y="5873380"/>
            <a:ext cx="1439925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款式普通→强调经典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0163" y="6214415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7" name="Text 45"/>
          <p:cNvSpPr/>
          <p:nvPr/>
        </p:nvSpPr>
        <p:spPr>
          <a:xfrm>
            <a:off x="6626993" y="6176522"/>
            <a:ext cx="1439925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尺码问题→提供备选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78379" y="6214415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9" name="Text 47"/>
          <p:cNvSpPr/>
          <p:nvPr/>
        </p:nvSpPr>
        <p:spPr>
          <a:xfrm>
            <a:off x="9315208" y="6176522"/>
            <a:ext cx="1439925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质量担忧→售后保障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0163" y="6517557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1" name="Text 49"/>
          <p:cNvSpPr/>
          <p:nvPr/>
        </p:nvSpPr>
        <p:spPr>
          <a:xfrm>
            <a:off x="6626993" y="6479664"/>
            <a:ext cx="1439925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再考虑→制造紧迫感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78379" y="6517557"/>
            <a:ext cx="132625" cy="151571"/>
          </a:xfrm>
          <a:custGeom>
            <a:avLst/>
            <a:gdLst/>
            <a:ahLst/>
            <a:cxnLst/>
            <a:rect l="l" t="t" r="r" b="b"/>
            <a:pathLst>
              <a:path w="132625" h="151571">
                <a:moveTo>
                  <a:pt x="128717" y="20752"/>
                </a:moveTo>
                <a:cubicBezTo>
                  <a:pt x="132950" y="23831"/>
                  <a:pt x="133898" y="29752"/>
                  <a:pt x="130819" y="33985"/>
                </a:cubicBezTo>
                <a:lnTo>
                  <a:pt x="55033" y="138190"/>
                </a:lnTo>
                <a:cubicBezTo>
                  <a:pt x="53405" y="140440"/>
                  <a:pt x="50889" y="141831"/>
                  <a:pt x="48106" y="142068"/>
                </a:cubicBezTo>
                <a:cubicBezTo>
                  <a:pt x="45323" y="142305"/>
                  <a:pt x="42629" y="141269"/>
                  <a:pt x="40676" y="139315"/>
                </a:cubicBezTo>
                <a:lnTo>
                  <a:pt x="2783" y="101422"/>
                </a:lnTo>
                <a:cubicBezTo>
                  <a:pt x="-918" y="97722"/>
                  <a:pt x="-918" y="91712"/>
                  <a:pt x="2783" y="88012"/>
                </a:cubicBezTo>
                <a:cubicBezTo>
                  <a:pt x="6483" y="84311"/>
                  <a:pt x="12493" y="84311"/>
                  <a:pt x="16193" y="88012"/>
                </a:cubicBezTo>
                <a:lnTo>
                  <a:pt x="46241" y="118060"/>
                </a:lnTo>
                <a:lnTo>
                  <a:pt x="115514" y="22824"/>
                </a:lnTo>
                <a:cubicBezTo>
                  <a:pt x="118593" y="18591"/>
                  <a:pt x="124513" y="17644"/>
                  <a:pt x="128747" y="20723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3" name="Text 51"/>
          <p:cNvSpPr/>
          <p:nvPr/>
        </p:nvSpPr>
        <p:spPr>
          <a:xfrm>
            <a:off x="9315208" y="6479664"/>
            <a:ext cx="1591497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要商量→肯定并留后路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mens_step8_checkout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0000"/>
                </a:srgbClr>
              </a:gs>
              <a:gs pos="50000">
                <a:srgbClr val="3A4F41">
                  <a:alpha val="70000"/>
                </a:srgbClr>
              </a:gs>
              <a:gs pos="100000">
                <a:srgbClr val="3A4F41">
                  <a:alpha val="9000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4638973" y="2171700"/>
            <a:ext cx="2914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08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05623" y="2628900"/>
            <a:ext cx="31813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第八步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301" y="35433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7" name="Text 4"/>
          <p:cNvSpPr/>
          <p:nvPr/>
        </p:nvSpPr>
        <p:spPr>
          <a:xfrm>
            <a:off x="4591348" y="3886200"/>
            <a:ext cx="30099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收银送宾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29448" y="4419600"/>
            <a:ext cx="2933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专业服务 · 二次推荐 · 完美收尾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175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08 · CASE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收银送宾 · 案例分析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5667375" cy="2746375"/>
          </a:xfrm>
          <a:custGeom>
            <a:avLst/>
            <a:gdLst/>
            <a:ahLst/>
            <a:cxnLst/>
            <a:rect l="l" t="t" r="r" b="b"/>
            <a:pathLst>
              <a:path w="5667375" h="2746375">
                <a:moveTo>
                  <a:pt x="31750" y="0"/>
                </a:moveTo>
                <a:lnTo>
                  <a:pt x="5603879" y="0"/>
                </a:lnTo>
                <a:cubicBezTo>
                  <a:pt x="5638947" y="0"/>
                  <a:pt x="5667375" y="28428"/>
                  <a:pt x="5667375" y="63496"/>
                </a:cubicBezTo>
                <a:lnTo>
                  <a:pt x="5667375" y="2682879"/>
                </a:lnTo>
                <a:cubicBezTo>
                  <a:pt x="5667375" y="2717947"/>
                  <a:pt x="5638947" y="2746375"/>
                  <a:pt x="5603879" y="2746375"/>
                </a:cubicBezTo>
                <a:lnTo>
                  <a:pt x="31750" y="2746375"/>
                </a:lnTo>
                <a:cubicBezTo>
                  <a:pt x="14227" y="2746375"/>
                  <a:pt x="0" y="2732148"/>
                  <a:pt x="0" y="271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33375" y="1016000"/>
            <a:ext cx="31750" cy="2746375"/>
          </a:xfrm>
          <a:custGeom>
            <a:avLst/>
            <a:gdLst/>
            <a:ahLst/>
            <a:cxnLst/>
            <a:rect l="l" t="t" r="r" b="b"/>
            <a:pathLst>
              <a:path w="31750" h="2746375">
                <a:moveTo>
                  <a:pt x="31750" y="0"/>
                </a:moveTo>
                <a:lnTo>
                  <a:pt x="31750" y="0"/>
                </a:lnTo>
                <a:lnTo>
                  <a:pt x="31750" y="2746375"/>
                </a:lnTo>
                <a:lnTo>
                  <a:pt x="31750" y="2746375"/>
                </a:lnTo>
                <a:cubicBezTo>
                  <a:pt x="14227" y="2746375"/>
                  <a:pt x="0" y="2732148"/>
                  <a:pt x="0" y="271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531813" y="1190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cubicBezTo>
                  <a:pt x="11906" y="36947"/>
                  <a:pt x="22585" y="47625"/>
                  <a:pt x="35719" y="47625"/>
                </a:cubicBezTo>
                <a:lnTo>
                  <a:pt x="53578" y="47625"/>
                </a:lnTo>
                <a:lnTo>
                  <a:pt x="53578" y="59531"/>
                </a:lnTo>
                <a:lnTo>
                  <a:pt x="32370" y="59531"/>
                </a:lnTo>
                <a:cubicBezTo>
                  <a:pt x="20613" y="59531"/>
                  <a:pt x="10604" y="68126"/>
                  <a:pt x="8818" y="79772"/>
                </a:cubicBezTo>
                <a:lnTo>
                  <a:pt x="409" y="135471"/>
                </a:lnTo>
                <a:cubicBezTo>
                  <a:pt x="149" y="137220"/>
                  <a:pt x="0" y="139005"/>
                  <a:pt x="0" y="140791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66688" y="190500"/>
                </a:lnTo>
                <a:cubicBezTo>
                  <a:pt x="179822" y="190500"/>
                  <a:pt x="190500" y="179822"/>
                  <a:pt x="190500" y="166688"/>
                </a:cubicBezTo>
                <a:lnTo>
                  <a:pt x="190500" y="140791"/>
                </a:lnTo>
                <a:cubicBezTo>
                  <a:pt x="190500" y="139005"/>
                  <a:pt x="190351" y="137220"/>
                  <a:pt x="190091" y="135434"/>
                </a:cubicBezTo>
                <a:lnTo>
                  <a:pt x="181645" y="79772"/>
                </a:lnTo>
                <a:cubicBezTo>
                  <a:pt x="179896" y="68126"/>
                  <a:pt x="169887" y="59531"/>
                  <a:pt x="158130" y="59531"/>
                </a:cubicBezTo>
                <a:lnTo>
                  <a:pt x="77391" y="59531"/>
                </a:lnTo>
                <a:lnTo>
                  <a:pt x="77391" y="47625"/>
                </a:lnTo>
                <a:lnTo>
                  <a:pt x="95250" y="47625"/>
                </a:lnTo>
                <a:cubicBezTo>
                  <a:pt x="108384" y="47625"/>
                  <a:pt x="119063" y="36947"/>
                  <a:pt x="119063" y="23812"/>
                </a:cubicBezTo>
                <a:cubicBezTo>
                  <a:pt x="119063" y="10678"/>
                  <a:pt x="108384" y="0"/>
                  <a:pt x="95250" y="0"/>
                </a:cubicBezTo>
                <a:lnTo>
                  <a:pt x="35719" y="0"/>
                </a:lnTo>
                <a:close/>
                <a:moveTo>
                  <a:pt x="35719" y="17859"/>
                </a:moveTo>
                <a:lnTo>
                  <a:pt x="95250" y="17859"/>
                </a:lnTo>
                <a:cubicBezTo>
                  <a:pt x="98524" y="17859"/>
                  <a:pt x="101203" y="20538"/>
                  <a:pt x="101203" y="23812"/>
                </a:cubicBezTo>
                <a:cubicBezTo>
                  <a:pt x="101203" y="27087"/>
                  <a:pt x="98524" y="29766"/>
                  <a:pt x="95250" y="29766"/>
                </a:cubicBezTo>
                <a:lnTo>
                  <a:pt x="35719" y="29766"/>
                </a:lnTo>
                <a:cubicBezTo>
                  <a:pt x="32445" y="29766"/>
                  <a:pt x="29766" y="27087"/>
                  <a:pt x="29766" y="23812"/>
                </a:cubicBezTo>
                <a:cubicBezTo>
                  <a:pt x="29766" y="20538"/>
                  <a:pt x="32445" y="17859"/>
                  <a:pt x="35719" y="1785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157758" y="148828"/>
                </a:lnTo>
                <a:cubicBezTo>
                  <a:pt x="162706" y="148828"/>
                  <a:pt x="166688" y="152809"/>
                  <a:pt x="166688" y="157758"/>
                </a:cubicBezTo>
                <a:cubicBezTo>
                  <a:pt x="166688" y="162706"/>
                  <a:pt x="162706" y="166688"/>
                  <a:pt x="157758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41672" y="98227"/>
                </a:moveTo>
                <a:cubicBezTo>
                  <a:pt x="36743" y="98227"/>
                  <a:pt x="32742" y="94225"/>
                  <a:pt x="32742" y="89297"/>
                </a:cubicBezTo>
                <a:cubicBezTo>
                  <a:pt x="32742" y="84368"/>
                  <a:pt x="36743" y="80367"/>
                  <a:pt x="41672" y="80367"/>
                </a:cubicBezTo>
                <a:cubicBezTo>
                  <a:pt x="46600" y="80367"/>
                  <a:pt x="50602" y="84368"/>
                  <a:pt x="50602" y="89297"/>
                </a:cubicBezTo>
                <a:cubicBezTo>
                  <a:pt x="50602" y="94225"/>
                  <a:pt x="46600" y="98227"/>
                  <a:pt x="41672" y="98227"/>
                </a:cubicBezTo>
                <a:close/>
                <a:moveTo>
                  <a:pt x="86320" y="89297"/>
                </a:moveTo>
                <a:cubicBezTo>
                  <a:pt x="86320" y="94225"/>
                  <a:pt x="82319" y="98227"/>
                  <a:pt x="77391" y="98227"/>
                </a:cubicBezTo>
                <a:cubicBezTo>
                  <a:pt x="72462" y="98227"/>
                  <a:pt x="68461" y="94225"/>
                  <a:pt x="68461" y="89297"/>
                </a:cubicBezTo>
                <a:cubicBezTo>
                  <a:pt x="68461" y="84368"/>
                  <a:pt x="72462" y="80367"/>
                  <a:pt x="77391" y="80367"/>
                </a:cubicBezTo>
                <a:cubicBezTo>
                  <a:pt x="82319" y="80367"/>
                  <a:pt x="86320" y="84368"/>
                  <a:pt x="86320" y="89297"/>
                </a:cubicBezTo>
                <a:close/>
                <a:moveTo>
                  <a:pt x="59531" y="127992"/>
                </a:moveTo>
                <a:cubicBezTo>
                  <a:pt x="54603" y="127992"/>
                  <a:pt x="50602" y="123991"/>
                  <a:pt x="50602" y="119063"/>
                </a:cubicBezTo>
                <a:cubicBezTo>
                  <a:pt x="50602" y="114134"/>
                  <a:pt x="54603" y="110133"/>
                  <a:pt x="59531" y="110133"/>
                </a:cubicBezTo>
                <a:cubicBezTo>
                  <a:pt x="64460" y="110133"/>
                  <a:pt x="68461" y="114134"/>
                  <a:pt x="68461" y="119063"/>
                </a:cubicBezTo>
                <a:cubicBezTo>
                  <a:pt x="68461" y="123991"/>
                  <a:pt x="64460" y="127992"/>
                  <a:pt x="59531" y="127992"/>
                </a:cubicBezTo>
                <a:close/>
                <a:moveTo>
                  <a:pt x="122039" y="89297"/>
                </a:moveTo>
                <a:cubicBezTo>
                  <a:pt x="122039" y="94225"/>
                  <a:pt x="118038" y="98227"/>
                  <a:pt x="113109" y="98227"/>
                </a:cubicBezTo>
                <a:cubicBezTo>
                  <a:pt x="108181" y="98227"/>
                  <a:pt x="104180" y="94225"/>
                  <a:pt x="104180" y="89297"/>
                </a:cubicBezTo>
                <a:cubicBezTo>
                  <a:pt x="104180" y="84368"/>
                  <a:pt x="108181" y="80367"/>
                  <a:pt x="113109" y="80367"/>
                </a:cubicBezTo>
                <a:cubicBezTo>
                  <a:pt x="118038" y="80367"/>
                  <a:pt x="122039" y="84368"/>
                  <a:pt x="122039" y="89297"/>
                </a:cubicBezTo>
                <a:close/>
                <a:moveTo>
                  <a:pt x="95250" y="127992"/>
                </a:moveTo>
                <a:cubicBezTo>
                  <a:pt x="90322" y="127992"/>
                  <a:pt x="86320" y="123991"/>
                  <a:pt x="86320" y="119063"/>
                </a:cubicBezTo>
                <a:cubicBezTo>
                  <a:pt x="86320" y="114134"/>
                  <a:pt x="90322" y="110133"/>
                  <a:pt x="95250" y="110133"/>
                </a:cubicBezTo>
                <a:cubicBezTo>
                  <a:pt x="100178" y="110133"/>
                  <a:pt x="104180" y="114134"/>
                  <a:pt x="104180" y="119063"/>
                </a:cubicBezTo>
                <a:cubicBezTo>
                  <a:pt x="104180" y="123991"/>
                  <a:pt x="100178" y="127992"/>
                  <a:pt x="95250" y="127992"/>
                </a:cubicBezTo>
                <a:close/>
                <a:moveTo>
                  <a:pt x="157758" y="89297"/>
                </a:moveTo>
                <a:cubicBezTo>
                  <a:pt x="157758" y="94225"/>
                  <a:pt x="153757" y="98227"/>
                  <a:pt x="148828" y="98227"/>
                </a:cubicBezTo>
                <a:cubicBezTo>
                  <a:pt x="143900" y="98227"/>
                  <a:pt x="139898" y="94225"/>
                  <a:pt x="139898" y="89297"/>
                </a:cubicBezTo>
                <a:cubicBezTo>
                  <a:pt x="139898" y="84368"/>
                  <a:pt x="143900" y="80367"/>
                  <a:pt x="148828" y="80367"/>
                </a:cubicBezTo>
                <a:cubicBezTo>
                  <a:pt x="153757" y="80367"/>
                  <a:pt x="157758" y="84368"/>
                  <a:pt x="157758" y="89297"/>
                </a:cubicBezTo>
                <a:close/>
                <a:moveTo>
                  <a:pt x="130969" y="127992"/>
                </a:moveTo>
                <a:cubicBezTo>
                  <a:pt x="126040" y="127992"/>
                  <a:pt x="122039" y="123991"/>
                  <a:pt x="122039" y="119063"/>
                </a:cubicBezTo>
                <a:cubicBezTo>
                  <a:pt x="122039" y="114134"/>
                  <a:pt x="126040" y="110133"/>
                  <a:pt x="130969" y="110133"/>
                </a:cubicBezTo>
                <a:cubicBezTo>
                  <a:pt x="135897" y="110133"/>
                  <a:pt x="139898" y="114134"/>
                  <a:pt x="139898" y="119063"/>
                </a:cubicBezTo>
                <a:cubicBezTo>
                  <a:pt x="139898" y="123991"/>
                  <a:pt x="135897" y="127992"/>
                  <a:pt x="130969" y="127992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841375" y="1174750"/>
            <a:ext cx="1031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收银服务案例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524000"/>
            <a:ext cx="5405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1809750"/>
            <a:ext cx="539750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顾客决定购买一套POLO，销售顾问小王引导到收银台："这边请，我帮您结账。"在收银过程中，小王说："您今天购买这套POLO，现在</a:t>
            </a:r>
            <a:r>
              <a:rPr lang="zh-CN" alt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我们有一个预存</a:t>
            </a:r>
            <a:r>
              <a:rPr lang="en-US" altLang="zh-CN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3000</a:t>
            </a:r>
            <a:r>
              <a:rPr lang="zh-CN" alt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送</a:t>
            </a:r>
            <a:r>
              <a:rPr lang="en-US" altLang="zh-CN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500</a:t>
            </a:r>
            <a:r>
              <a:rPr lang="zh-CN" alt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的活动，您要不要看一下，相当于今天这套衣服就是白送您的</a:t>
            </a: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2524125"/>
            <a:ext cx="5334000" cy="1079500"/>
          </a:xfrm>
          <a:custGeom>
            <a:avLst/>
            <a:gdLst/>
            <a:ahLst/>
            <a:cxnLst/>
            <a:rect l="l" t="t" r="r" b="b"/>
            <a:pathLst>
              <a:path w="5334000" h="1079500">
                <a:moveTo>
                  <a:pt x="63496" y="0"/>
                </a:moveTo>
                <a:lnTo>
                  <a:pt x="5270504" y="0"/>
                </a:lnTo>
                <a:cubicBezTo>
                  <a:pt x="5305572" y="0"/>
                  <a:pt x="5334000" y="28428"/>
                  <a:pt x="5334000" y="63496"/>
                </a:cubicBezTo>
                <a:lnTo>
                  <a:pt x="5334000" y="1016004"/>
                </a:lnTo>
                <a:cubicBezTo>
                  <a:pt x="5334000" y="1051072"/>
                  <a:pt x="5305572" y="1079500"/>
                  <a:pt x="52705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603250" y="2619375"/>
            <a:ext cx="5207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服务要点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180" y="290512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3" name="Text 11"/>
          <p:cNvSpPr/>
          <p:nvPr/>
        </p:nvSpPr>
        <p:spPr>
          <a:xfrm>
            <a:off x="805656" y="2873375"/>
            <a:ext cx="120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指引收银，流程顺畅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180" y="312737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5" name="Text 13"/>
          <p:cNvSpPr/>
          <p:nvPr/>
        </p:nvSpPr>
        <p:spPr>
          <a:xfrm>
            <a:off x="805815" y="3095625"/>
            <a:ext cx="1206500" cy="208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二次推荐</a:t>
            </a:r>
            <a:r>
              <a:rPr lang="zh-CN" alt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充值活动</a:t>
            </a:r>
            <a:endParaRPr lang="zh-CN" altLang="en-US" sz="1000" dirty="0">
              <a:solidFill>
                <a:srgbClr val="2E2E2E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2180" y="334962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7" name="Text 15"/>
          <p:cNvSpPr/>
          <p:nvPr/>
        </p:nvSpPr>
        <p:spPr>
          <a:xfrm>
            <a:off x="805656" y="3317875"/>
            <a:ext cx="120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唱收唱付，清晰准确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375" y="3921125"/>
            <a:ext cx="5667375" cy="2746375"/>
          </a:xfrm>
          <a:custGeom>
            <a:avLst/>
            <a:gdLst/>
            <a:ahLst/>
            <a:cxnLst/>
            <a:rect l="l" t="t" r="r" b="b"/>
            <a:pathLst>
              <a:path w="5667375" h="2746375">
                <a:moveTo>
                  <a:pt x="31750" y="0"/>
                </a:moveTo>
                <a:lnTo>
                  <a:pt x="5603879" y="0"/>
                </a:lnTo>
                <a:cubicBezTo>
                  <a:pt x="5638947" y="0"/>
                  <a:pt x="5667375" y="28428"/>
                  <a:pt x="5667375" y="63496"/>
                </a:cubicBezTo>
                <a:lnTo>
                  <a:pt x="5667375" y="2682879"/>
                </a:lnTo>
                <a:cubicBezTo>
                  <a:pt x="5667375" y="2717947"/>
                  <a:pt x="5638947" y="2746375"/>
                  <a:pt x="5603879" y="2746375"/>
                </a:cubicBezTo>
                <a:lnTo>
                  <a:pt x="31750" y="2746375"/>
                </a:lnTo>
                <a:cubicBezTo>
                  <a:pt x="14227" y="2746375"/>
                  <a:pt x="0" y="2732148"/>
                  <a:pt x="0" y="271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333375" y="3921125"/>
            <a:ext cx="31750" cy="2746375"/>
          </a:xfrm>
          <a:custGeom>
            <a:avLst/>
            <a:gdLst/>
            <a:ahLst/>
            <a:cxnLst/>
            <a:rect l="l" t="t" r="r" b="b"/>
            <a:pathLst>
              <a:path w="31750" h="2746375">
                <a:moveTo>
                  <a:pt x="31750" y="0"/>
                </a:moveTo>
                <a:lnTo>
                  <a:pt x="31750" y="0"/>
                </a:lnTo>
                <a:lnTo>
                  <a:pt x="31750" y="2746375"/>
                </a:lnTo>
                <a:lnTo>
                  <a:pt x="31750" y="2746375"/>
                </a:lnTo>
                <a:cubicBezTo>
                  <a:pt x="14227" y="2746375"/>
                  <a:pt x="0" y="2732148"/>
                  <a:pt x="0" y="2714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0" name="Shape 18"/>
          <p:cNvSpPr/>
          <p:nvPr/>
        </p:nvSpPr>
        <p:spPr>
          <a:xfrm>
            <a:off x="531813" y="4095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1906"/>
                </a:moveTo>
                <a:cubicBezTo>
                  <a:pt x="190500" y="52127"/>
                  <a:pt x="161999" y="85688"/>
                  <a:pt x="124123" y="93538"/>
                </a:cubicBezTo>
                <a:cubicBezTo>
                  <a:pt x="121183" y="71921"/>
                  <a:pt x="111472" y="52462"/>
                  <a:pt x="97148" y="37393"/>
                </a:cubicBezTo>
                <a:cubicBezTo>
                  <a:pt x="112068" y="14883"/>
                  <a:pt x="137629" y="0"/>
                  <a:pt x="166688" y="0"/>
                </a:cubicBezTo>
                <a:lnTo>
                  <a:pt x="178594" y="0"/>
                </a:lnTo>
                <a:cubicBezTo>
                  <a:pt x="185179" y="0"/>
                  <a:pt x="190500" y="5321"/>
                  <a:pt x="190500" y="11906"/>
                </a:cubicBezTo>
                <a:close/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23812" y="23812"/>
                </a:lnTo>
                <a:cubicBezTo>
                  <a:pt x="69838" y="23812"/>
                  <a:pt x="107156" y="61131"/>
                  <a:pt x="107156" y="107156"/>
                </a:cubicBezTo>
                <a:lnTo>
                  <a:pt x="107156" y="178594"/>
                </a:lnTo>
                <a:cubicBezTo>
                  <a:pt x="107156" y="185179"/>
                  <a:pt x="101836" y="190500"/>
                  <a:pt x="95250" y="190500"/>
                </a:cubicBezTo>
                <a:cubicBezTo>
                  <a:pt x="88664" y="190500"/>
                  <a:pt x="83344" y="185179"/>
                  <a:pt x="83344" y="178594"/>
                </a:cubicBezTo>
                <a:lnTo>
                  <a:pt x="83344" y="119063"/>
                </a:lnTo>
                <a:cubicBezTo>
                  <a:pt x="37319" y="119063"/>
                  <a:pt x="0" y="81744"/>
                  <a:pt x="0" y="35719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1" name="Text 19"/>
          <p:cNvSpPr/>
          <p:nvPr/>
        </p:nvSpPr>
        <p:spPr>
          <a:xfrm>
            <a:off x="841375" y="4079875"/>
            <a:ext cx="1031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二次种草案例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8000" y="4429125"/>
            <a:ext cx="5405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8000" y="4714875"/>
            <a:ext cx="539750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结账后，销售顾问小李说："您今天买的这套POLO真的很适合您！对了，我们下周会上新一批休闲夹克，有很多款式和这套POLO很搭，到时候您可以来看看。加您微信，上新时我通知您？"顾客欣然同意，添加了微信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8000" y="5429250"/>
            <a:ext cx="5334000" cy="1079500"/>
          </a:xfrm>
          <a:custGeom>
            <a:avLst/>
            <a:gdLst/>
            <a:ahLst/>
            <a:cxnLst/>
            <a:rect l="l" t="t" r="r" b="b"/>
            <a:pathLst>
              <a:path w="5334000" h="1079500">
                <a:moveTo>
                  <a:pt x="63496" y="0"/>
                </a:moveTo>
                <a:lnTo>
                  <a:pt x="5270504" y="0"/>
                </a:lnTo>
                <a:cubicBezTo>
                  <a:pt x="5305572" y="0"/>
                  <a:pt x="5334000" y="28428"/>
                  <a:pt x="5334000" y="63496"/>
                </a:cubicBezTo>
                <a:lnTo>
                  <a:pt x="5334000" y="1016004"/>
                </a:lnTo>
                <a:cubicBezTo>
                  <a:pt x="5334000" y="1051072"/>
                  <a:pt x="5305572" y="1079500"/>
                  <a:pt x="52705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03250" y="5524500"/>
            <a:ext cx="5207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服务要点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180" y="581025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7" name="Text 25"/>
          <p:cNvSpPr/>
          <p:nvPr/>
        </p:nvSpPr>
        <p:spPr>
          <a:xfrm>
            <a:off x="805656" y="5778500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肯定顾客选择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180" y="603250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29" name="Text 27"/>
          <p:cNvSpPr/>
          <p:nvPr/>
        </p:nvSpPr>
        <p:spPr>
          <a:xfrm>
            <a:off x="805656" y="6000750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预告新品信息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2180" y="625475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31" name="Text 29"/>
          <p:cNvSpPr/>
          <p:nvPr/>
        </p:nvSpPr>
        <p:spPr>
          <a:xfrm>
            <a:off x="805656" y="6223000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建立后续联系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07125" y="1016000"/>
            <a:ext cx="5667375" cy="2825750"/>
          </a:xfrm>
          <a:custGeom>
            <a:avLst/>
            <a:gdLst/>
            <a:ahLst/>
            <a:cxnLst/>
            <a:rect l="l" t="t" r="r" b="b"/>
            <a:pathLst>
              <a:path w="5667375" h="2825750">
                <a:moveTo>
                  <a:pt x="31750" y="0"/>
                </a:moveTo>
                <a:lnTo>
                  <a:pt x="5603880" y="0"/>
                </a:lnTo>
                <a:cubicBezTo>
                  <a:pt x="5638947" y="0"/>
                  <a:pt x="5667375" y="28428"/>
                  <a:pt x="5667375" y="63495"/>
                </a:cubicBezTo>
                <a:lnTo>
                  <a:pt x="5667375" y="2762255"/>
                </a:lnTo>
                <a:cubicBezTo>
                  <a:pt x="5667375" y="2797322"/>
                  <a:pt x="5638947" y="2825750"/>
                  <a:pt x="5603880" y="2825750"/>
                </a:cubicBezTo>
                <a:lnTo>
                  <a:pt x="31750" y="2825750"/>
                </a:lnTo>
                <a:cubicBezTo>
                  <a:pt x="14227" y="2825750"/>
                  <a:pt x="0" y="2811523"/>
                  <a:pt x="0" y="279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Shape 31"/>
          <p:cNvSpPr/>
          <p:nvPr/>
        </p:nvSpPr>
        <p:spPr>
          <a:xfrm>
            <a:off x="6207125" y="1016000"/>
            <a:ext cx="31750" cy="2825750"/>
          </a:xfrm>
          <a:custGeom>
            <a:avLst/>
            <a:gdLst/>
            <a:ahLst/>
            <a:cxnLst/>
            <a:rect l="l" t="t" r="r" b="b"/>
            <a:pathLst>
              <a:path w="31750" h="2825750">
                <a:moveTo>
                  <a:pt x="31750" y="0"/>
                </a:moveTo>
                <a:lnTo>
                  <a:pt x="31750" y="0"/>
                </a:lnTo>
                <a:lnTo>
                  <a:pt x="31750" y="2825750"/>
                </a:lnTo>
                <a:lnTo>
                  <a:pt x="31750" y="2825750"/>
                </a:lnTo>
                <a:cubicBezTo>
                  <a:pt x="14227" y="2825750"/>
                  <a:pt x="0" y="2811523"/>
                  <a:pt x="0" y="279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34" name="Shape 32"/>
          <p:cNvSpPr/>
          <p:nvPr/>
        </p:nvSpPr>
        <p:spPr>
          <a:xfrm>
            <a:off x="6417469" y="1190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23812"/>
                </a:moveTo>
                <a:lnTo>
                  <a:pt x="130969" y="23812"/>
                </a:lnTo>
                <a:lnTo>
                  <a:pt x="130969" y="178594"/>
                </a:lnTo>
                <a:cubicBezTo>
                  <a:pt x="130969" y="185179"/>
                  <a:pt x="136289" y="190500"/>
                  <a:pt x="142875" y="190500"/>
                </a:cubicBezTo>
                <a:lnTo>
                  <a:pt x="154781" y="190500"/>
                </a:lnTo>
                <a:cubicBezTo>
                  <a:pt x="161367" y="190500"/>
                  <a:pt x="166688" y="185179"/>
                  <a:pt x="166688" y="178594"/>
                </a:cubicBezTo>
                <a:cubicBezTo>
                  <a:pt x="166688" y="172008"/>
                  <a:pt x="161367" y="166688"/>
                  <a:pt x="154781" y="166688"/>
                </a:cubicBezTo>
                <a:lnTo>
                  <a:pt x="154781" y="23812"/>
                </a:lnTo>
                <a:cubicBezTo>
                  <a:pt x="154781" y="10678"/>
                  <a:pt x="144103" y="0"/>
                  <a:pt x="130969" y="0"/>
                </a:cubicBezTo>
                <a:lnTo>
                  <a:pt x="95250" y="0"/>
                </a:lnTo>
                <a:lnTo>
                  <a:pt x="95250" y="0"/>
                </a:lnTo>
                <a:lnTo>
                  <a:pt x="35719" y="0"/>
                </a:ln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95250" y="190500"/>
                </a:lnTo>
                <a:cubicBezTo>
                  <a:pt x="101836" y="190500"/>
                  <a:pt x="107156" y="185179"/>
                  <a:pt x="107156" y="178594"/>
                </a:cubicBezTo>
                <a:lnTo>
                  <a:pt x="107156" y="23812"/>
                </a:lnTo>
                <a:close/>
                <a:moveTo>
                  <a:pt x="59531" y="95250"/>
                </a:moveTo>
                <a:cubicBezTo>
                  <a:pt x="59531" y="88679"/>
                  <a:pt x="64866" y="83344"/>
                  <a:pt x="71438" y="83344"/>
                </a:cubicBezTo>
                <a:cubicBezTo>
                  <a:pt x="78009" y="83344"/>
                  <a:pt x="83344" y="88679"/>
                  <a:pt x="83344" y="95250"/>
                </a:cubicBezTo>
                <a:cubicBezTo>
                  <a:pt x="83344" y="101821"/>
                  <a:pt x="78009" y="107156"/>
                  <a:pt x="71438" y="107156"/>
                </a:cubicBezTo>
                <a:cubicBezTo>
                  <a:pt x="64866" y="107156"/>
                  <a:pt x="59531" y="101821"/>
                  <a:pt x="59531" y="9525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35" name="Text 33"/>
          <p:cNvSpPr/>
          <p:nvPr/>
        </p:nvSpPr>
        <p:spPr>
          <a:xfrm>
            <a:off x="6715125" y="1174750"/>
            <a:ext cx="1031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送宾服务案例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1750" y="1524000"/>
            <a:ext cx="5405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场景描述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1750" y="1809750"/>
            <a:ext cx="539750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顾客准备离开，销售顾问小张帮顾客提起购物袋："我送您到门口。这是您的小票，请收好。</a:t>
            </a:r>
            <a:r>
              <a:rPr lang="zh-CN" alt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我叫小林，非常</a:t>
            </a: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感谢您的光临，欢迎</a:t>
            </a:r>
            <a:r>
              <a:rPr lang="zh-CN" alt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下次过来的话可以过来找我，如果有需要停车码的话也随时过来</a:t>
            </a: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！"小</a:t>
            </a:r>
            <a:r>
              <a:rPr lang="zh-CN" alt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林</a:t>
            </a: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一直送到店门口，微笑着目送顾客离开。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1750" y="2524125"/>
            <a:ext cx="5334000" cy="1079500"/>
          </a:xfrm>
          <a:custGeom>
            <a:avLst/>
            <a:gdLst/>
            <a:ahLst/>
            <a:cxnLst/>
            <a:rect l="l" t="t" r="r" b="b"/>
            <a:pathLst>
              <a:path w="5334000" h="1079500">
                <a:moveTo>
                  <a:pt x="63496" y="0"/>
                </a:moveTo>
                <a:lnTo>
                  <a:pt x="5270504" y="0"/>
                </a:lnTo>
                <a:cubicBezTo>
                  <a:pt x="5305572" y="0"/>
                  <a:pt x="5334000" y="28428"/>
                  <a:pt x="5334000" y="63496"/>
                </a:cubicBezTo>
                <a:lnTo>
                  <a:pt x="5334000" y="1016004"/>
                </a:lnTo>
                <a:cubicBezTo>
                  <a:pt x="5334000" y="1051072"/>
                  <a:pt x="5305572" y="1079500"/>
                  <a:pt x="52705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A9A299">
              <a:alpha val="1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6477000" y="2619375"/>
            <a:ext cx="5207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服务要点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85930" y="290512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1" name="Text 39"/>
          <p:cNvSpPr/>
          <p:nvPr/>
        </p:nvSpPr>
        <p:spPr>
          <a:xfrm>
            <a:off x="6679406" y="2873375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主动送宾到门口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85930" y="312737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Text 41"/>
          <p:cNvSpPr/>
          <p:nvPr/>
        </p:nvSpPr>
        <p:spPr>
          <a:xfrm>
            <a:off x="6679406" y="3095625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提醒拿齐物品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85930" y="334962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5" name="Text 43"/>
          <p:cNvSpPr/>
          <p:nvPr/>
        </p:nvSpPr>
        <p:spPr>
          <a:xfrm>
            <a:off x="6679406" y="3317875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热情送别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1250" y="4000500"/>
            <a:ext cx="5683250" cy="2667000"/>
          </a:xfrm>
          <a:custGeom>
            <a:avLst/>
            <a:gdLst/>
            <a:ahLst/>
            <a:cxnLst/>
            <a:rect l="l" t="t" r="r" b="b"/>
            <a:pathLst>
              <a:path w="5683250" h="2667000">
                <a:moveTo>
                  <a:pt x="63501" y="0"/>
                </a:moveTo>
                <a:lnTo>
                  <a:pt x="5619749" y="0"/>
                </a:lnTo>
                <a:cubicBezTo>
                  <a:pt x="5654820" y="0"/>
                  <a:pt x="5683250" y="28430"/>
                  <a:pt x="5683250" y="63501"/>
                </a:cubicBezTo>
                <a:lnTo>
                  <a:pt x="5683250" y="2603499"/>
                </a:lnTo>
                <a:cubicBezTo>
                  <a:pt x="5683250" y="2638570"/>
                  <a:pt x="5654820" y="2667000"/>
                  <a:pt x="5619749" y="2667000"/>
                </a:cubicBezTo>
                <a:lnTo>
                  <a:pt x="63501" y="2667000"/>
                </a:lnTo>
                <a:cubicBezTo>
                  <a:pt x="28430" y="2667000"/>
                  <a:pt x="0" y="2638570"/>
                  <a:pt x="0" y="2603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A4F41"/>
          </a:solidFill>
        </p:spPr>
        <p:txBody>
          <a:bodyPr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381750" y="4191000"/>
            <a:ext cx="5381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收银送宾四部曲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1750" y="4540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9" name="Text 47"/>
          <p:cNvSpPr/>
          <p:nvPr/>
        </p:nvSpPr>
        <p:spPr>
          <a:xfrm>
            <a:off x="6353969" y="454025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31000" y="454025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指引收银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31000" y="476250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引导顾客到收银台，协助结账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81750" y="5048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3" name="Text 51"/>
          <p:cNvSpPr/>
          <p:nvPr/>
        </p:nvSpPr>
        <p:spPr>
          <a:xfrm>
            <a:off x="6353969" y="504825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31000" y="504825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办理</a:t>
            </a:r>
            <a:r>
              <a:rPr lang="zh-CN" alt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会员卡和加入企业微信</a:t>
            </a:r>
            <a:endParaRPr lang="zh-CN" altLang="en-US" sz="1000" b="1" dirty="0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731000" y="5270500"/>
            <a:ext cx="3988435" cy="2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推荐会员卡，享受优惠和积分</a:t>
            </a:r>
            <a:r>
              <a:rPr lang="zh-CN" alt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，加入企微随时有问题可以联系到我们</a:t>
            </a:r>
            <a:endParaRPr lang="zh-CN" altLang="en-US" sz="1000" dirty="0">
              <a:solidFill>
                <a:srgbClr val="FFFFFF">
                  <a:alpha val="80000"/>
                </a:srgbClr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381750" y="5556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7" name="Text 55"/>
          <p:cNvSpPr/>
          <p:nvPr/>
        </p:nvSpPr>
        <p:spPr>
          <a:xfrm>
            <a:off x="6353969" y="555625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31000" y="5556250"/>
            <a:ext cx="146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二次推荐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31000" y="5778500"/>
            <a:ext cx="146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推荐相关商品或预告新品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81750" y="6064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61" name="Text 59"/>
          <p:cNvSpPr/>
          <p:nvPr/>
        </p:nvSpPr>
        <p:spPr>
          <a:xfrm>
            <a:off x="6353969" y="6064250"/>
            <a:ext cx="30956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31000" y="6064250"/>
            <a:ext cx="1587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唱收唱付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31000" y="6286500"/>
            <a:ext cx="423799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清晰报出金额，送宾到门口</a:t>
            </a:r>
            <a:r>
              <a:rPr lang="zh-CN" altLang="en-US" sz="10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，记得二次自我介绍，留下好形象</a:t>
            </a:r>
            <a:endParaRPr lang="zh-CN" altLang="en-US" sz="1000" dirty="0">
              <a:solidFill>
                <a:srgbClr val="FFFFFF">
                  <a:alpha val="80000"/>
                </a:srgbClr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486" y="334486"/>
            <a:ext cx="11581564" cy="1672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184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08 · SCRIPT &amp; KEY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486" y="568626"/>
            <a:ext cx="11673547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收银送宾 · 话术总结与重点掌握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572" y="1103802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100346" y="188148"/>
                </a:moveTo>
                <a:cubicBezTo>
                  <a:pt x="155771" y="188148"/>
                  <a:pt x="200691" y="146011"/>
                  <a:pt x="200691" y="94074"/>
                </a:cubicBezTo>
                <a:cubicBezTo>
                  <a:pt x="200691" y="42137"/>
                  <a:pt x="155771" y="0"/>
                  <a:pt x="100346" y="0"/>
                </a:cubicBezTo>
                <a:cubicBezTo>
                  <a:pt x="44920" y="0"/>
                  <a:pt x="0" y="42137"/>
                  <a:pt x="0" y="94074"/>
                </a:cubicBezTo>
                <a:cubicBezTo>
                  <a:pt x="0" y="115358"/>
                  <a:pt x="7526" y="134957"/>
                  <a:pt x="20226" y="150715"/>
                </a:cubicBezTo>
                <a:lnTo>
                  <a:pt x="1098" y="186894"/>
                </a:lnTo>
                <a:cubicBezTo>
                  <a:pt x="-784" y="190422"/>
                  <a:pt x="-196" y="194733"/>
                  <a:pt x="2509" y="197673"/>
                </a:cubicBezTo>
                <a:cubicBezTo>
                  <a:pt x="5213" y="200613"/>
                  <a:pt x="9486" y="201515"/>
                  <a:pt x="13131" y="199947"/>
                </a:cubicBezTo>
                <a:lnTo>
                  <a:pt x="59541" y="180073"/>
                </a:lnTo>
                <a:cubicBezTo>
                  <a:pt x="72006" y="185248"/>
                  <a:pt x="85803" y="188148"/>
                  <a:pt x="100346" y="188148"/>
                </a:cubicBezTo>
                <a:close/>
                <a:moveTo>
                  <a:pt x="50173" y="81531"/>
                </a:moveTo>
                <a:cubicBezTo>
                  <a:pt x="57096" y="81531"/>
                  <a:pt x="62716" y="87151"/>
                  <a:pt x="62716" y="94074"/>
                </a:cubicBezTo>
                <a:cubicBezTo>
                  <a:pt x="62716" y="100997"/>
                  <a:pt x="57096" y="106617"/>
                  <a:pt x="50173" y="106617"/>
                </a:cubicBezTo>
                <a:cubicBezTo>
                  <a:pt x="43250" y="106617"/>
                  <a:pt x="37630" y="100997"/>
                  <a:pt x="37630" y="94074"/>
                </a:cubicBezTo>
                <a:cubicBezTo>
                  <a:pt x="37630" y="87151"/>
                  <a:pt x="43250" y="81531"/>
                  <a:pt x="50173" y="81531"/>
                </a:cubicBezTo>
                <a:close/>
                <a:moveTo>
                  <a:pt x="100346" y="81531"/>
                </a:moveTo>
                <a:cubicBezTo>
                  <a:pt x="107268" y="81531"/>
                  <a:pt x="112889" y="87151"/>
                  <a:pt x="112889" y="94074"/>
                </a:cubicBezTo>
                <a:cubicBezTo>
                  <a:pt x="112889" y="100997"/>
                  <a:pt x="107268" y="106617"/>
                  <a:pt x="100346" y="106617"/>
                </a:cubicBezTo>
                <a:cubicBezTo>
                  <a:pt x="93423" y="106617"/>
                  <a:pt x="87802" y="100997"/>
                  <a:pt x="87802" y="94074"/>
                </a:cubicBezTo>
                <a:cubicBezTo>
                  <a:pt x="87802" y="87151"/>
                  <a:pt x="93423" y="81531"/>
                  <a:pt x="100346" y="81531"/>
                </a:cubicBezTo>
                <a:close/>
                <a:moveTo>
                  <a:pt x="137975" y="94074"/>
                </a:moveTo>
                <a:cubicBezTo>
                  <a:pt x="137975" y="87151"/>
                  <a:pt x="143596" y="81531"/>
                  <a:pt x="150519" y="81531"/>
                </a:cubicBezTo>
                <a:cubicBezTo>
                  <a:pt x="157441" y="81531"/>
                  <a:pt x="163062" y="87151"/>
                  <a:pt x="163062" y="94074"/>
                </a:cubicBezTo>
                <a:cubicBezTo>
                  <a:pt x="163062" y="100997"/>
                  <a:pt x="157441" y="106617"/>
                  <a:pt x="150519" y="106617"/>
                </a:cubicBezTo>
                <a:cubicBezTo>
                  <a:pt x="143596" y="106617"/>
                  <a:pt x="137975" y="100997"/>
                  <a:pt x="137975" y="94074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3"/>
          <p:cNvSpPr/>
          <p:nvPr/>
        </p:nvSpPr>
        <p:spPr>
          <a:xfrm>
            <a:off x="685695" y="1070354"/>
            <a:ext cx="1304494" cy="267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收银送宾话术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1210" y="1471737"/>
            <a:ext cx="5644444" cy="970008"/>
          </a:xfrm>
          <a:custGeom>
            <a:avLst/>
            <a:gdLst/>
            <a:ahLst/>
            <a:cxnLst/>
            <a:rect l="l" t="t" r="r" b="b"/>
            <a:pathLst>
              <a:path w="5644444" h="970008">
                <a:moveTo>
                  <a:pt x="33449" y="0"/>
                </a:moveTo>
                <a:lnTo>
                  <a:pt x="5577543" y="0"/>
                </a:lnTo>
                <a:cubicBezTo>
                  <a:pt x="5614492" y="0"/>
                  <a:pt x="5644444" y="29953"/>
                  <a:pt x="5644444" y="66901"/>
                </a:cubicBezTo>
                <a:lnTo>
                  <a:pt x="5644444" y="903107"/>
                </a:lnTo>
                <a:cubicBezTo>
                  <a:pt x="5644444" y="940031"/>
                  <a:pt x="5614467" y="970008"/>
                  <a:pt x="5577543" y="970008"/>
                </a:cubicBezTo>
                <a:lnTo>
                  <a:pt x="33449" y="970008"/>
                </a:lnTo>
                <a:cubicBezTo>
                  <a:pt x="14975" y="970008"/>
                  <a:pt x="0" y="955033"/>
                  <a:pt x="0" y="936560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351210" y="1471737"/>
            <a:ext cx="33449" cy="970008"/>
          </a:xfrm>
          <a:custGeom>
            <a:avLst/>
            <a:gdLst/>
            <a:ahLst/>
            <a:cxnLst/>
            <a:rect l="l" t="t" r="r" b="b"/>
            <a:pathLst>
              <a:path w="33449" h="970008">
                <a:moveTo>
                  <a:pt x="33449" y="0"/>
                </a:moveTo>
                <a:lnTo>
                  <a:pt x="33449" y="0"/>
                </a:lnTo>
                <a:lnTo>
                  <a:pt x="33449" y="970008"/>
                </a:lnTo>
                <a:lnTo>
                  <a:pt x="33449" y="970008"/>
                </a:lnTo>
                <a:cubicBezTo>
                  <a:pt x="14975" y="970008"/>
                  <a:pt x="0" y="955033"/>
                  <a:pt x="0" y="93656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8" name="Text 6"/>
          <p:cNvSpPr/>
          <p:nvPr/>
        </p:nvSpPr>
        <p:spPr>
          <a:xfrm>
            <a:off x="501728" y="1605531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指引收银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1728" y="1873119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"这边请，我帮您结账。"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1728" y="2107259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"收银台在这边，请跟我来。"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1210" y="2575539"/>
            <a:ext cx="5644444" cy="970008"/>
          </a:xfrm>
          <a:custGeom>
            <a:avLst/>
            <a:gdLst/>
            <a:ahLst/>
            <a:cxnLst/>
            <a:rect l="l" t="t" r="r" b="b"/>
            <a:pathLst>
              <a:path w="5644444" h="970008">
                <a:moveTo>
                  <a:pt x="33449" y="0"/>
                </a:moveTo>
                <a:lnTo>
                  <a:pt x="5577543" y="0"/>
                </a:lnTo>
                <a:cubicBezTo>
                  <a:pt x="5614492" y="0"/>
                  <a:pt x="5644444" y="29953"/>
                  <a:pt x="5644444" y="66901"/>
                </a:cubicBezTo>
                <a:lnTo>
                  <a:pt x="5644444" y="903107"/>
                </a:lnTo>
                <a:cubicBezTo>
                  <a:pt x="5644444" y="940031"/>
                  <a:pt x="5614467" y="970008"/>
                  <a:pt x="5577543" y="970008"/>
                </a:cubicBezTo>
                <a:lnTo>
                  <a:pt x="33449" y="970008"/>
                </a:lnTo>
                <a:cubicBezTo>
                  <a:pt x="14975" y="970008"/>
                  <a:pt x="0" y="955033"/>
                  <a:pt x="0" y="936560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351210" y="2575539"/>
            <a:ext cx="33449" cy="970008"/>
          </a:xfrm>
          <a:custGeom>
            <a:avLst/>
            <a:gdLst/>
            <a:ahLst/>
            <a:cxnLst/>
            <a:rect l="l" t="t" r="r" b="b"/>
            <a:pathLst>
              <a:path w="33449" h="970008">
                <a:moveTo>
                  <a:pt x="33449" y="0"/>
                </a:moveTo>
                <a:lnTo>
                  <a:pt x="33449" y="0"/>
                </a:lnTo>
                <a:lnTo>
                  <a:pt x="33449" y="970008"/>
                </a:lnTo>
                <a:lnTo>
                  <a:pt x="33449" y="970008"/>
                </a:lnTo>
                <a:cubicBezTo>
                  <a:pt x="14975" y="970008"/>
                  <a:pt x="0" y="955033"/>
                  <a:pt x="0" y="93656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3" name="Text 11"/>
          <p:cNvSpPr/>
          <p:nvPr/>
        </p:nvSpPr>
        <p:spPr>
          <a:xfrm>
            <a:off x="501728" y="2709333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VIP卡办理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1728" y="2976922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"现在办理VIP卡可以享受</a:t>
            </a:r>
            <a:r>
              <a:rPr lang="zh-CN" alt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一年一次的生日折</a:t>
            </a: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1728" y="3211062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"办卡还能积分兑换礼品，非常划算。"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1210" y="3679342"/>
            <a:ext cx="5644444" cy="970008"/>
          </a:xfrm>
          <a:custGeom>
            <a:avLst/>
            <a:gdLst/>
            <a:ahLst/>
            <a:cxnLst/>
            <a:rect l="l" t="t" r="r" b="b"/>
            <a:pathLst>
              <a:path w="5644444" h="970008">
                <a:moveTo>
                  <a:pt x="33449" y="0"/>
                </a:moveTo>
                <a:lnTo>
                  <a:pt x="5577543" y="0"/>
                </a:lnTo>
                <a:cubicBezTo>
                  <a:pt x="5614492" y="0"/>
                  <a:pt x="5644444" y="29953"/>
                  <a:pt x="5644444" y="66901"/>
                </a:cubicBezTo>
                <a:lnTo>
                  <a:pt x="5644444" y="903107"/>
                </a:lnTo>
                <a:cubicBezTo>
                  <a:pt x="5644444" y="940031"/>
                  <a:pt x="5614467" y="970008"/>
                  <a:pt x="5577543" y="970008"/>
                </a:cubicBezTo>
                <a:lnTo>
                  <a:pt x="33449" y="970008"/>
                </a:lnTo>
                <a:cubicBezTo>
                  <a:pt x="14975" y="970008"/>
                  <a:pt x="0" y="955033"/>
                  <a:pt x="0" y="936560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351210" y="3679342"/>
            <a:ext cx="33449" cy="970008"/>
          </a:xfrm>
          <a:custGeom>
            <a:avLst/>
            <a:gdLst/>
            <a:ahLst/>
            <a:cxnLst/>
            <a:rect l="l" t="t" r="r" b="b"/>
            <a:pathLst>
              <a:path w="33449" h="970008">
                <a:moveTo>
                  <a:pt x="33449" y="0"/>
                </a:moveTo>
                <a:lnTo>
                  <a:pt x="33449" y="0"/>
                </a:lnTo>
                <a:lnTo>
                  <a:pt x="33449" y="970008"/>
                </a:lnTo>
                <a:lnTo>
                  <a:pt x="33449" y="970008"/>
                </a:lnTo>
                <a:cubicBezTo>
                  <a:pt x="14975" y="970008"/>
                  <a:pt x="0" y="955033"/>
                  <a:pt x="0" y="93656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18" name="Text 16"/>
          <p:cNvSpPr/>
          <p:nvPr/>
        </p:nvSpPr>
        <p:spPr>
          <a:xfrm>
            <a:off x="501728" y="3813136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二次推荐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1728" y="4080724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"这款</a:t>
            </a:r>
            <a:r>
              <a:rPr lang="zh-CN" alt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棒球帽</a:t>
            </a: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和您的POLO很搭，现在买还有</a:t>
            </a:r>
            <a:r>
              <a:rPr lang="zh-CN" alt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活动价</a:t>
            </a: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1728" y="4314864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"我们下周上新品，到时候您可以来看看。"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1210" y="4783144"/>
            <a:ext cx="5644444" cy="970008"/>
          </a:xfrm>
          <a:custGeom>
            <a:avLst/>
            <a:gdLst/>
            <a:ahLst/>
            <a:cxnLst/>
            <a:rect l="l" t="t" r="r" b="b"/>
            <a:pathLst>
              <a:path w="5644444" h="970008">
                <a:moveTo>
                  <a:pt x="33449" y="0"/>
                </a:moveTo>
                <a:lnTo>
                  <a:pt x="5577543" y="0"/>
                </a:lnTo>
                <a:cubicBezTo>
                  <a:pt x="5614492" y="0"/>
                  <a:pt x="5644444" y="29953"/>
                  <a:pt x="5644444" y="66901"/>
                </a:cubicBezTo>
                <a:lnTo>
                  <a:pt x="5644444" y="903107"/>
                </a:lnTo>
                <a:cubicBezTo>
                  <a:pt x="5644444" y="940031"/>
                  <a:pt x="5614467" y="970008"/>
                  <a:pt x="5577543" y="970008"/>
                </a:cubicBezTo>
                <a:lnTo>
                  <a:pt x="33449" y="970008"/>
                </a:lnTo>
                <a:cubicBezTo>
                  <a:pt x="14975" y="970008"/>
                  <a:pt x="0" y="955033"/>
                  <a:pt x="0" y="936560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351210" y="4783144"/>
            <a:ext cx="33449" cy="970008"/>
          </a:xfrm>
          <a:custGeom>
            <a:avLst/>
            <a:gdLst/>
            <a:ahLst/>
            <a:cxnLst/>
            <a:rect l="l" t="t" r="r" b="b"/>
            <a:pathLst>
              <a:path w="33449" h="970008">
                <a:moveTo>
                  <a:pt x="33449" y="0"/>
                </a:moveTo>
                <a:lnTo>
                  <a:pt x="33449" y="0"/>
                </a:lnTo>
                <a:lnTo>
                  <a:pt x="33449" y="970008"/>
                </a:lnTo>
                <a:lnTo>
                  <a:pt x="33449" y="970008"/>
                </a:lnTo>
                <a:cubicBezTo>
                  <a:pt x="14975" y="970008"/>
                  <a:pt x="0" y="955033"/>
                  <a:pt x="0" y="93656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3" name="Text 21"/>
          <p:cNvSpPr/>
          <p:nvPr/>
        </p:nvSpPr>
        <p:spPr>
          <a:xfrm>
            <a:off x="501728" y="4916938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唱收唱付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1728" y="5184527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"一共是XX元，收您XX元，找您XX元，请收好。"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1728" y="5418667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"这是您的小票和商品，请核对一下。"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1210" y="5886947"/>
            <a:ext cx="5644444" cy="970008"/>
          </a:xfrm>
          <a:custGeom>
            <a:avLst/>
            <a:gdLst/>
            <a:ahLst/>
            <a:cxnLst/>
            <a:rect l="l" t="t" r="r" b="b"/>
            <a:pathLst>
              <a:path w="5644444" h="970008">
                <a:moveTo>
                  <a:pt x="33449" y="0"/>
                </a:moveTo>
                <a:lnTo>
                  <a:pt x="5577543" y="0"/>
                </a:lnTo>
                <a:cubicBezTo>
                  <a:pt x="5614492" y="0"/>
                  <a:pt x="5644444" y="29953"/>
                  <a:pt x="5644444" y="66901"/>
                </a:cubicBezTo>
                <a:lnTo>
                  <a:pt x="5644444" y="903107"/>
                </a:lnTo>
                <a:cubicBezTo>
                  <a:pt x="5644444" y="940031"/>
                  <a:pt x="5614467" y="970008"/>
                  <a:pt x="5577543" y="970008"/>
                </a:cubicBezTo>
                <a:lnTo>
                  <a:pt x="33449" y="970008"/>
                </a:lnTo>
                <a:cubicBezTo>
                  <a:pt x="14975" y="970008"/>
                  <a:pt x="0" y="955033"/>
                  <a:pt x="0" y="936560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351210" y="5886947"/>
            <a:ext cx="33449" cy="970008"/>
          </a:xfrm>
          <a:custGeom>
            <a:avLst/>
            <a:gdLst/>
            <a:ahLst/>
            <a:cxnLst/>
            <a:rect l="l" t="t" r="r" b="b"/>
            <a:pathLst>
              <a:path w="33449" h="970008">
                <a:moveTo>
                  <a:pt x="33449" y="0"/>
                </a:moveTo>
                <a:lnTo>
                  <a:pt x="33449" y="0"/>
                </a:lnTo>
                <a:lnTo>
                  <a:pt x="33449" y="970008"/>
                </a:lnTo>
                <a:lnTo>
                  <a:pt x="33449" y="970008"/>
                </a:lnTo>
                <a:cubicBezTo>
                  <a:pt x="14975" y="970008"/>
                  <a:pt x="0" y="955033"/>
                  <a:pt x="0" y="936560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28" name="Text 26"/>
          <p:cNvSpPr/>
          <p:nvPr/>
        </p:nvSpPr>
        <p:spPr>
          <a:xfrm>
            <a:off x="501728" y="6020741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送宾话术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1728" y="6288329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"我送您到门口，请拿好随身物品。"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1728" y="6522469"/>
            <a:ext cx="5427029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"感谢您的光临，</a:t>
            </a:r>
            <a:r>
              <a:rPr lang="zh-CN" alt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我叫小林，</a:t>
            </a: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欢迎下次再来！"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0474" y="1103802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175605" y="100346"/>
                </a:moveTo>
                <a:cubicBezTo>
                  <a:pt x="175605" y="58809"/>
                  <a:pt x="141882" y="25086"/>
                  <a:pt x="100346" y="25086"/>
                </a:cubicBezTo>
                <a:cubicBezTo>
                  <a:pt x="58809" y="25086"/>
                  <a:pt x="25086" y="58809"/>
                  <a:pt x="25086" y="100346"/>
                </a:cubicBezTo>
                <a:cubicBezTo>
                  <a:pt x="25086" y="141882"/>
                  <a:pt x="58809" y="175605"/>
                  <a:pt x="100346" y="175605"/>
                </a:cubicBezTo>
                <a:cubicBezTo>
                  <a:pt x="141882" y="175605"/>
                  <a:pt x="175605" y="141882"/>
                  <a:pt x="175605" y="100346"/>
                </a:cubicBezTo>
                <a:close/>
                <a:moveTo>
                  <a:pt x="0" y="100346"/>
                </a:moveTo>
                <a:cubicBezTo>
                  <a:pt x="0" y="44963"/>
                  <a:pt x="44963" y="0"/>
                  <a:pt x="100346" y="0"/>
                </a:cubicBezTo>
                <a:cubicBezTo>
                  <a:pt x="155728" y="0"/>
                  <a:pt x="200691" y="44963"/>
                  <a:pt x="200691" y="100346"/>
                </a:cubicBezTo>
                <a:cubicBezTo>
                  <a:pt x="200691" y="155728"/>
                  <a:pt x="155728" y="200691"/>
                  <a:pt x="100346" y="200691"/>
                </a:cubicBezTo>
                <a:cubicBezTo>
                  <a:pt x="44963" y="200691"/>
                  <a:pt x="0" y="155728"/>
                  <a:pt x="0" y="100346"/>
                </a:cubicBezTo>
                <a:close/>
                <a:moveTo>
                  <a:pt x="100346" y="131704"/>
                </a:moveTo>
                <a:cubicBezTo>
                  <a:pt x="117653" y="131704"/>
                  <a:pt x="131704" y="117653"/>
                  <a:pt x="131704" y="100346"/>
                </a:cubicBezTo>
                <a:cubicBezTo>
                  <a:pt x="131704" y="83039"/>
                  <a:pt x="117653" y="68988"/>
                  <a:pt x="100346" y="68988"/>
                </a:cubicBezTo>
                <a:cubicBezTo>
                  <a:pt x="83039" y="68988"/>
                  <a:pt x="68988" y="83039"/>
                  <a:pt x="68988" y="100346"/>
                </a:cubicBezTo>
                <a:cubicBezTo>
                  <a:pt x="68988" y="117653"/>
                  <a:pt x="83039" y="131704"/>
                  <a:pt x="100346" y="131704"/>
                </a:cubicBezTo>
                <a:close/>
                <a:moveTo>
                  <a:pt x="100346" y="43901"/>
                </a:moveTo>
                <a:cubicBezTo>
                  <a:pt x="131498" y="43901"/>
                  <a:pt x="156790" y="69193"/>
                  <a:pt x="156790" y="100346"/>
                </a:cubicBezTo>
                <a:cubicBezTo>
                  <a:pt x="156790" y="131498"/>
                  <a:pt x="131498" y="156790"/>
                  <a:pt x="100346" y="156790"/>
                </a:cubicBezTo>
                <a:cubicBezTo>
                  <a:pt x="69193" y="156790"/>
                  <a:pt x="43901" y="131498"/>
                  <a:pt x="43901" y="100346"/>
                </a:cubicBezTo>
                <a:cubicBezTo>
                  <a:pt x="43901" y="69193"/>
                  <a:pt x="69193" y="43901"/>
                  <a:pt x="100346" y="43901"/>
                </a:cubicBezTo>
                <a:close/>
                <a:moveTo>
                  <a:pt x="87802" y="100346"/>
                </a:moveTo>
                <a:cubicBezTo>
                  <a:pt x="87802" y="93423"/>
                  <a:pt x="93423" y="87802"/>
                  <a:pt x="100346" y="87802"/>
                </a:cubicBezTo>
                <a:cubicBezTo>
                  <a:pt x="107268" y="87802"/>
                  <a:pt x="112889" y="93423"/>
                  <a:pt x="112889" y="100346"/>
                </a:cubicBezTo>
                <a:cubicBezTo>
                  <a:pt x="112889" y="107268"/>
                  <a:pt x="107268" y="112889"/>
                  <a:pt x="100346" y="112889"/>
                </a:cubicBezTo>
                <a:cubicBezTo>
                  <a:pt x="93423" y="112889"/>
                  <a:pt x="87802" y="107268"/>
                  <a:pt x="87802" y="10034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2" name="Text 30"/>
          <p:cNvSpPr/>
          <p:nvPr/>
        </p:nvSpPr>
        <p:spPr>
          <a:xfrm>
            <a:off x="6546598" y="1070354"/>
            <a:ext cx="903111" cy="267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重点掌握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5388" y="1471737"/>
            <a:ext cx="5661169" cy="3813136"/>
          </a:xfrm>
          <a:custGeom>
            <a:avLst/>
            <a:gdLst/>
            <a:ahLst/>
            <a:cxnLst/>
            <a:rect l="l" t="t" r="r" b="b"/>
            <a:pathLst>
              <a:path w="5661169" h="3813136">
                <a:moveTo>
                  <a:pt x="66882" y="0"/>
                </a:moveTo>
                <a:lnTo>
                  <a:pt x="5594286" y="0"/>
                </a:lnTo>
                <a:cubicBezTo>
                  <a:pt x="5631224" y="0"/>
                  <a:pt x="5661169" y="29944"/>
                  <a:pt x="5661169" y="66882"/>
                </a:cubicBezTo>
                <a:lnTo>
                  <a:pt x="5661169" y="3746253"/>
                </a:lnTo>
                <a:cubicBezTo>
                  <a:pt x="5661169" y="3783192"/>
                  <a:pt x="5631224" y="3813136"/>
                  <a:pt x="5594286" y="3813136"/>
                </a:cubicBezTo>
                <a:lnTo>
                  <a:pt x="66882" y="3813136"/>
                </a:lnTo>
                <a:cubicBezTo>
                  <a:pt x="29944" y="3813136"/>
                  <a:pt x="0" y="3783192"/>
                  <a:pt x="0" y="3746253"/>
                </a:cubicBezTo>
                <a:lnTo>
                  <a:pt x="0" y="66882"/>
                </a:lnTo>
                <a:cubicBezTo>
                  <a:pt x="0" y="29969"/>
                  <a:pt x="29969" y="0"/>
                  <a:pt x="6688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Shape 32"/>
          <p:cNvSpPr/>
          <p:nvPr/>
        </p:nvSpPr>
        <p:spPr>
          <a:xfrm>
            <a:off x="6362630" y="1638979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200691" y="0"/>
                </a:moveTo>
                <a:lnTo>
                  <a:pt x="200691" y="0"/>
                </a:lnTo>
                <a:cubicBezTo>
                  <a:pt x="311456" y="0"/>
                  <a:pt x="401383" y="89927"/>
                  <a:pt x="401383" y="200691"/>
                </a:cubicBezTo>
                <a:lnTo>
                  <a:pt x="401383" y="200691"/>
                </a:lnTo>
                <a:cubicBezTo>
                  <a:pt x="401383" y="311456"/>
                  <a:pt x="311456" y="401383"/>
                  <a:pt x="200691" y="401383"/>
                </a:cubicBezTo>
                <a:lnTo>
                  <a:pt x="200691" y="401383"/>
                </a:lnTo>
                <a:cubicBezTo>
                  <a:pt x="89927" y="401383"/>
                  <a:pt x="0" y="311456"/>
                  <a:pt x="0" y="200691"/>
                </a:cubicBezTo>
                <a:lnTo>
                  <a:pt x="0" y="200691"/>
                </a:lnTo>
                <a:cubicBezTo>
                  <a:pt x="0" y="89927"/>
                  <a:pt x="89927" y="0"/>
                  <a:pt x="200691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5" name="Shape 33"/>
          <p:cNvSpPr/>
          <p:nvPr/>
        </p:nvSpPr>
        <p:spPr>
          <a:xfrm>
            <a:off x="6479700" y="1756049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31358" y="0"/>
                </a:moveTo>
                <a:cubicBezTo>
                  <a:pt x="19827" y="0"/>
                  <a:pt x="10453" y="9375"/>
                  <a:pt x="10453" y="20905"/>
                </a:cubicBezTo>
                <a:cubicBezTo>
                  <a:pt x="10453" y="32436"/>
                  <a:pt x="19827" y="41811"/>
                  <a:pt x="31358" y="41811"/>
                </a:cubicBezTo>
                <a:lnTo>
                  <a:pt x="47037" y="41811"/>
                </a:lnTo>
                <a:lnTo>
                  <a:pt x="47037" y="52263"/>
                </a:lnTo>
                <a:lnTo>
                  <a:pt x="28418" y="52263"/>
                </a:lnTo>
                <a:cubicBezTo>
                  <a:pt x="18096" y="52263"/>
                  <a:pt x="9309" y="59809"/>
                  <a:pt x="7742" y="70033"/>
                </a:cubicBezTo>
                <a:lnTo>
                  <a:pt x="359" y="118932"/>
                </a:lnTo>
                <a:cubicBezTo>
                  <a:pt x="131" y="120467"/>
                  <a:pt x="0" y="122035"/>
                  <a:pt x="0" y="123603"/>
                </a:cubicBezTo>
                <a:lnTo>
                  <a:pt x="0" y="146337"/>
                </a:lnTo>
                <a:cubicBezTo>
                  <a:pt x="0" y="157868"/>
                  <a:pt x="9375" y="167243"/>
                  <a:pt x="20905" y="167243"/>
                </a:cubicBezTo>
                <a:lnTo>
                  <a:pt x="146337" y="167243"/>
                </a:lnTo>
                <a:cubicBezTo>
                  <a:pt x="157868" y="167243"/>
                  <a:pt x="167243" y="157868"/>
                  <a:pt x="167243" y="146337"/>
                </a:cubicBezTo>
                <a:lnTo>
                  <a:pt x="167243" y="123603"/>
                </a:lnTo>
                <a:cubicBezTo>
                  <a:pt x="167243" y="122035"/>
                  <a:pt x="167112" y="120467"/>
                  <a:pt x="166883" y="118899"/>
                </a:cubicBezTo>
                <a:lnTo>
                  <a:pt x="159469" y="70033"/>
                </a:lnTo>
                <a:cubicBezTo>
                  <a:pt x="157933" y="59809"/>
                  <a:pt x="149147" y="52263"/>
                  <a:pt x="138825" y="52263"/>
                </a:cubicBezTo>
                <a:lnTo>
                  <a:pt x="67942" y="52263"/>
                </a:lnTo>
                <a:lnTo>
                  <a:pt x="67942" y="41811"/>
                </a:lnTo>
                <a:lnTo>
                  <a:pt x="83621" y="41811"/>
                </a:lnTo>
                <a:cubicBezTo>
                  <a:pt x="95152" y="41811"/>
                  <a:pt x="104527" y="32436"/>
                  <a:pt x="104527" y="20905"/>
                </a:cubicBezTo>
                <a:cubicBezTo>
                  <a:pt x="104527" y="9375"/>
                  <a:pt x="95152" y="0"/>
                  <a:pt x="83621" y="0"/>
                </a:cubicBezTo>
                <a:lnTo>
                  <a:pt x="31358" y="0"/>
                </a:lnTo>
                <a:close/>
                <a:moveTo>
                  <a:pt x="31358" y="15679"/>
                </a:moveTo>
                <a:lnTo>
                  <a:pt x="83621" y="15679"/>
                </a:lnTo>
                <a:cubicBezTo>
                  <a:pt x="86496" y="15679"/>
                  <a:pt x="88848" y="18031"/>
                  <a:pt x="88848" y="20905"/>
                </a:cubicBezTo>
                <a:cubicBezTo>
                  <a:pt x="88848" y="23780"/>
                  <a:pt x="86496" y="26132"/>
                  <a:pt x="83621" y="26132"/>
                </a:cubicBezTo>
                <a:lnTo>
                  <a:pt x="31358" y="26132"/>
                </a:lnTo>
                <a:cubicBezTo>
                  <a:pt x="28484" y="26132"/>
                  <a:pt x="26132" y="23780"/>
                  <a:pt x="26132" y="20905"/>
                </a:cubicBezTo>
                <a:cubicBezTo>
                  <a:pt x="26132" y="18031"/>
                  <a:pt x="28484" y="15679"/>
                  <a:pt x="31358" y="15679"/>
                </a:cubicBezTo>
                <a:close/>
                <a:moveTo>
                  <a:pt x="20905" y="138498"/>
                </a:moveTo>
                <a:cubicBezTo>
                  <a:pt x="20905" y="134154"/>
                  <a:pt x="24400" y="130658"/>
                  <a:pt x="28745" y="130658"/>
                </a:cubicBezTo>
                <a:lnTo>
                  <a:pt x="138498" y="130658"/>
                </a:lnTo>
                <a:cubicBezTo>
                  <a:pt x="142842" y="130658"/>
                  <a:pt x="146337" y="134154"/>
                  <a:pt x="146337" y="138498"/>
                </a:cubicBezTo>
                <a:cubicBezTo>
                  <a:pt x="146337" y="142842"/>
                  <a:pt x="142842" y="146337"/>
                  <a:pt x="138498" y="146337"/>
                </a:cubicBezTo>
                <a:lnTo>
                  <a:pt x="28745" y="146337"/>
                </a:lnTo>
                <a:cubicBezTo>
                  <a:pt x="24400" y="146337"/>
                  <a:pt x="20905" y="142842"/>
                  <a:pt x="20905" y="138498"/>
                </a:cubicBezTo>
                <a:close/>
                <a:moveTo>
                  <a:pt x="36584" y="86235"/>
                </a:moveTo>
                <a:cubicBezTo>
                  <a:pt x="32258" y="86235"/>
                  <a:pt x="28745" y="82722"/>
                  <a:pt x="28745" y="78395"/>
                </a:cubicBezTo>
                <a:cubicBezTo>
                  <a:pt x="28745" y="74068"/>
                  <a:pt x="32258" y="70556"/>
                  <a:pt x="36584" y="70556"/>
                </a:cubicBezTo>
                <a:cubicBezTo>
                  <a:pt x="40911" y="70556"/>
                  <a:pt x="44424" y="74068"/>
                  <a:pt x="44424" y="78395"/>
                </a:cubicBezTo>
                <a:cubicBezTo>
                  <a:pt x="44424" y="82722"/>
                  <a:pt x="40911" y="86235"/>
                  <a:pt x="36584" y="86235"/>
                </a:cubicBezTo>
                <a:close/>
                <a:moveTo>
                  <a:pt x="75782" y="78395"/>
                </a:moveTo>
                <a:cubicBezTo>
                  <a:pt x="75782" y="82722"/>
                  <a:pt x="72269" y="86235"/>
                  <a:pt x="67942" y="86235"/>
                </a:cubicBezTo>
                <a:cubicBezTo>
                  <a:pt x="63616" y="86235"/>
                  <a:pt x="60103" y="82722"/>
                  <a:pt x="60103" y="78395"/>
                </a:cubicBezTo>
                <a:cubicBezTo>
                  <a:pt x="60103" y="74068"/>
                  <a:pt x="63616" y="70556"/>
                  <a:pt x="67942" y="70556"/>
                </a:cubicBezTo>
                <a:cubicBezTo>
                  <a:pt x="72269" y="70556"/>
                  <a:pt x="75782" y="74068"/>
                  <a:pt x="75782" y="78395"/>
                </a:cubicBezTo>
                <a:close/>
                <a:moveTo>
                  <a:pt x="52263" y="112366"/>
                </a:moveTo>
                <a:cubicBezTo>
                  <a:pt x="47937" y="112366"/>
                  <a:pt x="44424" y="108853"/>
                  <a:pt x="44424" y="104527"/>
                </a:cubicBezTo>
                <a:cubicBezTo>
                  <a:pt x="44424" y="100200"/>
                  <a:pt x="47937" y="96687"/>
                  <a:pt x="52263" y="96687"/>
                </a:cubicBezTo>
                <a:cubicBezTo>
                  <a:pt x="56590" y="96687"/>
                  <a:pt x="60103" y="100200"/>
                  <a:pt x="60103" y="104527"/>
                </a:cubicBezTo>
                <a:cubicBezTo>
                  <a:pt x="60103" y="108853"/>
                  <a:pt x="56590" y="112366"/>
                  <a:pt x="52263" y="112366"/>
                </a:cubicBezTo>
                <a:close/>
                <a:moveTo>
                  <a:pt x="107140" y="78395"/>
                </a:moveTo>
                <a:cubicBezTo>
                  <a:pt x="107140" y="82722"/>
                  <a:pt x="103627" y="86235"/>
                  <a:pt x="99300" y="86235"/>
                </a:cubicBezTo>
                <a:cubicBezTo>
                  <a:pt x="94974" y="86235"/>
                  <a:pt x="91461" y="82722"/>
                  <a:pt x="91461" y="78395"/>
                </a:cubicBezTo>
                <a:cubicBezTo>
                  <a:pt x="91461" y="74068"/>
                  <a:pt x="94974" y="70556"/>
                  <a:pt x="99300" y="70556"/>
                </a:cubicBezTo>
                <a:cubicBezTo>
                  <a:pt x="103627" y="70556"/>
                  <a:pt x="107140" y="74068"/>
                  <a:pt x="107140" y="78395"/>
                </a:cubicBezTo>
                <a:close/>
                <a:moveTo>
                  <a:pt x="83621" y="112366"/>
                </a:moveTo>
                <a:cubicBezTo>
                  <a:pt x="79295" y="112366"/>
                  <a:pt x="75782" y="108853"/>
                  <a:pt x="75782" y="104527"/>
                </a:cubicBezTo>
                <a:cubicBezTo>
                  <a:pt x="75782" y="100200"/>
                  <a:pt x="79295" y="96687"/>
                  <a:pt x="83621" y="96687"/>
                </a:cubicBezTo>
                <a:cubicBezTo>
                  <a:pt x="87948" y="96687"/>
                  <a:pt x="91461" y="100200"/>
                  <a:pt x="91461" y="104527"/>
                </a:cubicBezTo>
                <a:cubicBezTo>
                  <a:pt x="91461" y="108853"/>
                  <a:pt x="87948" y="112366"/>
                  <a:pt x="83621" y="112366"/>
                </a:cubicBezTo>
                <a:close/>
                <a:moveTo>
                  <a:pt x="138498" y="78395"/>
                </a:moveTo>
                <a:cubicBezTo>
                  <a:pt x="138498" y="82722"/>
                  <a:pt x="134985" y="86235"/>
                  <a:pt x="130658" y="86235"/>
                </a:cubicBezTo>
                <a:cubicBezTo>
                  <a:pt x="126332" y="86235"/>
                  <a:pt x="122819" y="82722"/>
                  <a:pt x="122819" y="78395"/>
                </a:cubicBezTo>
                <a:cubicBezTo>
                  <a:pt x="122819" y="74068"/>
                  <a:pt x="126332" y="70556"/>
                  <a:pt x="130658" y="70556"/>
                </a:cubicBezTo>
                <a:cubicBezTo>
                  <a:pt x="134985" y="70556"/>
                  <a:pt x="138498" y="74068"/>
                  <a:pt x="138498" y="78395"/>
                </a:cubicBezTo>
                <a:close/>
                <a:moveTo>
                  <a:pt x="114979" y="112366"/>
                </a:moveTo>
                <a:cubicBezTo>
                  <a:pt x="110653" y="112366"/>
                  <a:pt x="107140" y="108853"/>
                  <a:pt x="107140" y="104527"/>
                </a:cubicBezTo>
                <a:cubicBezTo>
                  <a:pt x="107140" y="100200"/>
                  <a:pt x="110653" y="96687"/>
                  <a:pt x="114979" y="96687"/>
                </a:cubicBezTo>
                <a:cubicBezTo>
                  <a:pt x="119306" y="96687"/>
                  <a:pt x="122819" y="100200"/>
                  <a:pt x="122819" y="104527"/>
                </a:cubicBezTo>
                <a:cubicBezTo>
                  <a:pt x="122819" y="108853"/>
                  <a:pt x="119306" y="112366"/>
                  <a:pt x="114979" y="11236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6897807" y="1638979"/>
            <a:ext cx="1814584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收银流程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97807" y="1906568"/>
            <a:ext cx="1806222" cy="217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熟练操作收银系统，快速准确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2630" y="2224329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200691" y="0"/>
                </a:moveTo>
                <a:lnTo>
                  <a:pt x="200691" y="0"/>
                </a:lnTo>
                <a:cubicBezTo>
                  <a:pt x="311456" y="0"/>
                  <a:pt x="401383" y="89927"/>
                  <a:pt x="401383" y="200691"/>
                </a:cubicBezTo>
                <a:lnTo>
                  <a:pt x="401383" y="200691"/>
                </a:lnTo>
                <a:cubicBezTo>
                  <a:pt x="401383" y="311456"/>
                  <a:pt x="311456" y="401383"/>
                  <a:pt x="200691" y="401383"/>
                </a:cubicBezTo>
                <a:lnTo>
                  <a:pt x="200691" y="401383"/>
                </a:lnTo>
                <a:cubicBezTo>
                  <a:pt x="89927" y="401383"/>
                  <a:pt x="0" y="311456"/>
                  <a:pt x="0" y="200691"/>
                </a:cubicBezTo>
                <a:lnTo>
                  <a:pt x="0" y="200691"/>
                </a:lnTo>
                <a:cubicBezTo>
                  <a:pt x="0" y="89927"/>
                  <a:pt x="89927" y="0"/>
                  <a:pt x="200691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9" name="Shape 37"/>
          <p:cNvSpPr/>
          <p:nvPr/>
        </p:nvSpPr>
        <p:spPr>
          <a:xfrm>
            <a:off x="6469248" y="2341399"/>
            <a:ext cx="188148" cy="167243"/>
          </a:xfrm>
          <a:custGeom>
            <a:avLst/>
            <a:gdLst/>
            <a:ahLst/>
            <a:cxnLst/>
            <a:rect l="l" t="t" r="r" b="b"/>
            <a:pathLst>
              <a:path w="188148" h="167243">
                <a:moveTo>
                  <a:pt x="0" y="31358"/>
                </a:moveTo>
                <a:cubicBezTo>
                  <a:pt x="0" y="19827"/>
                  <a:pt x="9375" y="10453"/>
                  <a:pt x="20905" y="10453"/>
                </a:cubicBezTo>
                <a:lnTo>
                  <a:pt x="167243" y="10453"/>
                </a:lnTo>
                <a:cubicBezTo>
                  <a:pt x="178773" y="10453"/>
                  <a:pt x="188148" y="19827"/>
                  <a:pt x="188148" y="31358"/>
                </a:cubicBezTo>
                <a:lnTo>
                  <a:pt x="0" y="31358"/>
                </a:lnTo>
                <a:close/>
                <a:moveTo>
                  <a:pt x="0" y="47037"/>
                </a:moveTo>
                <a:lnTo>
                  <a:pt x="188148" y="47037"/>
                </a:lnTo>
                <a:lnTo>
                  <a:pt x="188148" y="135885"/>
                </a:lnTo>
                <a:cubicBezTo>
                  <a:pt x="188148" y="147415"/>
                  <a:pt x="178773" y="156790"/>
                  <a:pt x="167243" y="156790"/>
                </a:cubicBezTo>
                <a:lnTo>
                  <a:pt x="20905" y="156790"/>
                </a:lnTo>
                <a:cubicBezTo>
                  <a:pt x="9375" y="156790"/>
                  <a:pt x="0" y="147415"/>
                  <a:pt x="0" y="135885"/>
                </a:cubicBezTo>
                <a:lnTo>
                  <a:pt x="0" y="47037"/>
                </a:lnTo>
                <a:close/>
                <a:moveTo>
                  <a:pt x="80780" y="135885"/>
                </a:moveTo>
                <a:cubicBezTo>
                  <a:pt x="87378" y="135885"/>
                  <a:pt x="92310" y="129548"/>
                  <a:pt x="88096" y="124452"/>
                </a:cubicBezTo>
                <a:cubicBezTo>
                  <a:pt x="83295" y="118671"/>
                  <a:pt x="76043" y="114979"/>
                  <a:pt x="67942" y="114979"/>
                </a:cubicBezTo>
                <a:lnTo>
                  <a:pt x="47037" y="114979"/>
                </a:lnTo>
                <a:cubicBezTo>
                  <a:pt x="38936" y="114979"/>
                  <a:pt x="31685" y="118671"/>
                  <a:pt x="26883" y="124452"/>
                </a:cubicBezTo>
                <a:cubicBezTo>
                  <a:pt x="22669" y="129548"/>
                  <a:pt x="27602" y="135885"/>
                  <a:pt x="34200" y="135885"/>
                </a:cubicBezTo>
                <a:lnTo>
                  <a:pt x="80747" y="135885"/>
                </a:lnTo>
                <a:close/>
                <a:moveTo>
                  <a:pt x="57490" y="101914"/>
                </a:moveTo>
                <a:cubicBezTo>
                  <a:pt x="67585" y="101914"/>
                  <a:pt x="75782" y="93717"/>
                  <a:pt x="75782" y="83621"/>
                </a:cubicBezTo>
                <a:cubicBezTo>
                  <a:pt x="75782" y="73526"/>
                  <a:pt x="67585" y="65329"/>
                  <a:pt x="57490" y="65329"/>
                </a:cubicBezTo>
                <a:cubicBezTo>
                  <a:pt x="47394" y="65329"/>
                  <a:pt x="39198" y="73526"/>
                  <a:pt x="39198" y="83621"/>
                </a:cubicBezTo>
                <a:cubicBezTo>
                  <a:pt x="39198" y="93717"/>
                  <a:pt x="47394" y="101914"/>
                  <a:pt x="57490" y="101914"/>
                </a:cubicBezTo>
                <a:close/>
                <a:moveTo>
                  <a:pt x="117593" y="67942"/>
                </a:moveTo>
                <a:cubicBezTo>
                  <a:pt x="113248" y="67942"/>
                  <a:pt x="109753" y="71438"/>
                  <a:pt x="109753" y="75782"/>
                </a:cubicBezTo>
                <a:cubicBezTo>
                  <a:pt x="109753" y="80126"/>
                  <a:pt x="113248" y="83621"/>
                  <a:pt x="117593" y="83621"/>
                </a:cubicBezTo>
                <a:lnTo>
                  <a:pt x="154177" y="83621"/>
                </a:lnTo>
                <a:cubicBezTo>
                  <a:pt x="158521" y="83621"/>
                  <a:pt x="162016" y="80126"/>
                  <a:pt x="162016" y="75782"/>
                </a:cubicBezTo>
                <a:cubicBezTo>
                  <a:pt x="162016" y="71438"/>
                  <a:pt x="158521" y="67942"/>
                  <a:pt x="154177" y="67942"/>
                </a:cubicBezTo>
                <a:lnTo>
                  <a:pt x="117593" y="67942"/>
                </a:lnTo>
                <a:close/>
                <a:moveTo>
                  <a:pt x="117593" y="99300"/>
                </a:moveTo>
                <a:cubicBezTo>
                  <a:pt x="113248" y="99300"/>
                  <a:pt x="109753" y="102796"/>
                  <a:pt x="109753" y="107140"/>
                </a:cubicBezTo>
                <a:cubicBezTo>
                  <a:pt x="109753" y="111484"/>
                  <a:pt x="113248" y="114979"/>
                  <a:pt x="117593" y="114979"/>
                </a:cubicBezTo>
                <a:lnTo>
                  <a:pt x="154177" y="114979"/>
                </a:lnTo>
                <a:cubicBezTo>
                  <a:pt x="158521" y="114979"/>
                  <a:pt x="162016" y="111484"/>
                  <a:pt x="162016" y="107140"/>
                </a:cubicBezTo>
                <a:cubicBezTo>
                  <a:pt x="162016" y="102796"/>
                  <a:pt x="158521" y="99300"/>
                  <a:pt x="154177" y="99300"/>
                </a:cubicBezTo>
                <a:lnTo>
                  <a:pt x="117593" y="9930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6897807" y="2224329"/>
            <a:ext cx="1948379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VIP卡/</a:t>
            </a:r>
            <a:r>
              <a:rPr lang="zh-CN" altLang="en-US" sz="11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微信会员</a:t>
            </a:r>
            <a:r>
              <a:rPr lang="en-US" sz="11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推广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98005" y="2491740"/>
            <a:ext cx="484124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主动推荐会员卡，</a:t>
            </a:r>
            <a:r>
              <a:rPr lang="zh-CN" altLang="en-US" sz="1055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和邀约加入微信会员，</a:t>
            </a:r>
            <a:r>
              <a:rPr lang="en-US" sz="1055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介绍优惠政策</a:t>
            </a:r>
            <a:r>
              <a:rPr lang="zh-CN" altLang="en-US" sz="1055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带来的方便好处</a:t>
            </a:r>
            <a:endParaRPr lang="zh-CN" altLang="en-US" sz="1055" dirty="0">
              <a:solidFill>
                <a:srgbClr val="A9A299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62630" y="2809679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200691" y="0"/>
                </a:moveTo>
                <a:lnTo>
                  <a:pt x="200691" y="0"/>
                </a:lnTo>
                <a:cubicBezTo>
                  <a:pt x="311456" y="0"/>
                  <a:pt x="401383" y="89927"/>
                  <a:pt x="401383" y="200691"/>
                </a:cubicBezTo>
                <a:lnTo>
                  <a:pt x="401383" y="200691"/>
                </a:lnTo>
                <a:cubicBezTo>
                  <a:pt x="401383" y="311456"/>
                  <a:pt x="311456" y="401383"/>
                  <a:pt x="200691" y="401383"/>
                </a:cubicBezTo>
                <a:lnTo>
                  <a:pt x="200691" y="401383"/>
                </a:lnTo>
                <a:cubicBezTo>
                  <a:pt x="89927" y="401383"/>
                  <a:pt x="0" y="311456"/>
                  <a:pt x="0" y="200691"/>
                </a:cubicBezTo>
                <a:lnTo>
                  <a:pt x="0" y="200691"/>
                </a:lnTo>
                <a:cubicBezTo>
                  <a:pt x="0" y="89927"/>
                  <a:pt x="89927" y="0"/>
                  <a:pt x="200691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43" name="Shape 41"/>
          <p:cNvSpPr/>
          <p:nvPr/>
        </p:nvSpPr>
        <p:spPr>
          <a:xfrm>
            <a:off x="6479700" y="2926749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105017" y="22473"/>
                </a:moveTo>
                <a:cubicBezTo>
                  <a:pt x="107499" y="18260"/>
                  <a:pt x="112007" y="15679"/>
                  <a:pt x="116874" y="15679"/>
                </a:cubicBezTo>
                <a:lnTo>
                  <a:pt x="117593" y="15679"/>
                </a:lnTo>
                <a:cubicBezTo>
                  <a:pt x="124811" y="15679"/>
                  <a:pt x="130658" y="21526"/>
                  <a:pt x="130658" y="28745"/>
                </a:cubicBezTo>
                <a:cubicBezTo>
                  <a:pt x="130658" y="35964"/>
                  <a:pt x="124811" y="41811"/>
                  <a:pt x="117593" y="41811"/>
                </a:cubicBezTo>
                <a:lnTo>
                  <a:pt x="93649" y="41811"/>
                </a:lnTo>
                <a:lnTo>
                  <a:pt x="105017" y="22473"/>
                </a:lnTo>
                <a:close/>
                <a:moveTo>
                  <a:pt x="62226" y="22473"/>
                </a:moveTo>
                <a:lnTo>
                  <a:pt x="73593" y="41811"/>
                </a:lnTo>
                <a:lnTo>
                  <a:pt x="49650" y="41811"/>
                </a:lnTo>
                <a:cubicBezTo>
                  <a:pt x="42431" y="41811"/>
                  <a:pt x="36584" y="35964"/>
                  <a:pt x="36584" y="28745"/>
                </a:cubicBezTo>
                <a:cubicBezTo>
                  <a:pt x="36584" y="21526"/>
                  <a:pt x="42431" y="15679"/>
                  <a:pt x="49650" y="15679"/>
                </a:cubicBezTo>
                <a:lnTo>
                  <a:pt x="50369" y="15679"/>
                </a:lnTo>
                <a:cubicBezTo>
                  <a:pt x="55236" y="15679"/>
                  <a:pt x="59776" y="18260"/>
                  <a:pt x="62226" y="22473"/>
                </a:cubicBezTo>
                <a:close/>
                <a:moveTo>
                  <a:pt x="91494" y="14536"/>
                </a:moveTo>
                <a:lnTo>
                  <a:pt x="83621" y="27928"/>
                </a:lnTo>
                <a:lnTo>
                  <a:pt x="75749" y="14536"/>
                </a:lnTo>
                <a:cubicBezTo>
                  <a:pt x="70458" y="5520"/>
                  <a:pt x="60789" y="0"/>
                  <a:pt x="50369" y="0"/>
                </a:cubicBezTo>
                <a:lnTo>
                  <a:pt x="49650" y="0"/>
                </a:lnTo>
                <a:cubicBezTo>
                  <a:pt x="33775" y="0"/>
                  <a:pt x="20905" y="12870"/>
                  <a:pt x="20905" y="28745"/>
                </a:cubicBezTo>
                <a:cubicBezTo>
                  <a:pt x="20905" y="33449"/>
                  <a:pt x="22049" y="37891"/>
                  <a:pt x="24041" y="41811"/>
                </a:cubicBezTo>
                <a:lnTo>
                  <a:pt x="10453" y="41811"/>
                </a:lnTo>
                <a:cubicBezTo>
                  <a:pt x="4671" y="41811"/>
                  <a:pt x="0" y="46482"/>
                  <a:pt x="0" y="52263"/>
                </a:cubicBezTo>
                <a:lnTo>
                  <a:pt x="0" y="62716"/>
                </a:lnTo>
                <a:cubicBezTo>
                  <a:pt x="0" y="68498"/>
                  <a:pt x="4671" y="73169"/>
                  <a:pt x="10453" y="73169"/>
                </a:cubicBezTo>
                <a:lnTo>
                  <a:pt x="156790" y="73169"/>
                </a:lnTo>
                <a:cubicBezTo>
                  <a:pt x="162572" y="73169"/>
                  <a:pt x="167243" y="68498"/>
                  <a:pt x="167243" y="62716"/>
                </a:cubicBezTo>
                <a:lnTo>
                  <a:pt x="167243" y="52263"/>
                </a:lnTo>
                <a:cubicBezTo>
                  <a:pt x="167243" y="46482"/>
                  <a:pt x="162572" y="41811"/>
                  <a:pt x="156790" y="41811"/>
                </a:cubicBezTo>
                <a:lnTo>
                  <a:pt x="143202" y="41811"/>
                </a:lnTo>
                <a:cubicBezTo>
                  <a:pt x="145194" y="37891"/>
                  <a:pt x="146337" y="33449"/>
                  <a:pt x="146337" y="28745"/>
                </a:cubicBezTo>
                <a:cubicBezTo>
                  <a:pt x="146337" y="12870"/>
                  <a:pt x="133468" y="0"/>
                  <a:pt x="117593" y="0"/>
                </a:cubicBezTo>
                <a:lnTo>
                  <a:pt x="116874" y="0"/>
                </a:lnTo>
                <a:cubicBezTo>
                  <a:pt x="106454" y="0"/>
                  <a:pt x="96785" y="5520"/>
                  <a:pt x="91494" y="14503"/>
                </a:cubicBezTo>
                <a:close/>
                <a:moveTo>
                  <a:pt x="156790" y="88848"/>
                </a:moveTo>
                <a:lnTo>
                  <a:pt x="91461" y="88848"/>
                </a:lnTo>
                <a:lnTo>
                  <a:pt x="91461" y="156790"/>
                </a:lnTo>
                <a:lnTo>
                  <a:pt x="135885" y="156790"/>
                </a:lnTo>
                <a:cubicBezTo>
                  <a:pt x="147415" y="156790"/>
                  <a:pt x="156790" y="147415"/>
                  <a:pt x="156790" y="135885"/>
                </a:cubicBezTo>
                <a:lnTo>
                  <a:pt x="156790" y="88848"/>
                </a:lnTo>
                <a:close/>
                <a:moveTo>
                  <a:pt x="75782" y="88848"/>
                </a:moveTo>
                <a:lnTo>
                  <a:pt x="10453" y="88848"/>
                </a:lnTo>
                <a:lnTo>
                  <a:pt x="10453" y="135885"/>
                </a:lnTo>
                <a:cubicBezTo>
                  <a:pt x="10453" y="147415"/>
                  <a:pt x="19827" y="156790"/>
                  <a:pt x="31358" y="156790"/>
                </a:cubicBezTo>
                <a:lnTo>
                  <a:pt x="75782" y="156790"/>
                </a:lnTo>
                <a:lnTo>
                  <a:pt x="75782" y="8884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6897807" y="2809679"/>
            <a:ext cx="1814584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二次推荐技巧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97807" y="3077267"/>
            <a:ext cx="1806222" cy="217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推荐搭配商品或预告新品信息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2630" y="3395029"/>
            <a:ext cx="401383" cy="401383"/>
          </a:xfrm>
          <a:custGeom>
            <a:avLst/>
            <a:gdLst/>
            <a:ahLst/>
            <a:cxnLst/>
            <a:rect l="l" t="t" r="r" b="b"/>
            <a:pathLst>
              <a:path w="401383" h="401383">
                <a:moveTo>
                  <a:pt x="200691" y="0"/>
                </a:moveTo>
                <a:lnTo>
                  <a:pt x="200691" y="0"/>
                </a:lnTo>
                <a:cubicBezTo>
                  <a:pt x="311456" y="0"/>
                  <a:pt x="401383" y="89927"/>
                  <a:pt x="401383" y="200691"/>
                </a:cubicBezTo>
                <a:lnTo>
                  <a:pt x="401383" y="200691"/>
                </a:lnTo>
                <a:cubicBezTo>
                  <a:pt x="401383" y="311456"/>
                  <a:pt x="311456" y="401383"/>
                  <a:pt x="200691" y="401383"/>
                </a:cubicBezTo>
                <a:lnTo>
                  <a:pt x="200691" y="401383"/>
                </a:lnTo>
                <a:cubicBezTo>
                  <a:pt x="89927" y="401383"/>
                  <a:pt x="0" y="311456"/>
                  <a:pt x="0" y="200691"/>
                </a:cubicBezTo>
                <a:lnTo>
                  <a:pt x="0" y="200691"/>
                </a:lnTo>
                <a:cubicBezTo>
                  <a:pt x="0" y="89927"/>
                  <a:pt x="89927" y="0"/>
                  <a:pt x="200691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47" name="Shape 45"/>
          <p:cNvSpPr/>
          <p:nvPr/>
        </p:nvSpPr>
        <p:spPr>
          <a:xfrm>
            <a:off x="6469248" y="3512099"/>
            <a:ext cx="188148" cy="167243"/>
          </a:xfrm>
          <a:custGeom>
            <a:avLst/>
            <a:gdLst/>
            <a:ahLst/>
            <a:cxnLst/>
            <a:rect l="l" t="t" r="r" b="b"/>
            <a:pathLst>
              <a:path w="188148" h="167243">
                <a:moveTo>
                  <a:pt x="91330" y="10126"/>
                </a:moveTo>
                <a:cubicBezTo>
                  <a:pt x="86725" y="3756"/>
                  <a:pt x="79342" y="0"/>
                  <a:pt x="71503" y="0"/>
                </a:cubicBezTo>
                <a:cubicBezTo>
                  <a:pt x="57980" y="0"/>
                  <a:pt x="47037" y="10943"/>
                  <a:pt x="47037" y="24466"/>
                </a:cubicBezTo>
                <a:lnTo>
                  <a:pt x="47037" y="25250"/>
                </a:lnTo>
                <a:cubicBezTo>
                  <a:pt x="47037" y="46286"/>
                  <a:pt x="73822" y="68824"/>
                  <a:pt x="86953" y="78591"/>
                </a:cubicBezTo>
                <a:cubicBezTo>
                  <a:pt x="91200" y="81760"/>
                  <a:pt x="96916" y="81760"/>
                  <a:pt x="101162" y="78591"/>
                </a:cubicBezTo>
                <a:cubicBezTo>
                  <a:pt x="114293" y="68792"/>
                  <a:pt x="141078" y="46286"/>
                  <a:pt x="141078" y="25250"/>
                </a:cubicBezTo>
                <a:lnTo>
                  <a:pt x="141078" y="24466"/>
                </a:lnTo>
                <a:cubicBezTo>
                  <a:pt x="141078" y="10943"/>
                  <a:pt x="130136" y="0"/>
                  <a:pt x="116613" y="0"/>
                </a:cubicBezTo>
                <a:cubicBezTo>
                  <a:pt x="108773" y="0"/>
                  <a:pt x="101391" y="3756"/>
                  <a:pt x="96785" y="10126"/>
                </a:cubicBezTo>
                <a:lnTo>
                  <a:pt x="94074" y="13948"/>
                </a:lnTo>
                <a:lnTo>
                  <a:pt x="91330" y="10126"/>
                </a:lnTo>
                <a:close/>
                <a:moveTo>
                  <a:pt x="35702" y="111550"/>
                </a:moveTo>
                <a:lnTo>
                  <a:pt x="21787" y="125432"/>
                </a:lnTo>
                <a:lnTo>
                  <a:pt x="10453" y="125432"/>
                </a:lnTo>
                <a:cubicBezTo>
                  <a:pt x="4671" y="125432"/>
                  <a:pt x="0" y="130103"/>
                  <a:pt x="0" y="135885"/>
                </a:cubicBezTo>
                <a:lnTo>
                  <a:pt x="0" y="156790"/>
                </a:lnTo>
                <a:cubicBezTo>
                  <a:pt x="0" y="162572"/>
                  <a:pt x="4671" y="167243"/>
                  <a:pt x="10453" y="167243"/>
                </a:cubicBezTo>
                <a:lnTo>
                  <a:pt x="115143" y="167243"/>
                </a:lnTo>
                <a:cubicBezTo>
                  <a:pt x="124615" y="167243"/>
                  <a:pt x="133860" y="164205"/>
                  <a:pt x="141503" y="158587"/>
                </a:cubicBezTo>
                <a:lnTo>
                  <a:pt x="182856" y="128111"/>
                </a:lnTo>
                <a:cubicBezTo>
                  <a:pt x="188671" y="123832"/>
                  <a:pt x="189912" y="115665"/>
                  <a:pt x="185633" y="109851"/>
                </a:cubicBezTo>
                <a:cubicBezTo>
                  <a:pt x="181354" y="104037"/>
                  <a:pt x="173188" y="102796"/>
                  <a:pt x="167373" y="107075"/>
                </a:cubicBezTo>
                <a:lnTo>
                  <a:pt x="128241" y="135885"/>
                </a:lnTo>
                <a:lnTo>
                  <a:pt x="91461" y="135885"/>
                </a:lnTo>
                <a:cubicBezTo>
                  <a:pt x="87117" y="135885"/>
                  <a:pt x="83621" y="132390"/>
                  <a:pt x="83621" y="128045"/>
                </a:cubicBezTo>
                <a:cubicBezTo>
                  <a:pt x="83621" y="123701"/>
                  <a:pt x="87117" y="120206"/>
                  <a:pt x="91461" y="120206"/>
                </a:cubicBezTo>
                <a:lnTo>
                  <a:pt x="114979" y="120206"/>
                </a:lnTo>
                <a:cubicBezTo>
                  <a:pt x="120761" y="120206"/>
                  <a:pt x="125432" y="115535"/>
                  <a:pt x="125432" y="109753"/>
                </a:cubicBezTo>
                <a:cubicBezTo>
                  <a:pt x="125432" y="103971"/>
                  <a:pt x="120761" y="99300"/>
                  <a:pt x="114979" y="99300"/>
                </a:cubicBezTo>
                <a:lnTo>
                  <a:pt x="65264" y="99300"/>
                </a:lnTo>
                <a:cubicBezTo>
                  <a:pt x="54191" y="99300"/>
                  <a:pt x="43542" y="103710"/>
                  <a:pt x="35702" y="1115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6897807" y="3395029"/>
            <a:ext cx="1680790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送宾礼仪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97807" y="3662617"/>
            <a:ext cx="1672428" cy="217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送宾到门口，提醒拿齐物品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5388" y="5418667"/>
            <a:ext cx="5661169" cy="1438288"/>
          </a:xfrm>
          <a:custGeom>
            <a:avLst/>
            <a:gdLst/>
            <a:ahLst/>
            <a:cxnLst/>
            <a:rect l="l" t="t" r="r" b="b"/>
            <a:pathLst>
              <a:path w="5661169" h="1438288">
                <a:moveTo>
                  <a:pt x="66895" y="0"/>
                </a:moveTo>
                <a:lnTo>
                  <a:pt x="5594274" y="0"/>
                </a:lnTo>
                <a:cubicBezTo>
                  <a:pt x="5631219" y="0"/>
                  <a:pt x="5661169" y="29950"/>
                  <a:pt x="5661169" y="66895"/>
                </a:cubicBezTo>
                <a:lnTo>
                  <a:pt x="5661169" y="1371393"/>
                </a:lnTo>
                <a:cubicBezTo>
                  <a:pt x="5661169" y="1408338"/>
                  <a:pt x="5631219" y="1438288"/>
                  <a:pt x="5594274" y="1438288"/>
                </a:cubicBezTo>
                <a:lnTo>
                  <a:pt x="66895" y="1438288"/>
                </a:lnTo>
                <a:cubicBezTo>
                  <a:pt x="29950" y="1438288"/>
                  <a:pt x="0" y="1408338"/>
                  <a:pt x="0" y="1371393"/>
                </a:cubicBezTo>
                <a:lnTo>
                  <a:pt x="0" y="66895"/>
                </a:lnTo>
                <a:cubicBezTo>
                  <a:pt x="0" y="29975"/>
                  <a:pt x="29975" y="0"/>
                  <a:pt x="66895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6329182" y="5552461"/>
            <a:ext cx="5460477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二次种草技巧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45906" y="5853498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3794" y="8362"/>
                </a:moveTo>
                <a:cubicBezTo>
                  <a:pt x="133794" y="36610"/>
                  <a:pt x="113777" y="60181"/>
                  <a:pt x="87175" y="65695"/>
                </a:cubicBezTo>
                <a:cubicBezTo>
                  <a:pt x="85111" y="50513"/>
                  <a:pt x="78291" y="36846"/>
                  <a:pt x="68230" y="26262"/>
                </a:cubicBezTo>
                <a:cubicBezTo>
                  <a:pt x="78709" y="10453"/>
                  <a:pt x="96661" y="0"/>
                  <a:pt x="117070" y="0"/>
                </a:cubicBezTo>
                <a:lnTo>
                  <a:pt x="125432" y="0"/>
                </a:lnTo>
                <a:cubicBezTo>
                  <a:pt x="130057" y="0"/>
                  <a:pt x="133794" y="3737"/>
                  <a:pt x="133794" y="8362"/>
                </a:cubicBezTo>
                <a:close/>
                <a:moveTo>
                  <a:pt x="0" y="25086"/>
                </a:moveTo>
                <a:cubicBezTo>
                  <a:pt x="0" y="20461"/>
                  <a:pt x="3737" y="16724"/>
                  <a:pt x="8362" y="16724"/>
                </a:cubicBezTo>
                <a:lnTo>
                  <a:pt x="16724" y="16724"/>
                </a:lnTo>
                <a:cubicBezTo>
                  <a:pt x="49049" y="16724"/>
                  <a:pt x="75259" y="42934"/>
                  <a:pt x="75259" y="75259"/>
                </a:cubicBezTo>
                <a:lnTo>
                  <a:pt x="75259" y="125432"/>
                </a:lnTo>
                <a:cubicBezTo>
                  <a:pt x="75259" y="130057"/>
                  <a:pt x="71522" y="133794"/>
                  <a:pt x="66897" y="133794"/>
                </a:cubicBezTo>
                <a:cubicBezTo>
                  <a:pt x="62272" y="133794"/>
                  <a:pt x="58535" y="130057"/>
                  <a:pt x="58535" y="125432"/>
                </a:cubicBezTo>
                <a:lnTo>
                  <a:pt x="58535" y="83621"/>
                </a:lnTo>
                <a:cubicBezTo>
                  <a:pt x="26210" y="83621"/>
                  <a:pt x="0" y="57411"/>
                  <a:pt x="0" y="2508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3" name="Text 51"/>
          <p:cNvSpPr/>
          <p:nvPr/>
        </p:nvSpPr>
        <p:spPr>
          <a:xfrm>
            <a:off x="6563322" y="5820049"/>
            <a:ext cx="1137251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预告新品上市信息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45906" y="6087638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3794" y="8362"/>
                </a:moveTo>
                <a:cubicBezTo>
                  <a:pt x="133794" y="36610"/>
                  <a:pt x="113777" y="60181"/>
                  <a:pt x="87175" y="65695"/>
                </a:cubicBezTo>
                <a:cubicBezTo>
                  <a:pt x="85111" y="50513"/>
                  <a:pt x="78291" y="36846"/>
                  <a:pt x="68230" y="26262"/>
                </a:cubicBezTo>
                <a:cubicBezTo>
                  <a:pt x="78709" y="10453"/>
                  <a:pt x="96661" y="0"/>
                  <a:pt x="117070" y="0"/>
                </a:cubicBezTo>
                <a:lnTo>
                  <a:pt x="125432" y="0"/>
                </a:lnTo>
                <a:cubicBezTo>
                  <a:pt x="130057" y="0"/>
                  <a:pt x="133794" y="3737"/>
                  <a:pt x="133794" y="8362"/>
                </a:cubicBezTo>
                <a:close/>
                <a:moveTo>
                  <a:pt x="0" y="25086"/>
                </a:moveTo>
                <a:cubicBezTo>
                  <a:pt x="0" y="20461"/>
                  <a:pt x="3737" y="16724"/>
                  <a:pt x="8362" y="16724"/>
                </a:cubicBezTo>
                <a:lnTo>
                  <a:pt x="16724" y="16724"/>
                </a:lnTo>
                <a:cubicBezTo>
                  <a:pt x="49049" y="16724"/>
                  <a:pt x="75259" y="42934"/>
                  <a:pt x="75259" y="75259"/>
                </a:cubicBezTo>
                <a:lnTo>
                  <a:pt x="75259" y="125432"/>
                </a:lnTo>
                <a:cubicBezTo>
                  <a:pt x="75259" y="130057"/>
                  <a:pt x="71522" y="133794"/>
                  <a:pt x="66897" y="133794"/>
                </a:cubicBezTo>
                <a:cubicBezTo>
                  <a:pt x="62272" y="133794"/>
                  <a:pt x="58535" y="130057"/>
                  <a:pt x="58535" y="125432"/>
                </a:cubicBezTo>
                <a:lnTo>
                  <a:pt x="58535" y="83621"/>
                </a:lnTo>
                <a:cubicBezTo>
                  <a:pt x="26210" y="83621"/>
                  <a:pt x="0" y="57411"/>
                  <a:pt x="0" y="2508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5" name="Text 53"/>
          <p:cNvSpPr/>
          <p:nvPr/>
        </p:nvSpPr>
        <p:spPr>
          <a:xfrm>
            <a:off x="6563322" y="6054189"/>
            <a:ext cx="869663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推荐搭配单品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45906" y="6321778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3794" y="8362"/>
                </a:moveTo>
                <a:cubicBezTo>
                  <a:pt x="133794" y="36610"/>
                  <a:pt x="113777" y="60181"/>
                  <a:pt x="87175" y="65695"/>
                </a:cubicBezTo>
                <a:cubicBezTo>
                  <a:pt x="85111" y="50513"/>
                  <a:pt x="78291" y="36846"/>
                  <a:pt x="68230" y="26262"/>
                </a:cubicBezTo>
                <a:cubicBezTo>
                  <a:pt x="78709" y="10453"/>
                  <a:pt x="96661" y="0"/>
                  <a:pt x="117070" y="0"/>
                </a:cubicBezTo>
                <a:lnTo>
                  <a:pt x="125432" y="0"/>
                </a:lnTo>
                <a:cubicBezTo>
                  <a:pt x="130057" y="0"/>
                  <a:pt x="133794" y="3737"/>
                  <a:pt x="133794" y="8362"/>
                </a:cubicBezTo>
                <a:close/>
                <a:moveTo>
                  <a:pt x="0" y="25086"/>
                </a:moveTo>
                <a:cubicBezTo>
                  <a:pt x="0" y="20461"/>
                  <a:pt x="3737" y="16724"/>
                  <a:pt x="8362" y="16724"/>
                </a:cubicBezTo>
                <a:lnTo>
                  <a:pt x="16724" y="16724"/>
                </a:lnTo>
                <a:cubicBezTo>
                  <a:pt x="49049" y="16724"/>
                  <a:pt x="75259" y="42934"/>
                  <a:pt x="75259" y="75259"/>
                </a:cubicBezTo>
                <a:lnTo>
                  <a:pt x="75259" y="125432"/>
                </a:lnTo>
                <a:cubicBezTo>
                  <a:pt x="75259" y="130057"/>
                  <a:pt x="71522" y="133794"/>
                  <a:pt x="66897" y="133794"/>
                </a:cubicBezTo>
                <a:cubicBezTo>
                  <a:pt x="62272" y="133794"/>
                  <a:pt x="58535" y="130057"/>
                  <a:pt x="58535" y="125432"/>
                </a:cubicBezTo>
                <a:lnTo>
                  <a:pt x="58535" y="83621"/>
                </a:lnTo>
                <a:cubicBezTo>
                  <a:pt x="26210" y="83621"/>
                  <a:pt x="0" y="57411"/>
                  <a:pt x="0" y="2508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7" name="Text 55"/>
          <p:cNvSpPr/>
          <p:nvPr/>
        </p:nvSpPr>
        <p:spPr>
          <a:xfrm>
            <a:off x="6563322" y="6288329"/>
            <a:ext cx="1137251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告知会员专属活动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45906" y="6555918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133794" y="8362"/>
                </a:moveTo>
                <a:cubicBezTo>
                  <a:pt x="133794" y="36610"/>
                  <a:pt x="113777" y="60181"/>
                  <a:pt x="87175" y="65695"/>
                </a:cubicBezTo>
                <a:cubicBezTo>
                  <a:pt x="85111" y="50513"/>
                  <a:pt x="78291" y="36846"/>
                  <a:pt x="68230" y="26262"/>
                </a:cubicBezTo>
                <a:cubicBezTo>
                  <a:pt x="78709" y="10453"/>
                  <a:pt x="96661" y="0"/>
                  <a:pt x="117070" y="0"/>
                </a:cubicBezTo>
                <a:lnTo>
                  <a:pt x="125432" y="0"/>
                </a:lnTo>
                <a:cubicBezTo>
                  <a:pt x="130057" y="0"/>
                  <a:pt x="133794" y="3737"/>
                  <a:pt x="133794" y="8362"/>
                </a:cubicBezTo>
                <a:close/>
                <a:moveTo>
                  <a:pt x="0" y="25086"/>
                </a:moveTo>
                <a:cubicBezTo>
                  <a:pt x="0" y="20461"/>
                  <a:pt x="3737" y="16724"/>
                  <a:pt x="8362" y="16724"/>
                </a:cubicBezTo>
                <a:lnTo>
                  <a:pt x="16724" y="16724"/>
                </a:lnTo>
                <a:cubicBezTo>
                  <a:pt x="49049" y="16724"/>
                  <a:pt x="75259" y="42934"/>
                  <a:pt x="75259" y="75259"/>
                </a:cubicBezTo>
                <a:lnTo>
                  <a:pt x="75259" y="125432"/>
                </a:lnTo>
                <a:cubicBezTo>
                  <a:pt x="75259" y="130057"/>
                  <a:pt x="71522" y="133794"/>
                  <a:pt x="66897" y="133794"/>
                </a:cubicBezTo>
                <a:cubicBezTo>
                  <a:pt x="62272" y="133794"/>
                  <a:pt x="58535" y="130057"/>
                  <a:pt x="58535" y="125432"/>
                </a:cubicBezTo>
                <a:lnTo>
                  <a:pt x="58535" y="83621"/>
                </a:lnTo>
                <a:cubicBezTo>
                  <a:pt x="26210" y="83621"/>
                  <a:pt x="0" y="57411"/>
                  <a:pt x="0" y="2508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9" name="Text 57"/>
          <p:cNvSpPr/>
          <p:nvPr/>
        </p:nvSpPr>
        <p:spPr>
          <a:xfrm>
            <a:off x="6563322" y="6522469"/>
            <a:ext cx="1137251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添加微信保持联系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062" y="358062"/>
            <a:ext cx="11538537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kern="0" spc="197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AFTER-SALES SERVICE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062" y="608705"/>
            <a:ext cx="11637004" cy="358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售后服务与客情维系1137</a:t>
            </a:r>
            <a:r>
              <a:rPr lang="zh-CN" altLang="en-US" sz="2535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原则</a:t>
            </a:r>
            <a:endParaRPr lang="zh-CN" altLang="en-US" sz="2535" b="1" dirty="0">
              <a:solidFill>
                <a:srgbClr val="3A4F4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5965" y="1145797"/>
            <a:ext cx="5612617" cy="2766026"/>
          </a:xfrm>
          <a:custGeom>
            <a:avLst/>
            <a:gdLst/>
            <a:ahLst/>
            <a:cxnLst/>
            <a:rect l="l" t="t" r="r" b="b"/>
            <a:pathLst>
              <a:path w="5612617" h="2766026">
                <a:moveTo>
                  <a:pt x="35806" y="0"/>
                </a:moveTo>
                <a:lnTo>
                  <a:pt x="5541004" y="0"/>
                </a:lnTo>
                <a:cubicBezTo>
                  <a:pt x="5580555" y="0"/>
                  <a:pt x="5612617" y="32062"/>
                  <a:pt x="5612617" y="71612"/>
                </a:cubicBezTo>
                <a:lnTo>
                  <a:pt x="5612617" y="2694414"/>
                </a:lnTo>
                <a:cubicBezTo>
                  <a:pt x="5612617" y="2733964"/>
                  <a:pt x="5580555" y="2766026"/>
                  <a:pt x="5541004" y="2766026"/>
                </a:cubicBezTo>
                <a:lnTo>
                  <a:pt x="35806" y="2766026"/>
                </a:lnTo>
                <a:cubicBezTo>
                  <a:pt x="16031" y="2766026"/>
                  <a:pt x="0" y="2749995"/>
                  <a:pt x="0" y="2730220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75965" y="1145797"/>
            <a:ext cx="35806" cy="2766026"/>
          </a:xfrm>
          <a:custGeom>
            <a:avLst/>
            <a:gdLst/>
            <a:ahLst/>
            <a:cxnLst/>
            <a:rect l="l" t="t" r="r" b="b"/>
            <a:pathLst>
              <a:path w="35806" h="2766026">
                <a:moveTo>
                  <a:pt x="35806" y="0"/>
                </a:moveTo>
                <a:lnTo>
                  <a:pt x="35806" y="0"/>
                </a:lnTo>
                <a:lnTo>
                  <a:pt x="35806" y="2766026"/>
                </a:lnTo>
                <a:lnTo>
                  <a:pt x="35806" y="2766026"/>
                </a:lnTo>
                <a:cubicBezTo>
                  <a:pt x="16031" y="2766026"/>
                  <a:pt x="0" y="2749995"/>
                  <a:pt x="0" y="2730220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572899" y="1324828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528141" y="1324828"/>
            <a:ext cx="519189" cy="429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9980" y="1414145"/>
            <a:ext cx="2345690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当天关怀</a:t>
            </a:r>
            <a:r>
              <a:rPr lang="zh-CN" altLang="en-US" sz="141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（一天）</a:t>
            </a:r>
            <a:endParaRPr lang="zh-CN" altLang="en-US" sz="1410" b="1" dirty="0">
              <a:solidFill>
                <a:srgbClr val="3A4F4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2899" y="1897727"/>
            <a:ext cx="5317216" cy="250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时间节点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2899" y="2219982"/>
            <a:ext cx="5308264" cy="232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晚上10:00编辑信息温馨提醒顾客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2899" y="2560141"/>
            <a:ext cx="5236652" cy="930960"/>
          </a:xfrm>
          <a:custGeom>
            <a:avLst/>
            <a:gdLst/>
            <a:ahLst/>
            <a:cxnLst/>
            <a:rect l="l" t="t" r="r" b="b"/>
            <a:pathLst>
              <a:path w="5236652" h="930960">
                <a:moveTo>
                  <a:pt x="71609" y="0"/>
                </a:moveTo>
                <a:lnTo>
                  <a:pt x="5165043" y="0"/>
                </a:lnTo>
                <a:cubicBezTo>
                  <a:pt x="5204591" y="0"/>
                  <a:pt x="5236652" y="32061"/>
                  <a:pt x="5236652" y="71609"/>
                </a:cubicBezTo>
                <a:lnTo>
                  <a:pt x="5236652" y="859351"/>
                </a:lnTo>
                <a:cubicBezTo>
                  <a:pt x="5236652" y="898900"/>
                  <a:pt x="5204591" y="930960"/>
                  <a:pt x="5165043" y="930960"/>
                </a:cubicBezTo>
                <a:lnTo>
                  <a:pt x="71609" y="930960"/>
                </a:lnTo>
                <a:cubicBezTo>
                  <a:pt x="32061" y="930960"/>
                  <a:pt x="0" y="898900"/>
                  <a:pt x="0" y="859351"/>
                </a:cubicBezTo>
                <a:lnTo>
                  <a:pt x="0" y="71609"/>
                </a:lnTo>
                <a:cubicBezTo>
                  <a:pt x="0" y="32087"/>
                  <a:pt x="32087" y="0"/>
                  <a:pt x="71609" y="0"/>
                </a:cubicBezTo>
                <a:close/>
              </a:path>
            </a:pathLst>
          </a:custGeom>
          <a:solidFill>
            <a:srgbClr val="3A4F41">
              <a:alpha val="5098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80317" y="2667559"/>
            <a:ext cx="5093427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话术示例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0317" y="2954009"/>
            <a:ext cx="5093427" cy="429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"张先生，感谢您今天光临凯施迪！提醒您，这</a:t>
            </a:r>
            <a:r>
              <a:rPr lang="zh-CN" alt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件</a:t>
            </a:r>
            <a:r>
              <a:rPr 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POLO建议</a:t>
            </a:r>
            <a:r>
              <a:rPr lang="zh-CN" alt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手洗或套洗袋机洗</a:t>
            </a:r>
            <a:r>
              <a:rPr 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，避免暴晒，这样可以保持面料的质感。如有任何问题，随时联系我。祝您晚安！"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5965" y="4090855"/>
            <a:ext cx="5612617" cy="2766026"/>
          </a:xfrm>
          <a:custGeom>
            <a:avLst/>
            <a:gdLst/>
            <a:ahLst/>
            <a:cxnLst/>
            <a:rect l="l" t="t" r="r" b="b"/>
            <a:pathLst>
              <a:path w="5612617" h="2766026">
                <a:moveTo>
                  <a:pt x="35806" y="0"/>
                </a:moveTo>
                <a:lnTo>
                  <a:pt x="5541004" y="0"/>
                </a:lnTo>
                <a:cubicBezTo>
                  <a:pt x="5580555" y="0"/>
                  <a:pt x="5612617" y="32062"/>
                  <a:pt x="5612617" y="71612"/>
                </a:cubicBezTo>
                <a:lnTo>
                  <a:pt x="5612617" y="2694414"/>
                </a:lnTo>
                <a:cubicBezTo>
                  <a:pt x="5612617" y="2733964"/>
                  <a:pt x="5580555" y="2766026"/>
                  <a:pt x="5541004" y="2766026"/>
                </a:cubicBezTo>
                <a:lnTo>
                  <a:pt x="35806" y="2766026"/>
                </a:lnTo>
                <a:cubicBezTo>
                  <a:pt x="16031" y="2766026"/>
                  <a:pt x="0" y="2749995"/>
                  <a:pt x="0" y="2730220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375965" y="4090855"/>
            <a:ext cx="35806" cy="2766026"/>
          </a:xfrm>
          <a:custGeom>
            <a:avLst/>
            <a:gdLst/>
            <a:ahLst/>
            <a:cxnLst/>
            <a:rect l="l" t="t" r="r" b="b"/>
            <a:pathLst>
              <a:path w="35806" h="2766026">
                <a:moveTo>
                  <a:pt x="35806" y="0"/>
                </a:moveTo>
                <a:lnTo>
                  <a:pt x="35806" y="0"/>
                </a:lnTo>
                <a:lnTo>
                  <a:pt x="35806" y="2766026"/>
                </a:lnTo>
                <a:lnTo>
                  <a:pt x="35806" y="2766026"/>
                </a:lnTo>
                <a:cubicBezTo>
                  <a:pt x="16031" y="2766026"/>
                  <a:pt x="0" y="2749995"/>
                  <a:pt x="0" y="2730220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6" name="Shape 14"/>
          <p:cNvSpPr/>
          <p:nvPr/>
        </p:nvSpPr>
        <p:spPr>
          <a:xfrm>
            <a:off x="572899" y="4269885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7" name="Text 15"/>
          <p:cNvSpPr/>
          <p:nvPr/>
        </p:nvSpPr>
        <p:spPr>
          <a:xfrm>
            <a:off x="528141" y="4269885"/>
            <a:ext cx="519189" cy="429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/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87755" y="4359275"/>
            <a:ext cx="4237355" cy="349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r>
              <a:rPr lang="zh-CN" altLang="en-US" sz="141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至</a:t>
            </a:r>
            <a:r>
              <a:rPr lang="en-US" altLang="zh-CN" sz="141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</a:t>
            </a:r>
            <a:r>
              <a:rPr lang="zh-CN" altLang="en-US" sz="141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</a:t>
            </a:r>
            <a:endParaRPr lang="zh-CN" altLang="en-US" sz="1410" b="1" dirty="0">
              <a:solidFill>
                <a:srgbClr val="3A4F4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72899" y="4842784"/>
            <a:ext cx="5317216" cy="250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时间节点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2899" y="5165040"/>
            <a:ext cx="5308264" cy="232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购买后</a:t>
            </a:r>
            <a:r>
              <a:rPr lang="zh-CN" alt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</a:t>
            </a:r>
            <a:r>
              <a:rPr lang="en-US" altLang="zh-CN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r>
              <a:rPr lang="zh-CN" alt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至</a:t>
            </a:r>
            <a:r>
              <a:rPr lang="en-US" altLang="zh-CN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</a:t>
            </a:r>
            <a:r>
              <a:rPr lang="zh-CN" alt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</a:t>
            </a:r>
            <a:r>
              <a:rPr 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编辑信息</a:t>
            </a:r>
            <a:r>
              <a:rPr lang="zh-CN" alt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，提醒顾客若有需求可以随时到店</a:t>
            </a:r>
            <a:endParaRPr lang="zh-CN" altLang="en-US" sz="1130" dirty="0">
              <a:solidFill>
                <a:srgbClr val="2E2E2E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2899" y="5505198"/>
            <a:ext cx="5236652" cy="1145797"/>
          </a:xfrm>
          <a:custGeom>
            <a:avLst/>
            <a:gdLst/>
            <a:ahLst/>
            <a:cxnLst/>
            <a:rect l="l" t="t" r="r" b="b"/>
            <a:pathLst>
              <a:path w="5236652" h="1145797">
                <a:moveTo>
                  <a:pt x="71612" y="0"/>
                </a:moveTo>
                <a:lnTo>
                  <a:pt x="5165040" y="0"/>
                </a:lnTo>
                <a:cubicBezTo>
                  <a:pt x="5204590" y="0"/>
                  <a:pt x="5236652" y="32062"/>
                  <a:pt x="5236652" y="71612"/>
                </a:cubicBezTo>
                <a:lnTo>
                  <a:pt x="5236652" y="1074185"/>
                </a:lnTo>
                <a:cubicBezTo>
                  <a:pt x="5236652" y="1113735"/>
                  <a:pt x="5204590" y="1145797"/>
                  <a:pt x="5165040" y="1145797"/>
                </a:cubicBezTo>
                <a:lnTo>
                  <a:pt x="71612" y="1145797"/>
                </a:lnTo>
                <a:cubicBezTo>
                  <a:pt x="32062" y="1145797"/>
                  <a:pt x="0" y="1113735"/>
                  <a:pt x="0" y="1074185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C47A5A">
              <a:alpha val="10196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80317" y="5612617"/>
            <a:ext cx="5093427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话术示例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0317" y="5899066"/>
            <a:ext cx="5093427" cy="6445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</a:t>
            </a:r>
            <a:r>
              <a:rPr lang="zh-CN" altLang="en-US" sz="1200" dirty="0"/>
              <a:t>陈总，好久没见到您了，最近还好吗？最近凯施迪上了一些新款，如果您有添衣服的计划，欢迎过来试穿看看</a:t>
            </a:r>
            <a:endParaRPr lang="zh-CN" alt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0296" y="1145797"/>
            <a:ext cx="5612617" cy="2524335"/>
          </a:xfrm>
          <a:custGeom>
            <a:avLst/>
            <a:gdLst/>
            <a:ahLst/>
            <a:cxnLst/>
            <a:rect l="l" t="t" r="r" b="b"/>
            <a:pathLst>
              <a:path w="5612617" h="2524335">
                <a:moveTo>
                  <a:pt x="35806" y="0"/>
                </a:moveTo>
                <a:lnTo>
                  <a:pt x="5541001" y="0"/>
                </a:lnTo>
                <a:cubicBezTo>
                  <a:pt x="5580553" y="0"/>
                  <a:pt x="5612617" y="32063"/>
                  <a:pt x="5612617" y="71615"/>
                </a:cubicBezTo>
                <a:lnTo>
                  <a:pt x="5612617" y="2452719"/>
                </a:lnTo>
                <a:cubicBezTo>
                  <a:pt x="5612617" y="2492272"/>
                  <a:pt x="5580553" y="2524335"/>
                  <a:pt x="5541001" y="2524335"/>
                </a:cubicBezTo>
                <a:lnTo>
                  <a:pt x="35806" y="2524335"/>
                </a:lnTo>
                <a:cubicBezTo>
                  <a:pt x="16031" y="2524335"/>
                  <a:pt x="0" y="2508304"/>
                  <a:pt x="0" y="2488529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6220296" y="1145797"/>
            <a:ext cx="35806" cy="2524335"/>
          </a:xfrm>
          <a:custGeom>
            <a:avLst/>
            <a:gdLst/>
            <a:ahLst/>
            <a:cxnLst/>
            <a:rect l="l" t="t" r="r" b="b"/>
            <a:pathLst>
              <a:path w="35806" h="2524335">
                <a:moveTo>
                  <a:pt x="35806" y="0"/>
                </a:moveTo>
                <a:lnTo>
                  <a:pt x="35806" y="0"/>
                </a:lnTo>
                <a:lnTo>
                  <a:pt x="35806" y="2524335"/>
                </a:lnTo>
                <a:lnTo>
                  <a:pt x="35806" y="2524335"/>
                </a:lnTo>
                <a:cubicBezTo>
                  <a:pt x="16031" y="2524335"/>
                  <a:pt x="0" y="2508304"/>
                  <a:pt x="0" y="2488529"/>
                </a:cubicBezTo>
                <a:lnTo>
                  <a:pt x="0" y="35806"/>
                </a:lnTo>
                <a:cubicBezTo>
                  <a:pt x="0" y="16031"/>
                  <a:pt x="16031" y="0"/>
                  <a:pt x="35806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26" name="Shape 24"/>
          <p:cNvSpPr/>
          <p:nvPr/>
        </p:nvSpPr>
        <p:spPr>
          <a:xfrm>
            <a:off x="6417230" y="1324828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214837" y="0"/>
                </a:moveTo>
                <a:lnTo>
                  <a:pt x="214837" y="0"/>
                </a:lnTo>
                <a:cubicBezTo>
                  <a:pt x="333409" y="0"/>
                  <a:pt x="429674" y="96265"/>
                  <a:pt x="429674" y="214837"/>
                </a:cubicBezTo>
                <a:lnTo>
                  <a:pt x="429674" y="214837"/>
                </a:lnTo>
                <a:cubicBezTo>
                  <a:pt x="429674" y="333409"/>
                  <a:pt x="333409" y="429674"/>
                  <a:pt x="214837" y="429674"/>
                </a:cubicBezTo>
                <a:lnTo>
                  <a:pt x="214837" y="429674"/>
                </a:lnTo>
                <a:cubicBezTo>
                  <a:pt x="96265" y="429674"/>
                  <a:pt x="0" y="333409"/>
                  <a:pt x="0" y="214837"/>
                </a:cubicBezTo>
                <a:lnTo>
                  <a:pt x="0" y="214837"/>
                </a:lnTo>
                <a:cubicBezTo>
                  <a:pt x="0" y="96265"/>
                  <a:pt x="96265" y="0"/>
                  <a:pt x="214837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27" name="Text 25"/>
          <p:cNvSpPr/>
          <p:nvPr/>
        </p:nvSpPr>
        <p:spPr>
          <a:xfrm>
            <a:off x="6372472" y="1324828"/>
            <a:ext cx="519189" cy="429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/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54520" y="1414145"/>
            <a:ext cx="2299970" cy="250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7天回访</a:t>
            </a:r>
            <a:r>
              <a:rPr lang="zh-CN" altLang="en-US" sz="141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（一周）</a:t>
            </a:r>
            <a:endParaRPr lang="zh-CN" altLang="en-US" sz="1410" b="1" dirty="0">
              <a:solidFill>
                <a:srgbClr val="3A4F41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17230" y="1897727"/>
            <a:ext cx="5317216" cy="250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时间节点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7230" y="2219982"/>
            <a:ext cx="5308264" cy="232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购买后7天编辑信息询问穿着体验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7230" y="2560141"/>
            <a:ext cx="5236652" cy="930960"/>
          </a:xfrm>
          <a:custGeom>
            <a:avLst/>
            <a:gdLst/>
            <a:ahLst/>
            <a:cxnLst/>
            <a:rect l="l" t="t" r="r" b="b"/>
            <a:pathLst>
              <a:path w="5236652" h="930960">
                <a:moveTo>
                  <a:pt x="71609" y="0"/>
                </a:moveTo>
                <a:lnTo>
                  <a:pt x="5165043" y="0"/>
                </a:lnTo>
                <a:cubicBezTo>
                  <a:pt x="5204591" y="0"/>
                  <a:pt x="5236652" y="32061"/>
                  <a:pt x="5236652" y="71609"/>
                </a:cubicBezTo>
                <a:lnTo>
                  <a:pt x="5236652" y="859351"/>
                </a:lnTo>
                <a:cubicBezTo>
                  <a:pt x="5236652" y="898900"/>
                  <a:pt x="5204591" y="930960"/>
                  <a:pt x="5165043" y="930960"/>
                </a:cubicBezTo>
                <a:lnTo>
                  <a:pt x="71609" y="930960"/>
                </a:lnTo>
                <a:cubicBezTo>
                  <a:pt x="32061" y="930960"/>
                  <a:pt x="0" y="898900"/>
                  <a:pt x="0" y="859351"/>
                </a:cubicBezTo>
                <a:lnTo>
                  <a:pt x="0" y="71609"/>
                </a:lnTo>
                <a:cubicBezTo>
                  <a:pt x="0" y="32087"/>
                  <a:pt x="32087" y="0"/>
                  <a:pt x="71609" y="0"/>
                </a:cubicBezTo>
                <a:close/>
              </a:path>
            </a:pathLst>
          </a:custGeom>
          <a:solidFill>
            <a:srgbClr val="A9A299">
              <a:alpha val="10196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6524648" y="2667559"/>
            <a:ext cx="5093427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话术示例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24648" y="2954009"/>
            <a:ext cx="5093427" cy="429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dirty="0">
                <a:solidFill>
                  <a:srgbClr val="2E2E2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"张先生，距离您购买我们的POLO已经一周了，想问问您穿着感觉怎么样？同事有没有夸您很有型呀？期待您的反馈，有任何问题随时找我哦！"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02393" y="3849163"/>
            <a:ext cx="5630520" cy="3007718"/>
          </a:xfrm>
          <a:custGeom>
            <a:avLst/>
            <a:gdLst/>
            <a:ahLst/>
            <a:cxnLst/>
            <a:rect l="l" t="t" r="r" b="b"/>
            <a:pathLst>
              <a:path w="5630520" h="3007718">
                <a:moveTo>
                  <a:pt x="71614" y="0"/>
                </a:moveTo>
                <a:lnTo>
                  <a:pt x="5558906" y="0"/>
                </a:lnTo>
                <a:cubicBezTo>
                  <a:pt x="5598457" y="0"/>
                  <a:pt x="5630520" y="32063"/>
                  <a:pt x="5630520" y="71614"/>
                </a:cubicBezTo>
                <a:lnTo>
                  <a:pt x="5630520" y="2936104"/>
                </a:lnTo>
                <a:cubicBezTo>
                  <a:pt x="5630520" y="2975655"/>
                  <a:pt x="5598457" y="3007718"/>
                  <a:pt x="5558906" y="3007718"/>
                </a:cubicBezTo>
                <a:lnTo>
                  <a:pt x="71614" y="3007718"/>
                </a:lnTo>
                <a:cubicBezTo>
                  <a:pt x="32063" y="3007718"/>
                  <a:pt x="0" y="2975655"/>
                  <a:pt x="0" y="2936104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35" name="Text 33"/>
          <p:cNvSpPr/>
          <p:nvPr/>
        </p:nvSpPr>
        <p:spPr>
          <a:xfrm>
            <a:off x="6417230" y="4064000"/>
            <a:ext cx="5290361" cy="250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客情维系目的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39609" y="4493674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84270" y="30456"/>
                </a:moveTo>
                <a:lnTo>
                  <a:pt x="89515" y="37694"/>
                </a:lnTo>
                <a:lnTo>
                  <a:pt x="94760" y="30456"/>
                </a:lnTo>
                <a:cubicBezTo>
                  <a:pt x="103502" y="18358"/>
                  <a:pt x="117559" y="11189"/>
                  <a:pt x="132490" y="11189"/>
                </a:cubicBezTo>
                <a:cubicBezTo>
                  <a:pt x="158191" y="11189"/>
                  <a:pt x="179031" y="32030"/>
                  <a:pt x="179031" y="57730"/>
                </a:cubicBezTo>
                <a:lnTo>
                  <a:pt x="179031" y="58640"/>
                </a:lnTo>
                <a:cubicBezTo>
                  <a:pt x="179031" y="97873"/>
                  <a:pt x="130112" y="143434"/>
                  <a:pt x="104586" y="162911"/>
                </a:cubicBezTo>
                <a:cubicBezTo>
                  <a:pt x="100250" y="166198"/>
                  <a:pt x="94935" y="167841"/>
                  <a:pt x="89515" y="167841"/>
                </a:cubicBezTo>
                <a:cubicBezTo>
                  <a:pt x="84096" y="167841"/>
                  <a:pt x="78746" y="166233"/>
                  <a:pt x="74445" y="162911"/>
                </a:cubicBezTo>
                <a:cubicBezTo>
                  <a:pt x="48919" y="143434"/>
                  <a:pt x="0" y="97873"/>
                  <a:pt x="0" y="58640"/>
                </a:cubicBezTo>
                <a:lnTo>
                  <a:pt x="0" y="57730"/>
                </a:lnTo>
                <a:cubicBezTo>
                  <a:pt x="0" y="32030"/>
                  <a:pt x="20840" y="11189"/>
                  <a:pt x="46541" y="11189"/>
                </a:cubicBezTo>
                <a:cubicBezTo>
                  <a:pt x="61472" y="11189"/>
                  <a:pt x="75529" y="18358"/>
                  <a:pt x="84270" y="30456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7" name="Text 35"/>
          <p:cNvSpPr/>
          <p:nvPr/>
        </p:nvSpPr>
        <p:spPr>
          <a:xfrm>
            <a:off x="6748437" y="4457868"/>
            <a:ext cx="2506432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建立信任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48437" y="4708511"/>
            <a:ext cx="2506432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通过持续关怀，建立顾客对品牌的信任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39609" y="5066573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167876" y="67137"/>
                </a:moveTo>
                <a:lnTo>
                  <a:pt x="170639" y="67137"/>
                </a:lnTo>
                <a:cubicBezTo>
                  <a:pt x="175289" y="67137"/>
                  <a:pt x="179031" y="63395"/>
                  <a:pt x="179031" y="58744"/>
                </a:cubicBezTo>
                <a:lnTo>
                  <a:pt x="179031" y="8392"/>
                </a:lnTo>
                <a:cubicBezTo>
                  <a:pt x="179031" y="5000"/>
                  <a:pt x="177003" y="1923"/>
                  <a:pt x="173856" y="629"/>
                </a:cubicBezTo>
                <a:cubicBezTo>
                  <a:pt x="170709" y="-664"/>
                  <a:pt x="167107" y="70"/>
                  <a:pt x="164694" y="2448"/>
                </a:cubicBezTo>
                <a:lnTo>
                  <a:pt x="146616" y="20561"/>
                </a:lnTo>
                <a:cubicBezTo>
                  <a:pt x="131126" y="7728"/>
                  <a:pt x="111195" y="0"/>
                  <a:pt x="89515" y="0"/>
                </a:cubicBezTo>
                <a:cubicBezTo>
                  <a:pt x="44408" y="0"/>
                  <a:pt x="7098" y="33358"/>
                  <a:pt x="909" y="76752"/>
                </a:cubicBezTo>
                <a:cubicBezTo>
                  <a:pt x="35" y="82872"/>
                  <a:pt x="4266" y="88536"/>
                  <a:pt x="10385" y="89411"/>
                </a:cubicBezTo>
                <a:cubicBezTo>
                  <a:pt x="16504" y="90285"/>
                  <a:pt x="22169" y="86019"/>
                  <a:pt x="23043" y="79934"/>
                </a:cubicBezTo>
                <a:cubicBezTo>
                  <a:pt x="27694" y="47380"/>
                  <a:pt x="55702" y="22379"/>
                  <a:pt x="89515" y="22379"/>
                </a:cubicBezTo>
                <a:cubicBezTo>
                  <a:pt x="105041" y="22379"/>
                  <a:pt x="119307" y="27624"/>
                  <a:pt x="130672" y="36471"/>
                </a:cubicBezTo>
                <a:lnTo>
                  <a:pt x="114342" y="52800"/>
                </a:lnTo>
                <a:cubicBezTo>
                  <a:pt x="111929" y="55213"/>
                  <a:pt x="111230" y="58814"/>
                  <a:pt x="112524" y="61961"/>
                </a:cubicBezTo>
                <a:cubicBezTo>
                  <a:pt x="113817" y="65108"/>
                  <a:pt x="116895" y="67137"/>
                  <a:pt x="120286" y="67137"/>
                </a:cubicBezTo>
                <a:lnTo>
                  <a:pt x="167876" y="67137"/>
                </a:lnTo>
                <a:close/>
                <a:moveTo>
                  <a:pt x="178157" y="102278"/>
                </a:moveTo>
                <a:cubicBezTo>
                  <a:pt x="179031" y="96159"/>
                  <a:pt x="174765" y="90494"/>
                  <a:pt x="168681" y="89620"/>
                </a:cubicBezTo>
                <a:cubicBezTo>
                  <a:pt x="162596" y="88746"/>
                  <a:pt x="156897" y="93012"/>
                  <a:pt x="156023" y="99096"/>
                </a:cubicBezTo>
                <a:cubicBezTo>
                  <a:pt x="151372" y="131616"/>
                  <a:pt x="123363" y="156617"/>
                  <a:pt x="89550" y="156617"/>
                </a:cubicBezTo>
                <a:cubicBezTo>
                  <a:pt x="74025" y="156617"/>
                  <a:pt x="59759" y="151372"/>
                  <a:pt x="48394" y="142525"/>
                </a:cubicBezTo>
                <a:lnTo>
                  <a:pt x="64689" y="126231"/>
                </a:lnTo>
                <a:cubicBezTo>
                  <a:pt x="67102" y="123818"/>
                  <a:pt x="67801" y="120216"/>
                  <a:pt x="66507" y="117069"/>
                </a:cubicBezTo>
                <a:cubicBezTo>
                  <a:pt x="65213" y="113922"/>
                  <a:pt x="62136" y="111894"/>
                  <a:pt x="58744" y="111894"/>
                </a:cubicBezTo>
                <a:lnTo>
                  <a:pt x="8392" y="111894"/>
                </a:lnTo>
                <a:cubicBezTo>
                  <a:pt x="3741" y="111894"/>
                  <a:pt x="0" y="115636"/>
                  <a:pt x="0" y="120286"/>
                </a:cubicBezTo>
                <a:lnTo>
                  <a:pt x="0" y="170639"/>
                </a:lnTo>
                <a:cubicBezTo>
                  <a:pt x="0" y="174031"/>
                  <a:pt x="2028" y="177108"/>
                  <a:pt x="5175" y="178401"/>
                </a:cubicBezTo>
                <a:cubicBezTo>
                  <a:pt x="8322" y="179695"/>
                  <a:pt x="11924" y="178961"/>
                  <a:pt x="14336" y="176583"/>
                </a:cubicBezTo>
                <a:lnTo>
                  <a:pt x="32449" y="158470"/>
                </a:lnTo>
                <a:cubicBezTo>
                  <a:pt x="47905" y="171303"/>
                  <a:pt x="67836" y="179031"/>
                  <a:pt x="89515" y="179031"/>
                </a:cubicBezTo>
                <a:cubicBezTo>
                  <a:pt x="134623" y="179031"/>
                  <a:pt x="171933" y="145672"/>
                  <a:pt x="178122" y="102278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0" name="Text 38"/>
          <p:cNvSpPr/>
          <p:nvPr/>
        </p:nvSpPr>
        <p:spPr>
          <a:xfrm>
            <a:off x="6748437" y="5030767"/>
            <a:ext cx="1933533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保持联系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48437" y="5281410"/>
            <a:ext cx="1933533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定期沟通，保持与顾客的互动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7230" y="5639471"/>
            <a:ext cx="223789" cy="179031"/>
          </a:xfrm>
          <a:custGeom>
            <a:avLst/>
            <a:gdLst/>
            <a:ahLst/>
            <a:cxnLst/>
            <a:rect l="l" t="t" r="r" b="b"/>
            <a:pathLst>
              <a:path w="223789" h="179031">
                <a:moveTo>
                  <a:pt x="111894" y="5595"/>
                </a:moveTo>
                <a:cubicBezTo>
                  <a:pt x="131965" y="5595"/>
                  <a:pt x="148260" y="21890"/>
                  <a:pt x="148260" y="41960"/>
                </a:cubicBezTo>
                <a:cubicBezTo>
                  <a:pt x="148260" y="62031"/>
                  <a:pt x="131965" y="78326"/>
                  <a:pt x="111894" y="78326"/>
                </a:cubicBezTo>
                <a:cubicBezTo>
                  <a:pt x="91824" y="78326"/>
                  <a:pt x="75529" y="62031"/>
                  <a:pt x="75529" y="41960"/>
                </a:cubicBezTo>
                <a:cubicBezTo>
                  <a:pt x="75529" y="21890"/>
                  <a:pt x="91824" y="5595"/>
                  <a:pt x="111894" y="5595"/>
                </a:cubicBezTo>
                <a:close/>
                <a:moveTo>
                  <a:pt x="33568" y="30771"/>
                </a:moveTo>
                <a:cubicBezTo>
                  <a:pt x="47463" y="30771"/>
                  <a:pt x="58744" y="42052"/>
                  <a:pt x="58744" y="55947"/>
                </a:cubicBezTo>
                <a:cubicBezTo>
                  <a:pt x="58744" y="69842"/>
                  <a:pt x="47463" y="81123"/>
                  <a:pt x="33568" y="81123"/>
                </a:cubicBezTo>
                <a:cubicBezTo>
                  <a:pt x="19673" y="81123"/>
                  <a:pt x="8392" y="69842"/>
                  <a:pt x="8392" y="55947"/>
                </a:cubicBezTo>
                <a:cubicBezTo>
                  <a:pt x="8392" y="42052"/>
                  <a:pt x="19673" y="30771"/>
                  <a:pt x="33568" y="30771"/>
                </a:cubicBezTo>
                <a:close/>
                <a:moveTo>
                  <a:pt x="0" y="145463"/>
                </a:moveTo>
                <a:cubicBezTo>
                  <a:pt x="0" y="120741"/>
                  <a:pt x="20036" y="100705"/>
                  <a:pt x="44758" y="100705"/>
                </a:cubicBezTo>
                <a:cubicBezTo>
                  <a:pt x="49233" y="100705"/>
                  <a:pt x="53569" y="101369"/>
                  <a:pt x="57661" y="102593"/>
                </a:cubicBezTo>
                <a:cubicBezTo>
                  <a:pt x="46156" y="115461"/>
                  <a:pt x="39163" y="132455"/>
                  <a:pt x="39163" y="151057"/>
                </a:cubicBezTo>
                <a:lnTo>
                  <a:pt x="39163" y="156652"/>
                </a:lnTo>
                <a:cubicBezTo>
                  <a:pt x="39163" y="160638"/>
                  <a:pt x="40002" y="164415"/>
                  <a:pt x="41506" y="167841"/>
                </a:cubicBezTo>
                <a:lnTo>
                  <a:pt x="11189" y="167841"/>
                </a:lnTo>
                <a:cubicBezTo>
                  <a:pt x="5000" y="167841"/>
                  <a:pt x="0" y="162841"/>
                  <a:pt x="0" y="156652"/>
                </a:cubicBezTo>
                <a:lnTo>
                  <a:pt x="0" y="145463"/>
                </a:lnTo>
                <a:close/>
                <a:moveTo>
                  <a:pt x="182283" y="167841"/>
                </a:moveTo>
                <a:cubicBezTo>
                  <a:pt x="183786" y="164415"/>
                  <a:pt x="184626" y="160638"/>
                  <a:pt x="184626" y="156652"/>
                </a:cubicBezTo>
                <a:lnTo>
                  <a:pt x="184626" y="151057"/>
                </a:lnTo>
                <a:cubicBezTo>
                  <a:pt x="184626" y="132455"/>
                  <a:pt x="177632" y="115461"/>
                  <a:pt x="166128" y="102593"/>
                </a:cubicBezTo>
                <a:cubicBezTo>
                  <a:pt x="170219" y="101369"/>
                  <a:pt x="174555" y="100705"/>
                  <a:pt x="179031" y="100705"/>
                </a:cubicBezTo>
                <a:cubicBezTo>
                  <a:pt x="203752" y="100705"/>
                  <a:pt x="223789" y="120741"/>
                  <a:pt x="223789" y="145463"/>
                </a:cubicBezTo>
                <a:lnTo>
                  <a:pt x="223789" y="156652"/>
                </a:lnTo>
                <a:cubicBezTo>
                  <a:pt x="223789" y="162841"/>
                  <a:pt x="218788" y="167841"/>
                  <a:pt x="212599" y="167841"/>
                </a:cubicBezTo>
                <a:lnTo>
                  <a:pt x="182283" y="167841"/>
                </a:lnTo>
                <a:close/>
                <a:moveTo>
                  <a:pt x="165044" y="55947"/>
                </a:moveTo>
                <a:cubicBezTo>
                  <a:pt x="165044" y="42052"/>
                  <a:pt x="176325" y="30771"/>
                  <a:pt x="190220" y="30771"/>
                </a:cubicBezTo>
                <a:cubicBezTo>
                  <a:pt x="204115" y="30771"/>
                  <a:pt x="215396" y="42052"/>
                  <a:pt x="215396" y="55947"/>
                </a:cubicBezTo>
                <a:cubicBezTo>
                  <a:pt x="215396" y="69842"/>
                  <a:pt x="204115" y="81123"/>
                  <a:pt x="190220" y="81123"/>
                </a:cubicBezTo>
                <a:cubicBezTo>
                  <a:pt x="176325" y="81123"/>
                  <a:pt x="165044" y="69842"/>
                  <a:pt x="165044" y="55947"/>
                </a:cubicBezTo>
                <a:close/>
                <a:moveTo>
                  <a:pt x="55947" y="151057"/>
                </a:moveTo>
                <a:cubicBezTo>
                  <a:pt x="55947" y="120146"/>
                  <a:pt x="80983" y="95110"/>
                  <a:pt x="111894" y="95110"/>
                </a:cubicBezTo>
                <a:cubicBezTo>
                  <a:pt x="142805" y="95110"/>
                  <a:pt x="167841" y="120146"/>
                  <a:pt x="167841" y="151057"/>
                </a:cubicBezTo>
                <a:lnTo>
                  <a:pt x="167841" y="156652"/>
                </a:lnTo>
                <a:cubicBezTo>
                  <a:pt x="167841" y="162841"/>
                  <a:pt x="162841" y="167841"/>
                  <a:pt x="156652" y="167841"/>
                </a:cubicBezTo>
                <a:lnTo>
                  <a:pt x="67137" y="167841"/>
                </a:lnTo>
                <a:cubicBezTo>
                  <a:pt x="60947" y="167841"/>
                  <a:pt x="55947" y="162841"/>
                  <a:pt x="55947" y="156652"/>
                </a:cubicBezTo>
                <a:lnTo>
                  <a:pt x="55947" y="151057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43" name="Text 41"/>
          <p:cNvSpPr/>
          <p:nvPr/>
        </p:nvSpPr>
        <p:spPr>
          <a:xfrm>
            <a:off x="6748437" y="5603665"/>
            <a:ext cx="1790308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培养忠实客户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48437" y="5854308"/>
            <a:ext cx="1790308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让顾客成为品牌的忠实粉丝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39609" y="6212370"/>
            <a:ext cx="179031" cy="179031"/>
          </a:xfrm>
          <a:custGeom>
            <a:avLst/>
            <a:gdLst/>
            <a:ahLst/>
            <a:cxnLst/>
            <a:rect l="l" t="t" r="r" b="b"/>
            <a:pathLst>
              <a:path w="179031" h="179031">
                <a:moveTo>
                  <a:pt x="152701" y="26120"/>
                </a:moveTo>
                <a:lnTo>
                  <a:pt x="156652" y="29862"/>
                </a:lnTo>
                <a:lnTo>
                  <a:pt x="156652" y="11189"/>
                </a:lnTo>
                <a:cubicBezTo>
                  <a:pt x="156652" y="5000"/>
                  <a:pt x="161652" y="0"/>
                  <a:pt x="167841" y="0"/>
                </a:cubicBezTo>
                <a:cubicBezTo>
                  <a:pt x="174031" y="0"/>
                  <a:pt x="179031" y="5000"/>
                  <a:pt x="179031" y="11189"/>
                </a:cubicBezTo>
                <a:lnTo>
                  <a:pt x="179031" y="55947"/>
                </a:lnTo>
                <a:cubicBezTo>
                  <a:pt x="179031" y="62136"/>
                  <a:pt x="174031" y="67137"/>
                  <a:pt x="167841" y="67137"/>
                </a:cubicBezTo>
                <a:lnTo>
                  <a:pt x="123084" y="67137"/>
                </a:lnTo>
                <a:cubicBezTo>
                  <a:pt x="116895" y="67137"/>
                  <a:pt x="111894" y="62136"/>
                  <a:pt x="111894" y="55947"/>
                </a:cubicBezTo>
                <a:cubicBezTo>
                  <a:pt x="111894" y="49758"/>
                  <a:pt x="116895" y="44758"/>
                  <a:pt x="123084" y="44758"/>
                </a:cubicBezTo>
                <a:lnTo>
                  <a:pt x="139833" y="44758"/>
                </a:lnTo>
                <a:lnTo>
                  <a:pt x="137175" y="42240"/>
                </a:lnTo>
                <a:cubicBezTo>
                  <a:pt x="137105" y="42170"/>
                  <a:pt x="137036" y="42100"/>
                  <a:pt x="136966" y="42030"/>
                </a:cubicBezTo>
                <a:cubicBezTo>
                  <a:pt x="110740" y="15805"/>
                  <a:pt x="68256" y="15805"/>
                  <a:pt x="42030" y="42030"/>
                </a:cubicBezTo>
                <a:cubicBezTo>
                  <a:pt x="15805" y="68256"/>
                  <a:pt x="15805" y="110740"/>
                  <a:pt x="42030" y="136966"/>
                </a:cubicBezTo>
                <a:cubicBezTo>
                  <a:pt x="68256" y="163191"/>
                  <a:pt x="110740" y="163191"/>
                  <a:pt x="136966" y="136966"/>
                </a:cubicBezTo>
                <a:cubicBezTo>
                  <a:pt x="139833" y="134098"/>
                  <a:pt x="142385" y="131056"/>
                  <a:pt x="144623" y="127839"/>
                </a:cubicBezTo>
                <a:cubicBezTo>
                  <a:pt x="148155" y="122769"/>
                  <a:pt x="155148" y="121545"/>
                  <a:pt x="160219" y="125077"/>
                </a:cubicBezTo>
                <a:cubicBezTo>
                  <a:pt x="165289" y="128608"/>
                  <a:pt x="166513" y="135602"/>
                  <a:pt x="162981" y="140672"/>
                </a:cubicBezTo>
                <a:cubicBezTo>
                  <a:pt x="160009" y="144938"/>
                  <a:pt x="156617" y="148994"/>
                  <a:pt x="152806" y="152806"/>
                </a:cubicBezTo>
                <a:cubicBezTo>
                  <a:pt x="117839" y="187773"/>
                  <a:pt x="61157" y="187773"/>
                  <a:pt x="26225" y="152806"/>
                </a:cubicBezTo>
                <a:cubicBezTo>
                  <a:pt x="-8707" y="117839"/>
                  <a:pt x="-8742" y="61192"/>
                  <a:pt x="26225" y="26225"/>
                </a:cubicBezTo>
                <a:cubicBezTo>
                  <a:pt x="61157" y="-8707"/>
                  <a:pt x="117734" y="-8742"/>
                  <a:pt x="152701" y="2612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6" name="Text 44"/>
          <p:cNvSpPr/>
          <p:nvPr/>
        </p:nvSpPr>
        <p:spPr>
          <a:xfrm>
            <a:off x="6748437" y="6176564"/>
            <a:ext cx="1790308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促进复购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48437" y="6427207"/>
            <a:ext cx="1790308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增加顾客再次到店的可能性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3655" y="67945"/>
            <a:ext cx="12147550" cy="669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凯施迪会员</a:t>
            </a:r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1137</a:t>
            </a:r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客情维系话术模板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607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第一条：购买当天（</a:t>
            </a:r>
            <a:r>
              <a:rPr lang="en-US" altLang="zh-CN" sz="1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Day 1</a:t>
            </a:r>
            <a:r>
              <a:rPr lang="zh-CN" altLang="en-US" sz="1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endParaRPr lang="zh-CN" altLang="en-US" sz="13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场景：顾客买单离店后，当天发信息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核心：真诚感谢 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 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强化购买决定 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 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留下好印象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模板一（亲和温暖型）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亲，感谢您今天的光临陈总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 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您的眼光真的很好，那件衣服您穿上特别衬气质～有任何穿搭问题随时来找我，希望凯施迪能一直陪在您身边！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模板二（专业贴心型）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亲，谢谢您选择凯施迪陈总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 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刚您买的那件衣服，如果后续穿着有任何不适或发现质量问题，随时回来找我们处理。穿得开心最重要，期待下次见面！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模板三（轻松自然型）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亲，今天特别高兴能接待您陈总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 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那件衣服您穿着很好看，相信它会给您带来好心情～以后有需要搭配方面的建议，随时来找我，凯施迪恭候您！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607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第二条：一周后（</a:t>
            </a:r>
            <a:r>
              <a:rPr lang="en-US" altLang="zh-CN" sz="1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Day 7</a:t>
            </a:r>
            <a:r>
              <a:rPr lang="zh-CN" altLang="en-US" sz="1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endParaRPr lang="zh-CN" altLang="en-US" sz="13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场景：顾客购买后一周，收到我们主动联系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核心：关心使用感受 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 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引导穿着场景 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 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提供专业价值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模板一（关怀询问型）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亲，一周没见，最近好吗？陈决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 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那件新衣服开始穿了吗？最近天气 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______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（根据季节引导穿着），那件衣服正好适合这个季节穿，有空可以穿出来走走看看～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模板二（场景勾起型）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亲，好久不见陈总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 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上次您选的那件衣服，这周降温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升温刚好可以穿了，我特意帮您想了个搭配思路：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______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（给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个搭配建议）。有空可以穿出来看看效果，希望您喜欢！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模板三（轻推提醒型）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亲，最近 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______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（季节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节日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天气）到了，您的衣柜有没有准备好呢？陈总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 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上次您选的那件衣服正好适合这个时节穿，如果需要添置什么，随时过来逛逛，我都在～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607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第三条：三至七周（</a:t>
            </a:r>
            <a:r>
              <a:rPr lang="en-US" altLang="zh-CN" sz="1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Day 21~49</a:t>
            </a:r>
            <a:r>
              <a:rPr lang="zh-CN" altLang="en-US" sz="13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endParaRPr lang="zh-CN" altLang="en-US" sz="13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场景：顾客超过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周没来过，主动发一条不过度的问候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核心：问候为主 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 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有需求时再来 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 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不造成压力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模板一（节日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季节问候型）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陈总，好久不见～最近 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______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（季节）了，早晚温差大，记得注意穿衣 我们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 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这段时间店里上了些新货，款式和您之前喜欢的风格差不多，等您有空的时候过来看看，不着急，有需要随时来找我～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模板二（简单问候型）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陈总，好久没见到您了，最近还好吗？最近凯施迪上了一些新款，如果您有添衣服的计划，欢迎过来试穿看看～不着急，等您方便的时候再来，我都在店里😊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3048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模板三（权益唤醒型）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266700"/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好久不见陈总</a:t>
            </a:r>
            <a:r>
              <a:rPr lang="en-US" altLang="zh-CN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 </a:t>
            </a:r>
            <a:r>
              <a:rPr lang="zh-CN" altLang="en-US" sz="13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您是凯施迪的老朋友了，有空的时候回来逛逛～最近的新品和您之前的风格挺搭的，如果正好有需要，等您来的时候，我帮您参谋参</a:t>
            </a:r>
            <a:endParaRPr lang="zh-CN" altLang="en-US" sz="13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COMPLETE PROCESS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销售八步曲 · 完整流程回顾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38250"/>
            <a:ext cx="2743200" cy="2533650"/>
          </a:xfrm>
          <a:custGeom>
            <a:avLst/>
            <a:gdLst/>
            <a:ahLst/>
            <a:cxnLst/>
            <a:rect l="l" t="t" r="r" b="b"/>
            <a:pathLst>
              <a:path w="2743200" h="2533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457438"/>
                </a:lnTo>
                <a:cubicBezTo>
                  <a:pt x="2743200" y="2499529"/>
                  <a:pt x="2709079" y="2533650"/>
                  <a:pt x="2666988" y="2533650"/>
                </a:cubicBezTo>
                <a:lnTo>
                  <a:pt x="76212" y="2533650"/>
                </a:lnTo>
                <a:cubicBezTo>
                  <a:pt x="34121" y="2533650"/>
                  <a:pt x="0" y="2499529"/>
                  <a:pt x="0" y="2457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81000" y="12382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6" name="Shape 4"/>
          <p:cNvSpPr/>
          <p:nvPr/>
        </p:nvSpPr>
        <p:spPr>
          <a:xfrm>
            <a:off x="5334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7" name="Text 5"/>
          <p:cNvSpPr/>
          <p:nvPr/>
        </p:nvSpPr>
        <p:spPr>
          <a:xfrm>
            <a:off x="490538" y="14097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14668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迎宾截流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19050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1717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3秒响应、热情问候、专业形象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3400" y="25146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关键动作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27813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门外迎宾、眼神交流、避免紧迫跟随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31242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话术要点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3400" y="33909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"您好，欢迎光临凯施迪！"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76600" y="1238250"/>
            <a:ext cx="2743200" cy="2533650"/>
          </a:xfrm>
          <a:custGeom>
            <a:avLst/>
            <a:gdLst/>
            <a:ahLst/>
            <a:cxnLst/>
            <a:rect l="l" t="t" r="r" b="b"/>
            <a:pathLst>
              <a:path w="2743200" h="2533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457438"/>
                </a:lnTo>
                <a:cubicBezTo>
                  <a:pt x="2743200" y="2499529"/>
                  <a:pt x="2709079" y="2533650"/>
                  <a:pt x="2666988" y="2533650"/>
                </a:cubicBezTo>
                <a:lnTo>
                  <a:pt x="76212" y="2533650"/>
                </a:lnTo>
                <a:cubicBezTo>
                  <a:pt x="34121" y="2533650"/>
                  <a:pt x="0" y="2499529"/>
                  <a:pt x="0" y="2457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3276600" y="12382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7" name="Shape 15"/>
          <p:cNvSpPr/>
          <p:nvPr/>
        </p:nvSpPr>
        <p:spPr>
          <a:xfrm>
            <a:off x="34290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18" name="Text 16"/>
          <p:cNvSpPr/>
          <p:nvPr/>
        </p:nvSpPr>
        <p:spPr>
          <a:xfrm>
            <a:off x="3386138" y="14097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86200" y="14668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留意客需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29000" y="19050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29000" y="21717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观察入微、捕捉信号、把握时机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25146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关键动作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27813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关注肢体语言、3秒黄金时机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29000" y="31242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购买信号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29000" y="33909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停留、触摸、注视、查看价格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0" y="1238250"/>
            <a:ext cx="2743200" cy="2533650"/>
          </a:xfrm>
          <a:custGeom>
            <a:avLst/>
            <a:gdLst/>
            <a:ahLst/>
            <a:cxnLst/>
            <a:rect l="l" t="t" r="r" b="b"/>
            <a:pathLst>
              <a:path w="2743200" h="2533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457438"/>
                </a:lnTo>
                <a:cubicBezTo>
                  <a:pt x="2743200" y="2499529"/>
                  <a:pt x="2709079" y="2533650"/>
                  <a:pt x="2666988" y="2533650"/>
                </a:cubicBezTo>
                <a:lnTo>
                  <a:pt x="76212" y="2533650"/>
                </a:lnTo>
                <a:cubicBezTo>
                  <a:pt x="34121" y="2533650"/>
                  <a:pt x="0" y="2499529"/>
                  <a:pt x="0" y="2457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6172200" y="12382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8" name="Shape 26"/>
          <p:cNvSpPr/>
          <p:nvPr/>
        </p:nvSpPr>
        <p:spPr>
          <a:xfrm>
            <a:off x="63246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A4F41"/>
          </a:solidFill>
        </p:spPr>
      </p:sp>
      <p:sp>
        <p:nvSpPr>
          <p:cNvPr id="29" name="Text 27"/>
          <p:cNvSpPr/>
          <p:nvPr/>
        </p:nvSpPr>
        <p:spPr>
          <a:xfrm>
            <a:off x="6281738" y="14097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81800" y="14668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破冰四招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24600" y="19050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24600" y="21717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拉近距离、建立信任、打开话题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24600" y="24003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四招技巧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24600" y="2667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赞美、非销三聊、引导提问、单刀直入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24600" y="31242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选择原则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24600" y="33909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根据顾客类型选择合适方式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67800" y="1238250"/>
            <a:ext cx="2743200" cy="2533650"/>
          </a:xfrm>
          <a:custGeom>
            <a:avLst/>
            <a:gdLst/>
            <a:ahLst/>
            <a:cxnLst/>
            <a:rect l="l" t="t" r="r" b="b"/>
            <a:pathLst>
              <a:path w="2743200" h="2533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457438"/>
                </a:lnTo>
                <a:cubicBezTo>
                  <a:pt x="2743200" y="2499529"/>
                  <a:pt x="2709079" y="2533650"/>
                  <a:pt x="2666988" y="2533650"/>
                </a:cubicBezTo>
                <a:lnTo>
                  <a:pt x="76212" y="2533650"/>
                </a:lnTo>
                <a:cubicBezTo>
                  <a:pt x="34121" y="2533650"/>
                  <a:pt x="0" y="2499529"/>
                  <a:pt x="0" y="2457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Shape 36"/>
          <p:cNvSpPr/>
          <p:nvPr/>
        </p:nvSpPr>
        <p:spPr>
          <a:xfrm>
            <a:off x="9067800" y="12382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39" name="Shape 37"/>
          <p:cNvSpPr/>
          <p:nvPr/>
        </p:nvSpPr>
        <p:spPr>
          <a:xfrm>
            <a:off x="92202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40" name="Text 38"/>
          <p:cNvSpPr/>
          <p:nvPr/>
        </p:nvSpPr>
        <p:spPr>
          <a:xfrm>
            <a:off x="9177338" y="14097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77400" y="14668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商品介绍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20200" y="19050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20200" y="21717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专业讲解、突出卖点、激发兴趣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20200" y="25146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讲解方法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20200" y="27813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FAB法则、USP独特卖点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220200" y="31242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介绍技巧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220200" y="33909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特性→优势→利益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1000" y="3943350"/>
            <a:ext cx="2743200" cy="2533650"/>
          </a:xfrm>
          <a:custGeom>
            <a:avLst/>
            <a:gdLst/>
            <a:ahLst/>
            <a:cxnLst/>
            <a:rect l="l" t="t" r="r" b="b"/>
            <a:pathLst>
              <a:path w="2743200" h="2533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457438"/>
                </a:lnTo>
                <a:cubicBezTo>
                  <a:pt x="2743200" y="2499529"/>
                  <a:pt x="2709079" y="2533650"/>
                  <a:pt x="2666988" y="2533650"/>
                </a:cubicBezTo>
                <a:lnTo>
                  <a:pt x="76212" y="2533650"/>
                </a:lnTo>
                <a:cubicBezTo>
                  <a:pt x="34121" y="2533650"/>
                  <a:pt x="0" y="2499529"/>
                  <a:pt x="0" y="2457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9" name="Shape 47"/>
          <p:cNvSpPr/>
          <p:nvPr/>
        </p:nvSpPr>
        <p:spPr>
          <a:xfrm>
            <a:off x="381000" y="39433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0" name="Shape 48"/>
          <p:cNvSpPr/>
          <p:nvPr/>
        </p:nvSpPr>
        <p:spPr>
          <a:xfrm>
            <a:off x="533400" y="4114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51" name="Text 49"/>
          <p:cNvSpPr/>
          <p:nvPr/>
        </p:nvSpPr>
        <p:spPr>
          <a:xfrm>
            <a:off x="490538" y="41148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90600" y="41719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连带推荐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33400" y="46101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33400" y="48768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成套搭配、提升客单、创造惊喜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33400" y="52197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推荐方式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3400" y="54864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POLO+西裤+衬衫、配件附加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33400" y="58293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推荐时机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33400" y="60960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试穿满意、决定购买时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276600" y="3943350"/>
            <a:ext cx="2743200" cy="2533650"/>
          </a:xfrm>
          <a:custGeom>
            <a:avLst/>
            <a:gdLst/>
            <a:ahLst/>
            <a:cxnLst/>
            <a:rect l="l" t="t" r="r" b="b"/>
            <a:pathLst>
              <a:path w="2743200" h="2533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457438"/>
                </a:lnTo>
                <a:cubicBezTo>
                  <a:pt x="2743200" y="2499529"/>
                  <a:pt x="2709079" y="2533650"/>
                  <a:pt x="2666988" y="2533650"/>
                </a:cubicBezTo>
                <a:lnTo>
                  <a:pt x="76212" y="2533650"/>
                </a:lnTo>
                <a:cubicBezTo>
                  <a:pt x="34121" y="2533650"/>
                  <a:pt x="0" y="2499529"/>
                  <a:pt x="0" y="2457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0" name="Shape 58"/>
          <p:cNvSpPr/>
          <p:nvPr/>
        </p:nvSpPr>
        <p:spPr>
          <a:xfrm>
            <a:off x="3276600" y="39433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61" name="Shape 59"/>
          <p:cNvSpPr/>
          <p:nvPr/>
        </p:nvSpPr>
        <p:spPr>
          <a:xfrm>
            <a:off x="3429000" y="4114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62" name="Text 60"/>
          <p:cNvSpPr/>
          <p:nvPr/>
        </p:nvSpPr>
        <p:spPr>
          <a:xfrm>
            <a:off x="3386138" y="41148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886200" y="41719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试衣服务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429000" y="46101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429000" y="48768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专业引领、精心搭配、贴心关怀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429000" y="52197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服务流程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3429000" y="54864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试衣前、试衣中、试衣后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429000" y="58293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黄金法则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429000" y="60960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准备两种风格、全程陪伴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72200" y="3943350"/>
            <a:ext cx="2743200" cy="2533650"/>
          </a:xfrm>
          <a:custGeom>
            <a:avLst/>
            <a:gdLst/>
            <a:ahLst/>
            <a:cxnLst/>
            <a:rect l="l" t="t" r="r" b="b"/>
            <a:pathLst>
              <a:path w="2743200" h="2533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457438"/>
                </a:lnTo>
                <a:cubicBezTo>
                  <a:pt x="2743200" y="2499529"/>
                  <a:pt x="2709079" y="2533650"/>
                  <a:pt x="2666988" y="2533650"/>
                </a:cubicBezTo>
                <a:lnTo>
                  <a:pt x="76212" y="2533650"/>
                </a:lnTo>
                <a:cubicBezTo>
                  <a:pt x="34121" y="2533650"/>
                  <a:pt x="0" y="2499529"/>
                  <a:pt x="0" y="2457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1" name="Shape 69"/>
          <p:cNvSpPr/>
          <p:nvPr/>
        </p:nvSpPr>
        <p:spPr>
          <a:xfrm>
            <a:off x="6172200" y="39433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72" name="Shape 70"/>
          <p:cNvSpPr/>
          <p:nvPr/>
        </p:nvSpPr>
        <p:spPr>
          <a:xfrm>
            <a:off x="6324600" y="4114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73" name="Text 71"/>
          <p:cNvSpPr/>
          <p:nvPr/>
        </p:nvSpPr>
        <p:spPr>
          <a:xfrm>
            <a:off x="6281738" y="41148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781800" y="41719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异议处理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324600" y="46101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324600" y="48768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顺转推技巧、化解疑虑、促成成交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324600" y="52197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处理原则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324600" y="54864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不否定、表示理解、态度诚恳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324600" y="58293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处理步骤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324600" y="60960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顺→转→推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067800" y="3943350"/>
            <a:ext cx="2743200" cy="2533650"/>
          </a:xfrm>
          <a:custGeom>
            <a:avLst/>
            <a:gdLst/>
            <a:ahLst/>
            <a:cxnLst/>
            <a:rect l="l" t="t" r="r" b="b"/>
            <a:pathLst>
              <a:path w="2743200" h="2533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457438"/>
                </a:lnTo>
                <a:cubicBezTo>
                  <a:pt x="2743200" y="2499529"/>
                  <a:pt x="2709079" y="2533650"/>
                  <a:pt x="2666988" y="2533650"/>
                </a:cubicBezTo>
                <a:lnTo>
                  <a:pt x="76212" y="2533650"/>
                </a:lnTo>
                <a:cubicBezTo>
                  <a:pt x="34121" y="2533650"/>
                  <a:pt x="0" y="2499529"/>
                  <a:pt x="0" y="245743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2" name="Shape 80"/>
          <p:cNvSpPr/>
          <p:nvPr/>
        </p:nvSpPr>
        <p:spPr>
          <a:xfrm>
            <a:off x="9067800" y="39433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83" name="Shape 81"/>
          <p:cNvSpPr/>
          <p:nvPr/>
        </p:nvSpPr>
        <p:spPr>
          <a:xfrm>
            <a:off x="9220200" y="4114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9A299"/>
          </a:solidFill>
        </p:spPr>
      </p:sp>
      <p:sp>
        <p:nvSpPr>
          <p:cNvPr id="84" name="Text 82"/>
          <p:cNvSpPr/>
          <p:nvPr/>
        </p:nvSpPr>
        <p:spPr>
          <a:xfrm>
            <a:off x="9177338" y="41148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9677400" y="41719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4F4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收银送宾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9220200" y="46101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9220200" y="48768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专业服务、二次推荐、完美收尾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9220200" y="51054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四部曲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9220200" y="53721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指引收银、办VIP、二次推荐、唱收唱付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9220200" y="58293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4F4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送宾要点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9220200" y="60960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A2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送宾到门口、提醒拿齐物品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yasw4ib73lsu/mens_sales_final.jpg"/>
          <p:cNvPicPr>
            <a:picLocks noChangeAspect="1"/>
          </p:cNvPicPr>
          <p:nvPr/>
        </p:nvPicPr>
        <p:blipFill>
          <a:blip r:embed="rId1"/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4F41">
                  <a:alpha val="95000"/>
                </a:srgbClr>
              </a:gs>
              <a:gs pos="50000">
                <a:srgbClr val="3A4F4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</p:spPr>
      </p:sp>
      <p:sp>
        <p:nvSpPr>
          <p:cNvPr id="4" name="Shape 1"/>
          <p:cNvSpPr/>
          <p:nvPr/>
        </p:nvSpPr>
        <p:spPr>
          <a:xfrm>
            <a:off x="5638800" y="10572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5" name="Text 2"/>
          <p:cNvSpPr/>
          <p:nvPr/>
        </p:nvSpPr>
        <p:spPr>
          <a:xfrm>
            <a:off x="238125" y="1323975"/>
            <a:ext cx="1171575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精通销售八步曲</a:t>
            </a:r>
            <a:endParaRPr lang="en-US" sz="1600" dirty="0"/>
          </a:p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成就男装销售精英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52600" y="2695575"/>
            <a:ext cx="8686800" cy="1114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7F5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销售八步曲是凯施迪男装零售服务的核心精髓，掌握这八个步骤，你将能够为绅士顾客提供专业、贴心、卓越的购物体验。持续练习，用心服务，你一定能成为优秀的男装销售精英！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91000" y="4114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47A5A">
              <a:alpha val="2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4413647" y="43529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9" name="Text 6"/>
          <p:cNvSpPr/>
          <p:nvPr/>
        </p:nvSpPr>
        <p:spPr>
          <a:xfrm>
            <a:off x="4062412" y="4991100"/>
            <a:ext cx="1019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系统学习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71938" y="525780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掌握八步曲精髓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48325" y="4114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47A5A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5870972" y="43529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29691"/>
                </a:moveTo>
                <a:lnTo>
                  <a:pt x="84999" y="102022"/>
                </a:lnTo>
                <a:cubicBezTo>
                  <a:pt x="82432" y="104868"/>
                  <a:pt x="82544" y="109277"/>
                  <a:pt x="85279" y="112012"/>
                </a:cubicBezTo>
                <a:cubicBezTo>
                  <a:pt x="102301" y="129034"/>
                  <a:pt x="129927" y="129034"/>
                  <a:pt x="146949" y="112012"/>
                </a:cubicBezTo>
                <a:lnTo>
                  <a:pt x="164697" y="94264"/>
                </a:lnTo>
                <a:cubicBezTo>
                  <a:pt x="167041" y="91920"/>
                  <a:pt x="169999" y="90636"/>
                  <a:pt x="173013" y="90413"/>
                </a:cubicBezTo>
                <a:cubicBezTo>
                  <a:pt x="176808" y="90078"/>
                  <a:pt x="180715" y="91362"/>
                  <a:pt x="183617" y="94264"/>
                </a:cubicBezTo>
                <a:lnTo>
                  <a:pt x="282178" y="191988"/>
                </a:lnTo>
                <a:lnTo>
                  <a:pt x="321469" y="160734"/>
                </a:lnTo>
                <a:lnTo>
                  <a:pt x="321469" y="0"/>
                </a:lnTo>
                <a:lnTo>
                  <a:pt x="258961" y="35719"/>
                </a:lnTo>
                <a:lnTo>
                  <a:pt x="245678" y="26845"/>
                </a:lnTo>
                <a:cubicBezTo>
                  <a:pt x="236860" y="20985"/>
                  <a:pt x="226535" y="17859"/>
                  <a:pt x="215931" y="17859"/>
                </a:cubicBezTo>
                <a:lnTo>
                  <a:pt x="176640" y="17859"/>
                </a:lnTo>
                <a:cubicBezTo>
                  <a:pt x="176026" y="17859"/>
                  <a:pt x="175357" y="17859"/>
                  <a:pt x="174743" y="17915"/>
                </a:cubicBezTo>
                <a:cubicBezTo>
                  <a:pt x="165311" y="18417"/>
                  <a:pt x="156437" y="22659"/>
                  <a:pt x="150075" y="29691"/>
                </a:cubicBezTo>
                <a:close/>
                <a:moveTo>
                  <a:pt x="65075" y="84106"/>
                </a:moveTo>
                <a:lnTo>
                  <a:pt x="124681" y="17859"/>
                </a:lnTo>
                <a:lnTo>
                  <a:pt x="102580" y="17859"/>
                </a:lnTo>
                <a:cubicBezTo>
                  <a:pt x="88348" y="17859"/>
                  <a:pt x="74730" y="23496"/>
                  <a:pt x="64684" y="33542"/>
                </a:cubicBezTo>
                <a:lnTo>
                  <a:pt x="0" y="107156"/>
                </a:lnTo>
                <a:lnTo>
                  <a:pt x="0" y="303609"/>
                </a:lnTo>
                <a:lnTo>
                  <a:pt x="80367" y="227707"/>
                </a:lnTo>
                <a:lnTo>
                  <a:pt x="87288" y="233456"/>
                </a:lnTo>
                <a:cubicBezTo>
                  <a:pt x="100124" y="244171"/>
                  <a:pt x="116309" y="250031"/>
                  <a:pt x="132997" y="250031"/>
                </a:cubicBezTo>
                <a:lnTo>
                  <a:pt x="141759" y="250031"/>
                </a:lnTo>
                <a:lnTo>
                  <a:pt x="137852" y="246125"/>
                </a:lnTo>
                <a:cubicBezTo>
                  <a:pt x="132606" y="240878"/>
                  <a:pt x="132606" y="232395"/>
                  <a:pt x="137852" y="227205"/>
                </a:cubicBezTo>
                <a:cubicBezTo>
                  <a:pt x="143098" y="222014"/>
                  <a:pt x="151581" y="221959"/>
                  <a:pt x="156772" y="227205"/>
                </a:cubicBezTo>
                <a:lnTo>
                  <a:pt x="179654" y="250087"/>
                </a:lnTo>
                <a:lnTo>
                  <a:pt x="184677" y="250087"/>
                </a:lnTo>
                <a:cubicBezTo>
                  <a:pt x="195337" y="250087"/>
                  <a:pt x="205773" y="247687"/>
                  <a:pt x="215261" y="243222"/>
                </a:cubicBezTo>
                <a:lnTo>
                  <a:pt x="200360" y="228265"/>
                </a:lnTo>
                <a:cubicBezTo>
                  <a:pt x="195114" y="223019"/>
                  <a:pt x="195114" y="214536"/>
                  <a:pt x="200360" y="209345"/>
                </a:cubicBezTo>
                <a:cubicBezTo>
                  <a:pt x="205606" y="204155"/>
                  <a:pt x="214089" y="204099"/>
                  <a:pt x="219280" y="209345"/>
                </a:cubicBezTo>
                <a:lnTo>
                  <a:pt x="237139" y="227205"/>
                </a:lnTo>
                <a:lnTo>
                  <a:pt x="246906" y="217438"/>
                </a:lnTo>
                <a:cubicBezTo>
                  <a:pt x="251873" y="212471"/>
                  <a:pt x="253324" y="205271"/>
                  <a:pt x="251147" y="198965"/>
                </a:cubicBezTo>
                <a:lnTo>
                  <a:pt x="174185" y="122616"/>
                </a:lnTo>
                <a:lnTo>
                  <a:pt x="165869" y="130932"/>
                </a:lnTo>
                <a:cubicBezTo>
                  <a:pt x="138354" y="158446"/>
                  <a:pt x="93818" y="158446"/>
                  <a:pt x="66303" y="130932"/>
                </a:cubicBezTo>
                <a:cubicBezTo>
                  <a:pt x="53467" y="118095"/>
                  <a:pt x="52964" y="97501"/>
                  <a:pt x="65075" y="84051"/>
                </a:cubicBezTo>
                <a:close/>
              </a:path>
            </a:pathLst>
          </a:custGeom>
          <a:solidFill>
            <a:srgbClr val="C47A5A"/>
          </a:solidFill>
        </p:spPr>
      </p:sp>
      <p:sp>
        <p:nvSpPr>
          <p:cNvPr id="13" name="Text 10"/>
          <p:cNvSpPr/>
          <p:nvPr/>
        </p:nvSpPr>
        <p:spPr>
          <a:xfrm>
            <a:off x="5453063" y="4991100"/>
            <a:ext cx="1152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用心服务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62588" y="525780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真诚对待每位绅士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72325" y="4114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C47A5A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7412831" y="435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C47A5A"/>
          </a:solidFill>
        </p:spPr>
      </p:sp>
      <p:sp>
        <p:nvSpPr>
          <p:cNvPr id="17" name="Text 14"/>
          <p:cNvSpPr/>
          <p:nvPr/>
        </p:nvSpPr>
        <p:spPr>
          <a:xfrm>
            <a:off x="6977063" y="4991100"/>
            <a:ext cx="1152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7F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持续精进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86588" y="525780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7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不断提升销售技能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33375" y="57531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C47A5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用心服务每一位绅士，成就卓越男装零售体验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MH" val="20171015152015"/>
  <p:tag name="MH_LIBRARY" val="CONTENTS"/>
  <p:tag name="MH_TYPE" val="OTHERS"/>
  <p:tag name="ID" val="547146"/>
  <p:tag name="PA" val="v3.2.0"/>
</p:tagLst>
</file>

<file path=ppt/tags/tag2.xml><?xml version="1.0" encoding="utf-8"?>
<p:tagLst xmlns:p="http://schemas.openxmlformats.org/presentationml/2006/main">
  <p:tag name="MH" val="20171015152015"/>
  <p:tag name="MH_LIBRARY" val="CONTENTS"/>
  <p:tag name="MH_AUTOCOLOR" val="TRUE"/>
  <p:tag name="MH_TYPE" val="CONTENTS"/>
  <p:tag name="ID" val="547146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9828</Words>
  <Application>WPS 演示</Application>
  <PresentationFormat>On-screen Show (16:9)</PresentationFormat>
  <Paragraphs>1428</Paragraphs>
  <Slides>31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1" baseType="lpstr">
      <vt:lpstr>Arial</vt:lpstr>
      <vt:lpstr>宋体</vt:lpstr>
      <vt:lpstr>Wingdings</vt:lpstr>
      <vt:lpstr>Noto Sans SC</vt:lpstr>
      <vt:lpstr>Noto Sans SC</vt:lpstr>
      <vt:lpstr>MiSans</vt:lpstr>
      <vt:lpstr>MiSans</vt:lpstr>
      <vt:lpstr>Calibri</vt:lpstr>
      <vt:lpstr>微软雅黑</vt:lpstr>
      <vt:lpstr>Arial Unicode MS</vt:lpstr>
      <vt:lpstr>等线</vt:lpstr>
      <vt:lpstr>Microsoft JhengHei UI Light</vt:lpstr>
      <vt:lpstr>华文细黑</vt:lpstr>
      <vt:lpstr>Freestyle Script</vt:lpstr>
      <vt:lpstr>华文行楷</vt:lpstr>
      <vt:lpstr>Verdana</vt:lpstr>
      <vt:lpstr>Noto Sans CJK JP Regular</vt:lpstr>
      <vt:lpstr>Mongolian Baiti</vt:lpstr>
      <vt:lpstr>Segoe Print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凯施迪男装销售服务流程培训</dc:title>
  <dc:creator>Kimi</dc:creator>
  <dc:subject>凯施迪男装销售服务流程培训</dc:subject>
  <cp:lastModifiedBy>黄坤平</cp:lastModifiedBy>
  <cp:revision>4</cp:revision>
  <dcterms:created xsi:type="dcterms:W3CDTF">2026-04-15T01:37:00Z</dcterms:created>
  <dcterms:modified xsi:type="dcterms:W3CDTF">2026-04-15T10:44:46Z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凯施迪男装销售服务流程培训","ContentProducer":"001191110108MACG2KBH8F10000","ProduceID":"19d8ba68-9d02-8ad8-8000-00004add6a25","ReservedCode1":"","ContentPropagator":"001191110108MACG2KBH8F20000","PropagateID":"19d8ba68-9d02-8ad8-8000-00004add6a25","ReservedCode2":""}</vt:lpwstr>
  </property>
  <property fmtid="{D5CDD505-2E9C-101B-9397-08002B2CF9AE}" pid="3" name="ICV">
    <vt:lpwstr>D69E95CDFD544F419F425AAA8F1486DB_13</vt:lpwstr>
  </property>
  <property fmtid="{D5CDD505-2E9C-101B-9397-08002B2CF9AE}" pid="4" name="KSOProductBuildVer">
    <vt:lpwstr>2052-12.1.0.24657</vt:lpwstr>
  </property>
</Properties>
</file>