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  <p:embeddedFontLst>
    <p:embeddedFont>
      <p:font typeface="Noto Sans SC" panose="020B0200000000000000" pitchFamily="34" charset="-122"/>
      <p:regular r:id="rId34"/>
    </p:embeddedFont>
    <p:embeddedFont>
      <p:font typeface="Noto Sans SC" panose="020B0200000000000000" pitchFamily="34" charset="-120"/>
      <p:regular r:id="rId35"/>
    </p:embeddedFont>
    <p:embeddedFont>
      <p:font typeface="Quattrocento Sans" panose="020B0502050000020003" pitchFamily="34" charset="0"/>
      <p:regular r:id="rId36"/>
    </p:embeddedFont>
    <p:embeddedFont>
      <p:font typeface="Quattrocento Sans" panose="020B0502050000020003" pitchFamily="34" charset="-122"/>
      <p:regular r:id="rId37"/>
    </p:embeddedFont>
    <p:embeddedFont>
      <p:font typeface="Quattrocento Sans" panose="020B0502050000020003" pitchFamily="34" charset="-120"/>
      <p:regular r:id="rId38"/>
    </p:embeddedFont>
    <p:embeddedFont>
      <p:font typeface="Calibri" panose="020F0502020204030204" charset="0"/>
      <p:regular r:id="rId39"/>
      <p:bold r:id="rId40"/>
      <p:italic r:id="rId41"/>
      <p:boldItalic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41986300917-64674bd600d8?w=1280&amp;h=720&amp;fit=crop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3D3D">
                  <a:alpha val="95000"/>
                </a:srgbClr>
              </a:gs>
              <a:gs pos="50000">
                <a:srgbClr val="3D3D3D">
                  <a:alpha val="85000"/>
                </a:srgbClr>
              </a:gs>
              <a:gs pos="100000">
                <a:srgbClr val="D4A84B">
                  <a:alpha val="6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685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84B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0550" y="895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0561" y="48421"/>
                </a:moveTo>
                <a:cubicBezTo>
                  <a:pt x="25182" y="32415"/>
                  <a:pt x="39849" y="21431"/>
                  <a:pt x="56525" y="21431"/>
                </a:cubicBezTo>
                <a:lnTo>
                  <a:pt x="286911" y="21431"/>
                </a:lnTo>
                <a:cubicBezTo>
                  <a:pt x="303587" y="21431"/>
                  <a:pt x="318254" y="32415"/>
                  <a:pt x="322942" y="48421"/>
                </a:cubicBezTo>
                <a:lnTo>
                  <a:pt x="338614" y="102133"/>
                </a:lnTo>
                <a:cubicBezTo>
                  <a:pt x="347186" y="131400"/>
                  <a:pt x="325152" y="160734"/>
                  <a:pt x="294680" y="160734"/>
                </a:cubicBezTo>
                <a:cubicBezTo>
                  <a:pt x="277066" y="160734"/>
                  <a:pt x="261595" y="150755"/>
                  <a:pt x="253960" y="135888"/>
                </a:cubicBezTo>
                <a:cubicBezTo>
                  <a:pt x="246191" y="150555"/>
                  <a:pt x="230788" y="160734"/>
                  <a:pt x="212839" y="160734"/>
                </a:cubicBezTo>
                <a:cubicBezTo>
                  <a:pt x="195024" y="160734"/>
                  <a:pt x="179554" y="150688"/>
                  <a:pt x="171785" y="135954"/>
                </a:cubicBezTo>
                <a:cubicBezTo>
                  <a:pt x="164016" y="150688"/>
                  <a:pt x="148545" y="160734"/>
                  <a:pt x="130731" y="160734"/>
                </a:cubicBezTo>
                <a:cubicBezTo>
                  <a:pt x="112782" y="160734"/>
                  <a:pt x="97378" y="150622"/>
                  <a:pt x="89609" y="135888"/>
                </a:cubicBezTo>
                <a:cubicBezTo>
                  <a:pt x="81975" y="150688"/>
                  <a:pt x="66504" y="160734"/>
                  <a:pt x="48890" y="160734"/>
                </a:cubicBezTo>
                <a:cubicBezTo>
                  <a:pt x="18351" y="160734"/>
                  <a:pt x="-3617" y="131467"/>
                  <a:pt x="4956" y="102133"/>
                </a:cubicBezTo>
                <a:lnTo>
                  <a:pt x="20561" y="48421"/>
                </a:lnTo>
                <a:close/>
                <a:moveTo>
                  <a:pt x="64562" y="235744"/>
                </a:moveTo>
                <a:lnTo>
                  <a:pt x="278874" y="235744"/>
                </a:lnTo>
                <a:lnTo>
                  <a:pt x="278874" y="191274"/>
                </a:lnTo>
                <a:cubicBezTo>
                  <a:pt x="283964" y="192345"/>
                  <a:pt x="289255" y="192881"/>
                  <a:pt x="294613" y="192881"/>
                </a:cubicBezTo>
                <a:cubicBezTo>
                  <a:pt x="304190" y="192881"/>
                  <a:pt x="313365" y="191140"/>
                  <a:pt x="321737" y="188059"/>
                </a:cubicBezTo>
                <a:lnTo>
                  <a:pt x="321737" y="289322"/>
                </a:lnTo>
                <a:cubicBezTo>
                  <a:pt x="321737" y="307070"/>
                  <a:pt x="307338" y="321469"/>
                  <a:pt x="289590" y="321469"/>
                </a:cubicBezTo>
                <a:lnTo>
                  <a:pt x="53846" y="321469"/>
                </a:lnTo>
                <a:cubicBezTo>
                  <a:pt x="36098" y="321469"/>
                  <a:pt x="21699" y="307070"/>
                  <a:pt x="21699" y="289322"/>
                </a:cubicBezTo>
                <a:lnTo>
                  <a:pt x="21699" y="188059"/>
                </a:lnTo>
                <a:cubicBezTo>
                  <a:pt x="30071" y="191140"/>
                  <a:pt x="39179" y="192881"/>
                  <a:pt x="48823" y="192881"/>
                </a:cubicBezTo>
                <a:cubicBezTo>
                  <a:pt x="54248" y="192881"/>
                  <a:pt x="59472" y="192345"/>
                  <a:pt x="64562" y="191274"/>
                </a:cubicBezTo>
                <a:lnTo>
                  <a:pt x="64562" y="235744"/>
                </a:lnTo>
                <a:close/>
              </a:path>
            </a:pathLst>
          </a:custGeom>
          <a:solidFill>
            <a:srgbClr val="FAFAFA"/>
          </a:solidFill>
        </p:spPr>
      </p:sp>
      <p:sp>
        <p:nvSpPr>
          <p:cNvPr id="6" name="Text 3"/>
          <p:cNvSpPr/>
          <p:nvPr/>
        </p:nvSpPr>
        <p:spPr>
          <a:xfrm>
            <a:off x="1295400" y="81915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AFA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CAISEDI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95400" y="108585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AFAFA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时尚服饰零售培训体系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266950"/>
            <a:ext cx="1838325" cy="419100"/>
          </a:xfrm>
          <a:custGeom>
            <a:avLst/>
            <a:gdLst/>
            <a:ahLst/>
            <a:cxnLst/>
            <a:rect l="l" t="t" r="r" b="b"/>
            <a:pathLst>
              <a:path w="1838325" h="419100">
                <a:moveTo>
                  <a:pt x="209550" y="0"/>
                </a:moveTo>
                <a:lnTo>
                  <a:pt x="1628775" y="0"/>
                </a:lnTo>
                <a:cubicBezTo>
                  <a:pt x="1744429" y="0"/>
                  <a:pt x="1838325" y="93896"/>
                  <a:pt x="1838325" y="209550"/>
                </a:cubicBezTo>
                <a:lnTo>
                  <a:pt x="1838325" y="209550"/>
                </a:lnTo>
                <a:cubicBezTo>
                  <a:pt x="1838325" y="325204"/>
                  <a:pt x="1744429" y="419100"/>
                  <a:pt x="162877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9" name="Text 6"/>
          <p:cNvSpPr/>
          <p:nvPr/>
        </p:nvSpPr>
        <p:spPr>
          <a:xfrm>
            <a:off x="609600" y="234315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10天系统化培训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2914650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AFA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新晋店长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完整培训课件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4813" y="4905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47316"/>
                </a:moveTo>
                <a:lnTo>
                  <a:pt x="85725" y="150889"/>
                </a:lnTo>
                <a:lnTo>
                  <a:pt x="85892" y="150822"/>
                </a:lnTo>
                <a:cubicBezTo>
                  <a:pt x="104176" y="143221"/>
                  <a:pt x="123799" y="139303"/>
                  <a:pt x="143589" y="139303"/>
                </a:cubicBezTo>
                <a:lnTo>
                  <a:pt x="150019" y="139303"/>
                </a:lnTo>
                <a:lnTo>
                  <a:pt x="150019" y="32147"/>
                </a:lnTo>
                <a:lnTo>
                  <a:pt x="143589" y="32147"/>
                </a:lnTo>
                <a:cubicBezTo>
                  <a:pt x="129458" y="32147"/>
                  <a:pt x="115427" y="34960"/>
                  <a:pt x="102368" y="40385"/>
                </a:cubicBezTo>
                <a:cubicBezTo>
                  <a:pt x="96742" y="42729"/>
                  <a:pt x="91183" y="45039"/>
                  <a:pt x="85725" y="47316"/>
                </a:cubicBezTo>
                <a:close/>
                <a:moveTo>
                  <a:pt x="77320" y="20594"/>
                </a:moveTo>
                <a:lnTo>
                  <a:pt x="85725" y="24110"/>
                </a:lnTo>
                <a:lnTo>
                  <a:pt x="94130" y="20594"/>
                </a:lnTo>
                <a:cubicBezTo>
                  <a:pt x="109802" y="14064"/>
                  <a:pt x="126612" y="10716"/>
                  <a:pt x="143589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144661"/>
                </a:lnTo>
                <a:cubicBezTo>
                  <a:pt x="171450" y="153535"/>
                  <a:pt x="164250" y="160734"/>
                  <a:pt x="155377" y="160734"/>
                </a:cubicBezTo>
                <a:lnTo>
                  <a:pt x="143589" y="160734"/>
                </a:lnTo>
                <a:cubicBezTo>
                  <a:pt x="126612" y="160734"/>
                  <a:pt x="109802" y="164083"/>
                  <a:pt x="94130" y="170613"/>
                </a:cubicBezTo>
                <a:lnTo>
                  <a:pt x="89844" y="172388"/>
                </a:lnTo>
                <a:cubicBezTo>
                  <a:pt x="87198" y="173493"/>
                  <a:pt x="84252" y="173493"/>
                  <a:pt x="81606" y="172388"/>
                </a:cubicBezTo>
                <a:lnTo>
                  <a:pt x="77320" y="170613"/>
                </a:lnTo>
                <a:cubicBezTo>
                  <a:pt x="61648" y="164083"/>
                  <a:pt x="44838" y="160734"/>
                  <a:pt x="27861" y="160734"/>
                </a:cubicBezTo>
                <a:lnTo>
                  <a:pt x="16073" y="160734"/>
                </a:lnTo>
                <a:cubicBezTo>
                  <a:pt x="7200" y="160734"/>
                  <a:pt x="0" y="153535"/>
                  <a:pt x="0" y="144661"/>
                </a:cubicBezTo>
                <a:lnTo>
                  <a:pt x="0" y="26789"/>
                </a:lnTo>
                <a:cubicBezTo>
                  <a:pt x="0" y="17915"/>
                  <a:pt x="7200" y="10716"/>
                  <a:pt x="16073" y="10716"/>
                </a:cubicBezTo>
                <a:lnTo>
                  <a:pt x="27861" y="10716"/>
                </a:lnTo>
                <a:cubicBezTo>
                  <a:pt x="44838" y="10716"/>
                  <a:pt x="61648" y="14064"/>
                  <a:pt x="77320" y="2059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12" name="Text 9"/>
          <p:cNvSpPr/>
          <p:nvPr/>
        </p:nvSpPr>
        <p:spPr>
          <a:xfrm>
            <a:off x="671513" y="4857750"/>
            <a:ext cx="3590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AFAF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基于《凯施迪运营手册_店长管理册》标准制作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9575" y="598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AFAFA">
              <a:alpha val="6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647700" y="5943600"/>
            <a:ext cx="1057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AFAFA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培训周期:10天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53803" y="5981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AFAFA">
              <a:alpha val="60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2120503" y="5943600"/>
            <a:ext cx="1857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AFAFA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适用对象:新员工/储备店长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35094" y="5943600"/>
            <a:ext cx="3752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AFAFA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Professional Excellence · Continuous Improvement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TRAINING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培训课程总览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16000"/>
            <a:ext cx="11628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10天系统化学习路径 · 从认知到实战的完整闭环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3375" y="1428750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428750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7" name="Shape 5"/>
          <p:cNvSpPr/>
          <p:nvPr/>
        </p:nvSpPr>
        <p:spPr>
          <a:xfrm>
            <a:off x="508000" y="1603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468313" y="1603375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4250" y="1587500"/>
            <a:ext cx="1476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4250" y="1809750"/>
            <a:ext cx="146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课程导入与店长角色认知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000" y="2095500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培训目标设定、凯施迪品牌认知、SOP体系介绍、运营手册使用规范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5375" y="1428750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5375" y="1428750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4" name="Shape 12"/>
          <p:cNvSpPr/>
          <p:nvPr/>
        </p:nvSpPr>
        <p:spPr>
          <a:xfrm>
            <a:off x="6350000" y="1603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6310313" y="1603375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26250" y="1587500"/>
            <a:ext cx="1222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6250" y="1809750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店长画像与能力模型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0" y="2095500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店长角色定位、8大关键职责、5大能力模型、3大核心特质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2587625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375" y="2587625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1" name="Shape 19"/>
          <p:cNvSpPr/>
          <p:nvPr/>
        </p:nvSpPr>
        <p:spPr>
          <a:xfrm>
            <a:off x="508000" y="2762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Text 20"/>
          <p:cNvSpPr/>
          <p:nvPr/>
        </p:nvSpPr>
        <p:spPr>
          <a:xfrm>
            <a:off x="468313" y="2762250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4250" y="2746375"/>
            <a:ext cx="1055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4250" y="2968625"/>
            <a:ext cx="103981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岗位职责详解(上)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000" y="3254375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销售管理职责、数据追踪方法、人事管理职责、团队建设要点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5375" y="2587625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5375" y="2587625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8" name="Shape 26"/>
          <p:cNvSpPr/>
          <p:nvPr/>
        </p:nvSpPr>
        <p:spPr>
          <a:xfrm>
            <a:off x="6350000" y="2762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9" name="Text 27"/>
          <p:cNvSpPr/>
          <p:nvPr/>
        </p:nvSpPr>
        <p:spPr>
          <a:xfrm>
            <a:off x="6310313" y="2762250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26250" y="2746375"/>
            <a:ext cx="1563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26250" y="2968625"/>
            <a:ext cx="1547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岗位职责(下)与日周月流程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0000" y="3254375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商品管理、店务管理、日工作流程、周月工作流程系统讲解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3375" y="3746500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375" y="3746500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Shape 33"/>
          <p:cNvSpPr/>
          <p:nvPr/>
        </p:nvSpPr>
        <p:spPr>
          <a:xfrm>
            <a:off x="508000" y="392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468313" y="3921125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4250" y="3905250"/>
            <a:ext cx="1277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4250" y="4127500"/>
            <a:ext cx="1262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销售管理-目标与数据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8000" y="4413250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业绩构成公式、目标分解方法、数据追踪技巧、核心指标诊断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5375" y="3746500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5375" y="3746500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2" name="Shape 40"/>
          <p:cNvSpPr/>
          <p:nvPr/>
        </p:nvSpPr>
        <p:spPr>
          <a:xfrm>
            <a:off x="6350000" y="392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3" name="Text 41"/>
          <p:cNvSpPr/>
          <p:nvPr/>
        </p:nvSpPr>
        <p:spPr>
          <a:xfrm>
            <a:off x="6310313" y="3921125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6250" y="3905250"/>
            <a:ext cx="1277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26250" y="4127500"/>
            <a:ext cx="1262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控场管理-淡旺场管理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50000" y="4413250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淡场管理技巧、旺场管理技巧、节假日管理准备与执行要点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3375" y="4905375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33375" y="4905375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9" name="Shape 47"/>
          <p:cNvSpPr/>
          <p:nvPr/>
        </p:nvSpPr>
        <p:spPr>
          <a:xfrm>
            <a:off x="508000" y="508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0" name="Text 48"/>
          <p:cNvSpPr/>
          <p:nvPr/>
        </p:nvSpPr>
        <p:spPr>
          <a:xfrm>
            <a:off x="468313" y="5080000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84250" y="5064125"/>
            <a:ext cx="11509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84250" y="5286375"/>
            <a:ext cx="1135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会议管理-高效会议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8000" y="5572125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交接班会标准流程、周月会议管理、店铺日志应用、数据化工具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5375" y="4905375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75375" y="4905375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6" name="Shape 54"/>
          <p:cNvSpPr/>
          <p:nvPr/>
        </p:nvSpPr>
        <p:spPr>
          <a:xfrm>
            <a:off x="6350000" y="508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7" name="Text 55"/>
          <p:cNvSpPr/>
          <p:nvPr/>
        </p:nvSpPr>
        <p:spPr>
          <a:xfrm>
            <a:off x="6310313" y="5080000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08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26250" y="5064125"/>
            <a:ext cx="841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8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26250" y="5286375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员工带教体系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50000" y="5572125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新品波段带教、新员工带教、新店长带教、带教效果评估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33375" y="6064250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33375" y="6064250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3" name="Shape 61"/>
          <p:cNvSpPr/>
          <p:nvPr/>
        </p:nvSpPr>
        <p:spPr>
          <a:xfrm>
            <a:off x="508000" y="6238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4" name="Text 62"/>
          <p:cNvSpPr/>
          <p:nvPr/>
        </p:nvSpPr>
        <p:spPr>
          <a:xfrm>
            <a:off x="468313" y="6238875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09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84250" y="6223000"/>
            <a:ext cx="968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9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84250" y="644525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运营标准化工具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508000" y="6731000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IIS内部检测体系、MSP神秘顾客、店铺体检表、标准化运营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75375" y="6064250"/>
            <a:ext cx="5699125" cy="1031875"/>
          </a:xfrm>
          <a:custGeom>
            <a:avLst/>
            <a:gdLst/>
            <a:ahLst/>
            <a:cxnLst/>
            <a:rect l="l" t="t" r="r" b="b"/>
            <a:pathLst>
              <a:path w="5699125" h="1031875">
                <a:moveTo>
                  <a:pt x="31750" y="0"/>
                </a:moveTo>
                <a:lnTo>
                  <a:pt x="5603873" y="0"/>
                </a:lnTo>
                <a:cubicBezTo>
                  <a:pt x="5656479" y="0"/>
                  <a:pt x="5699125" y="42646"/>
                  <a:pt x="5699125" y="95252"/>
                </a:cubicBezTo>
                <a:lnTo>
                  <a:pt x="5699125" y="936623"/>
                </a:lnTo>
                <a:cubicBezTo>
                  <a:pt x="5699125" y="989229"/>
                  <a:pt x="5656479" y="1031875"/>
                  <a:pt x="5603873" y="1031875"/>
                </a:cubicBezTo>
                <a:lnTo>
                  <a:pt x="31750" y="1031875"/>
                </a:lnTo>
                <a:cubicBezTo>
                  <a:pt x="14215" y="1031875"/>
                  <a:pt x="0" y="1017660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75375" y="6064250"/>
            <a:ext cx="31750" cy="1031875"/>
          </a:xfrm>
          <a:custGeom>
            <a:avLst/>
            <a:gdLst/>
            <a:ahLst/>
            <a:cxnLst/>
            <a:rect l="l" t="t" r="r" b="b"/>
            <a:pathLst>
              <a:path w="31750" h="1031875">
                <a:moveTo>
                  <a:pt x="31750" y="0"/>
                </a:moveTo>
                <a:lnTo>
                  <a:pt x="31750" y="0"/>
                </a:lnTo>
                <a:lnTo>
                  <a:pt x="31750" y="1031875"/>
                </a:lnTo>
                <a:lnTo>
                  <a:pt x="31750" y="1031875"/>
                </a:lnTo>
                <a:cubicBezTo>
                  <a:pt x="14227" y="1031875"/>
                  <a:pt x="0" y="1017648"/>
                  <a:pt x="0" y="1000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70" name="Shape 68"/>
          <p:cNvSpPr/>
          <p:nvPr/>
        </p:nvSpPr>
        <p:spPr>
          <a:xfrm>
            <a:off x="6350000" y="62388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71" name="Text 69"/>
          <p:cNvSpPr/>
          <p:nvPr/>
        </p:nvSpPr>
        <p:spPr>
          <a:xfrm>
            <a:off x="6310313" y="6238875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826250" y="6223000"/>
            <a:ext cx="1222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10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826250" y="6445250"/>
            <a:ext cx="120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综合考核与上岗通关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50000" y="6731000"/>
            <a:ext cx="5429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核心要点回顾、考核标准讲解、模拟考核、上岗资格认证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143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COURSE 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课程导入与培训目标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00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培训目标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认知层面: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理解店长角色定位,建立品牌认同感与标准化运营意识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技能层面: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掌握店铺运营全流程管理方法与工具应用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能力层面: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具备数据分析、团队管理、销售提升等核心能力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行为层面: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能够独立执行日周月工作流程,达成业绩目标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352800"/>
            <a:ext cx="6743700" cy="1866900"/>
          </a:xfrm>
          <a:custGeom>
            <a:avLst/>
            <a:gdLst/>
            <a:ahLst/>
            <a:cxnLst/>
            <a:rect l="l" t="t" r="r" b="b"/>
            <a:pathLst>
              <a:path w="6743700" h="1866900">
                <a:moveTo>
                  <a:pt x="114292" y="0"/>
                </a:moveTo>
                <a:lnTo>
                  <a:pt x="6629408" y="0"/>
                </a:lnTo>
                <a:cubicBezTo>
                  <a:pt x="6692530" y="0"/>
                  <a:pt x="6743700" y="51170"/>
                  <a:pt x="6743700" y="114292"/>
                </a:cubicBezTo>
                <a:lnTo>
                  <a:pt x="6743700" y="1752608"/>
                </a:lnTo>
                <a:cubicBezTo>
                  <a:pt x="6743700" y="1815730"/>
                  <a:pt x="6692530" y="1866900"/>
                  <a:pt x="6629408" y="1866900"/>
                </a:cubicBezTo>
                <a:lnTo>
                  <a:pt x="114292" y="1866900"/>
                </a:lnTo>
                <a:cubicBezTo>
                  <a:pt x="51170" y="1866900"/>
                  <a:pt x="0" y="1815730"/>
                  <a:pt x="0" y="1752608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0075" y="3562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42863"/>
                </a:moveTo>
                <a:cubicBezTo>
                  <a:pt x="228600" y="65276"/>
                  <a:pt x="202213" y="98718"/>
                  <a:pt x="190827" y="112068"/>
                </a:cubicBezTo>
                <a:cubicBezTo>
                  <a:pt x="189131" y="114032"/>
                  <a:pt x="186630" y="114791"/>
                  <a:pt x="184353" y="114300"/>
                </a:cubicBezTo>
                <a:lnTo>
                  <a:pt x="142875" y="114300"/>
                </a:lnTo>
                <a:cubicBezTo>
                  <a:pt x="134972" y="114300"/>
                  <a:pt x="128588" y="120685"/>
                  <a:pt x="128588" y="128588"/>
                </a:cubicBezTo>
                <a:cubicBezTo>
                  <a:pt x="128588" y="136490"/>
                  <a:pt x="134972" y="142875"/>
                  <a:pt x="142875" y="142875"/>
                </a:cubicBezTo>
                <a:lnTo>
                  <a:pt x="185738" y="142875"/>
                </a:ln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62329" y="228600"/>
                </a:lnTo>
                <a:cubicBezTo>
                  <a:pt x="66214" y="224180"/>
                  <a:pt x="70946" y="218509"/>
                  <a:pt x="75724" y="212169"/>
                </a:cubicBezTo>
                <a:cubicBezTo>
                  <a:pt x="78537" y="208419"/>
                  <a:pt x="81439" y="204311"/>
                  <a:pt x="84207" y="200025"/>
                </a:cubicBezTo>
                <a:lnTo>
                  <a:pt x="185738" y="200025"/>
                </a:lnTo>
                <a:cubicBezTo>
                  <a:pt x="193640" y="200025"/>
                  <a:pt x="200025" y="193640"/>
                  <a:pt x="200025" y="185738"/>
                </a:cubicBezTo>
                <a:cubicBezTo>
                  <a:pt x="200025" y="177835"/>
                  <a:pt x="193640" y="171450"/>
                  <a:pt x="185738" y="171450"/>
                </a:cubicBezTo>
                <a:lnTo>
                  <a:pt x="142875" y="171450"/>
                </a:lnTo>
                <a:cubicBezTo>
                  <a:pt x="119211" y="171450"/>
                  <a:pt x="100013" y="152251"/>
                  <a:pt x="100013" y="128588"/>
                </a:cubicBezTo>
                <a:cubicBezTo>
                  <a:pt x="100013" y="104924"/>
                  <a:pt x="119211" y="85725"/>
                  <a:pt x="142875" y="85725"/>
                </a:cubicBezTo>
                <a:lnTo>
                  <a:pt x="160645" y="85725"/>
                </a:lnTo>
                <a:cubicBezTo>
                  <a:pt x="151269" y="71661"/>
                  <a:pt x="142875" y="55498"/>
                  <a:pt x="142875" y="42863"/>
                </a:cubicBezTo>
                <a:cubicBezTo>
                  <a:pt x="142875" y="19199"/>
                  <a:pt x="162074" y="0"/>
                  <a:pt x="185738" y="0"/>
                </a:cubicBezTo>
                <a:cubicBezTo>
                  <a:pt x="209401" y="0"/>
                  <a:pt x="228600" y="19199"/>
                  <a:pt x="228600" y="42863"/>
                </a:cubicBezTo>
                <a:close/>
                <a:moveTo>
                  <a:pt x="52283" y="218376"/>
                </a:moveTo>
                <a:cubicBezTo>
                  <a:pt x="50587" y="220295"/>
                  <a:pt x="49069" y="221992"/>
                  <a:pt x="47774" y="223421"/>
                </a:cubicBezTo>
                <a:lnTo>
                  <a:pt x="46970" y="224314"/>
                </a:lnTo>
                <a:lnTo>
                  <a:pt x="46881" y="224224"/>
                </a:lnTo>
                <a:cubicBezTo>
                  <a:pt x="44202" y="226278"/>
                  <a:pt x="40362" y="226010"/>
                  <a:pt x="37951" y="223421"/>
                </a:cubicBezTo>
                <a:cubicBezTo>
                  <a:pt x="26700" y="211187"/>
                  <a:pt x="0" y="179710"/>
                  <a:pt x="0" y="157163"/>
                </a:cubicBezTo>
                <a:cubicBezTo>
                  <a:pt x="0" y="133499"/>
                  <a:pt x="19199" y="114300"/>
                  <a:pt x="42863" y="114300"/>
                </a:cubicBezTo>
                <a:cubicBezTo>
                  <a:pt x="66526" y="114300"/>
                  <a:pt x="85725" y="133499"/>
                  <a:pt x="85725" y="157163"/>
                </a:cubicBezTo>
                <a:cubicBezTo>
                  <a:pt x="85725" y="170557"/>
                  <a:pt x="76304" y="187077"/>
                  <a:pt x="66303" y="200873"/>
                </a:cubicBezTo>
                <a:cubicBezTo>
                  <a:pt x="61526" y="207437"/>
                  <a:pt x="56614" y="213375"/>
                  <a:pt x="52551" y="218063"/>
                </a:cubicBezTo>
                <a:lnTo>
                  <a:pt x="52283" y="218376"/>
                </a:lnTo>
                <a:close/>
                <a:moveTo>
                  <a:pt x="57150" y="157163"/>
                </a:moveTo>
                <a:cubicBezTo>
                  <a:pt x="57150" y="149277"/>
                  <a:pt x="50748" y="142875"/>
                  <a:pt x="42863" y="142875"/>
                </a:cubicBezTo>
                <a:cubicBezTo>
                  <a:pt x="34977" y="142875"/>
                  <a:pt x="28575" y="149277"/>
                  <a:pt x="28575" y="157163"/>
                </a:cubicBezTo>
                <a:cubicBezTo>
                  <a:pt x="28575" y="165048"/>
                  <a:pt x="34977" y="171450"/>
                  <a:pt x="42863" y="171450"/>
                </a:cubicBezTo>
                <a:cubicBezTo>
                  <a:pt x="50748" y="171450"/>
                  <a:pt x="57150" y="165048"/>
                  <a:pt x="57150" y="157163"/>
                </a:cubicBezTo>
                <a:close/>
                <a:moveTo>
                  <a:pt x="185738" y="57150"/>
                </a:moveTo>
                <a:cubicBezTo>
                  <a:pt x="193623" y="57150"/>
                  <a:pt x="200025" y="50748"/>
                  <a:pt x="200025" y="42863"/>
                </a:cubicBezTo>
                <a:cubicBezTo>
                  <a:pt x="200025" y="34977"/>
                  <a:pt x="193623" y="28575"/>
                  <a:pt x="185738" y="28575"/>
                </a:cubicBezTo>
                <a:cubicBezTo>
                  <a:pt x="177852" y="28575"/>
                  <a:pt x="171450" y="34977"/>
                  <a:pt x="171450" y="42863"/>
                </a:cubicBezTo>
                <a:cubicBezTo>
                  <a:pt x="171450" y="50748"/>
                  <a:pt x="177852" y="57150"/>
                  <a:pt x="185738" y="5715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971550" y="35433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成长路径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4881" y="3924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17" name="Shape 15"/>
          <p:cNvSpPr/>
          <p:nvPr/>
        </p:nvSpPr>
        <p:spPr>
          <a:xfrm>
            <a:off x="1159669" y="4114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3400" y="4610100"/>
            <a:ext cx="1457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新员工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8163" y="483870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76438" y="436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21" name="Shape 19"/>
          <p:cNvSpPr/>
          <p:nvPr/>
        </p:nvSpPr>
        <p:spPr>
          <a:xfrm>
            <a:off x="2616994" y="3924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Shape 20"/>
          <p:cNvSpPr/>
          <p:nvPr/>
        </p:nvSpPr>
        <p:spPr>
          <a:xfrm>
            <a:off x="2793206" y="4114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2195513" y="4610100"/>
            <a:ext cx="1457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系统学习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00275" y="483870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2-9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38550" y="436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Shape 24"/>
          <p:cNvSpPr/>
          <p:nvPr/>
        </p:nvSpPr>
        <p:spPr>
          <a:xfrm>
            <a:off x="4279106" y="3924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7" name="Shape 25"/>
          <p:cNvSpPr/>
          <p:nvPr/>
        </p:nvSpPr>
        <p:spPr>
          <a:xfrm>
            <a:off x="4498181" y="4114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3857625" y="4610100"/>
            <a:ext cx="1457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考核通关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62387" y="483870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00663" y="4362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Shape 29"/>
          <p:cNvSpPr/>
          <p:nvPr/>
        </p:nvSpPr>
        <p:spPr>
          <a:xfrm>
            <a:off x="5941219" y="3924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Shape 30"/>
          <p:cNvSpPr/>
          <p:nvPr/>
        </p:nvSpPr>
        <p:spPr>
          <a:xfrm>
            <a:off x="6117431" y="4114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519738" y="4610100"/>
            <a:ext cx="1457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合格店长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24500" y="483870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5372100"/>
            <a:ext cx="6724650" cy="533400"/>
          </a:xfrm>
          <a:custGeom>
            <a:avLst/>
            <a:gdLst/>
            <a:ahLst/>
            <a:cxnLst/>
            <a:rect l="l" t="t" r="r" b="b"/>
            <a:pathLst>
              <a:path w="6724650" h="533400">
                <a:moveTo>
                  <a:pt x="38100" y="0"/>
                </a:moveTo>
                <a:lnTo>
                  <a:pt x="6610348" y="0"/>
                </a:lnTo>
                <a:cubicBezTo>
                  <a:pt x="6673433" y="0"/>
                  <a:pt x="6724650" y="51217"/>
                  <a:pt x="6724650" y="114302"/>
                </a:cubicBezTo>
                <a:lnTo>
                  <a:pt x="6724650" y="419098"/>
                </a:lnTo>
                <a:cubicBezTo>
                  <a:pt x="6724650" y="482183"/>
                  <a:pt x="6673433" y="533400"/>
                  <a:pt x="66103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400050" y="53721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Shape 35"/>
          <p:cNvSpPr/>
          <p:nvPr/>
        </p:nvSpPr>
        <p:spPr>
          <a:xfrm>
            <a:off x="609600" y="5562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819150" y="5524500"/>
            <a:ext cx="622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考核标准: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理论考试≥70分合格,≥90分优秀;实操考核≥70分合格;综合评估达标方可上岗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0" name="Shape 38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1" name="Text 39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3" name="Text 41"/>
          <p:cNvSpPr/>
          <p:nvPr/>
        </p:nvSpPr>
        <p:spPr>
          <a:xfrm>
            <a:off x="7772400" y="18669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强调培训严肃性与实用性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5" name="Text 43"/>
          <p:cNvSpPr/>
          <p:nvPr/>
        </p:nvSpPr>
        <p:spPr>
          <a:xfrm>
            <a:off x="7772400" y="21717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建立学员学习信心与目标感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7" name="Text 45"/>
          <p:cNvSpPr/>
          <p:nvPr/>
        </p:nvSpPr>
        <p:spPr>
          <a:xfrm>
            <a:off x="7772400" y="24765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明确考核标准与淘汰机制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9" name="Text 47"/>
          <p:cNvSpPr/>
          <p:nvPr/>
        </p:nvSpPr>
        <p:spPr>
          <a:xfrm>
            <a:off x="7772400" y="27813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激发学员学习动力与主动性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52" name="Text 50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719417" y="3924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理解店长岗位价值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19417" y="4229100"/>
            <a:ext cx="1323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明确10天学习目标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719417" y="4533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掌握学习方法与要求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建立职业发展认知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2" name="Shape 60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63" name="Text 61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书面测试:培训目标与考核标准理解(10分)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BRAND &amp;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凯施迪品牌与运营体系认知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019300"/>
          </a:xfrm>
          <a:custGeom>
            <a:avLst/>
            <a:gdLst/>
            <a:ahLst/>
            <a:cxnLst/>
            <a:rect l="l" t="t" r="r" b="b"/>
            <a:pathLst>
              <a:path w="6743700" h="2019300">
                <a:moveTo>
                  <a:pt x="114292" y="0"/>
                </a:moveTo>
                <a:lnTo>
                  <a:pt x="6629408" y="0"/>
                </a:lnTo>
                <a:cubicBezTo>
                  <a:pt x="6692530" y="0"/>
                  <a:pt x="6743700" y="51170"/>
                  <a:pt x="6743700" y="114292"/>
                </a:cubicBezTo>
                <a:lnTo>
                  <a:pt x="6743700" y="1905008"/>
                </a:lnTo>
                <a:cubicBezTo>
                  <a:pt x="6743700" y="1968130"/>
                  <a:pt x="6692530" y="2019300"/>
                  <a:pt x="6629408" y="2019300"/>
                </a:cubicBezTo>
                <a:lnTo>
                  <a:pt x="114292" y="2019300"/>
                </a:lnTo>
                <a:cubicBezTo>
                  <a:pt x="51170" y="2019300"/>
                  <a:pt x="0" y="1968130"/>
                  <a:pt x="0" y="1905008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63" y="1504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28575" y="6385"/>
                  <a:pt x="22190" y="0"/>
                  <a:pt x="14288" y="0"/>
                </a:cubicBezTo>
                <a:cubicBezTo>
                  <a:pt x="6385" y="0"/>
                  <a:pt x="0" y="6385"/>
                  <a:pt x="0" y="1428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60020"/>
                </a:lnTo>
                <a:lnTo>
                  <a:pt x="56570" y="151626"/>
                </a:lnTo>
                <a:cubicBezTo>
                  <a:pt x="75277" y="146000"/>
                  <a:pt x="95458" y="147742"/>
                  <a:pt x="112916" y="156493"/>
                </a:cubicBezTo>
                <a:cubicBezTo>
                  <a:pt x="131981" y="166048"/>
                  <a:pt x="154216" y="167208"/>
                  <a:pt x="174174" y="159707"/>
                </a:cubicBezTo>
                <a:lnTo>
                  <a:pt x="190738" y="153501"/>
                </a:lnTo>
                <a:cubicBezTo>
                  <a:pt x="196319" y="151403"/>
                  <a:pt x="200025" y="146090"/>
                  <a:pt x="200025" y="140107"/>
                </a:cubicBezTo>
                <a:lnTo>
                  <a:pt x="200025" y="29513"/>
                </a:lnTo>
                <a:cubicBezTo>
                  <a:pt x="200025" y="19243"/>
                  <a:pt x="189220" y="12546"/>
                  <a:pt x="180023" y="17145"/>
                </a:cubicBezTo>
                <a:lnTo>
                  <a:pt x="174754" y="19779"/>
                </a:lnTo>
                <a:cubicBezTo>
                  <a:pt x="154707" y="29825"/>
                  <a:pt x="131088" y="29825"/>
                  <a:pt x="110996" y="19779"/>
                </a:cubicBezTo>
                <a:cubicBezTo>
                  <a:pt x="94744" y="11653"/>
                  <a:pt x="76036" y="10046"/>
                  <a:pt x="58668" y="15270"/>
                </a:cubicBezTo>
                <a:lnTo>
                  <a:pt x="28575" y="24289"/>
                </a:lnTo>
                <a:lnTo>
                  <a:pt x="28575" y="14288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品牌定位与文化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品牌理念: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倡导"时尚、品质、舒适",致力成为时尚服饰行业领先品牌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098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品牌特质: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"专业典范"、"追求卓越"的CAISEDI人特质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552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运营目标: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打造行业最高运营标准,提供最佳顾客体验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8956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核心价值: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精细化运营、顾客体验、业绩持续增长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467100"/>
            <a:ext cx="6743700" cy="2247900"/>
          </a:xfrm>
          <a:custGeom>
            <a:avLst/>
            <a:gdLst/>
            <a:ahLst/>
            <a:cxnLst/>
            <a:rect l="l" t="t" r="r" b="b"/>
            <a:pathLst>
              <a:path w="6743700" h="2247900">
                <a:moveTo>
                  <a:pt x="114306" y="0"/>
                </a:moveTo>
                <a:lnTo>
                  <a:pt x="6629394" y="0"/>
                </a:lnTo>
                <a:cubicBezTo>
                  <a:pt x="6692524" y="0"/>
                  <a:pt x="6743700" y="51176"/>
                  <a:pt x="6743700" y="114306"/>
                </a:cubicBezTo>
                <a:lnTo>
                  <a:pt x="6743700" y="2133594"/>
                </a:lnTo>
                <a:cubicBezTo>
                  <a:pt x="6743700" y="2196724"/>
                  <a:pt x="6692524" y="2247900"/>
                  <a:pt x="6629394" y="2247900"/>
                </a:cubicBezTo>
                <a:lnTo>
                  <a:pt x="114306" y="2247900"/>
                </a:lnTo>
                <a:cubicBezTo>
                  <a:pt x="51176" y="2247900"/>
                  <a:pt x="0" y="2196724"/>
                  <a:pt x="0" y="21335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363" y="3676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971550" y="3657600"/>
            <a:ext cx="1257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SOP手册体系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550" y="403860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38100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90550" y="4038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18" name="Text 16"/>
          <p:cNvSpPr/>
          <p:nvPr/>
        </p:nvSpPr>
        <p:spPr>
          <a:xfrm>
            <a:off x="723900" y="4152900"/>
            <a:ext cx="2933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管理制度手册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3900" y="4419600"/>
            <a:ext cx="2924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公司制度与规范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29050" y="403860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38100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3829050" y="4038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2" name="Text 20"/>
          <p:cNvSpPr/>
          <p:nvPr/>
        </p:nvSpPr>
        <p:spPr>
          <a:xfrm>
            <a:off x="3962400" y="4152900"/>
            <a:ext cx="2933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店长管理册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62400" y="4419600"/>
            <a:ext cx="2924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店长工作标准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50" y="483870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38100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590550" y="4838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Text 24"/>
          <p:cNvSpPr/>
          <p:nvPr/>
        </p:nvSpPr>
        <p:spPr>
          <a:xfrm>
            <a:off x="723900" y="4953000"/>
            <a:ext cx="2933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产品知识册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" y="5219700"/>
            <a:ext cx="2924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产品知识与卖点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29050" y="4838700"/>
            <a:ext cx="3105150" cy="685800"/>
          </a:xfrm>
          <a:custGeom>
            <a:avLst/>
            <a:gdLst/>
            <a:ahLst/>
            <a:cxnLst/>
            <a:rect l="l" t="t" r="r" b="b"/>
            <a:pathLst>
              <a:path w="3105150" h="685800">
                <a:moveTo>
                  <a:pt x="38100" y="0"/>
                </a:moveTo>
                <a:lnTo>
                  <a:pt x="3028951" y="0"/>
                </a:lnTo>
                <a:cubicBezTo>
                  <a:pt x="3071034" y="0"/>
                  <a:pt x="3105150" y="34116"/>
                  <a:pt x="3105150" y="76199"/>
                </a:cubicBezTo>
                <a:lnTo>
                  <a:pt x="3105150" y="609601"/>
                </a:lnTo>
                <a:cubicBezTo>
                  <a:pt x="3105150" y="651684"/>
                  <a:pt x="3071034" y="685800"/>
                  <a:pt x="30289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3829050" y="4838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0" name="Text 28"/>
          <p:cNvSpPr/>
          <p:nvPr/>
        </p:nvSpPr>
        <p:spPr>
          <a:xfrm>
            <a:off x="3962400" y="4953000"/>
            <a:ext cx="2933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陈列搭配册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62400" y="5219700"/>
            <a:ext cx="2924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陈列标准与搭配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5867400"/>
            <a:ext cx="6724650" cy="533400"/>
          </a:xfrm>
          <a:custGeom>
            <a:avLst/>
            <a:gdLst/>
            <a:ahLst/>
            <a:cxnLst/>
            <a:rect l="l" t="t" r="r" b="b"/>
            <a:pathLst>
              <a:path w="6724650" h="533400">
                <a:moveTo>
                  <a:pt x="38100" y="0"/>
                </a:moveTo>
                <a:lnTo>
                  <a:pt x="6610348" y="0"/>
                </a:lnTo>
                <a:cubicBezTo>
                  <a:pt x="6673433" y="0"/>
                  <a:pt x="6724650" y="51217"/>
                  <a:pt x="6724650" y="114302"/>
                </a:cubicBezTo>
                <a:lnTo>
                  <a:pt x="6724650" y="419098"/>
                </a:lnTo>
                <a:cubicBezTo>
                  <a:pt x="6724650" y="482183"/>
                  <a:pt x="6673433" y="533400"/>
                  <a:pt x="66103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00050" y="5867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Shape 32"/>
          <p:cNvSpPr/>
          <p:nvPr/>
        </p:nvSpPr>
        <p:spPr>
          <a:xfrm>
            <a:off x="590550" y="6057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819150" y="6019800"/>
            <a:ext cx="622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使用规范: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SOP是唯一执行标准,严禁私自修改;丢失赔偿1000元/本;调店需交接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7" name="Shape 35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7772400" y="18669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传递品牌自豪感与使命感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2" name="Text 40"/>
          <p:cNvSpPr/>
          <p:nvPr/>
        </p:nvSpPr>
        <p:spPr>
          <a:xfrm>
            <a:off x="7772400" y="21717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强调SOP手册的权威性与重要性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Text 42"/>
          <p:cNvSpPr/>
          <p:nvPr/>
        </p:nvSpPr>
        <p:spPr>
          <a:xfrm>
            <a:off x="7772400" y="24765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说明手册使用规范与责任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6" name="Text 44"/>
          <p:cNvSpPr/>
          <p:nvPr/>
        </p:nvSpPr>
        <p:spPr>
          <a:xfrm>
            <a:off x="7772400" y="27813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建立标准化运营意识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9" name="Text 47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19417" y="39243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背诵品牌理念与核心价值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19417" y="4229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理解SOP体系构成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掌握手册使用规范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19417" y="48387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建立品牌认同感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9" name="Shape 57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60" name="Text 58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口头测试:品牌理念背诵+SOP体系认知(10分)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1762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ROLE RECOGNITION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店长角色认知 - 店铺经营者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362200"/>
          </a:xfrm>
          <a:custGeom>
            <a:avLst/>
            <a:gdLst/>
            <a:ahLst/>
            <a:cxnLst/>
            <a:rect l="l" t="t" r="r" b="b"/>
            <a:pathLst>
              <a:path w="6743700" h="2362200">
                <a:moveTo>
                  <a:pt x="114307" y="0"/>
                </a:moveTo>
                <a:lnTo>
                  <a:pt x="6629393" y="0"/>
                </a:lnTo>
                <a:cubicBezTo>
                  <a:pt x="6692481" y="0"/>
                  <a:pt x="6743700" y="51219"/>
                  <a:pt x="6743700" y="114307"/>
                </a:cubicBezTo>
                <a:lnTo>
                  <a:pt x="6743700" y="2247893"/>
                </a:lnTo>
                <a:cubicBezTo>
                  <a:pt x="6743700" y="2310981"/>
                  <a:pt x="6692481" y="2362200"/>
                  <a:pt x="6629393" y="2362200"/>
                </a:cubicBezTo>
                <a:lnTo>
                  <a:pt x="114307" y="2362200"/>
                </a:lnTo>
                <a:cubicBezTo>
                  <a:pt x="51219" y="2362200"/>
                  <a:pt x="0" y="2310981"/>
                  <a:pt x="0" y="224789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788" y="15049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店长的核心定位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店铺经营者: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把自己当成店铺的"老板",善用目标管理方法,确保业绩达成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098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团队领导者: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带领团队达成目标,培养员工成长,营造积极工作氛围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552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标准执行者: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准确理解公司战略方向,确保SOP标准在店铺落地执行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8956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问题解决者: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遇事不慌乱,抓住问题关键,主动沟通解决危机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238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业绩驱动者: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店铺业绩增长的发动机,总能想出达成业绩的办法并付诸实践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810000"/>
            <a:ext cx="6743700" cy="1562100"/>
          </a:xfrm>
          <a:custGeom>
            <a:avLst/>
            <a:gdLst/>
            <a:ahLst/>
            <a:cxnLst/>
            <a:rect l="l" t="t" r="r" b="b"/>
            <a:pathLst>
              <a:path w="6743700" h="1562100">
                <a:moveTo>
                  <a:pt x="114299" y="0"/>
                </a:moveTo>
                <a:lnTo>
                  <a:pt x="6629401" y="0"/>
                </a:lnTo>
                <a:cubicBezTo>
                  <a:pt x="6692527" y="0"/>
                  <a:pt x="6743700" y="51173"/>
                  <a:pt x="6743700" y="114299"/>
                </a:cubicBezTo>
                <a:lnTo>
                  <a:pt x="6743700" y="1447801"/>
                </a:lnTo>
                <a:cubicBezTo>
                  <a:pt x="6743700" y="1510927"/>
                  <a:pt x="6692527" y="1562100"/>
                  <a:pt x="6629401" y="1562100"/>
                </a:cubicBezTo>
                <a:lnTo>
                  <a:pt x="114299" y="1562100"/>
                </a:lnTo>
                <a:cubicBezTo>
                  <a:pt x="51173" y="1562100"/>
                  <a:pt x="0" y="1510927"/>
                  <a:pt x="0" y="14478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0075" y="4019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16" name="Text 14"/>
          <p:cNvSpPr/>
          <p:nvPr/>
        </p:nvSpPr>
        <p:spPr>
          <a:xfrm>
            <a:off x="971550" y="4000500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店长的价值贡献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4381500"/>
            <a:ext cx="2047875" cy="800100"/>
          </a:xfrm>
          <a:custGeom>
            <a:avLst/>
            <a:gdLst/>
            <a:ahLst/>
            <a:cxnLst/>
            <a:rect l="l" t="t" r="r" b="b"/>
            <a:pathLst>
              <a:path w="2047875" h="800100">
                <a:moveTo>
                  <a:pt x="76202" y="0"/>
                </a:moveTo>
                <a:lnTo>
                  <a:pt x="1971673" y="0"/>
                </a:lnTo>
                <a:cubicBezTo>
                  <a:pt x="2013758" y="0"/>
                  <a:pt x="2047875" y="34117"/>
                  <a:pt x="2047875" y="76202"/>
                </a:cubicBezTo>
                <a:lnTo>
                  <a:pt x="2047875" y="723898"/>
                </a:lnTo>
                <a:cubicBezTo>
                  <a:pt x="2047875" y="765983"/>
                  <a:pt x="2013758" y="800100"/>
                  <a:pt x="19716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14363" y="4495800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463" y="48768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业绩达成责任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30401" y="4381500"/>
            <a:ext cx="2047875" cy="800100"/>
          </a:xfrm>
          <a:custGeom>
            <a:avLst/>
            <a:gdLst/>
            <a:ahLst/>
            <a:cxnLst/>
            <a:rect l="l" t="t" r="r" b="b"/>
            <a:pathLst>
              <a:path w="2047875" h="800100">
                <a:moveTo>
                  <a:pt x="76202" y="0"/>
                </a:moveTo>
                <a:lnTo>
                  <a:pt x="1971673" y="0"/>
                </a:lnTo>
                <a:cubicBezTo>
                  <a:pt x="2013758" y="0"/>
                  <a:pt x="2047875" y="34117"/>
                  <a:pt x="2047875" y="76202"/>
                </a:cubicBezTo>
                <a:lnTo>
                  <a:pt x="2047875" y="723898"/>
                </a:lnTo>
                <a:cubicBezTo>
                  <a:pt x="2047875" y="765983"/>
                  <a:pt x="2013758" y="800100"/>
                  <a:pt x="19716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2773263" y="4495800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360°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1363" y="48768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全方位管理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89450" y="4381500"/>
            <a:ext cx="2047875" cy="800100"/>
          </a:xfrm>
          <a:custGeom>
            <a:avLst/>
            <a:gdLst/>
            <a:ahLst/>
            <a:cxnLst/>
            <a:rect l="l" t="t" r="r" b="b"/>
            <a:pathLst>
              <a:path w="2047875" h="800100">
                <a:moveTo>
                  <a:pt x="76202" y="0"/>
                </a:moveTo>
                <a:lnTo>
                  <a:pt x="1971673" y="0"/>
                </a:lnTo>
                <a:cubicBezTo>
                  <a:pt x="2013758" y="0"/>
                  <a:pt x="2047875" y="34117"/>
                  <a:pt x="2047875" y="76202"/>
                </a:cubicBezTo>
                <a:lnTo>
                  <a:pt x="2047875" y="723898"/>
                </a:lnTo>
                <a:cubicBezTo>
                  <a:pt x="2047875" y="765983"/>
                  <a:pt x="2013758" y="800100"/>
                  <a:pt x="19716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932313" y="4495800"/>
            <a:ext cx="1962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∞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70413" y="48768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持续超越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5524500"/>
            <a:ext cx="6724650" cy="533400"/>
          </a:xfrm>
          <a:custGeom>
            <a:avLst/>
            <a:gdLst/>
            <a:ahLst/>
            <a:cxnLst/>
            <a:rect l="l" t="t" r="r" b="b"/>
            <a:pathLst>
              <a:path w="6724650" h="533400">
                <a:moveTo>
                  <a:pt x="38100" y="0"/>
                </a:moveTo>
                <a:lnTo>
                  <a:pt x="6610348" y="0"/>
                </a:lnTo>
                <a:cubicBezTo>
                  <a:pt x="6673433" y="0"/>
                  <a:pt x="6724650" y="51217"/>
                  <a:pt x="6724650" y="114302"/>
                </a:cubicBezTo>
                <a:lnTo>
                  <a:pt x="6724650" y="419098"/>
                </a:lnTo>
                <a:cubicBezTo>
                  <a:pt x="6724650" y="482183"/>
                  <a:pt x="6673433" y="533400"/>
                  <a:pt x="66103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400050" y="55245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8" name="Shape 26"/>
          <p:cNvSpPr/>
          <p:nvPr/>
        </p:nvSpPr>
        <p:spPr>
          <a:xfrm>
            <a:off x="581025" y="5715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29" name="Text 27"/>
          <p:cNvSpPr/>
          <p:nvPr/>
        </p:nvSpPr>
        <p:spPr>
          <a:xfrm>
            <a:off x="819150" y="5676900"/>
            <a:ext cx="622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核心理念: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店长是店铺的灵魂人物,既是经营者又是管理者,既要会做生意又要会带团队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1" name="Shape 29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Text 30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Text 32"/>
          <p:cNvSpPr/>
          <p:nvPr/>
        </p:nvSpPr>
        <p:spPr>
          <a:xfrm>
            <a:off x="7772400" y="18669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用案例说明店长角色重要性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7772400" y="2171700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对比优秀店长与普通店长的差异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7772400" y="24765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强调经营意识与老板思维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7772400" y="27813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激发学员的店长职业向往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3" name="Text 41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19417" y="3924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理解店长多重角色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19417" y="42291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建立经营者思维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明确自身价值定位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树立职业发展目标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3" name="Shape 51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4" name="Text 52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案例分析:店长角色定位理解(10分)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114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 KEY RESPONSIBILITIES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店长画像 - 8大关键职责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95400"/>
            <a:ext cx="3857625" cy="1276350"/>
          </a:xfrm>
          <a:custGeom>
            <a:avLst/>
            <a:gdLst/>
            <a:ahLst/>
            <a:cxnLst/>
            <a:rect l="l" t="t" r="r" b="b"/>
            <a:pathLst>
              <a:path w="3857625" h="1276350">
                <a:moveTo>
                  <a:pt x="38100" y="0"/>
                </a:moveTo>
                <a:lnTo>
                  <a:pt x="3743328" y="0"/>
                </a:lnTo>
                <a:cubicBezTo>
                  <a:pt x="3806410" y="0"/>
                  <a:pt x="3857625" y="51215"/>
                  <a:pt x="3857625" y="114297"/>
                </a:cubicBezTo>
                <a:lnTo>
                  <a:pt x="3857625" y="1162053"/>
                </a:lnTo>
                <a:cubicBezTo>
                  <a:pt x="3857625" y="1225135"/>
                  <a:pt x="3806410" y="1276350"/>
                  <a:pt x="37433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954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Shape 6"/>
          <p:cNvSpPr/>
          <p:nvPr/>
        </p:nvSpPr>
        <p:spPr>
          <a:xfrm>
            <a:off x="571500" y="144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9" name="Text 7"/>
          <p:cNvSpPr/>
          <p:nvPr/>
        </p:nvSpPr>
        <p:spPr>
          <a:xfrm>
            <a:off x="538163" y="14478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1466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销售达成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828800"/>
            <a:ext cx="36099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目标分解、计划跟进、数据分析诊断、业绩提升举措制定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91025" y="1295400"/>
            <a:ext cx="3857625" cy="1276350"/>
          </a:xfrm>
          <a:custGeom>
            <a:avLst/>
            <a:gdLst/>
            <a:ahLst/>
            <a:cxnLst/>
            <a:rect l="l" t="t" r="r" b="b"/>
            <a:pathLst>
              <a:path w="3857625" h="1276350">
                <a:moveTo>
                  <a:pt x="38100" y="0"/>
                </a:moveTo>
                <a:lnTo>
                  <a:pt x="3743328" y="0"/>
                </a:lnTo>
                <a:cubicBezTo>
                  <a:pt x="3806410" y="0"/>
                  <a:pt x="3857625" y="51215"/>
                  <a:pt x="3857625" y="114297"/>
                </a:cubicBezTo>
                <a:lnTo>
                  <a:pt x="3857625" y="1162053"/>
                </a:lnTo>
                <a:cubicBezTo>
                  <a:pt x="3857625" y="1225135"/>
                  <a:pt x="3806410" y="1276350"/>
                  <a:pt x="37433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1025" y="12954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4" name="Shape 12"/>
          <p:cNvSpPr/>
          <p:nvPr/>
        </p:nvSpPr>
        <p:spPr>
          <a:xfrm>
            <a:off x="4562475" y="1447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4529138" y="14478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3475" y="14668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货品管理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2475" y="1828800"/>
            <a:ext cx="36099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收验货、货品调拨、货品分析及需求建议(动销率、齐码率)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2681288"/>
            <a:ext cx="3857625" cy="1276350"/>
          </a:xfrm>
          <a:custGeom>
            <a:avLst/>
            <a:gdLst/>
            <a:ahLst/>
            <a:cxnLst/>
            <a:rect l="l" t="t" r="r" b="b"/>
            <a:pathLst>
              <a:path w="3857625" h="1276350">
                <a:moveTo>
                  <a:pt x="38100" y="0"/>
                </a:moveTo>
                <a:lnTo>
                  <a:pt x="3743328" y="0"/>
                </a:lnTo>
                <a:cubicBezTo>
                  <a:pt x="3806410" y="0"/>
                  <a:pt x="3857625" y="51215"/>
                  <a:pt x="3857625" y="114297"/>
                </a:cubicBezTo>
                <a:lnTo>
                  <a:pt x="3857625" y="1162053"/>
                </a:lnTo>
                <a:cubicBezTo>
                  <a:pt x="3857625" y="1225135"/>
                  <a:pt x="3806410" y="1276350"/>
                  <a:pt x="37433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2681288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0" name="Shape 18"/>
          <p:cNvSpPr/>
          <p:nvPr/>
        </p:nvSpPr>
        <p:spPr>
          <a:xfrm>
            <a:off x="571500" y="28336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1" name="Text 19"/>
          <p:cNvSpPr/>
          <p:nvPr/>
        </p:nvSpPr>
        <p:spPr>
          <a:xfrm>
            <a:off x="538163" y="2833688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500" y="2852738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3214688"/>
            <a:ext cx="36099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VIP客户管理(1137维护)、客诉处理、商场沟通、产品推广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91025" y="2681288"/>
            <a:ext cx="3857625" cy="1276350"/>
          </a:xfrm>
          <a:custGeom>
            <a:avLst/>
            <a:gdLst/>
            <a:ahLst/>
            <a:cxnLst/>
            <a:rect l="l" t="t" r="r" b="b"/>
            <a:pathLst>
              <a:path w="3857625" h="1276350">
                <a:moveTo>
                  <a:pt x="38100" y="0"/>
                </a:moveTo>
                <a:lnTo>
                  <a:pt x="3743328" y="0"/>
                </a:lnTo>
                <a:cubicBezTo>
                  <a:pt x="3806410" y="0"/>
                  <a:pt x="3857625" y="51215"/>
                  <a:pt x="3857625" y="114297"/>
                </a:cubicBezTo>
                <a:lnTo>
                  <a:pt x="3857625" y="1162053"/>
                </a:lnTo>
                <a:cubicBezTo>
                  <a:pt x="3857625" y="1225135"/>
                  <a:pt x="3806410" y="1276350"/>
                  <a:pt x="37433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91025" y="2681288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6" name="Shape 24"/>
          <p:cNvSpPr/>
          <p:nvPr/>
        </p:nvSpPr>
        <p:spPr>
          <a:xfrm>
            <a:off x="4562475" y="28336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7" name="Text 25"/>
          <p:cNvSpPr/>
          <p:nvPr/>
        </p:nvSpPr>
        <p:spPr>
          <a:xfrm>
            <a:off x="4529138" y="2833688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43475" y="2852738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店铺陈列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2475" y="3214688"/>
            <a:ext cx="36099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陈列标准执行、陈列数据分析、板墙系列规范、动线规划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0050" y="4067175"/>
            <a:ext cx="3857625" cy="1276350"/>
          </a:xfrm>
          <a:custGeom>
            <a:avLst/>
            <a:gdLst/>
            <a:ahLst/>
            <a:cxnLst/>
            <a:rect l="l" t="t" r="r" b="b"/>
            <a:pathLst>
              <a:path w="3857625" h="1276350">
                <a:moveTo>
                  <a:pt x="38100" y="0"/>
                </a:moveTo>
                <a:lnTo>
                  <a:pt x="3743328" y="0"/>
                </a:lnTo>
                <a:cubicBezTo>
                  <a:pt x="3806410" y="0"/>
                  <a:pt x="3857625" y="51215"/>
                  <a:pt x="3857625" y="114297"/>
                </a:cubicBezTo>
                <a:lnTo>
                  <a:pt x="3857625" y="1162053"/>
                </a:lnTo>
                <a:cubicBezTo>
                  <a:pt x="3857625" y="1225135"/>
                  <a:pt x="3806410" y="1276350"/>
                  <a:pt x="37433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0050" y="4067175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Shape 30"/>
          <p:cNvSpPr/>
          <p:nvPr/>
        </p:nvSpPr>
        <p:spPr>
          <a:xfrm>
            <a:off x="571500" y="4219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538163" y="421957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2500" y="42386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团队管理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" y="4600575"/>
            <a:ext cx="36099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招聘、培训带教、激励、工作分配(排班/站位/分工)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91025" y="4067175"/>
            <a:ext cx="3857625" cy="1276350"/>
          </a:xfrm>
          <a:custGeom>
            <a:avLst/>
            <a:gdLst/>
            <a:ahLst/>
            <a:cxnLst/>
            <a:rect l="l" t="t" r="r" b="b"/>
            <a:pathLst>
              <a:path w="3857625" h="1276350">
                <a:moveTo>
                  <a:pt x="38100" y="0"/>
                </a:moveTo>
                <a:lnTo>
                  <a:pt x="3743328" y="0"/>
                </a:lnTo>
                <a:cubicBezTo>
                  <a:pt x="3806410" y="0"/>
                  <a:pt x="3857625" y="51215"/>
                  <a:pt x="3857625" y="114297"/>
                </a:cubicBezTo>
                <a:lnTo>
                  <a:pt x="3857625" y="1162053"/>
                </a:lnTo>
                <a:cubicBezTo>
                  <a:pt x="3857625" y="1225135"/>
                  <a:pt x="3806410" y="1276350"/>
                  <a:pt x="37433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91025" y="4067175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8" name="Shape 36"/>
          <p:cNvSpPr/>
          <p:nvPr/>
        </p:nvSpPr>
        <p:spPr>
          <a:xfrm>
            <a:off x="4562475" y="4219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9" name="Text 37"/>
          <p:cNvSpPr/>
          <p:nvPr/>
        </p:nvSpPr>
        <p:spPr>
          <a:xfrm>
            <a:off x="4529138" y="421957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43475" y="423862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控场能力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62475" y="4600575"/>
            <a:ext cx="36099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员工站位、站位路线、人员调度、销售补位、突发事件应对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00050" y="5453063"/>
            <a:ext cx="3857625" cy="1028700"/>
          </a:xfrm>
          <a:custGeom>
            <a:avLst/>
            <a:gdLst/>
            <a:ahLst/>
            <a:cxnLst/>
            <a:rect l="l" t="t" r="r" b="b"/>
            <a:pathLst>
              <a:path w="3857625" h="1028700">
                <a:moveTo>
                  <a:pt x="38100" y="0"/>
                </a:moveTo>
                <a:lnTo>
                  <a:pt x="3743326" y="0"/>
                </a:lnTo>
                <a:cubicBezTo>
                  <a:pt x="3806452" y="0"/>
                  <a:pt x="3857625" y="51173"/>
                  <a:pt x="3857625" y="114299"/>
                </a:cubicBezTo>
                <a:lnTo>
                  <a:pt x="3857625" y="914401"/>
                </a:lnTo>
                <a:cubicBezTo>
                  <a:pt x="3857625" y="977527"/>
                  <a:pt x="3806452" y="1028700"/>
                  <a:pt x="3743326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00050" y="5453063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Shape 42"/>
          <p:cNvSpPr/>
          <p:nvPr/>
        </p:nvSpPr>
        <p:spPr>
          <a:xfrm>
            <a:off x="571500" y="56054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5" name="Text 43"/>
          <p:cNvSpPr/>
          <p:nvPr/>
        </p:nvSpPr>
        <p:spPr>
          <a:xfrm>
            <a:off x="538163" y="5605463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52500" y="5624513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财务管理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71500" y="5986463"/>
            <a:ext cx="36099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收银/对账/现金管理/盘点、费用及利润管理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91025" y="5453063"/>
            <a:ext cx="3857625" cy="1028700"/>
          </a:xfrm>
          <a:custGeom>
            <a:avLst/>
            <a:gdLst/>
            <a:ahLst/>
            <a:cxnLst/>
            <a:rect l="l" t="t" r="r" b="b"/>
            <a:pathLst>
              <a:path w="3857625" h="1028700">
                <a:moveTo>
                  <a:pt x="38100" y="0"/>
                </a:moveTo>
                <a:lnTo>
                  <a:pt x="3743326" y="0"/>
                </a:lnTo>
                <a:cubicBezTo>
                  <a:pt x="3806452" y="0"/>
                  <a:pt x="3857625" y="51173"/>
                  <a:pt x="3857625" y="114299"/>
                </a:cubicBezTo>
                <a:lnTo>
                  <a:pt x="3857625" y="914401"/>
                </a:lnTo>
                <a:cubicBezTo>
                  <a:pt x="3857625" y="977527"/>
                  <a:pt x="3806452" y="1028700"/>
                  <a:pt x="3743326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391025" y="5453063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0" name="Shape 48"/>
          <p:cNvSpPr/>
          <p:nvPr/>
        </p:nvSpPr>
        <p:spPr>
          <a:xfrm>
            <a:off x="4562475" y="56054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1" name="Text 49"/>
          <p:cNvSpPr/>
          <p:nvPr/>
        </p:nvSpPr>
        <p:spPr>
          <a:xfrm>
            <a:off x="4529138" y="5605463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943475" y="5624513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店铺运营标准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562475" y="5986463"/>
            <a:ext cx="3609975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SOP标准执行、MSP/IIS标准落地、仓库管理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9150" y="1295400"/>
            <a:ext cx="3371850" cy="1485900"/>
          </a:xfrm>
          <a:custGeom>
            <a:avLst/>
            <a:gdLst/>
            <a:ahLst/>
            <a:cxnLst/>
            <a:rect l="l" t="t" r="r" b="b"/>
            <a:pathLst>
              <a:path w="3371850" h="1485900">
                <a:moveTo>
                  <a:pt x="114295" y="0"/>
                </a:moveTo>
                <a:lnTo>
                  <a:pt x="3257555" y="0"/>
                </a:lnTo>
                <a:cubicBezTo>
                  <a:pt x="3320636" y="0"/>
                  <a:pt x="3371850" y="51214"/>
                  <a:pt x="3371850" y="114295"/>
                </a:cubicBezTo>
                <a:lnTo>
                  <a:pt x="3371850" y="1371605"/>
                </a:lnTo>
                <a:cubicBezTo>
                  <a:pt x="3371850" y="1434686"/>
                  <a:pt x="3320636" y="1485900"/>
                  <a:pt x="3257555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5" name="Shape 53"/>
          <p:cNvSpPr/>
          <p:nvPr/>
        </p:nvSpPr>
        <p:spPr>
          <a:xfrm>
            <a:off x="8591550" y="1485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6" name="Text 54"/>
          <p:cNvSpPr/>
          <p:nvPr/>
        </p:nvSpPr>
        <p:spPr>
          <a:xfrm>
            <a:off x="8782050" y="14478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610600" y="177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8" name="Text 56"/>
          <p:cNvSpPr/>
          <p:nvPr/>
        </p:nvSpPr>
        <p:spPr>
          <a:xfrm>
            <a:off x="8834438" y="1752600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逐一详解每项职责内涵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610600" y="2000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0" name="Text 58"/>
          <p:cNvSpPr/>
          <p:nvPr/>
        </p:nvSpPr>
        <p:spPr>
          <a:xfrm>
            <a:off x="8834438" y="19812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结合实际案例说明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610600" y="2228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2" name="Text 60"/>
          <p:cNvSpPr/>
          <p:nvPr/>
        </p:nvSpPr>
        <p:spPr>
          <a:xfrm>
            <a:off x="8834438" y="22098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强调职责间的关联性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610600" y="2457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4" name="Text 62"/>
          <p:cNvSpPr/>
          <p:nvPr/>
        </p:nvSpPr>
        <p:spPr>
          <a:xfrm>
            <a:off x="8834438" y="24384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建立全局管理视角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39150" y="2895600"/>
            <a:ext cx="3371850" cy="1257300"/>
          </a:xfrm>
          <a:custGeom>
            <a:avLst/>
            <a:gdLst/>
            <a:ahLst/>
            <a:cxnLst/>
            <a:rect l="l" t="t" r="r" b="b"/>
            <a:pathLst>
              <a:path w="3371850" h="1257300">
                <a:moveTo>
                  <a:pt x="114301" y="0"/>
                </a:moveTo>
                <a:lnTo>
                  <a:pt x="3257549" y="0"/>
                </a:lnTo>
                <a:cubicBezTo>
                  <a:pt x="3320633" y="0"/>
                  <a:pt x="3371850" y="51217"/>
                  <a:pt x="3371850" y="114301"/>
                </a:cubicBezTo>
                <a:lnTo>
                  <a:pt x="3371850" y="1142999"/>
                </a:lnTo>
                <a:cubicBezTo>
                  <a:pt x="3371850" y="1206083"/>
                  <a:pt x="3320633" y="1257300"/>
                  <a:pt x="32575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620125" y="3086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67" name="Text 65"/>
          <p:cNvSpPr/>
          <p:nvPr/>
        </p:nvSpPr>
        <p:spPr>
          <a:xfrm>
            <a:off x="8782050" y="30480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591550" y="33528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788152" y="3352800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熟记8大职责名称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91550" y="35814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788152" y="35814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理解每项职责内容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91550" y="38100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88152" y="38100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建立职责体系框架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439150" y="4267200"/>
            <a:ext cx="3371850" cy="800100"/>
          </a:xfrm>
          <a:custGeom>
            <a:avLst/>
            <a:gdLst/>
            <a:ahLst/>
            <a:cxnLst/>
            <a:rect l="l" t="t" r="r" b="b"/>
            <a:pathLst>
              <a:path w="3371850" h="800100">
                <a:moveTo>
                  <a:pt x="114302" y="0"/>
                </a:moveTo>
                <a:lnTo>
                  <a:pt x="3257548" y="0"/>
                </a:lnTo>
                <a:cubicBezTo>
                  <a:pt x="3320633" y="0"/>
                  <a:pt x="3371850" y="51217"/>
                  <a:pt x="3371850" y="114302"/>
                </a:cubicBezTo>
                <a:lnTo>
                  <a:pt x="3371850" y="685798"/>
                </a:lnTo>
                <a:cubicBezTo>
                  <a:pt x="3371850" y="748883"/>
                  <a:pt x="3320633" y="800100"/>
                  <a:pt x="32575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75" name="Shape 73"/>
          <p:cNvSpPr/>
          <p:nvPr/>
        </p:nvSpPr>
        <p:spPr>
          <a:xfrm>
            <a:off x="8629650" y="4457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76" name="Text 74"/>
          <p:cNvSpPr/>
          <p:nvPr/>
        </p:nvSpPr>
        <p:spPr>
          <a:xfrm>
            <a:off x="8782050" y="44196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591550" y="4724400"/>
            <a:ext cx="3133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书面测试:8大职责默写+内容简述(20分)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458200" y="5181600"/>
            <a:ext cx="3352800" cy="419100"/>
          </a:xfrm>
          <a:custGeom>
            <a:avLst/>
            <a:gdLst/>
            <a:ahLst/>
            <a:cxnLst/>
            <a:rect l="l" t="t" r="r" b="b"/>
            <a:pathLst>
              <a:path w="3352800" h="419100">
                <a:moveTo>
                  <a:pt x="38100" y="0"/>
                </a:moveTo>
                <a:lnTo>
                  <a:pt x="3238499" y="0"/>
                </a:lnTo>
                <a:cubicBezTo>
                  <a:pt x="3301583" y="0"/>
                  <a:pt x="3352800" y="51217"/>
                  <a:pt x="3352800" y="114301"/>
                </a:cubicBezTo>
                <a:lnTo>
                  <a:pt x="3352800" y="304799"/>
                </a:lnTo>
                <a:cubicBezTo>
                  <a:pt x="3352800" y="367883"/>
                  <a:pt x="3301583" y="419100"/>
                  <a:pt x="3238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8458200" y="51816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0" name="Shape 78"/>
          <p:cNvSpPr/>
          <p:nvPr/>
        </p:nvSpPr>
        <p:spPr>
          <a:xfrm>
            <a:off x="8627269" y="53244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1" name="Text 79"/>
          <p:cNvSpPr/>
          <p:nvPr/>
        </p:nvSpPr>
        <p:spPr>
          <a:xfrm>
            <a:off x="8791575" y="52959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记忆口诀:</a:t>
            </a: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销货客陈团控财标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 CAPABILITIES &amp; 3 TRAITS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店长画像 - 5大能力与3大特质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209800"/>
          </a:xfrm>
          <a:custGeom>
            <a:avLst/>
            <a:gdLst/>
            <a:ahLst/>
            <a:cxnLst/>
            <a:rect l="l" t="t" r="r" b="b"/>
            <a:pathLst>
              <a:path w="6743700" h="2209800">
                <a:moveTo>
                  <a:pt x="114291" y="0"/>
                </a:moveTo>
                <a:lnTo>
                  <a:pt x="6629409" y="0"/>
                </a:lnTo>
                <a:cubicBezTo>
                  <a:pt x="6692488" y="0"/>
                  <a:pt x="6743700" y="51212"/>
                  <a:pt x="6743700" y="114291"/>
                </a:cubicBezTo>
                <a:lnTo>
                  <a:pt x="6743700" y="2095509"/>
                </a:lnTo>
                <a:cubicBezTo>
                  <a:pt x="6743700" y="2158630"/>
                  <a:pt x="6692530" y="2209800"/>
                  <a:pt x="6629409" y="2209800"/>
                </a:cubicBezTo>
                <a:lnTo>
                  <a:pt x="114291" y="2209800"/>
                </a:lnTo>
                <a:cubicBezTo>
                  <a:pt x="51170" y="2209800"/>
                  <a:pt x="0" y="2158630"/>
                  <a:pt x="0" y="20955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00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5大核心能力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会生意: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把自己当"老板",善用目标管理,数据敏感度高,善于整合资源,思考创新方法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会执行: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准确理解公司战略,目标感强,做事有计划有条理,忙但高效,要事第一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会协同: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善于沟通交流,针对不同人和事采用不同沟通方式,是店铺问题终结者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会带人: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掌握销售技能提升知识,能系统培训员工业绩,根据不同发展阶段提供针对性辅导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会超越: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对业绩自信,敢于追求高目标,高标准要求自己,善于快速掌握新工具新方法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657600"/>
            <a:ext cx="6743700" cy="1600200"/>
          </a:xfrm>
          <a:custGeom>
            <a:avLst/>
            <a:gdLst/>
            <a:ahLst/>
            <a:cxnLst/>
            <a:rect l="l" t="t" r="r" b="b"/>
            <a:pathLst>
              <a:path w="6743700" h="1600200">
                <a:moveTo>
                  <a:pt x="114302" y="0"/>
                </a:moveTo>
                <a:lnTo>
                  <a:pt x="6629398" y="0"/>
                </a:lnTo>
                <a:cubicBezTo>
                  <a:pt x="6692483" y="0"/>
                  <a:pt x="6743700" y="51217"/>
                  <a:pt x="6743700" y="114302"/>
                </a:cubicBezTo>
                <a:lnTo>
                  <a:pt x="6743700" y="1485898"/>
                </a:lnTo>
                <a:cubicBezTo>
                  <a:pt x="6743700" y="1548983"/>
                  <a:pt x="6692483" y="1600200"/>
                  <a:pt x="6629398" y="1600200"/>
                </a:cubicBezTo>
                <a:lnTo>
                  <a:pt x="114302" y="1600200"/>
                </a:lnTo>
                <a:cubicBezTo>
                  <a:pt x="51217" y="1600200"/>
                  <a:pt x="0" y="1548983"/>
                  <a:pt x="0" y="14858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788" y="38671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16" name="Text 14"/>
          <p:cNvSpPr/>
          <p:nvPr/>
        </p:nvSpPr>
        <p:spPr>
          <a:xfrm>
            <a:off x="971550" y="3848100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3大核心特质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4229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正向积极: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工作中始终充满激情,扛得住压力,具有大局观,理解并支持区域调动调整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533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敢拼会赢: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对高增长目标有强烈企图心,愿意付出额外努力,是店铺业绩增长的发动机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顾客导向: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外部-善于分析顾客需求,以顾客为导向制定策略;内部-以身作则,关注员工需求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1" name="Shape 19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Text 20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4" name="Text 22"/>
          <p:cNvSpPr/>
          <p:nvPr/>
        </p:nvSpPr>
        <p:spPr>
          <a:xfrm>
            <a:off x="7772400" y="1866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用正反案例对比说明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Text 24"/>
          <p:cNvSpPr/>
          <p:nvPr/>
        </p:nvSpPr>
        <p:spPr>
          <a:xfrm>
            <a:off x="7772400" y="21717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引导学员自我对照评估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8" name="Text 26"/>
          <p:cNvSpPr/>
          <p:nvPr/>
        </p:nvSpPr>
        <p:spPr>
          <a:xfrm>
            <a:off x="7772400" y="2476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强调能力与特质的培养路径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72400" y="27813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建立店长胜任力模型认知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19417" y="39243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理解5大能力内涵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19417" y="42291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理解3大特质要求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进行自我能力评估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制定能力提升计划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3" name="Shape 41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4" name="Text 42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书面测试:5大能力3大特质默写+案例分析(20分)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1895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SALES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岗位职责 - 销售管理与数据追踪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743200"/>
          </a:xfrm>
          <a:custGeom>
            <a:avLst/>
            <a:gdLst/>
            <a:ahLst/>
            <a:cxnLst/>
            <a:rect l="l" t="t" r="r" b="b"/>
            <a:pathLst>
              <a:path w="6743700" h="2743200">
                <a:moveTo>
                  <a:pt x="114309" y="0"/>
                </a:moveTo>
                <a:lnTo>
                  <a:pt x="6629391" y="0"/>
                </a:lnTo>
                <a:cubicBezTo>
                  <a:pt x="6692522" y="0"/>
                  <a:pt x="6743700" y="51178"/>
                  <a:pt x="6743700" y="114309"/>
                </a:cubicBezTo>
                <a:lnTo>
                  <a:pt x="6743700" y="2628891"/>
                </a:lnTo>
                <a:cubicBezTo>
                  <a:pt x="6743700" y="2692022"/>
                  <a:pt x="6692522" y="2743200"/>
                  <a:pt x="6629391" y="2743200"/>
                </a:cubicBezTo>
                <a:lnTo>
                  <a:pt x="114309" y="2743200"/>
                </a:lnTo>
                <a:cubicBezTo>
                  <a:pt x="51178" y="2743200"/>
                  <a:pt x="0" y="2692022"/>
                  <a:pt x="0" y="26288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00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销售管理核心职责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定时追数: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每日14:00、18:00、20:00定时追踪各区位各时段销售目标达成,周末节假日每2小时追数一次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400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时段报数: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每日微信时段报数,向督导汇报销售情况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705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竞品监控: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每日留意所在商圈和竞品信息,第一时间与督导沟通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3009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横向对比: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每日与同区域、同类型店铺销售情况对比,制定销售调整方案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314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目标分解: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每月月初进行月指标分解到日、人及销售进度确认沟通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619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 报表制作: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每日、周、月销售报表的制作及分析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191000"/>
            <a:ext cx="6743700" cy="1524000"/>
          </a:xfrm>
          <a:custGeom>
            <a:avLst/>
            <a:gdLst/>
            <a:ahLst/>
            <a:cxnLst/>
            <a:rect l="l" t="t" r="r" b="b"/>
            <a:pathLst>
              <a:path w="6743700" h="1524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409700"/>
                </a:lnTo>
                <a:cubicBezTo>
                  <a:pt x="6743700" y="1472784"/>
                  <a:pt x="6692484" y="1524000"/>
                  <a:pt x="6629400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0075" y="440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7" name="Text 15"/>
          <p:cNvSpPr/>
          <p:nvPr/>
        </p:nvSpPr>
        <p:spPr>
          <a:xfrm>
            <a:off x="971550" y="43815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数据追踪关键动作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762500"/>
            <a:ext cx="2047875" cy="762000"/>
          </a:xfrm>
          <a:custGeom>
            <a:avLst/>
            <a:gdLst/>
            <a:ahLst/>
            <a:cxnLst/>
            <a:rect l="l" t="t" r="r" b="b"/>
            <a:pathLst>
              <a:path w="2047875" h="762000">
                <a:moveTo>
                  <a:pt x="762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685800"/>
                </a:lnTo>
                <a:cubicBezTo>
                  <a:pt x="2047875" y="727856"/>
                  <a:pt x="2013731" y="762000"/>
                  <a:pt x="197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28650" y="4876800"/>
            <a:ext cx="1933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3次/天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463" y="52197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日常追数频率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30401" y="4762500"/>
            <a:ext cx="2047875" cy="762000"/>
          </a:xfrm>
          <a:custGeom>
            <a:avLst/>
            <a:gdLst/>
            <a:ahLst/>
            <a:cxnLst/>
            <a:rect l="l" t="t" r="r" b="b"/>
            <a:pathLst>
              <a:path w="2047875" h="762000">
                <a:moveTo>
                  <a:pt x="762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685800"/>
                </a:lnTo>
                <a:cubicBezTo>
                  <a:pt x="2047875" y="727856"/>
                  <a:pt x="2013731" y="762000"/>
                  <a:pt x="197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2787551" y="4876800"/>
            <a:ext cx="1933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2小时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11363" y="52197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节假日追数间隔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89450" y="4762500"/>
            <a:ext cx="2047875" cy="762000"/>
          </a:xfrm>
          <a:custGeom>
            <a:avLst/>
            <a:gdLst/>
            <a:ahLst/>
            <a:cxnLst/>
            <a:rect l="l" t="t" r="r" b="b"/>
            <a:pathLst>
              <a:path w="2047875" h="762000">
                <a:moveTo>
                  <a:pt x="76200" y="0"/>
                </a:moveTo>
                <a:lnTo>
                  <a:pt x="1971675" y="0"/>
                </a:lnTo>
                <a:cubicBezTo>
                  <a:pt x="2013731" y="0"/>
                  <a:pt x="2047875" y="34144"/>
                  <a:pt x="2047875" y="76200"/>
                </a:cubicBezTo>
                <a:lnTo>
                  <a:pt x="2047875" y="685800"/>
                </a:lnTo>
                <a:cubicBezTo>
                  <a:pt x="2047875" y="727856"/>
                  <a:pt x="2013731" y="762000"/>
                  <a:pt x="19716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946600" y="4876800"/>
            <a:ext cx="1933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70413" y="5219700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竞品信息反馈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8" name="Shape 26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9" name="Text 27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Text 29"/>
          <p:cNvSpPr/>
          <p:nvPr/>
        </p:nvSpPr>
        <p:spPr>
          <a:xfrm>
            <a:off x="7772400" y="18669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强调数据驱动的重要性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72400" y="21717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演示追数报数实操流程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72400" y="2476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讲解报表制作方法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72400" y="27813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建立数据敏感度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19417" y="3924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掌握追数时间节点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19417" y="4229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理解报数内容要求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学会竞品信息收集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掌握报表制作技能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0" name="Shape 48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1" name="Text 49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实操演练:销售数据追踪与报数(15分)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163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HR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岗位职责 - 人事管理与团队建设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819400"/>
          </a:xfrm>
          <a:custGeom>
            <a:avLst/>
            <a:gdLst/>
            <a:ahLst/>
            <a:cxnLst/>
            <a:rect l="l" t="t" r="r" b="b"/>
            <a:pathLst>
              <a:path w="6743700" h="2819400">
                <a:moveTo>
                  <a:pt x="114298" y="0"/>
                </a:moveTo>
                <a:lnTo>
                  <a:pt x="6629402" y="0"/>
                </a:lnTo>
                <a:cubicBezTo>
                  <a:pt x="6692527" y="0"/>
                  <a:pt x="6743700" y="51173"/>
                  <a:pt x="6743700" y="114298"/>
                </a:cubicBezTo>
                <a:lnTo>
                  <a:pt x="6743700" y="2705102"/>
                </a:lnTo>
                <a:cubicBezTo>
                  <a:pt x="6743700" y="2768227"/>
                  <a:pt x="6692527" y="2819400"/>
                  <a:pt x="6629402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5049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人事管理核心职责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考勤管理: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每月2号前制定《店铺考勤明细表》,每日不定时核对员工出勤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培训计划: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每月月初制定员工培育部署计划并开展培训工作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员工沟通: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每月结合店铺实际情况进行员工沟通(至少每月一次)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排班管理: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每周进行排班表排班,每日进行区位工作安排、调配、确认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状态检查: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每日员工状态检查,激励员工提升销售积极性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390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 入离职办理: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新人入职办理、入职培训、员工离职办理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695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 人员招聘: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店铺人员的招聘工作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267200"/>
            <a:ext cx="6743700" cy="1447800"/>
          </a:xfrm>
          <a:custGeom>
            <a:avLst/>
            <a:gdLst/>
            <a:ahLst/>
            <a:cxnLst/>
            <a:rect l="l" t="t" r="r" b="b"/>
            <a:pathLst>
              <a:path w="6743700" h="1447800">
                <a:moveTo>
                  <a:pt x="114304" y="0"/>
                </a:moveTo>
                <a:lnTo>
                  <a:pt x="6629396" y="0"/>
                </a:lnTo>
                <a:cubicBezTo>
                  <a:pt x="6692524" y="0"/>
                  <a:pt x="6743700" y="51176"/>
                  <a:pt x="6743700" y="114304"/>
                </a:cubicBezTo>
                <a:lnTo>
                  <a:pt x="6743700" y="1333496"/>
                </a:lnTo>
                <a:cubicBezTo>
                  <a:pt x="6743700" y="1396624"/>
                  <a:pt x="6692524" y="1447800"/>
                  <a:pt x="66293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0075" y="4476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18" name="Text 16"/>
          <p:cNvSpPr/>
          <p:nvPr/>
        </p:nvSpPr>
        <p:spPr>
          <a:xfrm>
            <a:off x="971550" y="44577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团队建设关键动作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" y="4838700"/>
            <a:ext cx="1504950" cy="685800"/>
          </a:xfrm>
          <a:custGeom>
            <a:avLst/>
            <a:gdLst/>
            <a:ahLst/>
            <a:cxnLst/>
            <a:rect l="l" t="t" r="r" b="b"/>
            <a:pathLst>
              <a:path w="1504950" h="685800">
                <a:moveTo>
                  <a:pt x="76199" y="0"/>
                </a:moveTo>
                <a:lnTo>
                  <a:pt x="1428751" y="0"/>
                </a:lnTo>
                <a:cubicBezTo>
                  <a:pt x="1470834" y="0"/>
                  <a:pt x="1504950" y="34116"/>
                  <a:pt x="1504950" y="76199"/>
                </a:cubicBezTo>
                <a:lnTo>
                  <a:pt x="1504950" y="609601"/>
                </a:lnTo>
                <a:cubicBezTo>
                  <a:pt x="1504950" y="651656"/>
                  <a:pt x="1470806" y="685800"/>
                  <a:pt x="142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1223963" y="4953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137696" y="102111"/>
                </a:moveTo>
                <a:cubicBezTo>
                  <a:pt x="140821" y="97110"/>
                  <a:pt x="139303" y="90502"/>
                  <a:pt x="134302" y="87332"/>
                </a:cubicBezTo>
                <a:cubicBezTo>
                  <a:pt x="129302" y="84162"/>
                  <a:pt x="122694" y="85725"/>
                  <a:pt x="119524" y="90726"/>
                </a:cubicBezTo>
                <a:lnTo>
                  <a:pt x="92110" y="134615"/>
                </a:lnTo>
                <a:lnTo>
                  <a:pt x="80055" y="118542"/>
                </a:lnTo>
                <a:cubicBezTo>
                  <a:pt x="76483" y="113809"/>
                  <a:pt x="69786" y="112827"/>
                  <a:pt x="65053" y="116398"/>
                </a:cubicBezTo>
                <a:cubicBezTo>
                  <a:pt x="60320" y="119970"/>
                  <a:pt x="59338" y="126668"/>
                  <a:pt x="62910" y="131400"/>
                </a:cubicBezTo>
                <a:lnTo>
                  <a:pt x="84341" y="159975"/>
                </a:lnTo>
                <a:cubicBezTo>
                  <a:pt x="86439" y="162788"/>
                  <a:pt x="89833" y="164396"/>
                  <a:pt x="93360" y="164262"/>
                </a:cubicBezTo>
                <a:cubicBezTo>
                  <a:pt x="96887" y="164128"/>
                  <a:pt x="100102" y="162252"/>
                  <a:pt x="101977" y="159216"/>
                </a:cubicBezTo>
                <a:lnTo>
                  <a:pt x="137696" y="102066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21" name="Text 19"/>
          <p:cNvSpPr/>
          <p:nvPr/>
        </p:nvSpPr>
        <p:spPr>
          <a:xfrm>
            <a:off x="652463" y="5219700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月度考勤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90750" y="4838700"/>
            <a:ext cx="1504950" cy="685800"/>
          </a:xfrm>
          <a:custGeom>
            <a:avLst/>
            <a:gdLst/>
            <a:ahLst/>
            <a:cxnLst/>
            <a:rect l="l" t="t" r="r" b="b"/>
            <a:pathLst>
              <a:path w="1504950" h="685800">
                <a:moveTo>
                  <a:pt x="76199" y="0"/>
                </a:moveTo>
                <a:lnTo>
                  <a:pt x="1428751" y="0"/>
                </a:lnTo>
                <a:cubicBezTo>
                  <a:pt x="1470834" y="0"/>
                  <a:pt x="1504950" y="34116"/>
                  <a:pt x="1504950" y="76199"/>
                </a:cubicBezTo>
                <a:lnTo>
                  <a:pt x="1504950" y="609601"/>
                </a:lnTo>
                <a:cubicBezTo>
                  <a:pt x="1504950" y="651656"/>
                  <a:pt x="1470806" y="685800"/>
                  <a:pt x="142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2814638" y="4953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24" name="Text 22"/>
          <p:cNvSpPr/>
          <p:nvPr/>
        </p:nvSpPr>
        <p:spPr>
          <a:xfrm>
            <a:off x="2271713" y="5219700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培训计划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0" y="4838700"/>
            <a:ext cx="1504950" cy="685800"/>
          </a:xfrm>
          <a:custGeom>
            <a:avLst/>
            <a:gdLst/>
            <a:ahLst/>
            <a:cxnLst/>
            <a:rect l="l" t="t" r="r" b="b"/>
            <a:pathLst>
              <a:path w="1504950" h="685800">
                <a:moveTo>
                  <a:pt x="76199" y="0"/>
                </a:moveTo>
                <a:lnTo>
                  <a:pt x="1428751" y="0"/>
                </a:lnTo>
                <a:cubicBezTo>
                  <a:pt x="1470834" y="0"/>
                  <a:pt x="1504950" y="34116"/>
                  <a:pt x="1504950" y="76199"/>
                </a:cubicBezTo>
                <a:lnTo>
                  <a:pt x="1504950" y="609601"/>
                </a:lnTo>
                <a:cubicBezTo>
                  <a:pt x="1504950" y="651656"/>
                  <a:pt x="1470806" y="685800"/>
                  <a:pt x="142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4433888" y="4953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7" name="Text 25"/>
          <p:cNvSpPr/>
          <p:nvPr/>
        </p:nvSpPr>
        <p:spPr>
          <a:xfrm>
            <a:off x="3890962" y="5219700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员工沟通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29250" y="4838700"/>
            <a:ext cx="1504950" cy="685800"/>
          </a:xfrm>
          <a:custGeom>
            <a:avLst/>
            <a:gdLst/>
            <a:ahLst/>
            <a:cxnLst/>
            <a:rect l="l" t="t" r="r" b="b"/>
            <a:pathLst>
              <a:path w="1504950" h="685800">
                <a:moveTo>
                  <a:pt x="76199" y="0"/>
                </a:moveTo>
                <a:lnTo>
                  <a:pt x="1428751" y="0"/>
                </a:lnTo>
                <a:cubicBezTo>
                  <a:pt x="1470834" y="0"/>
                  <a:pt x="1504950" y="34116"/>
                  <a:pt x="1504950" y="76199"/>
                </a:cubicBezTo>
                <a:lnTo>
                  <a:pt x="1504950" y="609601"/>
                </a:lnTo>
                <a:cubicBezTo>
                  <a:pt x="1504950" y="651656"/>
                  <a:pt x="1470806" y="685800"/>
                  <a:pt x="142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038850" y="4953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42888" y="42863"/>
                </a:moveTo>
                <a:cubicBezTo>
                  <a:pt x="248826" y="42863"/>
                  <a:pt x="253603" y="47640"/>
                  <a:pt x="253603" y="53578"/>
                </a:cubicBezTo>
                <a:lnTo>
                  <a:pt x="253603" y="75009"/>
                </a:lnTo>
                <a:lnTo>
                  <a:pt x="275034" y="75009"/>
                </a:lnTo>
                <a:cubicBezTo>
                  <a:pt x="280973" y="75009"/>
                  <a:pt x="285750" y="79787"/>
                  <a:pt x="285750" y="85725"/>
                </a:cubicBezTo>
                <a:cubicBezTo>
                  <a:pt x="285750" y="91663"/>
                  <a:pt x="280973" y="96441"/>
                  <a:pt x="275034" y="96441"/>
                </a:cubicBezTo>
                <a:lnTo>
                  <a:pt x="253603" y="96441"/>
                </a:lnTo>
                <a:lnTo>
                  <a:pt x="253603" y="117872"/>
                </a:lnTo>
                <a:cubicBezTo>
                  <a:pt x="253603" y="123810"/>
                  <a:pt x="248826" y="128588"/>
                  <a:pt x="242888" y="128588"/>
                </a:cubicBezTo>
                <a:cubicBezTo>
                  <a:pt x="236949" y="128588"/>
                  <a:pt x="232172" y="123810"/>
                  <a:pt x="232172" y="117872"/>
                </a:cubicBezTo>
                <a:lnTo>
                  <a:pt x="232172" y="96441"/>
                </a:lnTo>
                <a:lnTo>
                  <a:pt x="210741" y="96441"/>
                </a:lnTo>
                <a:cubicBezTo>
                  <a:pt x="204802" y="96441"/>
                  <a:pt x="200025" y="91663"/>
                  <a:pt x="200025" y="85725"/>
                </a:cubicBezTo>
                <a:cubicBezTo>
                  <a:pt x="200025" y="79787"/>
                  <a:pt x="204802" y="75009"/>
                  <a:pt x="210741" y="75009"/>
                </a:cubicBezTo>
                <a:lnTo>
                  <a:pt x="232172" y="75009"/>
                </a:lnTo>
                <a:lnTo>
                  <a:pt x="232172" y="53578"/>
                </a:lnTo>
                <a:cubicBezTo>
                  <a:pt x="232172" y="47640"/>
                  <a:pt x="236949" y="42863"/>
                  <a:pt x="242888" y="4286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0" name="Text 28"/>
          <p:cNvSpPr/>
          <p:nvPr/>
        </p:nvSpPr>
        <p:spPr>
          <a:xfrm>
            <a:off x="5510213" y="5219700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招聘管理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2" name="Shape 30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72400" y="18669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强调人是店铺最核心资产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72400" y="21717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演示排班表制作方法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9" name="Text 37"/>
          <p:cNvSpPr/>
          <p:nvPr/>
        </p:nvSpPr>
        <p:spPr>
          <a:xfrm>
            <a:off x="7772400" y="2476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讲解员工沟通技巧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1" name="Text 39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分享团队激励方法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Text 42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9417" y="3924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掌握考勤管理流程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19417" y="42291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学会排班表制作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719417" y="4533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理解员工沟通重要性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掌握招聘基本技能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4" name="Shape 52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5" name="Text 53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实操演练:排班表制作+沟通场景模拟(15分)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42954"/>
            <a:ext cx="668759" cy="274363"/>
          </a:xfrm>
          <a:custGeom>
            <a:avLst/>
            <a:gdLst/>
            <a:ahLst/>
            <a:cxnLst/>
            <a:rect l="l" t="t" r="r" b="b"/>
            <a:pathLst>
              <a:path w="668759" h="274363">
                <a:moveTo>
                  <a:pt x="137181" y="0"/>
                </a:moveTo>
                <a:lnTo>
                  <a:pt x="531578" y="0"/>
                </a:lnTo>
                <a:cubicBezTo>
                  <a:pt x="607341" y="0"/>
                  <a:pt x="668759" y="61418"/>
                  <a:pt x="668759" y="137181"/>
                </a:cubicBezTo>
                <a:lnTo>
                  <a:pt x="668759" y="137181"/>
                </a:lnTo>
                <a:cubicBezTo>
                  <a:pt x="668759" y="212945"/>
                  <a:pt x="607341" y="274363"/>
                  <a:pt x="531578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42954" y="342954"/>
            <a:ext cx="737350" cy="274363"/>
          </a:xfrm>
          <a:prstGeom prst="rect">
            <a:avLst/>
          </a:prstGeom>
          <a:noFill/>
        </p:spPr>
        <p:txBody>
          <a:bodyPr wrap="square" lIns="137181" tIns="34295" rIns="137181" bIns="34295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2322" y="377249"/>
            <a:ext cx="2709333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PRODUCT &amp; STORE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954" y="685907"/>
            <a:ext cx="11660422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岗位职责 - 商品与店务管理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54" y="1166042"/>
            <a:ext cx="6799055" cy="2537857"/>
          </a:xfrm>
          <a:custGeom>
            <a:avLst/>
            <a:gdLst/>
            <a:ahLst/>
            <a:cxnLst/>
            <a:rect l="l" t="t" r="r" b="b"/>
            <a:pathLst>
              <a:path w="6799055" h="2537857">
                <a:moveTo>
                  <a:pt x="102885" y="0"/>
                </a:moveTo>
                <a:lnTo>
                  <a:pt x="6696170" y="0"/>
                </a:lnTo>
                <a:cubicBezTo>
                  <a:pt x="6752992" y="0"/>
                  <a:pt x="6799055" y="46063"/>
                  <a:pt x="6799055" y="102885"/>
                </a:cubicBezTo>
                <a:lnTo>
                  <a:pt x="6799055" y="2434972"/>
                </a:lnTo>
                <a:cubicBezTo>
                  <a:pt x="6799055" y="2491793"/>
                  <a:pt x="6752992" y="2537857"/>
                  <a:pt x="6696170" y="2537857"/>
                </a:cubicBezTo>
                <a:lnTo>
                  <a:pt x="102885" y="2537857"/>
                </a:lnTo>
                <a:cubicBezTo>
                  <a:pt x="46063" y="2537857"/>
                  <a:pt x="0" y="2491793"/>
                  <a:pt x="0" y="2434972"/>
                </a:cubicBezTo>
                <a:lnTo>
                  <a:pt x="0" y="102885"/>
                </a:lnTo>
                <a:cubicBezTo>
                  <a:pt x="0" y="46101"/>
                  <a:pt x="46101" y="0"/>
                  <a:pt x="1028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443" dist="342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0152" y="1354667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90025" y="0"/>
                </a:moveTo>
                <a:lnTo>
                  <a:pt x="90025" y="25722"/>
                </a:lnTo>
                <a:cubicBezTo>
                  <a:pt x="90025" y="29258"/>
                  <a:pt x="92919" y="32152"/>
                  <a:pt x="96456" y="32152"/>
                </a:cubicBezTo>
                <a:lnTo>
                  <a:pt x="109316" y="32152"/>
                </a:lnTo>
                <a:cubicBezTo>
                  <a:pt x="112853" y="32152"/>
                  <a:pt x="115747" y="29258"/>
                  <a:pt x="115747" y="25722"/>
                </a:cubicBezTo>
                <a:lnTo>
                  <a:pt x="115747" y="0"/>
                </a:lnTo>
                <a:lnTo>
                  <a:pt x="128608" y="0"/>
                </a:lnTo>
                <a:cubicBezTo>
                  <a:pt x="142795" y="0"/>
                  <a:pt x="154329" y="11534"/>
                  <a:pt x="154329" y="25722"/>
                </a:cubicBezTo>
                <a:lnTo>
                  <a:pt x="154329" y="77165"/>
                </a:lnTo>
                <a:cubicBezTo>
                  <a:pt x="154329" y="79375"/>
                  <a:pt x="154048" y="81545"/>
                  <a:pt x="153525" y="83595"/>
                </a:cubicBezTo>
                <a:lnTo>
                  <a:pt x="52247" y="83595"/>
                </a:lnTo>
                <a:cubicBezTo>
                  <a:pt x="51724" y="81545"/>
                  <a:pt x="51443" y="79375"/>
                  <a:pt x="51443" y="77165"/>
                </a:cubicBezTo>
                <a:lnTo>
                  <a:pt x="51443" y="25722"/>
                </a:lnTo>
                <a:cubicBezTo>
                  <a:pt x="51443" y="11534"/>
                  <a:pt x="62978" y="0"/>
                  <a:pt x="77165" y="0"/>
                </a:cubicBezTo>
                <a:lnTo>
                  <a:pt x="90025" y="0"/>
                </a:lnTo>
                <a:close/>
                <a:moveTo>
                  <a:pt x="128608" y="205772"/>
                </a:moveTo>
                <a:cubicBezTo>
                  <a:pt x="124106" y="205772"/>
                  <a:pt x="119846" y="204607"/>
                  <a:pt x="116149" y="202557"/>
                </a:cubicBezTo>
                <a:cubicBezTo>
                  <a:pt x="119967" y="195926"/>
                  <a:pt x="122177" y="188249"/>
                  <a:pt x="122177" y="180051"/>
                </a:cubicBezTo>
                <a:lnTo>
                  <a:pt x="122177" y="128608"/>
                </a:lnTo>
                <a:cubicBezTo>
                  <a:pt x="122177" y="120409"/>
                  <a:pt x="119967" y="112733"/>
                  <a:pt x="116149" y="106101"/>
                </a:cubicBezTo>
                <a:cubicBezTo>
                  <a:pt x="119846" y="104052"/>
                  <a:pt x="124066" y="102886"/>
                  <a:pt x="128608" y="102886"/>
                </a:cubicBezTo>
                <a:lnTo>
                  <a:pt x="141468" y="102886"/>
                </a:lnTo>
                <a:lnTo>
                  <a:pt x="141468" y="128608"/>
                </a:lnTo>
                <a:cubicBezTo>
                  <a:pt x="141468" y="132144"/>
                  <a:pt x="144362" y="135038"/>
                  <a:pt x="147899" y="135038"/>
                </a:cubicBezTo>
                <a:lnTo>
                  <a:pt x="160759" y="135038"/>
                </a:lnTo>
                <a:cubicBezTo>
                  <a:pt x="164296" y="135038"/>
                  <a:pt x="167190" y="132144"/>
                  <a:pt x="167190" y="128608"/>
                </a:cubicBezTo>
                <a:lnTo>
                  <a:pt x="167190" y="102886"/>
                </a:lnTo>
                <a:lnTo>
                  <a:pt x="180051" y="102886"/>
                </a:lnTo>
                <a:cubicBezTo>
                  <a:pt x="194238" y="102886"/>
                  <a:pt x="205772" y="114421"/>
                  <a:pt x="205772" y="128608"/>
                </a:cubicBezTo>
                <a:lnTo>
                  <a:pt x="205772" y="180051"/>
                </a:lnTo>
                <a:cubicBezTo>
                  <a:pt x="205772" y="194238"/>
                  <a:pt x="194238" y="205772"/>
                  <a:pt x="180051" y="205772"/>
                </a:cubicBezTo>
                <a:lnTo>
                  <a:pt x="128608" y="205772"/>
                </a:lnTo>
                <a:close/>
                <a:moveTo>
                  <a:pt x="0" y="128608"/>
                </a:moveTo>
                <a:cubicBezTo>
                  <a:pt x="0" y="114421"/>
                  <a:pt x="11534" y="102886"/>
                  <a:pt x="25722" y="102886"/>
                </a:cubicBezTo>
                <a:lnTo>
                  <a:pt x="38582" y="102886"/>
                </a:lnTo>
                <a:lnTo>
                  <a:pt x="38582" y="128608"/>
                </a:lnTo>
                <a:cubicBezTo>
                  <a:pt x="38582" y="132144"/>
                  <a:pt x="41476" y="135038"/>
                  <a:pt x="45013" y="135038"/>
                </a:cubicBezTo>
                <a:lnTo>
                  <a:pt x="57873" y="135038"/>
                </a:lnTo>
                <a:cubicBezTo>
                  <a:pt x="61410" y="135038"/>
                  <a:pt x="64304" y="132144"/>
                  <a:pt x="64304" y="128608"/>
                </a:cubicBezTo>
                <a:lnTo>
                  <a:pt x="64304" y="102886"/>
                </a:lnTo>
                <a:lnTo>
                  <a:pt x="77165" y="102886"/>
                </a:lnTo>
                <a:cubicBezTo>
                  <a:pt x="91352" y="102886"/>
                  <a:pt x="102886" y="114421"/>
                  <a:pt x="102886" y="128608"/>
                </a:cubicBezTo>
                <a:lnTo>
                  <a:pt x="102886" y="180051"/>
                </a:lnTo>
                <a:cubicBezTo>
                  <a:pt x="102886" y="194238"/>
                  <a:pt x="91352" y="205772"/>
                  <a:pt x="77165" y="205772"/>
                </a:cubicBezTo>
                <a:lnTo>
                  <a:pt x="25722" y="205772"/>
                </a:lnTo>
                <a:cubicBezTo>
                  <a:pt x="11534" y="205772"/>
                  <a:pt x="0" y="194238"/>
                  <a:pt x="0" y="180051"/>
                </a:cubicBezTo>
                <a:lnTo>
                  <a:pt x="0" y="128608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874532" y="1337519"/>
            <a:ext cx="1457553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商品管理核心职责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430" y="1680473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补货管理: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每日结合卖场商品情况及时安排员工补货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430" y="1954835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畅滞销统计: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每日结合店铺商品情况进行畅、滞销款的统计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430" y="2229198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收货检查: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每周进行收货检查,退货安排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430" y="2503561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商品调拨: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每周执行商品部的商品调拨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4430" y="2777924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盘点工作: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每月进行店铺商品盘点(全盘),每日高单价商品清点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430" y="3052287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 残次品处理: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每月25日前进行残次品统一包装,安排退仓处理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430" y="3326650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 陈列转场: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店铺陈列转场执行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2954" y="3841080"/>
            <a:ext cx="6799055" cy="2812219"/>
          </a:xfrm>
          <a:custGeom>
            <a:avLst/>
            <a:gdLst/>
            <a:ahLst/>
            <a:cxnLst/>
            <a:rect l="l" t="t" r="r" b="b"/>
            <a:pathLst>
              <a:path w="6799055" h="2812219">
                <a:moveTo>
                  <a:pt x="102899" y="0"/>
                </a:moveTo>
                <a:lnTo>
                  <a:pt x="6696156" y="0"/>
                </a:lnTo>
                <a:cubicBezTo>
                  <a:pt x="6752985" y="0"/>
                  <a:pt x="6799055" y="46069"/>
                  <a:pt x="6799055" y="102899"/>
                </a:cubicBezTo>
                <a:lnTo>
                  <a:pt x="6799055" y="2709320"/>
                </a:lnTo>
                <a:cubicBezTo>
                  <a:pt x="6799055" y="2766150"/>
                  <a:pt x="6752985" y="2812219"/>
                  <a:pt x="6696156" y="2812219"/>
                </a:cubicBezTo>
                <a:lnTo>
                  <a:pt x="102899" y="2812219"/>
                </a:lnTo>
                <a:cubicBezTo>
                  <a:pt x="46069" y="2812219"/>
                  <a:pt x="0" y="2766150"/>
                  <a:pt x="0" y="2709320"/>
                </a:cubicBezTo>
                <a:lnTo>
                  <a:pt x="0" y="102899"/>
                </a:lnTo>
                <a:cubicBezTo>
                  <a:pt x="0" y="46070"/>
                  <a:pt x="46069" y="0"/>
                  <a:pt x="1028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443" dist="342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0152" y="4029705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2338" y="29057"/>
                </a:moveTo>
                <a:cubicBezTo>
                  <a:pt x="15111" y="19452"/>
                  <a:pt x="23913" y="12861"/>
                  <a:pt x="33920" y="12861"/>
                </a:cubicBezTo>
                <a:lnTo>
                  <a:pt x="172173" y="12861"/>
                </a:lnTo>
                <a:cubicBezTo>
                  <a:pt x="182181" y="12861"/>
                  <a:pt x="190982" y="19452"/>
                  <a:pt x="193796" y="29057"/>
                </a:cubicBezTo>
                <a:lnTo>
                  <a:pt x="203200" y="61290"/>
                </a:lnTo>
                <a:cubicBezTo>
                  <a:pt x="208344" y="78853"/>
                  <a:pt x="195122" y="96456"/>
                  <a:pt x="176835" y="96456"/>
                </a:cubicBezTo>
                <a:cubicBezTo>
                  <a:pt x="166266" y="96456"/>
                  <a:pt x="156982" y="90467"/>
                  <a:pt x="152400" y="81545"/>
                </a:cubicBezTo>
                <a:cubicBezTo>
                  <a:pt x="147738" y="90347"/>
                  <a:pt x="138494" y="96456"/>
                  <a:pt x="127723" y="96456"/>
                </a:cubicBezTo>
                <a:cubicBezTo>
                  <a:pt x="117033" y="96456"/>
                  <a:pt x="107749" y="90427"/>
                  <a:pt x="103087" y="81585"/>
                </a:cubicBezTo>
                <a:cubicBezTo>
                  <a:pt x="98425" y="90427"/>
                  <a:pt x="89141" y="96456"/>
                  <a:pt x="78451" y="96456"/>
                </a:cubicBezTo>
                <a:cubicBezTo>
                  <a:pt x="67680" y="96456"/>
                  <a:pt x="58436" y="90387"/>
                  <a:pt x="53774" y="81545"/>
                </a:cubicBezTo>
                <a:cubicBezTo>
                  <a:pt x="49192" y="90427"/>
                  <a:pt x="39909" y="96456"/>
                  <a:pt x="29339" y="96456"/>
                </a:cubicBezTo>
                <a:cubicBezTo>
                  <a:pt x="11012" y="96456"/>
                  <a:pt x="-2170" y="78893"/>
                  <a:pt x="2974" y="61290"/>
                </a:cubicBezTo>
                <a:lnTo>
                  <a:pt x="12338" y="29057"/>
                </a:lnTo>
                <a:close/>
                <a:moveTo>
                  <a:pt x="38743" y="141468"/>
                </a:moveTo>
                <a:lnTo>
                  <a:pt x="167351" y="141468"/>
                </a:lnTo>
                <a:lnTo>
                  <a:pt x="167351" y="114782"/>
                </a:lnTo>
                <a:cubicBezTo>
                  <a:pt x="170405" y="115425"/>
                  <a:pt x="173580" y="115747"/>
                  <a:pt x="176795" y="115747"/>
                </a:cubicBezTo>
                <a:cubicBezTo>
                  <a:pt x="182542" y="115747"/>
                  <a:pt x="188048" y="114702"/>
                  <a:pt x="193072" y="112853"/>
                </a:cubicBezTo>
                <a:lnTo>
                  <a:pt x="193072" y="173620"/>
                </a:lnTo>
                <a:cubicBezTo>
                  <a:pt x="193072" y="184271"/>
                  <a:pt x="184431" y="192911"/>
                  <a:pt x="173781" y="192911"/>
                </a:cubicBezTo>
                <a:lnTo>
                  <a:pt x="32313" y="192911"/>
                </a:lnTo>
                <a:cubicBezTo>
                  <a:pt x="21662" y="192911"/>
                  <a:pt x="13022" y="184271"/>
                  <a:pt x="13022" y="173620"/>
                </a:cubicBezTo>
                <a:lnTo>
                  <a:pt x="13022" y="112853"/>
                </a:lnTo>
                <a:cubicBezTo>
                  <a:pt x="18045" y="114702"/>
                  <a:pt x="23511" y="115747"/>
                  <a:pt x="29298" y="115747"/>
                </a:cubicBezTo>
                <a:cubicBezTo>
                  <a:pt x="32554" y="115747"/>
                  <a:pt x="35689" y="115425"/>
                  <a:pt x="38743" y="114782"/>
                </a:cubicBezTo>
                <a:lnTo>
                  <a:pt x="38743" y="141468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18" name="Text 16"/>
          <p:cNvSpPr/>
          <p:nvPr/>
        </p:nvSpPr>
        <p:spPr>
          <a:xfrm>
            <a:off x="874532" y="4012557"/>
            <a:ext cx="1457553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店务管理核心职责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4430" y="4355511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开闭店检查: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每日进行开、闭店检查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4430" y="4629873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工程维护: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每日进行工程清洁维护,发现问题及时制定维修反馈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4430" y="4904236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店铺巡场: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每日当班负责人进行店铺巡场(清洁、工程、商品、陈列、后仓、人员、安全)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430" y="5178599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内外部沟通: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内部(员工、公司),外部(百货、工商质检、消防等)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4430" y="5452962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办公用品: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每月进行一次店铺办公用品采购及申领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4430" y="5727325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 客诉处理: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及时对店铺突发状况及客诉进行处理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4430" y="6001688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 店铺日志: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日报每日一次,周报每周一、周二填写,月报每月1-5号填写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4430" y="6276051"/>
            <a:ext cx="652469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8. 交接班会:</a:t>
            </a: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每日店铺交接班会(会前准备→集合开会→数据分析→目标设定→事项分享→总结→鼓舞士气)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6299" y="1166042"/>
            <a:ext cx="4535561" cy="1714768"/>
          </a:xfrm>
          <a:custGeom>
            <a:avLst/>
            <a:gdLst/>
            <a:ahLst/>
            <a:cxnLst/>
            <a:rect l="l" t="t" r="r" b="b"/>
            <a:pathLst>
              <a:path w="4535561" h="1714768">
                <a:moveTo>
                  <a:pt x="102886" y="0"/>
                </a:moveTo>
                <a:lnTo>
                  <a:pt x="4432675" y="0"/>
                </a:lnTo>
                <a:cubicBezTo>
                  <a:pt x="4489498" y="0"/>
                  <a:pt x="4535561" y="46064"/>
                  <a:pt x="4535561" y="102886"/>
                </a:cubicBezTo>
                <a:lnTo>
                  <a:pt x="4535561" y="1611882"/>
                </a:lnTo>
                <a:cubicBezTo>
                  <a:pt x="4535561" y="1668704"/>
                  <a:pt x="4489498" y="1714768"/>
                  <a:pt x="4432675" y="1714768"/>
                </a:cubicBezTo>
                <a:lnTo>
                  <a:pt x="102886" y="1714768"/>
                </a:lnTo>
                <a:cubicBezTo>
                  <a:pt x="46102" y="1714768"/>
                  <a:pt x="0" y="1668666"/>
                  <a:pt x="0" y="1611882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8" name="Shape 26"/>
          <p:cNvSpPr/>
          <p:nvPr/>
        </p:nvSpPr>
        <p:spPr>
          <a:xfrm>
            <a:off x="7489919" y="1380388"/>
            <a:ext cx="192911" cy="154329"/>
          </a:xfrm>
          <a:custGeom>
            <a:avLst/>
            <a:gdLst/>
            <a:ahLst/>
            <a:cxnLst/>
            <a:rect l="l" t="t" r="r" b="b"/>
            <a:pathLst>
              <a:path w="192911" h="154329">
                <a:moveTo>
                  <a:pt x="38582" y="28937"/>
                </a:moveTo>
                <a:cubicBezTo>
                  <a:pt x="38582" y="18296"/>
                  <a:pt x="47233" y="9646"/>
                  <a:pt x="57873" y="9646"/>
                </a:cubicBezTo>
                <a:lnTo>
                  <a:pt x="163975" y="9646"/>
                </a:lnTo>
                <a:cubicBezTo>
                  <a:pt x="174615" y="9646"/>
                  <a:pt x="183266" y="18296"/>
                  <a:pt x="183266" y="28937"/>
                </a:cubicBezTo>
                <a:lnTo>
                  <a:pt x="183266" y="101278"/>
                </a:lnTo>
                <a:lnTo>
                  <a:pt x="154329" y="101278"/>
                </a:lnTo>
                <a:lnTo>
                  <a:pt x="154329" y="96456"/>
                </a:lnTo>
                <a:cubicBezTo>
                  <a:pt x="154329" y="91120"/>
                  <a:pt x="150019" y="86810"/>
                  <a:pt x="144684" y="86810"/>
                </a:cubicBezTo>
                <a:lnTo>
                  <a:pt x="125392" y="86810"/>
                </a:lnTo>
                <a:cubicBezTo>
                  <a:pt x="120057" y="86810"/>
                  <a:pt x="115747" y="91120"/>
                  <a:pt x="115747" y="96456"/>
                </a:cubicBezTo>
                <a:lnTo>
                  <a:pt x="115747" y="101278"/>
                </a:lnTo>
                <a:lnTo>
                  <a:pt x="76833" y="101278"/>
                </a:lnTo>
                <a:cubicBezTo>
                  <a:pt x="80119" y="95612"/>
                  <a:pt x="81987" y="89011"/>
                  <a:pt x="81987" y="81987"/>
                </a:cubicBezTo>
                <a:cubicBezTo>
                  <a:pt x="81987" y="60677"/>
                  <a:pt x="64716" y="43405"/>
                  <a:pt x="43405" y="43405"/>
                </a:cubicBezTo>
                <a:cubicBezTo>
                  <a:pt x="41777" y="43405"/>
                  <a:pt x="40150" y="43495"/>
                  <a:pt x="38582" y="43706"/>
                </a:cubicBezTo>
                <a:lnTo>
                  <a:pt x="38582" y="28937"/>
                </a:lnTo>
                <a:close/>
                <a:moveTo>
                  <a:pt x="100374" y="135038"/>
                </a:moveTo>
                <a:cubicBezTo>
                  <a:pt x="98837" y="127744"/>
                  <a:pt x="95461" y="121142"/>
                  <a:pt x="90698" y="115747"/>
                </a:cubicBezTo>
                <a:lnTo>
                  <a:pt x="183266" y="115747"/>
                </a:lnTo>
                <a:cubicBezTo>
                  <a:pt x="183266" y="126387"/>
                  <a:pt x="174615" y="135038"/>
                  <a:pt x="163975" y="135038"/>
                </a:cubicBezTo>
                <a:lnTo>
                  <a:pt x="100374" y="135038"/>
                </a:lnTo>
                <a:close/>
                <a:moveTo>
                  <a:pt x="19291" y="81987"/>
                </a:moveTo>
                <a:cubicBezTo>
                  <a:pt x="19291" y="68679"/>
                  <a:pt x="30096" y="57873"/>
                  <a:pt x="43405" y="57873"/>
                </a:cubicBezTo>
                <a:cubicBezTo>
                  <a:pt x="56714" y="57873"/>
                  <a:pt x="67519" y="68679"/>
                  <a:pt x="67519" y="81987"/>
                </a:cubicBezTo>
                <a:cubicBezTo>
                  <a:pt x="67519" y="95296"/>
                  <a:pt x="56714" y="106101"/>
                  <a:pt x="43405" y="106101"/>
                </a:cubicBezTo>
                <a:cubicBezTo>
                  <a:pt x="30096" y="106101"/>
                  <a:pt x="19291" y="95296"/>
                  <a:pt x="19291" y="81987"/>
                </a:cubicBezTo>
                <a:close/>
                <a:moveTo>
                  <a:pt x="0" y="144684"/>
                </a:moveTo>
                <a:cubicBezTo>
                  <a:pt x="0" y="128708"/>
                  <a:pt x="12961" y="115747"/>
                  <a:pt x="28937" y="115747"/>
                </a:cubicBezTo>
                <a:lnTo>
                  <a:pt x="57873" y="115747"/>
                </a:lnTo>
                <a:cubicBezTo>
                  <a:pt x="73849" y="115747"/>
                  <a:pt x="86810" y="128708"/>
                  <a:pt x="86810" y="144684"/>
                </a:cubicBezTo>
                <a:cubicBezTo>
                  <a:pt x="86810" y="150019"/>
                  <a:pt x="82500" y="154329"/>
                  <a:pt x="77165" y="154329"/>
                </a:cubicBezTo>
                <a:lnTo>
                  <a:pt x="9646" y="154329"/>
                </a:lnTo>
                <a:cubicBezTo>
                  <a:pt x="4310" y="154329"/>
                  <a:pt x="0" y="150019"/>
                  <a:pt x="0" y="14468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9" name="Text 27"/>
          <p:cNvSpPr/>
          <p:nvPr/>
        </p:nvSpPr>
        <p:spPr>
          <a:xfrm>
            <a:off x="7684974" y="1337519"/>
            <a:ext cx="4072574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04923" y="1714768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Text 29"/>
          <p:cNvSpPr/>
          <p:nvPr/>
        </p:nvSpPr>
        <p:spPr>
          <a:xfrm>
            <a:off x="7727843" y="1680473"/>
            <a:ext cx="130322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强调商品是销售基础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04923" y="1989131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27843" y="1954835"/>
            <a:ext cx="130322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演示盘点与调拨流程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04923" y="2263494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27843" y="2229198"/>
            <a:ext cx="116604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讲解巡场检查要点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04923" y="2537857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27843" y="2503561"/>
            <a:ext cx="116604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说明客诉处理流程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16299" y="3017992"/>
            <a:ext cx="4535561" cy="1714768"/>
          </a:xfrm>
          <a:custGeom>
            <a:avLst/>
            <a:gdLst/>
            <a:ahLst/>
            <a:cxnLst/>
            <a:rect l="l" t="t" r="r" b="b"/>
            <a:pathLst>
              <a:path w="4535561" h="1714768">
                <a:moveTo>
                  <a:pt x="102886" y="0"/>
                </a:moveTo>
                <a:lnTo>
                  <a:pt x="4432675" y="0"/>
                </a:lnTo>
                <a:cubicBezTo>
                  <a:pt x="4489498" y="0"/>
                  <a:pt x="4535561" y="46064"/>
                  <a:pt x="4535561" y="102886"/>
                </a:cubicBezTo>
                <a:lnTo>
                  <a:pt x="4535561" y="1611882"/>
                </a:lnTo>
                <a:cubicBezTo>
                  <a:pt x="4535561" y="1668704"/>
                  <a:pt x="4489498" y="1714768"/>
                  <a:pt x="4432675" y="1714768"/>
                </a:cubicBezTo>
                <a:lnTo>
                  <a:pt x="102886" y="1714768"/>
                </a:lnTo>
                <a:cubicBezTo>
                  <a:pt x="46102" y="1714768"/>
                  <a:pt x="0" y="1668666"/>
                  <a:pt x="0" y="1611882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1443" dist="342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18855" y="3232338"/>
            <a:ext cx="135038" cy="154329"/>
          </a:xfrm>
          <a:custGeom>
            <a:avLst/>
            <a:gdLst/>
            <a:ahLst/>
            <a:cxnLst/>
            <a:rect l="l" t="t" r="r" b="b"/>
            <a:pathLst>
              <a:path w="135038" h="154329">
                <a:moveTo>
                  <a:pt x="72734" y="-3919"/>
                </a:moveTo>
                <a:cubicBezTo>
                  <a:pt x="69297" y="-4612"/>
                  <a:pt x="65771" y="-4612"/>
                  <a:pt x="62334" y="-3919"/>
                </a:cubicBezTo>
                <a:lnTo>
                  <a:pt x="5817" y="7385"/>
                </a:lnTo>
                <a:cubicBezTo>
                  <a:pt x="2442" y="8048"/>
                  <a:pt x="0" y="11032"/>
                  <a:pt x="0" y="14468"/>
                </a:cubicBezTo>
                <a:cubicBezTo>
                  <a:pt x="0" y="17573"/>
                  <a:pt x="1959" y="20286"/>
                  <a:pt x="4823" y="21281"/>
                </a:cubicBezTo>
                <a:lnTo>
                  <a:pt x="4823" y="43405"/>
                </a:lnTo>
                <a:lnTo>
                  <a:pt x="90" y="67097"/>
                </a:lnTo>
                <a:cubicBezTo>
                  <a:pt x="30" y="67368"/>
                  <a:pt x="0" y="67670"/>
                  <a:pt x="0" y="67971"/>
                </a:cubicBezTo>
                <a:cubicBezTo>
                  <a:pt x="0" y="70383"/>
                  <a:pt x="1959" y="72372"/>
                  <a:pt x="4401" y="72372"/>
                </a:cubicBezTo>
                <a:lnTo>
                  <a:pt x="14920" y="72372"/>
                </a:lnTo>
                <a:cubicBezTo>
                  <a:pt x="17332" y="72372"/>
                  <a:pt x="19321" y="70413"/>
                  <a:pt x="19321" y="67971"/>
                </a:cubicBezTo>
                <a:cubicBezTo>
                  <a:pt x="19321" y="67670"/>
                  <a:pt x="19291" y="67398"/>
                  <a:pt x="19231" y="67097"/>
                </a:cubicBezTo>
                <a:lnTo>
                  <a:pt x="14468" y="43405"/>
                </a:lnTo>
                <a:lnTo>
                  <a:pt x="14468" y="23300"/>
                </a:lnTo>
                <a:lnTo>
                  <a:pt x="28937" y="26194"/>
                </a:lnTo>
                <a:lnTo>
                  <a:pt x="28937" y="43405"/>
                </a:lnTo>
                <a:cubicBezTo>
                  <a:pt x="28937" y="64716"/>
                  <a:pt x="46208" y="81987"/>
                  <a:pt x="67519" y="81987"/>
                </a:cubicBezTo>
                <a:cubicBezTo>
                  <a:pt x="88830" y="81987"/>
                  <a:pt x="106101" y="64716"/>
                  <a:pt x="106101" y="43405"/>
                </a:cubicBezTo>
                <a:lnTo>
                  <a:pt x="106101" y="26194"/>
                </a:lnTo>
                <a:lnTo>
                  <a:pt x="129220" y="21582"/>
                </a:lnTo>
                <a:cubicBezTo>
                  <a:pt x="132596" y="20889"/>
                  <a:pt x="135038" y="17905"/>
                  <a:pt x="135038" y="14468"/>
                </a:cubicBezTo>
                <a:cubicBezTo>
                  <a:pt x="135038" y="11032"/>
                  <a:pt x="132596" y="8048"/>
                  <a:pt x="129220" y="7385"/>
                </a:cubicBezTo>
                <a:lnTo>
                  <a:pt x="72734" y="-3919"/>
                </a:lnTo>
                <a:close/>
                <a:moveTo>
                  <a:pt x="67519" y="67519"/>
                </a:moveTo>
                <a:cubicBezTo>
                  <a:pt x="54196" y="67519"/>
                  <a:pt x="43405" y="56728"/>
                  <a:pt x="43405" y="43405"/>
                </a:cubicBezTo>
                <a:lnTo>
                  <a:pt x="91633" y="43405"/>
                </a:lnTo>
                <a:cubicBezTo>
                  <a:pt x="91633" y="56728"/>
                  <a:pt x="80842" y="67519"/>
                  <a:pt x="67519" y="67519"/>
                </a:cubicBezTo>
                <a:close/>
                <a:moveTo>
                  <a:pt x="36201" y="96486"/>
                </a:moveTo>
                <a:cubicBezTo>
                  <a:pt x="17694" y="104986"/>
                  <a:pt x="4823" y="123674"/>
                  <a:pt x="4823" y="145377"/>
                </a:cubicBezTo>
                <a:cubicBezTo>
                  <a:pt x="4823" y="150320"/>
                  <a:pt x="8832" y="154329"/>
                  <a:pt x="13775" y="154329"/>
                </a:cubicBezTo>
                <a:lnTo>
                  <a:pt x="60285" y="154329"/>
                </a:lnTo>
                <a:lnTo>
                  <a:pt x="60285" y="110321"/>
                </a:lnTo>
                <a:lnTo>
                  <a:pt x="42983" y="97360"/>
                </a:lnTo>
                <a:cubicBezTo>
                  <a:pt x="41024" y="95883"/>
                  <a:pt x="38401" y="95491"/>
                  <a:pt x="36171" y="96516"/>
                </a:cubicBezTo>
                <a:close/>
                <a:moveTo>
                  <a:pt x="74753" y="154329"/>
                </a:moveTo>
                <a:lnTo>
                  <a:pt x="121263" y="154329"/>
                </a:lnTo>
                <a:cubicBezTo>
                  <a:pt x="126206" y="154329"/>
                  <a:pt x="130215" y="150320"/>
                  <a:pt x="130215" y="145377"/>
                </a:cubicBezTo>
                <a:cubicBezTo>
                  <a:pt x="130215" y="123674"/>
                  <a:pt x="117344" y="104986"/>
                  <a:pt x="98837" y="96516"/>
                </a:cubicBezTo>
                <a:cubicBezTo>
                  <a:pt x="96606" y="95491"/>
                  <a:pt x="93984" y="95883"/>
                  <a:pt x="92025" y="97360"/>
                </a:cubicBezTo>
                <a:lnTo>
                  <a:pt x="74723" y="110321"/>
                </a:lnTo>
                <a:lnTo>
                  <a:pt x="74723" y="154329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7684974" y="3189468"/>
            <a:ext cx="4072574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87775" y="3532422"/>
            <a:ext cx="18862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80151" y="3532422"/>
            <a:ext cx="116604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掌握商品管理流程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87775" y="3806785"/>
            <a:ext cx="18862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80151" y="3806785"/>
            <a:ext cx="116604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学会盘点操作方法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87775" y="4081148"/>
            <a:ext cx="18862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80151" y="4081148"/>
            <a:ext cx="116604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理解店务管理要点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87775" y="4355511"/>
            <a:ext cx="188624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80151" y="4355511"/>
            <a:ext cx="1166042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掌握巡场检查标准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16299" y="4869941"/>
            <a:ext cx="4535561" cy="788793"/>
          </a:xfrm>
          <a:custGeom>
            <a:avLst/>
            <a:gdLst/>
            <a:ahLst/>
            <a:cxnLst/>
            <a:rect l="l" t="t" r="r" b="b"/>
            <a:pathLst>
              <a:path w="4535561" h="788793">
                <a:moveTo>
                  <a:pt x="102882" y="0"/>
                </a:moveTo>
                <a:lnTo>
                  <a:pt x="4432679" y="0"/>
                </a:lnTo>
                <a:cubicBezTo>
                  <a:pt x="4489499" y="0"/>
                  <a:pt x="4535561" y="46062"/>
                  <a:pt x="4535561" y="102882"/>
                </a:cubicBezTo>
                <a:lnTo>
                  <a:pt x="4535561" y="685911"/>
                </a:lnTo>
                <a:cubicBezTo>
                  <a:pt x="4535561" y="742731"/>
                  <a:pt x="4489499" y="788793"/>
                  <a:pt x="4432679" y="788793"/>
                </a:cubicBezTo>
                <a:lnTo>
                  <a:pt x="102882" y="788793"/>
                </a:lnTo>
                <a:cubicBezTo>
                  <a:pt x="46062" y="788793"/>
                  <a:pt x="0" y="742731"/>
                  <a:pt x="0" y="685911"/>
                </a:cubicBezTo>
                <a:lnTo>
                  <a:pt x="0" y="102882"/>
                </a:lnTo>
                <a:cubicBezTo>
                  <a:pt x="0" y="46100"/>
                  <a:pt x="46100" y="0"/>
                  <a:pt x="102882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0" name="Shape 48"/>
          <p:cNvSpPr/>
          <p:nvPr/>
        </p:nvSpPr>
        <p:spPr>
          <a:xfrm>
            <a:off x="7494206" y="5049992"/>
            <a:ext cx="115747" cy="154329"/>
          </a:xfrm>
          <a:custGeom>
            <a:avLst/>
            <a:gdLst/>
            <a:ahLst/>
            <a:cxnLst/>
            <a:rect l="l" t="t" r="r" b="b"/>
            <a:pathLst>
              <a:path w="115747" h="154329">
                <a:moveTo>
                  <a:pt x="93863" y="9646"/>
                </a:moveTo>
                <a:lnTo>
                  <a:pt x="96456" y="9646"/>
                </a:lnTo>
                <a:cubicBezTo>
                  <a:pt x="107096" y="9646"/>
                  <a:pt x="115747" y="18296"/>
                  <a:pt x="115747" y="28937"/>
                </a:cubicBezTo>
                <a:lnTo>
                  <a:pt x="115747" y="135038"/>
                </a:lnTo>
                <a:cubicBezTo>
                  <a:pt x="115747" y="145678"/>
                  <a:pt x="107096" y="154329"/>
                  <a:pt x="96456" y="154329"/>
                </a:cubicBezTo>
                <a:lnTo>
                  <a:pt x="19291" y="154329"/>
                </a:lnTo>
                <a:cubicBezTo>
                  <a:pt x="8651" y="154329"/>
                  <a:pt x="0" y="145678"/>
                  <a:pt x="0" y="135038"/>
                </a:cubicBezTo>
                <a:lnTo>
                  <a:pt x="0" y="28937"/>
                </a:lnTo>
                <a:cubicBezTo>
                  <a:pt x="0" y="18296"/>
                  <a:pt x="8651" y="9646"/>
                  <a:pt x="19291" y="9646"/>
                </a:cubicBezTo>
                <a:lnTo>
                  <a:pt x="21883" y="9646"/>
                </a:lnTo>
                <a:cubicBezTo>
                  <a:pt x="25199" y="3888"/>
                  <a:pt x="31439" y="0"/>
                  <a:pt x="38582" y="0"/>
                </a:cubicBezTo>
                <a:lnTo>
                  <a:pt x="77165" y="0"/>
                </a:lnTo>
                <a:cubicBezTo>
                  <a:pt x="84308" y="0"/>
                  <a:pt x="90548" y="3888"/>
                  <a:pt x="93863" y="9646"/>
                </a:cubicBezTo>
                <a:close/>
                <a:moveTo>
                  <a:pt x="74753" y="33759"/>
                </a:moveTo>
                <a:cubicBezTo>
                  <a:pt x="78762" y="33759"/>
                  <a:pt x="81987" y="30534"/>
                  <a:pt x="81987" y="26525"/>
                </a:cubicBezTo>
                <a:cubicBezTo>
                  <a:pt x="81987" y="22516"/>
                  <a:pt x="78762" y="19291"/>
                  <a:pt x="74753" y="19291"/>
                </a:cubicBezTo>
                <a:lnTo>
                  <a:pt x="40994" y="19291"/>
                </a:lnTo>
                <a:cubicBezTo>
                  <a:pt x="36985" y="19291"/>
                  <a:pt x="33759" y="22516"/>
                  <a:pt x="33759" y="26525"/>
                </a:cubicBezTo>
                <a:cubicBezTo>
                  <a:pt x="33759" y="30534"/>
                  <a:pt x="36985" y="33759"/>
                  <a:pt x="40994" y="33759"/>
                </a:cubicBezTo>
                <a:lnTo>
                  <a:pt x="74753" y="33759"/>
                </a:lnTo>
                <a:close/>
                <a:moveTo>
                  <a:pt x="38582" y="77165"/>
                </a:moveTo>
                <a:cubicBezTo>
                  <a:pt x="38582" y="71841"/>
                  <a:pt x="34260" y="67519"/>
                  <a:pt x="28937" y="67519"/>
                </a:cubicBezTo>
                <a:cubicBezTo>
                  <a:pt x="23613" y="67519"/>
                  <a:pt x="19291" y="71841"/>
                  <a:pt x="19291" y="77165"/>
                </a:cubicBezTo>
                <a:cubicBezTo>
                  <a:pt x="19291" y="82488"/>
                  <a:pt x="23613" y="86810"/>
                  <a:pt x="28937" y="86810"/>
                </a:cubicBezTo>
                <a:cubicBezTo>
                  <a:pt x="34260" y="86810"/>
                  <a:pt x="38582" y="82488"/>
                  <a:pt x="38582" y="77165"/>
                </a:cubicBezTo>
                <a:close/>
                <a:moveTo>
                  <a:pt x="48228" y="77165"/>
                </a:moveTo>
                <a:cubicBezTo>
                  <a:pt x="48228" y="81173"/>
                  <a:pt x="51453" y="84399"/>
                  <a:pt x="55462" y="84399"/>
                </a:cubicBezTo>
                <a:lnTo>
                  <a:pt x="89222" y="84399"/>
                </a:lnTo>
                <a:cubicBezTo>
                  <a:pt x="93230" y="84399"/>
                  <a:pt x="96456" y="81173"/>
                  <a:pt x="96456" y="77165"/>
                </a:cubicBezTo>
                <a:cubicBezTo>
                  <a:pt x="96456" y="73156"/>
                  <a:pt x="93230" y="69930"/>
                  <a:pt x="89222" y="69930"/>
                </a:cubicBezTo>
                <a:lnTo>
                  <a:pt x="55462" y="69930"/>
                </a:lnTo>
                <a:cubicBezTo>
                  <a:pt x="51453" y="69930"/>
                  <a:pt x="48228" y="73156"/>
                  <a:pt x="48228" y="77165"/>
                </a:cubicBezTo>
                <a:close/>
                <a:moveTo>
                  <a:pt x="48228" y="115747"/>
                </a:moveTo>
                <a:cubicBezTo>
                  <a:pt x="48228" y="119756"/>
                  <a:pt x="51453" y="122981"/>
                  <a:pt x="55462" y="122981"/>
                </a:cubicBezTo>
                <a:lnTo>
                  <a:pt x="89222" y="122981"/>
                </a:lnTo>
                <a:cubicBezTo>
                  <a:pt x="93230" y="122981"/>
                  <a:pt x="96456" y="119756"/>
                  <a:pt x="96456" y="115747"/>
                </a:cubicBezTo>
                <a:cubicBezTo>
                  <a:pt x="96456" y="111738"/>
                  <a:pt x="93230" y="108513"/>
                  <a:pt x="89222" y="108513"/>
                </a:cubicBezTo>
                <a:lnTo>
                  <a:pt x="55462" y="108513"/>
                </a:lnTo>
                <a:cubicBezTo>
                  <a:pt x="51453" y="108513"/>
                  <a:pt x="48228" y="111738"/>
                  <a:pt x="48228" y="115747"/>
                </a:cubicBezTo>
                <a:close/>
                <a:moveTo>
                  <a:pt x="28937" y="125392"/>
                </a:moveTo>
                <a:cubicBezTo>
                  <a:pt x="34260" y="125392"/>
                  <a:pt x="38582" y="121070"/>
                  <a:pt x="38582" y="115747"/>
                </a:cubicBezTo>
                <a:cubicBezTo>
                  <a:pt x="38582" y="110423"/>
                  <a:pt x="34260" y="106101"/>
                  <a:pt x="28937" y="106101"/>
                </a:cubicBezTo>
                <a:cubicBezTo>
                  <a:pt x="23613" y="106101"/>
                  <a:pt x="19291" y="110423"/>
                  <a:pt x="19291" y="115747"/>
                </a:cubicBezTo>
                <a:cubicBezTo>
                  <a:pt x="19291" y="121070"/>
                  <a:pt x="23613" y="125392"/>
                  <a:pt x="28937" y="125392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1" name="Text 49"/>
          <p:cNvSpPr/>
          <p:nvPr/>
        </p:nvSpPr>
        <p:spPr>
          <a:xfrm>
            <a:off x="7650678" y="5007122"/>
            <a:ext cx="4141165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53480" y="5315781"/>
            <a:ext cx="4329789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实操演练:商品盘点+巡场检查(15分)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DAILY WORKFLOW - MORNING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日工作流程 - 开店到营业中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95400"/>
            <a:ext cx="7848600" cy="1066800"/>
          </a:xfrm>
          <a:custGeom>
            <a:avLst/>
            <a:gdLst/>
            <a:ahLst/>
            <a:cxnLst/>
            <a:rect l="l" t="t" r="r" b="b"/>
            <a:pathLst>
              <a:path w="7848600" h="1066800">
                <a:moveTo>
                  <a:pt x="38100" y="0"/>
                </a:moveTo>
                <a:lnTo>
                  <a:pt x="7734303" y="0"/>
                </a:lnTo>
                <a:cubicBezTo>
                  <a:pt x="7797428" y="0"/>
                  <a:pt x="7848600" y="51172"/>
                  <a:pt x="7848600" y="114297"/>
                </a:cubicBezTo>
                <a:lnTo>
                  <a:pt x="7848600" y="952503"/>
                </a:lnTo>
                <a:cubicBezTo>
                  <a:pt x="7848600" y="1015628"/>
                  <a:pt x="7797428" y="1066800"/>
                  <a:pt x="773430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954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Shape 6"/>
          <p:cNvSpPr/>
          <p:nvPr/>
        </p:nvSpPr>
        <p:spPr>
          <a:xfrm>
            <a:off x="57150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9" name="Text 7"/>
          <p:cNvSpPr/>
          <p:nvPr/>
        </p:nvSpPr>
        <p:spPr>
          <a:xfrm>
            <a:off x="533400" y="14859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1447800"/>
            <a:ext cx="1533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开店准备(2-5分钟)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1714500"/>
            <a:ext cx="1514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早班员工执行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1981200"/>
            <a:ext cx="7600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开启设备(照明、空调、收银系统、音响)→形象整理(更换工服、佩戴工牌)→参加商场早会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476500"/>
            <a:ext cx="7848600" cy="1066800"/>
          </a:xfrm>
          <a:custGeom>
            <a:avLst/>
            <a:gdLst/>
            <a:ahLst/>
            <a:cxnLst/>
            <a:rect l="l" t="t" r="r" b="b"/>
            <a:pathLst>
              <a:path w="7848600" h="1066800">
                <a:moveTo>
                  <a:pt x="38100" y="0"/>
                </a:moveTo>
                <a:lnTo>
                  <a:pt x="7734303" y="0"/>
                </a:lnTo>
                <a:cubicBezTo>
                  <a:pt x="7797428" y="0"/>
                  <a:pt x="7848600" y="51172"/>
                  <a:pt x="7848600" y="114297"/>
                </a:cubicBezTo>
                <a:lnTo>
                  <a:pt x="7848600" y="952503"/>
                </a:lnTo>
                <a:cubicBezTo>
                  <a:pt x="7848600" y="1015628"/>
                  <a:pt x="7797428" y="1066800"/>
                  <a:pt x="773430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0050" y="24765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Shape 13"/>
          <p:cNvSpPr/>
          <p:nvPr/>
        </p:nvSpPr>
        <p:spPr>
          <a:xfrm>
            <a:off x="57150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6" name="Text 14"/>
          <p:cNvSpPr/>
          <p:nvPr/>
        </p:nvSpPr>
        <p:spPr>
          <a:xfrm>
            <a:off x="533400" y="26670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2628900"/>
            <a:ext cx="2600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卫生清洁与陈列维护(20-30分钟)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2895600"/>
            <a:ext cx="2581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早班负责人分配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162300"/>
            <a:ext cx="7600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卖场、仓库区域卫生清洁→陈列维护、出样→查场点数、核对库存→销售对账(核对昨日货款、清点备用金)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657600"/>
            <a:ext cx="7848600" cy="1295400"/>
          </a:xfrm>
          <a:custGeom>
            <a:avLst/>
            <a:gdLst/>
            <a:ahLst/>
            <a:cxnLst/>
            <a:rect l="l" t="t" r="r" b="b"/>
            <a:pathLst>
              <a:path w="7848600" h="1295400">
                <a:moveTo>
                  <a:pt x="38100" y="0"/>
                </a:moveTo>
                <a:lnTo>
                  <a:pt x="7734294" y="0"/>
                </a:lnTo>
                <a:cubicBezTo>
                  <a:pt x="7797423" y="0"/>
                  <a:pt x="7848600" y="51177"/>
                  <a:pt x="7848600" y="114306"/>
                </a:cubicBezTo>
                <a:lnTo>
                  <a:pt x="7848600" y="1181094"/>
                </a:lnTo>
                <a:cubicBezTo>
                  <a:pt x="7848600" y="1244223"/>
                  <a:pt x="7797423" y="1295400"/>
                  <a:pt x="773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050" y="3657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Shape 20"/>
          <p:cNvSpPr/>
          <p:nvPr/>
        </p:nvSpPr>
        <p:spPr>
          <a:xfrm>
            <a:off x="571500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3" name="Text 21"/>
          <p:cNvSpPr/>
          <p:nvPr/>
        </p:nvSpPr>
        <p:spPr>
          <a:xfrm>
            <a:off x="533400" y="38481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" y="3810000"/>
            <a:ext cx="135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开早班会(5分钟)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800" y="4076700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早班负责人主持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343400"/>
            <a:ext cx="7600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准备资料(销售金额、数量、总单数、AUV、ATV、UPT、公司资讯)→集合开会→数据分析→目标设定→事项分享→总结→鼓舞士气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5067300"/>
            <a:ext cx="7848600" cy="1295400"/>
          </a:xfrm>
          <a:custGeom>
            <a:avLst/>
            <a:gdLst/>
            <a:ahLst/>
            <a:cxnLst/>
            <a:rect l="l" t="t" r="r" b="b"/>
            <a:pathLst>
              <a:path w="7848600" h="1295400">
                <a:moveTo>
                  <a:pt x="38100" y="0"/>
                </a:moveTo>
                <a:lnTo>
                  <a:pt x="7734294" y="0"/>
                </a:lnTo>
                <a:cubicBezTo>
                  <a:pt x="7797423" y="0"/>
                  <a:pt x="7848600" y="51177"/>
                  <a:pt x="7848600" y="114306"/>
                </a:cubicBezTo>
                <a:lnTo>
                  <a:pt x="7848600" y="1181094"/>
                </a:lnTo>
                <a:cubicBezTo>
                  <a:pt x="7848600" y="1244223"/>
                  <a:pt x="7797423" y="1295400"/>
                  <a:pt x="773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0050" y="50673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9" name="Shape 27"/>
          <p:cNvSpPr/>
          <p:nvPr/>
        </p:nvSpPr>
        <p:spPr>
          <a:xfrm>
            <a:off x="571500" y="5257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0" name="Text 28"/>
          <p:cNvSpPr/>
          <p:nvPr/>
        </p:nvSpPr>
        <p:spPr>
          <a:xfrm>
            <a:off x="533400" y="52578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6800" y="5219700"/>
            <a:ext cx="1762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营业中管理(贯穿全天)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6800" y="5486400"/>
            <a:ext cx="1743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早班负责人执行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5753100"/>
            <a:ext cx="7600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服务顾客(销售服务流程8 PLUS)→人员管理(状态检查、服务规范、销售技巧、激励员工)→货品管理(补货、陈列维护)→销售跟进(时段表、案例分享、大单播报)→卖场控制(站位调度、突发事件、活跃氛围)→了解竞品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39150" y="1295400"/>
            <a:ext cx="3371850" cy="1485900"/>
          </a:xfrm>
          <a:custGeom>
            <a:avLst/>
            <a:gdLst/>
            <a:ahLst/>
            <a:cxnLst/>
            <a:rect l="l" t="t" r="r" b="b"/>
            <a:pathLst>
              <a:path w="3371850" h="1485900">
                <a:moveTo>
                  <a:pt x="114295" y="0"/>
                </a:moveTo>
                <a:lnTo>
                  <a:pt x="3257555" y="0"/>
                </a:lnTo>
                <a:cubicBezTo>
                  <a:pt x="3320636" y="0"/>
                  <a:pt x="3371850" y="51214"/>
                  <a:pt x="3371850" y="114295"/>
                </a:cubicBezTo>
                <a:lnTo>
                  <a:pt x="3371850" y="1371605"/>
                </a:lnTo>
                <a:cubicBezTo>
                  <a:pt x="3371850" y="1434686"/>
                  <a:pt x="3320636" y="1485900"/>
                  <a:pt x="3257555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5" name="Shape 33"/>
          <p:cNvSpPr/>
          <p:nvPr/>
        </p:nvSpPr>
        <p:spPr>
          <a:xfrm>
            <a:off x="8591550" y="1485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8782050" y="14478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10600" y="177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8834438" y="17526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按时间节点讲解流程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10600" y="2000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8834438" y="19812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强调每个环节重要性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10600" y="2228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2" name="Text 40"/>
          <p:cNvSpPr/>
          <p:nvPr/>
        </p:nvSpPr>
        <p:spPr>
          <a:xfrm>
            <a:off x="8834438" y="22098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演示早班会召开方法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10600" y="2457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Text 42"/>
          <p:cNvSpPr/>
          <p:nvPr/>
        </p:nvSpPr>
        <p:spPr>
          <a:xfrm>
            <a:off x="8834438" y="24384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说明营业中管理重点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39150" y="2895600"/>
            <a:ext cx="3371850" cy="1257300"/>
          </a:xfrm>
          <a:custGeom>
            <a:avLst/>
            <a:gdLst/>
            <a:ahLst/>
            <a:cxnLst/>
            <a:rect l="l" t="t" r="r" b="b"/>
            <a:pathLst>
              <a:path w="3371850" h="1257300">
                <a:moveTo>
                  <a:pt x="114301" y="0"/>
                </a:moveTo>
                <a:lnTo>
                  <a:pt x="3257549" y="0"/>
                </a:lnTo>
                <a:cubicBezTo>
                  <a:pt x="3320633" y="0"/>
                  <a:pt x="3371850" y="51217"/>
                  <a:pt x="3371850" y="114301"/>
                </a:cubicBezTo>
                <a:lnTo>
                  <a:pt x="3371850" y="1142999"/>
                </a:lnTo>
                <a:cubicBezTo>
                  <a:pt x="3371850" y="1206083"/>
                  <a:pt x="3320633" y="1257300"/>
                  <a:pt x="32575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620125" y="3086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7" name="Text 45"/>
          <p:cNvSpPr/>
          <p:nvPr/>
        </p:nvSpPr>
        <p:spPr>
          <a:xfrm>
            <a:off x="8782050" y="30480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91550" y="33528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88152" y="33528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熟记开店流程步骤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91550" y="35814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88152" y="35814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掌握早班会流程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91550" y="38100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88152" y="38100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理解营业中管理要点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9150" y="4267200"/>
            <a:ext cx="3371850" cy="800100"/>
          </a:xfrm>
          <a:custGeom>
            <a:avLst/>
            <a:gdLst/>
            <a:ahLst/>
            <a:cxnLst/>
            <a:rect l="l" t="t" r="r" b="b"/>
            <a:pathLst>
              <a:path w="3371850" h="800100">
                <a:moveTo>
                  <a:pt x="114302" y="0"/>
                </a:moveTo>
                <a:lnTo>
                  <a:pt x="3257548" y="0"/>
                </a:lnTo>
                <a:cubicBezTo>
                  <a:pt x="3320633" y="0"/>
                  <a:pt x="3371850" y="51217"/>
                  <a:pt x="3371850" y="114302"/>
                </a:cubicBezTo>
                <a:lnTo>
                  <a:pt x="3371850" y="685798"/>
                </a:lnTo>
                <a:cubicBezTo>
                  <a:pt x="3371850" y="748883"/>
                  <a:pt x="3320633" y="800100"/>
                  <a:pt x="32575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5" name="Shape 53"/>
          <p:cNvSpPr/>
          <p:nvPr/>
        </p:nvSpPr>
        <p:spPr>
          <a:xfrm>
            <a:off x="8629650" y="4457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6" name="Text 54"/>
          <p:cNvSpPr/>
          <p:nvPr/>
        </p:nvSpPr>
        <p:spPr>
          <a:xfrm>
            <a:off x="8782050" y="44196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91550" y="4724400"/>
            <a:ext cx="3133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流程演练:开店准备+早班会模拟(15分)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58200" y="5181600"/>
            <a:ext cx="3352800" cy="419100"/>
          </a:xfrm>
          <a:custGeom>
            <a:avLst/>
            <a:gdLst/>
            <a:ahLst/>
            <a:cxnLst/>
            <a:rect l="l" t="t" r="r" b="b"/>
            <a:pathLst>
              <a:path w="3352800" h="419100">
                <a:moveTo>
                  <a:pt x="38100" y="0"/>
                </a:moveTo>
                <a:lnTo>
                  <a:pt x="3238499" y="0"/>
                </a:lnTo>
                <a:cubicBezTo>
                  <a:pt x="3301583" y="0"/>
                  <a:pt x="3352800" y="51217"/>
                  <a:pt x="3352800" y="114301"/>
                </a:cubicBezTo>
                <a:lnTo>
                  <a:pt x="3352800" y="304799"/>
                </a:lnTo>
                <a:cubicBezTo>
                  <a:pt x="3352800" y="367883"/>
                  <a:pt x="3301583" y="419100"/>
                  <a:pt x="3238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458200" y="51816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0" name="Shape 58"/>
          <p:cNvSpPr/>
          <p:nvPr/>
        </p:nvSpPr>
        <p:spPr>
          <a:xfrm>
            <a:off x="8610600" y="5324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1" name="Text 59"/>
          <p:cNvSpPr/>
          <p:nvPr/>
        </p:nvSpPr>
        <p:spPr>
          <a:xfrm>
            <a:off x="8791575" y="52959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时间要求:</a:t>
            </a: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开店准备约30-40分钟完成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3819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DAILY WORKFLOW - HANDOVER &amp; CLOSING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日工作流程 - 交接班与闭店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95400"/>
            <a:ext cx="7848600" cy="1295400"/>
          </a:xfrm>
          <a:custGeom>
            <a:avLst/>
            <a:gdLst/>
            <a:ahLst/>
            <a:cxnLst/>
            <a:rect l="l" t="t" r="r" b="b"/>
            <a:pathLst>
              <a:path w="7848600" h="1295400">
                <a:moveTo>
                  <a:pt x="38100" y="0"/>
                </a:moveTo>
                <a:lnTo>
                  <a:pt x="7734294" y="0"/>
                </a:lnTo>
                <a:cubicBezTo>
                  <a:pt x="7797423" y="0"/>
                  <a:pt x="7848600" y="51177"/>
                  <a:pt x="7848600" y="114306"/>
                </a:cubicBezTo>
                <a:lnTo>
                  <a:pt x="7848600" y="1181094"/>
                </a:lnTo>
                <a:cubicBezTo>
                  <a:pt x="7848600" y="1244223"/>
                  <a:pt x="7797423" y="1295400"/>
                  <a:pt x="773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2954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Shape 6"/>
          <p:cNvSpPr/>
          <p:nvPr/>
        </p:nvSpPr>
        <p:spPr>
          <a:xfrm>
            <a:off x="571500" y="1485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9" name="Text 7"/>
          <p:cNvSpPr/>
          <p:nvPr/>
        </p:nvSpPr>
        <p:spPr>
          <a:xfrm>
            <a:off x="533400" y="14859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1447800"/>
            <a:ext cx="1981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晚班到岗准备(5-15分钟)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1714500"/>
            <a:ext cx="1962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晚班负责人/员工执行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1981200"/>
            <a:ext cx="7600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晚班形象整理→陈列维护→晚班会议准备(早班与晚班交接,目标制定和工作任务安排)→准备店铺晚会资料(金额、数量、总单数、AUV、ATV、UPT)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705100"/>
            <a:ext cx="7848600" cy="1295400"/>
          </a:xfrm>
          <a:custGeom>
            <a:avLst/>
            <a:gdLst/>
            <a:ahLst/>
            <a:cxnLst/>
            <a:rect l="l" t="t" r="r" b="b"/>
            <a:pathLst>
              <a:path w="7848600" h="1295400">
                <a:moveTo>
                  <a:pt x="38100" y="0"/>
                </a:moveTo>
                <a:lnTo>
                  <a:pt x="7734294" y="0"/>
                </a:lnTo>
                <a:cubicBezTo>
                  <a:pt x="7797423" y="0"/>
                  <a:pt x="7848600" y="51177"/>
                  <a:pt x="7848600" y="114306"/>
                </a:cubicBezTo>
                <a:lnTo>
                  <a:pt x="7848600" y="1181094"/>
                </a:lnTo>
                <a:cubicBezTo>
                  <a:pt x="7848600" y="1244223"/>
                  <a:pt x="7797423" y="1295400"/>
                  <a:pt x="773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0050" y="27051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Shape 13"/>
          <p:cNvSpPr/>
          <p:nvPr/>
        </p:nvSpPr>
        <p:spPr>
          <a:xfrm>
            <a:off x="571500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6" name="Text 14"/>
          <p:cNvSpPr/>
          <p:nvPr/>
        </p:nvSpPr>
        <p:spPr>
          <a:xfrm>
            <a:off x="533400" y="28956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2857500"/>
            <a:ext cx="1914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交接班流程(15-30分钟)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6800" y="3124200"/>
            <a:ext cx="1895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早班及晚班负责人共同执行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3390900"/>
            <a:ext cx="7600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销售票据交接(核对往来单据、到货单、退货单、营业款等)→店务工作交接→卖场整理(卫生、陈列出样、细节维护)→仓库整理(试穿样品归仓)→商品点数(分区域对卖场、仓库商品进行点数并确认核对)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4114800"/>
            <a:ext cx="7848600" cy="1295400"/>
          </a:xfrm>
          <a:custGeom>
            <a:avLst/>
            <a:gdLst/>
            <a:ahLst/>
            <a:cxnLst/>
            <a:rect l="l" t="t" r="r" b="b"/>
            <a:pathLst>
              <a:path w="7848600" h="1295400">
                <a:moveTo>
                  <a:pt x="38100" y="0"/>
                </a:moveTo>
                <a:lnTo>
                  <a:pt x="7734294" y="0"/>
                </a:lnTo>
                <a:cubicBezTo>
                  <a:pt x="7797423" y="0"/>
                  <a:pt x="7848600" y="51177"/>
                  <a:pt x="7848600" y="114306"/>
                </a:cubicBezTo>
                <a:lnTo>
                  <a:pt x="7848600" y="1181094"/>
                </a:lnTo>
                <a:cubicBezTo>
                  <a:pt x="7848600" y="1244223"/>
                  <a:pt x="7797423" y="1295400"/>
                  <a:pt x="773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050" y="41148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Shape 20"/>
          <p:cNvSpPr/>
          <p:nvPr/>
        </p:nvSpPr>
        <p:spPr>
          <a:xfrm>
            <a:off x="571500" y="430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3" name="Text 21"/>
          <p:cNvSpPr/>
          <p:nvPr/>
        </p:nvSpPr>
        <p:spPr>
          <a:xfrm>
            <a:off x="533400" y="43053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00" y="4267200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早班收班会(15分钟)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66800" y="4533900"/>
            <a:ext cx="1609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早班负责人主持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800600"/>
            <a:ext cx="7600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分享今日目标完成情况→交流今日销售过程中的情况→总结今日工作中的问题→感谢员工今日的付出(激励)→交叉检查(当班负责人查包)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5524500"/>
            <a:ext cx="7848600" cy="1295400"/>
          </a:xfrm>
          <a:custGeom>
            <a:avLst/>
            <a:gdLst/>
            <a:ahLst/>
            <a:cxnLst/>
            <a:rect l="l" t="t" r="r" b="b"/>
            <a:pathLst>
              <a:path w="7848600" h="1295400">
                <a:moveTo>
                  <a:pt x="38100" y="0"/>
                </a:moveTo>
                <a:lnTo>
                  <a:pt x="7734294" y="0"/>
                </a:lnTo>
                <a:cubicBezTo>
                  <a:pt x="7797423" y="0"/>
                  <a:pt x="7848600" y="51177"/>
                  <a:pt x="7848600" y="114306"/>
                </a:cubicBezTo>
                <a:lnTo>
                  <a:pt x="7848600" y="1181094"/>
                </a:lnTo>
                <a:cubicBezTo>
                  <a:pt x="7848600" y="1244223"/>
                  <a:pt x="7797423" y="1295400"/>
                  <a:pt x="7734294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0050" y="55245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9" name="Shape 27"/>
          <p:cNvSpPr/>
          <p:nvPr/>
        </p:nvSpPr>
        <p:spPr>
          <a:xfrm>
            <a:off x="571500" y="571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0" name="Text 28"/>
          <p:cNvSpPr/>
          <p:nvPr/>
        </p:nvSpPr>
        <p:spPr>
          <a:xfrm>
            <a:off x="533400" y="5715000"/>
            <a:ext cx="457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66800" y="5676900"/>
            <a:ext cx="1743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闭店流程(15-30分钟)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6800" y="5943600"/>
            <a:ext cx="1724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A9A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晚班负责人/员工执行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1500" y="6210300"/>
            <a:ext cx="7600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日结/报数/数据同步(系统日结,销售统计发送微信群)→事务性工作登记(待处理事项汇报工作群)→卫生清洁→陈列维护→整理仓库(分区域点数)→晚班收班会→关闭设备(关音乐、关灯、锁门)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39150" y="1295400"/>
            <a:ext cx="3371850" cy="1485900"/>
          </a:xfrm>
          <a:custGeom>
            <a:avLst/>
            <a:gdLst/>
            <a:ahLst/>
            <a:cxnLst/>
            <a:rect l="l" t="t" r="r" b="b"/>
            <a:pathLst>
              <a:path w="3371850" h="1485900">
                <a:moveTo>
                  <a:pt x="114295" y="0"/>
                </a:moveTo>
                <a:lnTo>
                  <a:pt x="3257555" y="0"/>
                </a:lnTo>
                <a:cubicBezTo>
                  <a:pt x="3320636" y="0"/>
                  <a:pt x="3371850" y="51214"/>
                  <a:pt x="3371850" y="114295"/>
                </a:cubicBezTo>
                <a:lnTo>
                  <a:pt x="3371850" y="1371605"/>
                </a:lnTo>
                <a:cubicBezTo>
                  <a:pt x="3371850" y="1434686"/>
                  <a:pt x="3320636" y="1485900"/>
                  <a:pt x="3257555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5" name="Shape 33"/>
          <p:cNvSpPr/>
          <p:nvPr/>
        </p:nvSpPr>
        <p:spPr>
          <a:xfrm>
            <a:off x="8591550" y="1485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8782050" y="14478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10600" y="1771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8834438" y="17526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强调交接班重要性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10600" y="2000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8834438" y="19812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演示交接班标准流程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10600" y="2228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2" name="Text 40"/>
          <p:cNvSpPr/>
          <p:nvPr/>
        </p:nvSpPr>
        <p:spPr>
          <a:xfrm>
            <a:off x="8834438" y="22098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说明收班会召开方法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10600" y="24574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Text 42"/>
          <p:cNvSpPr/>
          <p:nvPr/>
        </p:nvSpPr>
        <p:spPr>
          <a:xfrm>
            <a:off x="8834438" y="24384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强调闭店检查要点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39150" y="2895600"/>
            <a:ext cx="3371850" cy="1257300"/>
          </a:xfrm>
          <a:custGeom>
            <a:avLst/>
            <a:gdLst/>
            <a:ahLst/>
            <a:cxnLst/>
            <a:rect l="l" t="t" r="r" b="b"/>
            <a:pathLst>
              <a:path w="3371850" h="1257300">
                <a:moveTo>
                  <a:pt x="114301" y="0"/>
                </a:moveTo>
                <a:lnTo>
                  <a:pt x="3257549" y="0"/>
                </a:lnTo>
                <a:cubicBezTo>
                  <a:pt x="3320633" y="0"/>
                  <a:pt x="3371850" y="51217"/>
                  <a:pt x="3371850" y="114301"/>
                </a:cubicBezTo>
                <a:lnTo>
                  <a:pt x="3371850" y="1142999"/>
                </a:lnTo>
                <a:cubicBezTo>
                  <a:pt x="3371850" y="1206083"/>
                  <a:pt x="3320633" y="1257300"/>
                  <a:pt x="32575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620125" y="3086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7" name="Text 45"/>
          <p:cNvSpPr/>
          <p:nvPr/>
        </p:nvSpPr>
        <p:spPr>
          <a:xfrm>
            <a:off x="8782050" y="30480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91550" y="33528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88152" y="33528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掌握交接班流程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91550" y="35814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88152" y="35814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学会收班会召开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91550" y="3810000"/>
            <a:ext cx="19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788152" y="3810000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理解闭店操作要点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9150" y="4267200"/>
            <a:ext cx="3371850" cy="800100"/>
          </a:xfrm>
          <a:custGeom>
            <a:avLst/>
            <a:gdLst/>
            <a:ahLst/>
            <a:cxnLst/>
            <a:rect l="l" t="t" r="r" b="b"/>
            <a:pathLst>
              <a:path w="3371850" h="800100">
                <a:moveTo>
                  <a:pt x="114302" y="0"/>
                </a:moveTo>
                <a:lnTo>
                  <a:pt x="3257548" y="0"/>
                </a:lnTo>
                <a:cubicBezTo>
                  <a:pt x="3320633" y="0"/>
                  <a:pt x="3371850" y="51217"/>
                  <a:pt x="3371850" y="114302"/>
                </a:cubicBezTo>
                <a:lnTo>
                  <a:pt x="3371850" y="685798"/>
                </a:lnTo>
                <a:cubicBezTo>
                  <a:pt x="3371850" y="748883"/>
                  <a:pt x="3320633" y="800100"/>
                  <a:pt x="32575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5" name="Shape 53"/>
          <p:cNvSpPr/>
          <p:nvPr/>
        </p:nvSpPr>
        <p:spPr>
          <a:xfrm>
            <a:off x="8629650" y="4457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6" name="Text 54"/>
          <p:cNvSpPr/>
          <p:nvPr/>
        </p:nvSpPr>
        <p:spPr>
          <a:xfrm>
            <a:off x="8782050" y="4419600"/>
            <a:ext cx="2952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91550" y="4724400"/>
            <a:ext cx="3133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流程演练:交接班+收班会模拟(15分)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58200" y="5181600"/>
            <a:ext cx="3352800" cy="419100"/>
          </a:xfrm>
          <a:custGeom>
            <a:avLst/>
            <a:gdLst/>
            <a:ahLst/>
            <a:cxnLst/>
            <a:rect l="l" t="t" r="r" b="b"/>
            <a:pathLst>
              <a:path w="3352800" h="419100">
                <a:moveTo>
                  <a:pt x="38100" y="0"/>
                </a:moveTo>
                <a:lnTo>
                  <a:pt x="3238499" y="0"/>
                </a:lnTo>
                <a:cubicBezTo>
                  <a:pt x="3301583" y="0"/>
                  <a:pt x="3352800" y="51217"/>
                  <a:pt x="3352800" y="114301"/>
                </a:cubicBezTo>
                <a:lnTo>
                  <a:pt x="3352800" y="304799"/>
                </a:lnTo>
                <a:cubicBezTo>
                  <a:pt x="3352800" y="367883"/>
                  <a:pt x="3301583" y="419100"/>
                  <a:pt x="3238499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458200" y="518160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0" name="Shape 58"/>
          <p:cNvSpPr/>
          <p:nvPr/>
        </p:nvSpPr>
        <p:spPr>
          <a:xfrm>
            <a:off x="8610600" y="5324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1" name="Text 59"/>
          <p:cNvSpPr/>
          <p:nvPr/>
        </p:nvSpPr>
        <p:spPr>
          <a:xfrm>
            <a:off x="8791575" y="52959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关键提醒:</a:t>
            </a: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交接不清、责任不明是店铺管理大忌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943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WEEKLY &amp; MONTHLY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周工作流程与月工作流程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819400"/>
          </a:xfrm>
          <a:custGeom>
            <a:avLst/>
            <a:gdLst/>
            <a:ahLst/>
            <a:cxnLst/>
            <a:rect l="l" t="t" r="r" b="b"/>
            <a:pathLst>
              <a:path w="6743700" h="2819400">
                <a:moveTo>
                  <a:pt x="114298" y="0"/>
                </a:moveTo>
                <a:lnTo>
                  <a:pt x="6629402" y="0"/>
                </a:lnTo>
                <a:cubicBezTo>
                  <a:pt x="6692527" y="0"/>
                  <a:pt x="6743700" y="51173"/>
                  <a:pt x="6743700" y="114298"/>
                </a:cubicBezTo>
                <a:lnTo>
                  <a:pt x="6743700" y="2705102"/>
                </a:lnTo>
                <a:cubicBezTo>
                  <a:pt x="6743700" y="2768227"/>
                  <a:pt x="6692527" y="2819400"/>
                  <a:pt x="6629402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63" y="1504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57150" y="114300"/>
                </a:moveTo>
                <a:cubicBezTo>
                  <a:pt x="49247" y="114300"/>
                  <a:pt x="42863" y="120685"/>
                  <a:pt x="42863" y="128588"/>
                </a:cubicBezTo>
                <a:lnTo>
                  <a:pt x="42863" y="157163"/>
                </a:lnTo>
                <a:cubicBezTo>
                  <a:pt x="42863" y="165065"/>
                  <a:pt x="49247" y="171450"/>
                  <a:pt x="57150" y="171450"/>
                </a:cubicBezTo>
                <a:lnTo>
                  <a:pt x="142875" y="171450"/>
                </a:lnTo>
                <a:cubicBezTo>
                  <a:pt x="150778" y="171450"/>
                  <a:pt x="157163" y="165065"/>
                  <a:pt x="157163" y="157163"/>
                </a:cubicBezTo>
                <a:lnTo>
                  <a:pt x="157163" y="128588"/>
                </a:lnTo>
                <a:cubicBezTo>
                  <a:pt x="157163" y="120685"/>
                  <a:pt x="150778" y="114300"/>
                  <a:pt x="142875" y="114300"/>
                </a:cubicBezTo>
                <a:lnTo>
                  <a:pt x="57150" y="11430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周工作流程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周一: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复盘上周数据及问题→制定本周计划→召开周会议→检验店铺卫生并拍照上传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周二: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根据货品、天气、节假日进行陈列规划及调整→组织爆款组合搭配及情景互练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周三: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销售跟踪(核查前3天进度)→专项辅导未达标员工→分析畅销款趋势→调整补货计划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周四: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客户反馈分析(汇总高频问题)→制定改进方案→组织异议处理场景互练和FABE演练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周五: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会员客情维系(分析数据、专项邀约)→陈列小调整→与员工深入交流沟通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390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周六日: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冲刺业绩→周日晚交一周总结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695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每天: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跟进本周工作计划(规定时间检查)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267200"/>
            <a:ext cx="6743700" cy="2324100"/>
          </a:xfrm>
          <a:custGeom>
            <a:avLst/>
            <a:gdLst/>
            <a:ahLst/>
            <a:cxnLst/>
            <a:rect l="l" t="t" r="r" b="b"/>
            <a:pathLst>
              <a:path w="6743700" h="2324100">
                <a:moveTo>
                  <a:pt x="114299" y="0"/>
                </a:moveTo>
                <a:lnTo>
                  <a:pt x="6629401" y="0"/>
                </a:lnTo>
                <a:cubicBezTo>
                  <a:pt x="6692526" y="0"/>
                  <a:pt x="6743700" y="51174"/>
                  <a:pt x="6743700" y="114299"/>
                </a:cubicBezTo>
                <a:lnTo>
                  <a:pt x="6743700" y="2209801"/>
                </a:lnTo>
                <a:cubicBezTo>
                  <a:pt x="6743700" y="2272926"/>
                  <a:pt x="6692526" y="2324100"/>
                  <a:pt x="6629401" y="2324100"/>
                </a:cubicBezTo>
                <a:lnTo>
                  <a:pt x="114299" y="2324100"/>
                </a:lnTo>
                <a:cubicBezTo>
                  <a:pt x="51174" y="2324100"/>
                  <a:pt x="0" y="2272926"/>
                  <a:pt x="0" y="220980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363" y="4476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8" name="Text 16"/>
          <p:cNvSpPr/>
          <p:nvPr/>
        </p:nvSpPr>
        <p:spPr>
          <a:xfrm>
            <a:off x="971550" y="4457700"/>
            <a:ext cx="2381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月工作流程(11项核心工作)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核实店铺盘存数据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29050" y="48387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审核月报表数据与实际库存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1054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分析同期对比销售升降原因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29050" y="51054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制定月销售目标并分解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53721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合理安排员工班次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29050" y="53721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关注员工销售达成率及排名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56388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实习员工及见习领班带教考核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29050" y="56388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根据实际情况进行培训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9055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领取店铺报表及办公用品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29050" y="59055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上交店铺表格及报销单据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" y="6172200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召开月总结会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1" name="Shape 29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Text 30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Text 32"/>
          <p:cNvSpPr/>
          <p:nvPr/>
        </p:nvSpPr>
        <p:spPr>
          <a:xfrm>
            <a:off x="7772400" y="1866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强调周月工作系统性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7772400" y="2171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说明每日工作重点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7772400" y="2476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讲解目标制定方法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建立计划管理意识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3" name="Text 41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19417" y="39243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熟记周工作流程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19417" y="4229100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掌握月工作11项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19417" y="45339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理解工作间关联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学会计划管理方法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3" name="Shape 51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4" name="Text 52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书面测试:周月工作流程默写(15分)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62857"/>
            <a:ext cx="707571" cy="290286"/>
          </a:xfrm>
          <a:custGeom>
            <a:avLst/>
            <a:gdLst/>
            <a:ahLst/>
            <a:cxnLst/>
            <a:rect l="l" t="t" r="r" b="b"/>
            <a:pathLst>
              <a:path w="707571" h="290286">
                <a:moveTo>
                  <a:pt x="145143" y="0"/>
                </a:moveTo>
                <a:lnTo>
                  <a:pt x="562429" y="0"/>
                </a:lnTo>
                <a:cubicBezTo>
                  <a:pt x="642589" y="0"/>
                  <a:pt x="707571" y="64983"/>
                  <a:pt x="707571" y="145143"/>
                </a:cubicBezTo>
                <a:lnTo>
                  <a:pt x="707571" y="145143"/>
                </a:lnTo>
                <a:cubicBezTo>
                  <a:pt x="707571" y="225303"/>
                  <a:pt x="642589" y="290286"/>
                  <a:pt x="562429" y="290286"/>
                </a:cubicBezTo>
                <a:lnTo>
                  <a:pt x="145143" y="290286"/>
                </a:lnTo>
                <a:cubicBezTo>
                  <a:pt x="65036" y="290286"/>
                  <a:pt x="0" y="225249"/>
                  <a:pt x="0" y="145143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62857" y="362857"/>
            <a:ext cx="780143" cy="290286"/>
          </a:xfrm>
          <a:prstGeom prst="rect">
            <a:avLst/>
          </a:prstGeom>
          <a:noFill/>
        </p:spPr>
        <p:txBody>
          <a:bodyPr wrap="square" lIns="145143" tIns="36286" rIns="145143" bIns="36286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6876" y="399143"/>
            <a:ext cx="13697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kern="0" spc="57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2857" y="725714"/>
            <a:ext cx="11629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销售管理 - 数据分析指标与诊断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2857" y="1233714"/>
            <a:ext cx="6767286" cy="3664857"/>
          </a:xfrm>
          <a:custGeom>
            <a:avLst/>
            <a:gdLst/>
            <a:ahLst/>
            <a:cxnLst/>
            <a:rect l="l" t="t" r="r" b="b"/>
            <a:pathLst>
              <a:path w="6767286" h="3664857">
                <a:moveTo>
                  <a:pt x="108846" y="0"/>
                </a:moveTo>
                <a:lnTo>
                  <a:pt x="6658439" y="0"/>
                </a:lnTo>
                <a:cubicBezTo>
                  <a:pt x="6718554" y="0"/>
                  <a:pt x="6767286" y="48732"/>
                  <a:pt x="6767286" y="108846"/>
                </a:cubicBezTo>
                <a:lnTo>
                  <a:pt x="6767286" y="3556011"/>
                </a:lnTo>
                <a:cubicBezTo>
                  <a:pt x="6767286" y="3616125"/>
                  <a:pt x="6718554" y="3664857"/>
                  <a:pt x="6658439" y="3664857"/>
                </a:cubicBezTo>
                <a:lnTo>
                  <a:pt x="108846" y="3664857"/>
                </a:lnTo>
                <a:cubicBezTo>
                  <a:pt x="48732" y="3664857"/>
                  <a:pt x="0" y="3616125"/>
                  <a:pt x="0" y="3556011"/>
                </a:cubicBezTo>
                <a:lnTo>
                  <a:pt x="0" y="108846"/>
                </a:lnTo>
                <a:cubicBezTo>
                  <a:pt x="0" y="48772"/>
                  <a:pt x="48772" y="0"/>
                  <a:pt x="10884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893" y="1433286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217884" y="102054"/>
                </a:moveTo>
                <a:lnTo>
                  <a:pt x="143045" y="102054"/>
                </a:lnTo>
                <a:cubicBezTo>
                  <a:pt x="135519" y="102054"/>
                  <a:pt x="129438" y="95973"/>
                  <a:pt x="129438" y="88446"/>
                </a:cubicBezTo>
                <a:lnTo>
                  <a:pt x="129438" y="13607"/>
                </a:lnTo>
                <a:cubicBezTo>
                  <a:pt x="129438" y="6081"/>
                  <a:pt x="135561" y="-85"/>
                  <a:pt x="143003" y="893"/>
                </a:cubicBezTo>
                <a:cubicBezTo>
                  <a:pt x="188501" y="6931"/>
                  <a:pt x="224560" y="42990"/>
                  <a:pt x="230599" y="88489"/>
                </a:cubicBezTo>
                <a:cubicBezTo>
                  <a:pt x="231577" y="95930"/>
                  <a:pt x="225411" y="102054"/>
                  <a:pt x="217884" y="102054"/>
                </a:cubicBezTo>
                <a:close/>
                <a:moveTo>
                  <a:pt x="94655" y="15818"/>
                </a:moveTo>
                <a:cubicBezTo>
                  <a:pt x="102351" y="14202"/>
                  <a:pt x="109027" y="20496"/>
                  <a:pt x="109027" y="28362"/>
                </a:cubicBezTo>
                <a:lnTo>
                  <a:pt x="109027" y="112259"/>
                </a:lnTo>
                <a:cubicBezTo>
                  <a:pt x="109027" y="114640"/>
                  <a:pt x="109878" y="116936"/>
                  <a:pt x="111366" y="118765"/>
                </a:cubicBezTo>
                <a:lnTo>
                  <a:pt x="167538" y="186545"/>
                </a:lnTo>
                <a:cubicBezTo>
                  <a:pt x="172513" y="192541"/>
                  <a:pt x="171450" y="201598"/>
                  <a:pt x="164604" y="205298"/>
                </a:cubicBezTo>
                <a:cubicBezTo>
                  <a:pt x="150104" y="213207"/>
                  <a:pt x="133478" y="217714"/>
                  <a:pt x="115831" y="217714"/>
                </a:cubicBezTo>
                <a:cubicBezTo>
                  <a:pt x="59489" y="217714"/>
                  <a:pt x="13777" y="172003"/>
                  <a:pt x="13777" y="115661"/>
                </a:cubicBezTo>
                <a:cubicBezTo>
                  <a:pt x="13777" y="66547"/>
                  <a:pt x="48433" y="25556"/>
                  <a:pt x="94655" y="15818"/>
                </a:cubicBezTo>
                <a:close/>
                <a:moveTo>
                  <a:pt x="203172" y="122464"/>
                </a:moveTo>
                <a:lnTo>
                  <a:pt x="230386" y="122464"/>
                </a:lnTo>
                <a:cubicBezTo>
                  <a:pt x="238253" y="122464"/>
                  <a:pt x="244546" y="129140"/>
                  <a:pt x="242930" y="136837"/>
                </a:cubicBezTo>
                <a:cubicBezTo>
                  <a:pt x="238593" y="157418"/>
                  <a:pt x="228047" y="175702"/>
                  <a:pt x="213334" y="189650"/>
                </a:cubicBezTo>
                <a:cubicBezTo>
                  <a:pt x="208104" y="194625"/>
                  <a:pt x="199897" y="193562"/>
                  <a:pt x="195305" y="187991"/>
                </a:cubicBezTo>
                <a:lnTo>
                  <a:pt x="159416" y="144746"/>
                </a:lnTo>
                <a:cubicBezTo>
                  <a:pt x="152060" y="135859"/>
                  <a:pt x="158396" y="122464"/>
                  <a:pt x="169877" y="122464"/>
                </a:cubicBezTo>
                <a:lnTo>
                  <a:pt x="203129" y="122464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25286" y="1415143"/>
            <a:ext cx="154214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核心数据分析指标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286" y="1778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53143" y="1886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总销售额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143" y="2140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店铺整体业绩表现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2771" y="1778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3911628" y="1886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系列货品销售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11628" y="2140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各品类销售占比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286" y="2540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53143" y="2648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坪效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143" y="2902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每平米产出效率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02771" y="2540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3911628" y="2648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11628" y="2902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每人产出效率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4286" y="3302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53143" y="3410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成交率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143" y="3664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进店成交转化率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02771" y="3302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911628" y="3410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连带率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11628" y="3664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客单件数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4286" y="4064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653143" y="4172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VIP回购率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3143" y="4426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会员复购情况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02771" y="4064000"/>
            <a:ext cx="3147786" cy="653143"/>
          </a:xfrm>
          <a:custGeom>
            <a:avLst/>
            <a:gdLst/>
            <a:ahLst/>
            <a:cxnLst/>
            <a:rect l="l" t="t" r="r" b="b"/>
            <a:pathLst>
              <a:path w="3147786" h="653143">
                <a:moveTo>
                  <a:pt x="72571" y="0"/>
                </a:moveTo>
                <a:lnTo>
                  <a:pt x="3075215" y="0"/>
                </a:lnTo>
                <a:cubicBezTo>
                  <a:pt x="3115295" y="0"/>
                  <a:pt x="3147786" y="32491"/>
                  <a:pt x="3147786" y="72571"/>
                </a:cubicBezTo>
                <a:lnTo>
                  <a:pt x="3147786" y="580572"/>
                </a:lnTo>
                <a:cubicBezTo>
                  <a:pt x="3147786" y="620652"/>
                  <a:pt x="3115295" y="653143"/>
                  <a:pt x="3075215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3911628" y="4172857"/>
            <a:ext cx="3002643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客单价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11628" y="4426857"/>
            <a:ext cx="2993571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单笔交易金额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2857" y="5043714"/>
            <a:ext cx="6767286" cy="1814286"/>
          </a:xfrm>
          <a:custGeom>
            <a:avLst/>
            <a:gdLst/>
            <a:ahLst/>
            <a:cxnLst/>
            <a:rect l="l" t="t" r="r" b="b"/>
            <a:pathLst>
              <a:path w="6767286" h="1814286">
                <a:moveTo>
                  <a:pt x="108857" y="0"/>
                </a:moveTo>
                <a:lnTo>
                  <a:pt x="6658429" y="0"/>
                </a:lnTo>
                <a:cubicBezTo>
                  <a:pt x="6718549" y="0"/>
                  <a:pt x="6767286" y="48737"/>
                  <a:pt x="6767286" y="108857"/>
                </a:cubicBezTo>
                <a:lnTo>
                  <a:pt x="6767286" y="1705429"/>
                </a:lnTo>
                <a:cubicBezTo>
                  <a:pt x="6767286" y="1765549"/>
                  <a:pt x="6718549" y="1814286"/>
                  <a:pt x="6658429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893" y="5243286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13607" y="20411"/>
                </a:moveTo>
                <a:cubicBezTo>
                  <a:pt x="13607" y="9142"/>
                  <a:pt x="22749" y="0"/>
                  <a:pt x="34018" y="0"/>
                </a:cubicBezTo>
                <a:lnTo>
                  <a:pt x="54429" y="0"/>
                </a:lnTo>
                <a:cubicBezTo>
                  <a:pt x="61955" y="0"/>
                  <a:pt x="68036" y="6081"/>
                  <a:pt x="68036" y="13607"/>
                </a:cubicBezTo>
                <a:cubicBezTo>
                  <a:pt x="68036" y="21134"/>
                  <a:pt x="61955" y="27214"/>
                  <a:pt x="54429" y="27214"/>
                </a:cubicBezTo>
                <a:lnTo>
                  <a:pt x="40821" y="27214"/>
                </a:lnTo>
                <a:lnTo>
                  <a:pt x="40821" y="81643"/>
                </a:lnTo>
                <a:cubicBezTo>
                  <a:pt x="40821" y="104180"/>
                  <a:pt x="59106" y="122464"/>
                  <a:pt x="81643" y="122464"/>
                </a:cubicBezTo>
                <a:cubicBezTo>
                  <a:pt x="104180" y="122464"/>
                  <a:pt x="122464" y="104180"/>
                  <a:pt x="122464" y="81643"/>
                </a:cubicBezTo>
                <a:lnTo>
                  <a:pt x="122464" y="27214"/>
                </a:lnTo>
                <a:lnTo>
                  <a:pt x="108857" y="27214"/>
                </a:lnTo>
                <a:cubicBezTo>
                  <a:pt x="101331" y="27214"/>
                  <a:pt x="95250" y="21134"/>
                  <a:pt x="95250" y="13607"/>
                </a:cubicBezTo>
                <a:cubicBezTo>
                  <a:pt x="95250" y="6081"/>
                  <a:pt x="101331" y="0"/>
                  <a:pt x="108857" y="0"/>
                </a:cubicBezTo>
                <a:lnTo>
                  <a:pt x="129268" y="0"/>
                </a:lnTo>
                <a:cubicBezTo>
                  <a:pt x="140536" y="0"/>
                  <a:pt x="149679" y="9142"/>
                  <a:pt x="149679" y="20411"/>
                </a:cubicBezTo>
                <a:lnTo>
                  <a:pt x="149679" y="81643"/>
                </a:lnTo>
                <a:cubicBezTo>
                  <a:pt x="149679" y="114555"/>
                  <a:pt x="126291" y="142025"/>
                  <a:pt x="95250" y="148318"/>
                </a:cubicBezTo>
                <a:lnTo>
                  <a:pt x="95250" y="156482"/>
                </a:lnTo>
                <a:cubicBezTo>
                  <a:pt x="95250" y="182803"/>
                  <a:pt x="116554" y="204107"/>
                  <a:pt x="142875" y="204107"/>
                </a:cubicBezTo>
                <a:cubicBezTo>
                  <a:pt x="169196" y="204107"/>
                  <a:pt x="190500" y="182803"/>
                  <a:pt x="190500" y="156482"/>
                </a:cubicBezTo>
                <a:lnTo>
                  <a:pt x="190500" y="120126"/>
                </a:lnTo>
                <a:cubicBezTo>
                  <a:pt x="174639" y="114513"/>
                  <a:pt x="163286" y="99417"/>
                  <a:pt x="163286" y="81643"/>
                </a:cubicBezTo>
                <a:cubicBezTo>
                  <a:pt x="163286" y="59106"/>
                  <a:pt x="181570" y="40821"/>
                  <a:pt x="204107" y="40821"/>
                </a:cubicBezTo>
                <a:cubicBezTo>
                  <a:pt x="226644" y="40821"/>
                  <a:pt x="244929" y="59106"/>
                  <a:pt x="244929" y="81643"/>
                </a:cubicBezTo>
                <a:cubicBezTo>
                  <a:pt x="244929" y="99417"/>
                  <a:pt x="233575" y="114555"/>
                  <a:pt x="217714" y="120126"/>
                </a:cubicBezTo>
                <a:lnTo>
                  <a:pt x="217714" y="156482"/>
                </a:lnTo>
                <a:cubicBezTo>
                  <a:pt x="217714" y="197814"/>
                  <a:pt x="184207" y="231321"/>
                  <a:pt x="142875" y="231321"/>
                </a:cubicBezTo>
                <a:cubicBezTo>
                  <a:pt x="101543" y="231321"/>
                  <a:pt x="68036" y="197814"/>
                  <a:pt x="68036" y="156482"/>
                </a:cubicBezTo>
                <a:lnTo>
                  <a:pt x="68036" y="148318"/>
                </a:lnTo>
                <a:cubicBezTo>
                  <a:pt x="36994" y="142025"/>
                  <a:pt x="13607" y="114555"/>
                  <a:pt x="13607" y="81643"/>
                </a:cubicBezTo>
                <a:lnTo>
                  <a:pt x="13607" y="20411"/>
                </a:lnTo>
                <a:close/>
                <a:moveTo>
                  <a:pt x="204107" y="95250"/>
                </a:moveTo>
                <a:cubicBezTo>
                  <a:pt x="211617" y="95250"/>
                  <a:pt x="217714" y="89153"/>
                  <a:pt x="217714" y="81643"/>
                </a:cubicBezTo>
                <a:cubicBezTo>
                  <a:pt x="217714" y="74133"/>
                  <a:pt x="211617" y="68036"/>
                  <a:pt x="204107" y="68036"/>
                </a:cubicBezTo>
                <a:cubicBezTo>
                  <a:pt x="196597" y="68036"/>
                  <a:pt x="190500" y="74133"/>
                  <a:pt x="190500" y="81643"/>
                </a:cubicBezTo>
                <a:cubicBezTo>
                  <a:pt x="190500" y="89153"/>
                  <a:pt x="196597" y="95250"/>
                  <a:pt x="204107" y="9525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5" name="Text 33"/>
          <p:cNvSpPr/>
          <p:nvPr/>
        </p:nvSpPr>
        <p:spPr>
          <a:xfrm>
            <a:off x="925286" y="5225143"/>
            <a:ext cx="1179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数据诊断方法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4286" y="5588000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横向对比: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与同期、同区域、同类型店铺对比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286" y="5878286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纵向分析: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与历史数据对比,分析趋势变化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286" y="6168571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结构分析: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分析各品类、各时段、各员工贡献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286" y="6458857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问题定位: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找出数据异常点,分析原因制定对策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5257" y="1233714"/>
            <a:ext cx="4517571" cy="1814286"/>
          </a:xfrm>
          <a:custGeom>
            <a:avLst/>
            <a:gdLst/>
            <a:ahLst/>
            <a:cxnLst/>
            <a:rect l="l" t="t" r="r" b="b"/>
            <a:pathLst>
              <a:path w="4517571" h="1814286">
                <a:moveTo>
                  <a:pt x="108857" y="0"/>
                </a:moveTo>
                <a:lnTo>
                  <a:pt x="4408714" y="0"/>
                </a:lnTo>
                <a:cubicBezTo>
                  <a:pt x="4468834" y="0"/>
                  <a:pt x="4517571" y="48737"/>
                  <a:pt x="4517571" y="108857"/>
                </a:cubicBezTo>
                <a:lnTo>
                  <a:pt x="4517571" y="1705429"/>
                </a:lnTo>
                <a:cubicBezTo>
                  <a:pt x="4517571" y="1765549"/>
                  <a:pt x="4468834" y="1814286"/>
                  <a:pt x="4408714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1" name="Shape 39"/>
          <p:cNvSpPr/>
          <p:nvPr/>
        </p:nvSpPr>
        <p:spPr>
          <a:xfrm>
            <a:off x="7498953" y="1460500"/>
            <a:ext cx="204107" cy="163286"/>
          </a:xfrm>
          <a:custGeom>
            <a:avLst/>
            <a:gdLst/>
            <a:ahLst/>
            <a:cxnLst/>
            <a:rect l="l" t="t" r="r" b="b"/>
            <a:pathLst>
              <a:path w="204107" h="163286">
                <a:moveTo>
                  <a:pt x="40821" y="30616"/>
                </a:moveTo>
                <a:cubicBezTo>
                  <a:pt x="40821" y="19358"/>
                  <a:pt x="49974" y="10205"/>
                  <a:pt x="61232" y="10205"/>
                </a:cubicBezTo>
                <a:lnTo>
                  <a:pt x="173491" y="10205"/>
                </a:lnTo>
                <a:cubicBezTo>
                  <a:pt x="184749" y="10205"/>
                  <a:pt x="193902" y="19358"/>
                  <a:pt x="193902" y="30616"/>
                </a:cubicBezTo>
                <a:lnTo>
                  <a:pt x="193902" y="107156"/>
                </a:lnTo>
                <a:lnTo>
                  <a:pt x="163286" y="107156"/>
                </a:lnTo>
                <a:lnTo>
                  <a:pt x="163286" y="102054"/>
                </a:lnTo>
                <a:cubicBezTo>
                  <a:pt x="163286" y="96409"/>
                  <a:pt x="158725" y="91848"/>
                  <a:pt x="153080" y="91848"/>
                </a:cubicBezTo>
                <a:lnTo>
                  <a:pt x="132670" y="91848"/>
                </a:lnTo>
                <a:cubicBezTo>
                  <a:pt x="127025" y="91848"/>
                  <a:pt x="122464" y="96409"/>
                  <a:pt x="122464" y="102054"/>
                </a:cubicBezTo>
                <a:lnTo>
                  <a:pt x="122464" y="107156"/>
                </a:lnTo>
                <a:lnTo>
                  <a:pt x="81292" y="107156"/>
                </a:lnTo>
                <a:cubicBezTo>
                  <a:pt x="84768" y="101161"/>
                  <a:pt x="86746" y="94176"/>
                  <a:pt x="86746" y="86746"/>
                </a:cubicBezTo>
                <a:cubicBezTo>
                  <a:pt x="86746" y="64198"/>
                  <a:pt x="68472" y="45924"/>
                  <a:pt x="45924" y="45924"/>
                </a:cubicBezTo>
                <a:cubicBezTo>
                  <a:pt x="44202" y="45924"/>
                  <a:pt x="42480" y="46020"/>
                  <a:pt x="40821" y="46243"/>
                </a:cubicBezTo>
                <a:lnTo>
                  <a:pt x="40821" y="30616"/>
                </a:lnTo>
                <a:close/>
                <a:moveTo>
                  <a:pt x="106199" y="142875"/>
                </a:moveTo>
                <a:cubicBezTo>
                  <a:pt x="104573" y="135157"/>
                  <a:pt x="101001" y="128173"/>
                  <a:pt x="95962" y="122464"/>
                </a:cubicBezTo>
                <a:lnTo>
                  <a:pt x="193902" y="122464"/>
                </a:lnTo>
                <a:cubicBezTo>
                  <a:pt x="193902" y="133722"/>
                  <a:pt x="184749" y="142875"/>
                  <a:pt x="173491" y="142875"/>
                </a:cubicBezTo>
                <a:lnTo>
                  <a:pt x="106199" y="142875"/>
                </a:lnTo>
                <a:close/>
                <a:moveTo>
                  <a:pt x="20411" y="86746"/>
                </a:moveTo>
                <a:cubicBezTo>
                  <a:pt x="20411" y="72664"/>
                  <a:pt x="31843" y="61232"/>
                  <a:pt x="45924" y="61232"/>
                </a:cubicBezTo>
                <a:cubicBezTo>
                  <a:pt x="60005" y="61232"/>
                  <a:pt x="71438" y="72664"/>
                  <a:pt x="71438" y="86746"/>
                </a:cubicBezTo>
                <a:cubicBezTo>
                  <a:pt x="71438" y="100827"/>
                  <a:pt x="60005" y="112259"/>
                  <a:pt x="45924" y="112259"/>
                </a:cubicBezTo>
                <a:cubicBezTo>
                  <a:pt x="31843" y="112259"/>
                  <a:pt x="20411" y="100827"/>
                  <a:pt x="20411" y="86746"/>
                </a:cubicBezTo>
                <a:close/>
                <a:moveTo>
                  <a:pt x="0" y="153080"/>
                </a:moveTo>
                <a:cubicBezTo>
                  <a:pt x="0" y="136178"/>
                  <a:pt x="13713" y="122464"/>
                  <a:pt x="30616" y="122464"/>
                </a:cubicBezTo>
                <a:lnTo>
                  <a:pt x="61232" y="122464"/>
                </a:lnTo>
                <a:cubicBezTo>
                  <a:pt x="78135" y="122464"/>
                  <a:pt x="91848" y="136178"/>
                  <a:pt x="91848" y="153080"/>
                </a:cubicBezTo>
                <a:cubicBezTo>
                  <a:pt x="91848" y="158725"/>
                  <a:pt x="87288" y="163286"/>
                  <a:pt x="81643" y="163286"/>
                </a:cubicBezTo>
                <a:lnTo>
                  <a:pt x="10205" y="163286"/>
                </a:lnTo>
                <a:cubicBezTo>
                  <a:pt x="4561" y="163286"/>
                  <a:pt x="0" y="158725"/>
                  <a:pt x="0" y="15308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2" name="Text 40"/>
          <p:cNvSpPr/>
          <p:nvPr/>
        </p:nvSpPr>
        <p:spPr>
          <a:xfrm>
            <a:off x="7705328" y="1415143"/>
            <a:ext cx="4027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14828" y="1814286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Text 42"/>
          <p:cNvSpPr/>
          <p:nvPr/>
        </p:nvSpPr>
        <p:spPr>
          <a:xfrm>
            <a:off x="7750685" y="1778000"/>
            <a:ext cx="1378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讲解各指标计算方法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14828" y="2104571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6" name="Text 44"/>
          <p:cNvSpPr/>
          <p:nvPr/>
        </p:nvSpPr>
        <p:spPr>
          <a:xfrm>
            <a:off x="7750685" y="2068286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演示数据分析实操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14828" y="239485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8" name="Text 46"/>
          <p:cNvSpPr/>
          <p:nvPr/>
        </p:nvSpPr>
        <p:spPr>
          <a:xfrm>
            <a:off x="7750685" y="2358571"/>
            <a:ext cx="1378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讲解诊断思路与方法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14828" y="2685143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0" name="Text 48"/>
          <p:cNvSpPr/>
          <p:nvPr/>
        </p:nvSpPr>
        <p:spPr>
          <a:xfrm>
            <a:off x="7750685" y="2648857"/>
            <a:ext cx="1088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建立数据敏感度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15257" y="3193143"/>
            <a:ext cx="4517571" cy="1814286"/>
          </a:xfrm>
          <a:custGeom>
            <a:avLst/>
            <a:gdLst/>
            <a:ahLst/>
            <a:cxnLst/>
            <a:rect l="l" t="t" r="r" b="b"/>
            <a:pathLst>
              <a:path w="4517571" h="1814286">
                <a:moveTo>
                  <a:pt x="108857" y="0"/>
                </a:moveTo>
                <a:lnTo>
                  <a:pt x="4408714" y="0"/>
                </a:lnTo>
                <a:cubicBezTo>
                  <a:pt x="4468834" y="0"/>
                  <a:pt x="4517571" y="48737"/>
                  <a:pt x="4517571" y="108857"/>
                </a:cubicBezTo>
                <a:lnTo>
                  <a:pt x="4517571" y="1705429"/>
                </a:lnTo>
                <a:cubicBezTo>
                  <a:pt x="4517571" y="1765549"/>
                  <a:pt x="4468834" y="1814286"/>
                  <a:pt x="4408714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29569" y="3419929"/>
            <a:ext cx="142875" cy="163286"/>
          </a:xfrm>
          <a:custGeom>
            <a:avLst/>
            <a:gdLst/>
            <a:ahLst/>
            <a:cxnLst/>
            <a:rect l="l" t="t" r="r" b="b"/>
            <a:pathLst>
              <a:path w="142875" h="163286">
                <a:moveTo>
                  <a:pt x="76955" y="-4146"/>
                </a:moveTo>
                <a:cubicBezTo>
                  <a:pt x="73319" y="-4879"/>
                  <a:pt x="69588" y="-4879"/>
                  <a:pt x="65952" y="-4146"/>
                </a:cubicBezTo>
                <a:lnTo>
                  <a:pt x="6155" y="7813"/>
                </a:lnTo>
                <a:cubicBezTo>
                  <a:pt x="2583" y="8515"/>
                  <a:pt x="0" y="11672"/>
                  <a:pt x="0" y="15308"/>
                </a:cubicBezTo>
                <a:cubicBezTo>
                  <a:pt x="0" y="18593"/>
                  <a:pt x="2073" y="21463"/>
                  <a:pt x="5103" y="22516"/>
                </a:cubicBezTo>
                <a:lnTo>
                  <a:pt x="5103" y="45924"/>
                </a:lnTo>
                <a:lnTo>
                  <a:pt x="96" y="70991"/>
                </a:lnTo>
                <a:cubicBezTo>
                  <a:pt x="32" y="71278"/>
                  <a:pt x="0" y="71597"/>
                  <a:pt x="0" y="71916"/>
                </a:cubicBezTo>
                <a:cubicBezTo>
                  <a:pt x="0" y="74467"/>
                  <a:pt x="2073" y="76572"/>
                  <a:pt x="4656" y="76572"/>
                </a:cubicBezTo>
                <a:lnTo>
                  <a:pt x="15786" y="76572"/>
                </a:lnTo>
                <a:cubicBezTo>
                  <a:pt x="18338" y="76572"/>
                  <a:pt x="20443" y="74499"/>
                  <a:pt x="20443" y="71916"/>
                </a:cubicBezTo>
                <a:cubicBezTo>
                  <a:pt x="20443" y="71597"/>
                  <a:pt x="20411" y="71310"/>
                  <a:pt x="20347" y="70991"/>
                </a:cubicBezTo>
                <a:lnTo>
                  <a:pt x="15308" y="45924"/>
                </a:lnTo>
                <a:lnTo>
                  <a:pt x="15308" y="24652"/>
                </a:lnTo>
                <a:lnTo>
                  <a:pt x="30616" y="27714"/>
                </a:lnTo>
                <a:lnTo>
                  <a:pt x="30616" y="45924"/>
                </a:lnTo>
                <a:cubicBezTo>
                  <a:pt x="30616" y="68472"/>
                  <a:pt x="48890" y="86746"/>
                  <a:pt x="71438" y="86746"/>
                </a:cubicBezTo>
                <a:cubicBezTo>
                  <a:pt x="93985" y="86746"/>
                  <a:pt x="112259" y="68472"/>
                  <a:pt x="112259" y="45924"/>
                </a:cubicBezTo>
                <a:lnTo>
                  <a:pt x="112259" y="27714"/>
                </a:lnTo>
                <a:lnTo>
                  <a:pt x="136720" y="22834"/>
                </a:lnTo>
                <a:cubicBezTo>
                  <a:pt x="140292" y="22101"/>
                  <a:pt x="142875" y="18944"/>
                  <a:pt x="142875" y="15308"/>
                </a:cubicBezTo>
                <a:cubicBezTo>
                  <a:pt x="142875" y="11672"/>
                  <a:pt x="140292" y="8515"/>
                  <a:pt x="136720" y="7813"/>
                </a:cubicBezTo>
                <a:lnTo>
                  <a:pt x="76955" y="-4146"/>
                </a:lnTo>
                <a:close/>
                <a:moveTo>
                  <a:pt x="71438" y="71438"/>
                </a:moveTo>
                <a:cubicBezTo>
                  <a:pt x="57341" y="71438"/>
                  <a:pt x="45924" y="60020"/>
                  <a:pt x="45924" y="45924"/>
                </a:cubicBezTo>
                <a:lnTo>
                  <a:pt x="96951" y="45924"/>
                </a:lnTo>
                <a:cubicBezTo>
                  <a:pt x="96951" y="60020"/>
                  <a:pt x="85534" y="71438"/>
                  <a:pt x="71438" y="71438"/>
                </a:cubicBezTo>
                <a:close/>
                <a:moveTo>
                  <a:pt x="38302" y="102085"/>
                </a:moveTo>
                <a:cubicBezTo>
                  <a:pt x="18720" y="111079"/>
                  <a:pt x="5103" y="130852"/>
                  <a:pt x="5103" y="153814"/>
                </a:cubicBezTo>
                <a:cubicBezTo>
                  <a:pt x="5103" y="159044"/>
                  <a:pt x="9344" y="163286"/>
                  <a:pt x="14575" y="163286"/>
                </a:cubicBezTo>
                <a:lnTo>
                  <a:pt x="63783" y="163286"/>
                </a:lnTo>
                <a:lnTo>
                  <a:pt x="63783" y="116724"/>
                </a:lnTo>
                <a:lnTo>
                  <a:pt x="45478" y="103010"/>
                </a:lnTo>
                <a:cubicBezTo>
                  <a:pt x="43405" y="101448"/>
                  <a:pt x="40630" y="101033"/>
                  <a:pt x="38270" y="102117"/>
                </a:cubicBezTo>
                <a:close/>
                <a:moveTo>
                  <a:pt x="79092" y="163286"/>
                </a:moveTo>
                <a:lnTo>
                  <a:pt x="128300" y="163286"/>
                </a:lnTo>
                <a:cubicBezTo>
                  <a:pt x="133531" y="163286"/>
                  <a:pt x="137772" y="159044"/>
                  <a:pt x="137772" y="153814"/>
                </a:cubicBezTo>
                <a:cubicBezTo>
                  <a:pt x="137772" y="130852"/>
                  <a:pt x="124155" y="111079"/>
                  <a:pt x="104573" y="102117"/>
                </a:cubicBezTo>
                <a:cubicBezTo>
                  <a:pt x="102213" y="101033"/>
                  <a:pt x="99438" y="101448"/>
                  <a:pt x="97365" y="103010"/>
                </a:cubicBezTo>
                <a:lnTo>
                  <a:pt x="79060" y="116724"/>
                </a:lnTo>
                <a:lnTo>
                  <a:pt x="79060" y="163286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53" name="Text 51"/>
          <p:cNvSpPr/>
          <p:nvPr/>
        </p:nvSpPr>
        <p:spPr>
          <a:xfrm>
            <a:off x="7705328" y="3374571"/>
            <a:ext cx="4027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96685" y="3737429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00225" y="3737429"/>
            <a:ext cx="11702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掌握8大核心指标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96685" y="4027714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00225" y="4027714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学会指标计算方法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96685" y="4318000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700225" y="4318000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掌握数据分析方法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496685" y="4608286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00225" y="4608286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学会问题诊断思路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15257" y="5152571"/>
            <a:ext cx="4517571" cy="834571"/>
          </a:xfrm>
          <a:custGeom>
            <a:avLst/>
            <a:gdLst/>
            <a:ahLst/>
            <a:cxnLst/>
            <a:rect l="l" t="t" r="r" b="b"/>
            <a:pathLst>
              <a:path w="4517571" h="834571">
                <a:moveTo>
                  <a:pt x="108853" y="0"/>
                </a:moveTo>
                <a:lnTo>
                  <a:pt x="4408718" y="0"/>
                </a:lnTo>
                <a:cubicBezTo>
                  <a:pt x="4468836" y="0"/>
                  <a:pt x="4517571" y="48735"/>
                  <a:pt x="4517571" y="108853"/>
                </a:cubicBezTo>
                <a:lnTo>
                  <a:pt x="4517571" y="725718"/>
                </a:lnTo>
                <a:cubicBezTo>
                  <a:pt x="4517571" y="785836"/>
                  <a:pt x="4468836" y="834571"/>
                  <a:pt x="4408718" y="834571"/>
                </a:cubicBezTo>
                <a:lnTo>
                  <a:pt x="108853" y="834571"/>
                </a:lnTo>
                <a:cubicBezTo>
                  <a:pt x="48735" y="834571"/>
                  <a:pt x="0" y="785836"/>
                  <a:pt x="0" y="725718"/>
                </a:cubicBezTo>
                <a:lnTo>
                  <a:pt x="0" y="108853"/>
                </a:lnTo>
                <a:cubicBezTo>
                  <a:pt x="0" y="48775"/>
                  <a:pt x="48775" y="0"/>
                  <a:pt x="108853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63" name="Shape 61"/>
          <p:cNvSpPr/>
          <p:nvPr/>
        </p:nvSpPr>
        <p:spPr>
          <a:xfrm>
            <a:off x="7503489" y="5343071"/>
            <a:ext cx="122464" cy="163286"/>
          </a:xfrm>
          <a:custGeom>
            <a:avLst/>
            <a:gdLst/>
            <a:ahLst/>
            <a:cxnLst/>
            <a:rect l="l" t="t" r="r" b="b"/>
            <a:pathLst>
              <a:path w="122464" h="163286">
                <a:moveTo>
                  <a:pt x="99311" y="10205"/>
                </a:moveTo>
                <a:lnTo>
                  <a:pt x="102054" y="10205"/>
                </a:lnTo>
                <a:cubicBezTo>
                  <a:pt x="113311" y="10205"/>
                  <a:pt x="122464" y="19358"/>
                  <a:pt x="122464" y="30616"/>
                </a:cubicBezTo>
                <a:lnTo>
                  <a:pt x="122464" y="142875"/>
                </a:lnTo>
                <a:cubicBezTo>
                  <a:pt x="122464" y="154133"/>
                  <a:pt x="113311" y="163286"/>
                  <a:pt x="102054" y="163286"/>
                </a:cubicBezTo>
                <a:lnTo>
                  <a:pt x="20411" y="163286"/>
                </a:lnTo>
                <a:cubicBezTo>
                  <a:pt x="9153" y="163286"/>
                  <a:pt x="0" y="154133"/>
                  <a:pt x="0" y="142875"/>
                </a:cubicBezTo>
                <a:lnTo>
                  <a:pt x="0" y="30616"/>
                </a:lnTo>
                <a:cubicBezTo>
                  <a:pt x="0" y="19358"/>
                  <a:pt x="9153" y="10205"/>
                  <a:pt x="20411" y="10205"/>
                </a:cubicBezTo>
                <a:lnTo>
                  <a:pt x="23153" y="10205"/>
                </a:lnTo>
                <a:cubicBezTo>
                  <a:pt x="26661" y="4114"/>
                  <a:pt x="33263" y="0"/>
                  <a:pt x="40821" y="0"/>
                </a:cubicBezTo>
                <a:lnTo>
                  <a:pt x="81643" y="0"/>
                </a:lnTo>
                <a:cubicBezTo>
                  <a:pt x="89201" y="0"/>
                  <a:pt x="95803" y="4114"/>
                  <a:pt x="99311" y="10205"/>
                </a:cubicBezTo>
                <a:close/>
                <a:moveTo>
                  <a:pt x="79092" y="35719"/>
                </a:moveTo>
                <a:cubicBezTo>
                  <a:pt x="83333" y="35719"/>
                  <a:pt x="86746" y="32306"/>
                  <a:pt x="86746" y="28065"/>
                </a:cubicBezTo>
                <a:cubicBezTo>
                  <a:pt x="86746" y="23823"/>
                  <a:pt x="83333" y="20411"/>
                  <a:pt x="79092" y="20411"/>
                </a:cubicBezTo>
                <a:lnTo>
                  <a:pt x="43373" y="20411"/>
                </a:lnTo>
                <a:cubicBezTo>
                  <a:pt x="39131" y="20411"/>
                  <a:pt x="35719" y="23823"/>
                  <a:pt x="35719" y="28065"/>
                </a:cubicBezTo>
                <a:cubicBezTo>
                  <a:pt x="35719" y="32306"/>
                  <a:pt x="39131" y="35719"/>
                  <a:pt x="43373" y="35719"/>
                </a:cubicBezTo>
                <a:lnTo>
                  <a:pt x="79092" y="35719"/>
                </a:lnTo>
                <a:close/>
                <a:moveTo>
                  <a:pt x="40821" y="81643"/>
                </a:moveTo>
                <a:cubicBezTo>
                  <a:pt x="40821" y="76010"/>
                  <a:pt x="36249" y="71438"/>
                  <a:pt x="30616" y="71438"/>
                </a:cubicBezTo>
                <a:cubicBezTo>
                  <a:pt x="24984" y="71438"/>
                  <a:pt x="20411" y="76010"/>
                  <a:pt x="20411" y="81643"/>
                </a:cubicBezTo>
                <a:cubicBezTo>
                  <a:pt x="20411" y="87275"/>
                  <a:pt x="24984" y="91848"/>
                  <a:pt x="30616" y="91848"/>
                </a:cubicBezTo>
                <a:cubicBezTo>
                  <a:pt x="36249" y="91848"/>
                  <a:pt x="40821" y="87275"/>
                  <a:pt x="40821" y="81643"/>
                </a:cubicBezTo>
                <a:close/>
                <a:moveTo>
                  <a:pt x="51027" y="81643"/>
                </a:moveTo>
                <a:cubicBezTo>
                  <a:pt x="51027" y="85884"/>
                  <a:pt x="54439" y="89297"/>
                  <a:pt x="58681" y="89297"/>
                </a:cubicBezTo>
                <a:lnTo>
                  <a:pt x="94400" y="89297"/>
                </a:lnTo>
                <a:cubicBezTo>
                  <a:pt x="98641" y="89297"/>
                  <a:pt x="102054" y="85884"/>
                  <a:pt x="102054" y="81643"/>
                </a:cubicBezTo>
                <a:cubicBezTo>
                  <a:pt x="102054" y="77401"/>
                  <a:pt x="98641" y="73989"/>
                  <a:pt x="94400" y="73989"/>
                </a:cubicBezTo>
                <a:lnTo>
                  <a:pt x="58681" y="73989"/>
                </a:lnTo>
                <a:cubicBezTo>
                  <a:pt x="54439" y="73989"/>
                  <a:pt x="51027" y="77401"/>
                  <a:pt x="51027" y="81643"/>
                </a:cubicBezTo>
                <a:close/>
                <a:moveTo>
                  <a:pt x="51027" y="122464"/>
                </a:moveTo>
                <a:cubicBezTo>
                  <a:pt x="51027" y="126706"/>
                  <a:pt x="54439" y="130118"/>
                  <a:pt x="58681" y="130118"/>
                </a:cubicBezTo>
                <a:lnTo>
                  <a:pt x="94400" y="130118"/>
                </a:lnTo>
                <a:cubicBezTo>
                  <a:pt x="98641" y="130118"/>
                  <a:pt x="102054" y="126706"/>
                  <a:pt x="102054" y="122464"/>
                </a:cubicBezTo>
                <a:cubicBezTo>
                  <a:pt x="102054" y="118223"/>
                  <a:pt x="98641" y="114810"/>
                  <a:pt x="94400" y="114810"/>
                </a:cubicBezTo>
                <a:lnTo>
                  <a:pt x="58681" y="114810"/>
                </a:lnTo>
                <a:cubicBezTo>
                  <a:pt x="54439" y="114810"/>
                  <a:pt x="51027" y="118223"/>
                  <a:pt x="51027" y="122464"/>
                </a:cubicBezTo>
                <a:close/>
                <a:moveTo>
                  <a:pt x="30616" y="132670"/>
                </a:moveTo>
                <a:cubicBezTo>
                  <a:pt x="36249" y="132670"/>
                  <a:pt x="40821" y="128097"/>
                  <a:pt x="40821" y="122464"/>
                </a:cubicBezTo>
                <a:cubicBezTo>
                  <a:pt x="40821" y="116832"/>
                  <a:pt x="36249" y="112259"/>
                  <a:pt x="30616" y="112259"/>
                </a:cubicBezTo>
                <a:cubicBezTo>
                  <a:pt x="24984" y="112259"/>
                  <a:pt x="20411" y="116832"/>
                  <a:pt x="20411" y="122464"/>
                </a:cubicBezTo>
                <a:cubicBezTo>
                  <a:pt x="20411" y="128097"/>
                  <a:pt x="24984" y="132670"/>
                  <a:pt x="30616" y="13267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64" name="Text 62"/>
          <p:cNvSpPr/>
          <p:nvPr/>
        </p:nvSpPr>
        <p:spPr>
          <a:xfrm>
            <a:off x="7669042" y="5297714"/>
            <a:ext cx="4100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60400" y="5624286"/>
            <a:ext cx="4299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实操演练:数据分析与诊断报告(15分)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SLOW TIME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控场管理 - 淡场管理技巧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209800"/>
          </a:xfrm>
          <a:custGeom>
            <a:avLst/>
            <a:gdLst/>
            <a:ahLst/>
            <a:cxnLst/>
            <a:rect l="l" t="t" r="r" b="b"/>
            <a:pathLst>
              <a:path w="6743700" h="2209800">
                <a:moveTo>
                  <a:pt x="114291" y="0"/>
                </a:moveTo>
                <a:lnTo>
                  <a:pt x="6629409" y="0"/>
                </a:lnTo>
                <a:cubicBezTo>
                  <a:pt x="6692488" y="0"/>
                  <a:pt x="6743700" y="51212"/>
                  <a:pt x="6743700" y="114291"/>
                </a:cubicBezTo>
                <a:lnTo>
                  <a:pt x="6743700" y="2095509"/>
                </a:lnTo>
                <a:cubicBezTo>
                  <a:pt x="6743700" y="2158630"/>
                  <a:pt x="6692530" y="2209800"/>
                  <a:pt x="6629409" y="2209800"/>
                </a:cubicBezTo>
                <a:lnTo>
                  <a:pt x="114291" y="2209800"/>
                </a:lnTo>
                <a:cubicBezTo>
                  <a:pt x="51170" y="2209800"/>
                  <a:pt x="0" y="2158630"/>
                  <a:pt x="0" y="20955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788" y="15049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13" y="3572"/>
                </a:move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lose/>
                <a:moveTo>
                  <a:pt x="86752" y="135731"/>
                </a:moveTo>
                <a:lnTo>
                  <a:pt x="113273" y="135731"/>
                </a:lnTo>
                <a:cubicBezTo>
                  <a:pt x="115014" y="135731"/>
                  <a:pt x="116800" y="135776"/>
                  <a:pt x="118542" y="135910"/>
                </a:cubicBezTo>
                <a:cubicBezTo>
                  <a:pt x="111309" y="148501"/>
                  <a:pt x="107156" y="163056"/>
                  <a:pt x="107156" y="178594"/>
                </a:cubicBezTo>
                <a:cubicBezTo>
                  <a:pt x="107156" y="197257"/>
                  <a:pt x="113139" y="214536"/>
                  <a:pt x="123230" y="228600"/>
                </a:cubicBezTo>
                <a:lnTo>
                  <a:pt x="20404" y="228600"/>
                </a:lnTo>
                <a:cubicBezTo>
                  <a:pt x="13082" y="228600"/>
                  <a:pt x="7144" y="222662"/>
                  <a:pt x="7144" y="215339"/>
                </a:cubicBezTo>
                <a:cubicBezTo>
                  <a:pt x="7144" y="171361"/>
                  <a:pt x="42773" y="135731"/>
                  <a:pt x="86752" y="135731"/>
                </a:cubicBezTo>
                <a:close/>
                <a:moveTo>
                  <a:pt x="128588" y="178594"/>
                </a:moveTo>
                <a:cubicBezTo>
                  <a:pt x="128588" y="143109"/>
                  <a:pt x="157397" y="114300"/>
                  <a:pt x="192881" y="114300"/>
                </a:cubicBezTo>
                <a:cubicBezTo>
                  <a:pt x="228366" y="114300"/>
                  <a:pt x="257175" y="143109"/>
                  <a:pt x="257175" y="178594"/>
                </a:cubicBezTo>
                <a:cubicBezTo>
                  <a:pt x="257175" y="214078"/>
                  <a:pt x="228366" y="242888"/>
                  <a:pt x="192881" y="242888"/>
                </a:cubicBezTo>
                <a:cubicBezTo>
                  <a:pt x="157397" y="242888"/>
                  <a:pt x="128588" y="214078"/>
                  <a:pt x="128588" y="178594"/>
                </a:cubicBezTo>
                <a:close/>
                <a:moveTo>
                  <a:pt x="192881" y="142875"/>
                </a:moveTo>
                <a:cubicBezTo>
                  <a:pt x="188952" y="142875"/>
                  <a:pt x="185738" y="146090"/>
                  <a:pt x="185738" y="150019"/>
                </a:cubicBezTo>
                <a:lnTo>
                  <a:pt x="185738" y="178594"/>
                </a:lnTo>
                <a:cubicBezTo>
                  <a:pt x="185738" y="182523"/>
                  <a:pt x="188952" y="185738"/>
                  <a:pt x="192881" y="185738"/>
                </a:cubicBezTo>
                <a:lnTo>
                  <a:pt x="214313" y="185738"/>
                </a:lnTo>
                <a:cubicBezTo>
                  <a:pt x="218242" y="185738"/>
                  <a:pt x="221456" y="182523"/>
                  <a:pt x="221456" y="178594"/>
                </a:cubicBezTo>
                <a:cubicBezTo>
                  <a:pt x="221456" y="174665"/>
                  <a:pt x="218242" y="171450"/>
                  <a:pt x="214313" y="171450"/>
                </a:cubicBezTo>
                <a:lnTo>
                  <a:pt x="200025" y="171450"/>
                </a:lnTo>
                <a:lnTo>
                  <a:pt x="200025" y="150019"/>
                </a:lnTo>
                <a:cubicBezTo>
                  <a:pt x="200025" y="146090"/>
                  <a:pt x="196810" y="142875"/>
                  <a:pt x="192881" y="14287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人员管理(淡场)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人员培训: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利用淡场时间进行产品知识、销售技巧培训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师徒带教: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老员工带教新员工,一对一辅导提升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抽查考核: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随机抽查员工产品知识、服务流程掌握情况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人员沟通: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与员工一对一沟通,了解工作状态与需求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会议展开: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召开小型会议,总结问题、分享经验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6576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0075" y="3867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6" name="Text 14"/>
          <p:cNvSpPr/>
          <p:nvPr/>
        </p:nvSpPr>
        <p:spPr>
          <a:xfrm>
            <a:off x="971550" y="384810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店务管理(淡场)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4229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货品补货: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检查卖场货品,及时从仓库补货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533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畅滞销管理: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分析畅滞销款,调整陈列与推荐策略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卫生清洁: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深度清洁卖场、试衣间、仓库等区域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5143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陈列调整: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根据销售数据调整陈列,突出主推款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2" name="Shape 20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3" name="Text 21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5" name="Text 23"/>
          <p:cNvSpPr/>
          <p:nvPr/>
        </p:nvSpPr>
        <p:spPr>
          <a:xfrm>
            <a:off x="7772400" y="1866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强调淡场是提升时机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7" name="Text 25"/>
          <p:cNvSpPr/>
          <p:nvPr/>
        </p:nvSpPr>
        <p:spPr>
          <a:xfrm>
            <a:off x="7772400" y="21717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讲解淡场工作优先级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9" name="Text 27"/>
          <p:cNvSpPr/>
          <p:nvPr/>
        </p:nvSpPr>
        <p:spPr>
          <a:xfrm>
            <a:off x="7772400" y="24765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分享淡场转旺场技巧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Text 29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建立主动管理意识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Text 32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19417" y="3924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掌握淡场人员管理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19417" y="4229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学会淡场店务管理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理解淡场价值意义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学会时间高效利用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Shape 42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5" name="Text 43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情景模拟:淡场管理实操(10分)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305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PEAK TIME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控场管理 - 旺场管理技巧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514600"/>
          </a:xfrm>
          <a:custGeom>
            <a:avLst/>
            <a:gdLst/>
            <a:ahLst/>
            <a:cxnLst/>
            <a:rect l="l" t="t" r="r" b="b"/>
            <a:pathLst>
              <a:path w="6743700" h="2514600">
                <a:moveTo>
                  <a:pt x="114289" y="0"/>
                </a:moveTo>
                <a:lnTo>
                  <a:pt x="6629411" y="0"/>
                </a:lnTo>
                <a:cubicBezTo>
                  <a:pt x="6692489" y="0"/>
                  <a:pt x="6743700" y="51211"/>
                  <a:pt x="6743700" y="114289"/>
                </a:cubicBezTo>
                <a:lnTo>
                  <a:pt x="6743700" y="2400311"/>
                </a:lnTo>
                <a:cubicBezTo>
                  <a:pt x="6743700" y="2463431"/>
                  <a:pt x="6692531" y="2514600"/>
                  <a:pt x="6629411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5049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人员管理(旺场)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分区管理: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明确各区位责任人,确保每个区域有人负责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区位替补: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员工离岗时及时补位,保证服务不中断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音乐调节: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根据客流情况调节音乐节奏,营造氛围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以客为先: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优先服务顾客,其他工作延后处理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接一待二顾三: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接待一位顾客时,关注第二位、招呼第三位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390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 集聚人气: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通过陈列、活动吸引顾客进店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9624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363" y="4171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35719"/>
                </a:moveTo>
                <a:cubicBezTo>
                  <a:pt x="71438" y="19958"/>
                  <a:pt x="84252" y="7144"/>
                  <a:pt x="100013" y="7144"/>
                </a:cubicBezTo>
                <a:cubicBezTo>
                  <a:pt x="115773" y="7144"/>
                  <a:pt x="128588" y="19958"/>
                  <a:pt x="128588" y="35719"/>
                </a:cubicBezTo>
                <a:lnTo>
                  <a:pt x="128588" y="57150"/>
                </a:lnTo>
                <a:lnTo>
                  <a:pt x="71438" y="57150"/>
                </a:lnTo>
                <a:lnTo>
                  <a:pt x="71438" y="35719"/>
                </a:lnTo>
                <a:close/>
                <a:moveTo>
                  <a:pt x="50006" y="57150"/>
                </a:moveTo>
                <a:lnTo>
                  <a:pt x="21431" y="57150"/>
                </a:lnTo>
                <a:cubicBezTo>
                  <a:pt x="9599" y="57150"/>
                  <a:pt x="0" y="66749"/>
                  <a:pt x="0" y="78581"/>
                </a:cubicBezTo>
                <a:lnTo>
                  <a:pt x="0" y="171450"/>
                </a:lnTo>
                <a:cubicBezTo>
                  <a:pt x="0" y="195114"/>
                  <a:pt x="19199" y="214313"/>
                  <a:pt x="42863" y="214313"/>
                </a:cubicBezTo>
                <a:lnTo>
                  <a:pt x="157163" y="214313"/>
                </a:lnTo>
                <a:cubicBezTo>
                  <a:pt x="180826" y="214313"/>
                  <a:pt x="200025" y="195114"/>
                  <a:pt x="200025" y="171450"/>
                </a:cubicBezTo>
                <a:lnTo>
                  <a:pt x="200025" y="78581"/>
                </a:lnTo>
                <a:cubicBezTo>
                  <a:pt x="200025" y="66749"/>
                  <a:pt x="190426" y="57150"/>
                  <a:pt x="178594" y="57150"/>
                </a:cubicBezTo>
                <a:lnTo>
                  <a:pt x="150019" y="57150"/>
                </a:lnTo>
                <a:lnTo>
                  <a:pt x="150019" y="35719"/>
                </a:lnTo>
                <a:cubicBezTo>
                  <a:pt x="150019" y="8081"/>
                  <a:pt x="127650" y="-14287"/>
                  <a:pt x="100013" y="-14287"/>
                </a:cubicBezTo>
                <a:cubicBezTo>
                  <a:pt x="72375" y="-14287"/>
                  <a:pt x="50006" y="8081"/>
                  <a:pt x="50006" y="35719"/>
                </a:cubicBezTo>
                <a:lnTo>
                  <a:pt x="50006" y="57150"/>
                </a:lnTo>
                <a:close/>
                <a:moveTo>
                  <a:pt x="60722" y="78581"/>
                </a:moveTo>
                <a:cubicBezTo>
                  <a:pt x="66636" y="78581"/>
                  <a:pt x="71438" y="83383"/>
                  <a:pt x="71438" y="89297"/>
                </a:cubicBezTo>
                <a:cubicBezTo>
                  <a:pt x="71438" y="95211"/>
                  <a:pt x="66636" y="100013"/>
                  <a:pt x="60722" y="100013"/>
                </a:cubicBezTo>
                <a:cubicBezTo>
                  <a:pt x="54808" y="100013"/>
                  <a:pt x="50006" y="95211"/>
                  <a:pt x="50006" y="89297"/>
                </a:cubicBezTo>
                <a:cubicBezTo>
                  <a:pt x="50006" y="83383"/>
                  <a:pt x="54808" y="78581"/>
                  <a:pt x="60722" y="78581"/>
                </a:cubicBezTo>
                <a:close/>
                <a:moveTo>
                  <a:pt x="128588" y="89297"/>
                </a:moveTo>
                <a:cubicBezTo>
                  <a:pt x="128588" y="83383"/>
                  <a:pt x="133389" y="78581"/>
                  <a:pt x="139303" y="78581"/>
                </a:cubicBezTo>
                <a:cubicBezTo>
                  <a:pt x="145217" y="78581"/>
                  <a:pt x="150019" y="83383"/>
                  <a:pt x="150019" y="89297"/>
                </a:cubicBezTo>
                <a:cubicBezTo>
                  <a:pt x="150019" y="95211"/>
                  <a:pt x="145217" y="100013"/>
                  <a:pt x="139303" y="100013"/>
                </a:cubicBezTo>
                <a:cubicBezTo>
                  <a:pt x="133389" y="100013"/>
                  <a:pt x="128588" y="95211"/>
                  <a:pt x="128588" y="89297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7" name="Text 15"/>
          <p:cNvSpPr/>
          <p:nvPr/>
        </p:nvSpPr>
        <p:spPr>
          <a:xfrm>
            <a:off x="971550" y="415290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店务管理(旺场)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533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快速销售: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提高成交效率,缩短顾客等待时间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货品补充: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及时补充热销款,确保不断货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5143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客诉处理: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快速响应客诉,避免影响其他顾客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448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防盗防损: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加强巡查,防止货品丢失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3" name="Shape 21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4" name="Text 22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Text 24"/>
          <p:cNvSpPr/>
          <p:nvPr/>
        </p:nvSpPr>
        <p:spPr>
          <a:xfrm>
            <a:off x="7772400" y="1866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强调旺场是业绩关键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8" name="Text 26"/>
          <p:cNvSpPr/>
          <p:nvPr/>
        </p:nvSpPr>
        <p:spPr>
          <a:xfrm>
            <a:off x="7772400" y="2171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讲解人员调度技巧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72400" y="2476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分享快速成交方法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Text 30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建立高效服务意识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19417" y="3924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掌握旺场人员管理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19417" y="4229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学会快速成交技巧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理解接一待二顾三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学会应急处理能力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5" name="Shape 43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6" name="Text 44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情景模拟:旺场管理实操(10分)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162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HOLIDAY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控场管理 - 节假日管理技巧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2819400"/>
          </a:xfrm>
          <a:custGeom>
            <a:avLst/>
            <a:gdLst/>
            <a:ahLst/>
            <a:cxnLst/>
            <a:rect l="l" t="t" r="r" b="b"/>
            <a:pathLst>
              <a:path w="6743700" h="2819400">
                <a:moveTo>
                  <a:pt x="114298" y="0"/>
                </a:moveTo>
                <a:lnTo>
                  <a:pt x="6629402" y="0"/>
                </a:lnTo>
                <a:cubicBezTo>
                  <a:pt x="6692527" y="0"/>
                  <a:pt x="6743700" y="51173"/>
                  <a:pt x="6743700" y="114298"/>
                </a:cubicBezTo>
                <a:lnTo>
                  <a:pt x="6743700" y="2705102"/>
                </a:lnTo>
                <a:cubicBezTo>
                  <a:pt x="6743700" y="2768227"/>
                  <a:pt x="6692527" y="2819400"/>
                  <a:pt x="6629402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0075" y="1504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节假日前的准备工作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备货充足: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根据历史数据预测销量,提前备足货品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陈列调整: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突出节日主题,营造节日氛围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库房整理: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整理仓库,确保取货快速便捷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人员排班: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合理安排班次,确保人手充足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3086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 激励制定: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制定节日销售激励方案,激发员工斗志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3390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 流程演练: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演练高峰期服务流程,确保高效运转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695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 业绩预警: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设定业绩目标,建立实时追踪机制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2672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363" y="4476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523" y="-14287"/>
                </a:moveTo>
                <a:cubicBezTo>
                  <a:pt x="128323" y="-14287"/>
                  <a:pt x="139526" y="-3084"/>
                  <a:pt x="139526" y="10716"/>
                </a:cubicBezTo>
                <a:cubicBezTo>
                  <a:pt x="139526" y="24515"/>
                  <a:pt x="128323" y="35719"/>
                  <a:pt x="114523" y="35719"/>
                </a:cubicBezTo>
                <a:cubicBezTo>
                  <a:pt x="100724" y="35719"/>
                  <a:pt x="89520" y="24515"/>
                  <a:pt x="89520" y="10716"/>
                </a:cubicBezTo>
                <a:cubicBezTo>
                  <a:pt x="89520" y="-3084"/>
                  <a:pt x="100724" y="-14287"/>
                  <a:pt x="114523" y="-14287"/>
                </a:cubicBezTo>
                <a:close/>
                <a:moveTo>
                  <a:pt x="55185" y="78581"/>
                </a:moveTo>
                <a:cubicBezTo>
                  <a:pt x="53712" y="78581"/>
                  <a:pt x="52417" y="79474"/>
                  <a:pt x="51881" y="80814"/>
                </a:cubicBezTo>
                <a:lnTo>
                  <a:pt x="42059" y="105326"/>
                </a:lnTo>
                <a:cubicBezTo>
                  <a:pt x="39112" y="112648"/>
                  <a:pt x="30807" y="116220"/>
                  <a:pt x="23485" y="113273"/>
                </a:cubicBezTo>
                <a:cubicBezTo>
                  <a:pt x="16163" y="110326"/>
                  <a:pt x="12591" y="102022"/>
                  <a:pt x="15538" y="94699"/>
                </a:cubicBezTo>
                <a:lnTo>
                  <a:pt x="25316" y="70187"/>
                </a:lnTo>
                <a:cubicBezTo>
                  <a:pt x="30227" y="57998"/>
                  <a:pt x="42014" y="50006"/>
                  <a:pt x="55185" y="50006"/>
                </a:cubicBezTo>
                <a:lnTo>
                  <a:pt x="98628" y="50006"/>
                </a:lnTo>
                <a:cubicBezTo>
                  <a:pt x="111353" y="50006"/>
                  <a:pt x="123096" y="56748"/>
                  <a:pt x="129480" y="67732"/>
                </a:cubicBezTo>
                <a:lnTo>
                  <a:pt x="144125" y="92869"/>
                </a:lnTo>
                <a:lnTo>
                  <a:pt x="171629" y="92869"/>
                </a:lnTo>
                <a:cubicBezTo>
                  <a:pt x="179531" y="92869"/>
                  <a:pt x="185916" y="99253"/>
                  <a:pt x="185916" y="107156"/>
                </a:cubicBezTo>
                <a:cubicBezTo>
                  <a:pt x="185916" y="115059"/>
                  <a:pt x="179531" y="121444"/>
                  <a:pt x="171629" y="121444"/>
                </a:cubicBezTo>
                <a:lnTo>
                  <a:pt x="144125" y="121444"/>
                </a:lnTo>
                <a:cubicBezTo>
                  <a:pt x="133945" y="121444"/>
                  <a:pt x="124569" y="116041"/>
                  <a:pt x="119435" y="107246"/>
                </a:cubicBezTo>
                <a:lnTo>
                  <a:pt x="114970" y="99611"/>
                </a:lnTo>
                <a:lnTo>
                  <a:pt x="105728" y="131043"/>
                </a:lnTo>
                <a:lnTo>
                  <a:pt x="139392" y="141134"/>
                </a:lnTo>
                <a:cubicBezTo>
                  <a:pt x="151760" y="144840"/>
                  <a:pt x="158055" y="158547"/>
                  <a:pt x="152832" y="170378"/>
                </a:cubicBezTo>
                <a:lnTo>
                  <a:pt x="127561" y="227261"/>
                </a:lnTo>
                <a:cubicBezTo>
                  <a:pt x="124346" y="234494"/>
                  <a:pt x="115907" y="237708"/>
                  <a:pt x="108719" y="234494"/>
                </a:cubicBezTo>
                <a:cubicBezTo>
                  <a:pt x="101531" y="231279"/>
                  <a:pt x="98271" y="222840"/>
                  <a:pt x="101486" y="215652"/>
                </a:cubicBezTo>
                <a:lnTo>
                  <a:pt x="123453" y="166181"/>
                </a:lnTo>
                <a:lnTo>
                  <a:pt x="80635" y="153323"/>
                </a:lnTo>
                <a:cubicBezTo>
                  <a:pt x="66035" y="148947"/>
                  <a:pt x="57418" y="133811"/>
                  <a:pt x="61124" y="119033"/>
                </a:cubicBezTo>
                <a:lnTo>
                  <a:pt x="71259" y="78581"/>
                </a:lnTo>
                <a:lnTo>
                  <a:pt x="55230" y="78581"/>
                </a:lnTo>
                <a:close/>
                <a:moveTo>
                  <a:pt x="51614" y="159395"/>
                </a:moveTo>
                <a:cubicBezTo>
                  <a:pt x="57552" y="166048"/>
                  <a:pt x="65321" y="171137"/>
                  <a:pt x="74474" y="173861"/>
                </a:cubicBezTo>
                <a:lnTo>
                  <a:pt x="76572" y="174486"/>
                </a:lnTo>
                <a:lnTo>
                  <a:pt x="73491" y="183103"/>
                </a:lnTo>
                <a:cubicBezTo>
                  <a:pt x="70902" y="190381"/>
                  <a:pt x="66348" y="196855"/>
                  <a:pt x="60409" y="201766"/>
                </a:cubicBezTo>
                <a:lnTo>
                  <a:pt x="23619" y="232083"/>
                </a:lnTo>
                <a:cubicBezTo>
                  <a:pt x="17547" y="237083"/>
                  <a:pt x="8528" y="236235"/>
                  <a:pt x="3527" y="230163"/>
                </a:cubicBezTo>
                <a:cubicBezTo>
                  <a:pt x="-1473" y="224091"/>
                  <a:pt x="-625" y="215072"/>
                  <a:pt x="5447" y="210071"/>
                </a:cubicBezTo>
                <a:lnTo>
                  <a:pt x="42237" y="179755"/>
                </a:lnTo>
                <a:cubicBezTo>
                  <a:pt x="44247" y="178103"/>
                  <a:pt x="45720" y="175959"/>
                  <a:pt x="46613" y="173548"/>
                </a:cubicBezTo>
                <a:lnTo>
                  <a:pt x="51614" y="159395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18" name="Text 16"/>
          <p:cNvSpPr/>
          <p:nvPr/>
        </p:nvSpPr>
        <p:spPr>
          <a:xfrm>
            <a:off x="971550" y="445770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节假日中的执行要点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实时追数: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每2小时追踪销售进度,及时调整策略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5143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人员调度: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根据客流灵活调整人员站位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448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快速补货: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热销款及时补充,避免断货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5753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客诉快速处理: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设立专人处理客诉,避免影响销售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4" name="Shape 22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5" name="Text 23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7" name="Text 25"/>
          <p:cNvSpPr/>
          <p:nvPr/>
        </p:nvSpPr>
        <p:spPr>
          <a:xfrm>
            <a:off x="7772400" y="18669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强调节假日是业绩高峰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9" name="Text 27"/>
          <p:cNvSpPr/>
          <p:nvPr/>
        </p:nvSpPr>
        <p:spPr>
          <a:xfrm>
            <a:off x="7772400" y="21717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讲解准备清单与检查点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Text 29"/>
          <p:cNvSpPr/>
          <p:nvPr/>
        </p:nvSpPr>
        <p:spPr>
          <a:xfrm>
            <a:off x="7772400" y="24765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分享成功案例与教训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建立全面准备意识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19417" y="39243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掌握节前7项准备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19417" y="4229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学会节日人员排班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理解节日激励制定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学会节日实时管控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6" name="Shape 44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7" name="Text 45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案例分析:节假日管理方案制定(15分)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334486"/>
            <a:ext cx="652247" cy="267588"/>
          </a:xfrm>
          <a:custGeom>
            <a:avLst/>
            <a:gdLst/>
            <a:ahLst/>
            <a:cxnLst/>
            <a:rect l="l" t="t" r="r" b="b"/>
            <a:pathLst>
              <a:path w="652247" h="267588">
                <a:moveTo>
                  <a:pt x="133794" y="0"/>
                </a:moveTo>
                <a:lnTo>
                  <a:pt x="518453" y="0"/>
                </a:lnTo>
                <a:cubicBezTo>
                  <a:pt x="592345" y="0"/>
                  <a:pt x="652247" y="59902"/>
                  <a:pt x="652247" y="133794"/>
                </a:cubicBezTo>
                <a:lnTo>
                  <a:pt x="652247" y="133794"/>
                </a:lnTo>
                <a:cubicBezTo>
                  <a:pt x="652247" y="207687"/>
                  <a:pt x="592345" y="267588"/>
                  <a:pt x="518453" y="267588"/>
                </a:cubicBezTo>
                <a:lnTo>
                  <a:pt x="133794" y="267588"/>
                </a:lnTo>
                <a:cubicBezTo>
                  <a:pt x="59902" y="267588"/>
                  <a:pt x="0" y="207687"/>
                  <a:pt x="0" y="133794"/>
                </a:cubicBezTo>
                <a:lnTo>
                  <a:pt x="0" y="133794"/>
                </a:lnTo>
                <a:cubicBezTo>
                  <a:pt x="0" y="59902"/>
                  <a:pt x="59902" y="0"/>
                  <a:pt x="133794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34486" y="334486"/>
            <a:ext cx="719144" cy="267588"/>
          </a:xfrm>
          <a:prstGeom prst="rect">
            <a:avLst/>
          </a:prstGeom>
          <a:noFill/>
        </p:spPr>
        <p:txBody>
          <a:bodyPr wrap="square" lIns="133794" tIns="33449" rIns="133794" bIns="33449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84857" y="367934"/>
            <a:ext cx="2123984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kern="0" spc="53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SHIFT HANDOVER MEETING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4486" y="668971"/>
            <a:ext cx="11673547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会议管理 - 交接班会标准流程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210" y="1137251"/>
            <a:ext cx="7927309" cy="869663"/>
          </a:xfrm>
          <a:custGeom>
            <a:avLst/>
            <a:gdLst/>
            <a:ahLst/>
            <a:cxnLst/>
            <a:rect l="l" t="t" r="r" b="b"/>
            <a:pathLst>
              <a:path w="7927309" h="869663">
                <a:moveTo>
                  <a:pt x="33449" y="0"/>
                </a:moveTo>
                <a:lnTo>
                  <a:pt x="7826967" y="0"/>
                </a:lnTo>
                <a:cubicBezTo>
                  <a:pt x="7882384" y="0"/>
                  <a:pt x="7927309" y="44924"/>
                  <a:pt x="7927309" y="100342"/>
                </a:cubicBezTo>
                <a:lnTo>
                  <a:pt x="7927309" y="769321"/>
                </a:lnTo>
                <a:cubicBezTo>
                  <a:pt x="7927309" y="824738"/>
                  <a:pt x="7882384" y="869663"/>
                  <a:pt x="7826967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1210" y="1137251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Shape 6"/>
          <p:cNvSpPr/>
          <p:nvPr/>
        </p:nvSpPr>
        <p:spPr>
          <a:xfrm>
            <a:off x="501728" y="1271045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9" name="Text 7"/>
          <p:cNvSpPr/>
          <p:nvPr/>
        </p:nvSpPr>
        <p:spPr>
          <a:xfrm>
            <a:off x="468280" y="1271045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6560" y="1321218"/>
            <a:ext cx="67733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会前准备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1728" y="1672428"/>
            <a:ext cx="770989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提前整理销售数据、准备分享案例、检查会议场地、准备激励道具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1210" y="2107259"/>
            <a:ext cx="7927309" cy="869663"/>
          </a:xfrm>
          <a:custGeom>
            <a:avLst/>
            <a:gdLst/>
            <a:ahLst/>
            <a:cxnLst/>
            <a:rect l="l" t="t" r="r" b="b"/>
            <a:pathLst>
              <a:path w="7927309" h="869663">
                <a:moveTo>
                  <a:pt x="33449" y="0"/>
                </a:moveTo>
                <a:lnTo>
                  <a:pt x="7826967" y="0"/>
                </a:lnTo>
                <a:cubicBezTo>
                  <a:pt x="7882384" y="0"/>
                  <a:pt x="7927309" y="44924"/>
                  <a:pt x="7927309" y="100342"/>
                </a:cubicBezTo>
                <a:lnTo>
                  <a:pt x="7927309" y="769321"/>
                </a:lnTo>
                <a:cubicBezTo>
                  <a:pt x="7927309" y="824738"/>
                  <a:pt x="7882384" y="869663"/>
                  <a:pt x="7826967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1210" y="2107259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4" name="Shape 12"/>
          <p:cNvSpPr/>
          <p:nvPr/>
        </p:nvSpPr>
        <p:spPr>
          <a:xfrm>
            <a:off x="501728" y="2241053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468280" y="2241053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6560" y="2291226"/>
            <a:ext cx="67733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集合开会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1728" y="2642436"/>
            <a:ext cx="770989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准时集合、整队报数、检查仪容仪表、宣布会议开始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1210" y="3077267"/>
            <a:ext cx="7927309" cy="869663"/>
          </a:xfrm>
          <a:custGeom>
            <a:avLst/>
            <a:gdLst/>
            <a:ahLst/>
            <a:cxnLst/>
            <a:rect l="l" t="t" r="r" b="b"/>
            <a:pathLst>
              <a:path w="7927309" h="869663">
                <a:moveTo>
                  <a:pt x="33449" y="0"/>
                </a:moveTo>
                <a:lnTo>
                  <a:pt x="7826967" y="0"/>
                </a:lnTo>
                <a:cubicBezTo>
                  <a:pt x="7882384" y="0"/>
                  <a:pt x="7927309" y="44924"/>
                  <a:pt x="7927309" y="100342"/>
                </a:cubicBezTo>
                <a:lnTo>
                  <a:pt x="7927309" y="769321"/>
                </a:lnTo>
                <a:cubicBezTo>
                  <a:pt x="7927309" y="824738"/>
                  <a:pt x="7882384" y="869663"/>
                  <a:pt x="7826967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1210" y="3077267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0" name="Shape 18"/>
          <p:cNvSpPr/>
          <p:nvPr/>
        </p:nvSpPr>
        <p:spPr>
          <a:xfrm>
            <a:off x="501728" y="3211062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1" name="Text 19"/>
          <p:cNvSpPr/>
          <p:nvPr/>
        </p:nvSpPr>
        <p:spPr>
          <a:xfrm>
            <a:off x="468280" y="3211062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6560" y="3261235"/>
            <a:ext cx="1128889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销售数据及分享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728" y="3612444"/>
            <a:ext cx="770989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通报销售数据、分析达成情况、分享成功案例、总结问题教训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1210" y="4047276"/>
            <a:ext cx="7927309" cy="869663"/>
          </a:xfrm>
          <a:custGeom>
            <a:avLst/>
            <a:gdLst/>
            <a:ahLst/>
            <a:cxnLst/>
            <a:rect l="l" t="t" r="r" b="b"/>
            <a:pathLst>
              <a:path w="7927309" h="869663">
                <a:moveTo>
                  <a:pt x="33449" y="0"/>
                </a:moveTo>
                <a:lnTo>
                  <a:pt x="7826967" y="0"/>
                </a:lnTo>
                <a:cubicBezTo>
                  <a:pt x="7882384" y="0"/>
                  <a:pt x="7927309" y="44924"/>
                  <a:pt x="7927309" y="100342"/>
                </a:cubicBezTo>
                <a:lnTo>
                  <a:pt x="7927309" y="769321"/>
                </a:lnTo>
                <a:cubicBezTo>
                  <a:pt x="7927309" y="824738"/>
                  <a:pt x="7882384" y="869663"/>
                  <a:pt x="7826967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1210" y="4047276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6" name="Shape 24"/>
          <p:cNvSpPr/>
          <p:nvPr/>
        </p:nvSpPr>
        <p:spPr>
          <a:xfrm>
            <a:off x="501728" y="4181070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7" name="Text 25"/>
          <p:cNvSpPr/>
          <p:nvPr/>
        </p:nvSpPr>
        <p:spPr>
          <a:xfrm>
            <a:off x="468280" y="4181070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6560" y="4231243"/>
            <a:ext cx="67733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目标设定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1728" y="4582453"/>
            <a:ext cx="770989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明确本班次销售目标、分解到人、确认主推款、制定达成策略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1210" y="5017284"/>
            <a:ext cx="7927309" cy="869663"/>
          </a:xfrm>
          <a:custGeom>
            <a:avLst/>
            <a:gdLst/>
            <a:ahLst/>
            <a:cxnLst/>
            <a:rect l="l" t="t" r="r" b="b"/>
            <a:pathLst>
              <a:path w="7927309" h="869663">
                <a:moveTo>
                  <a:pt x="33449" y="0"/>
                </a:moveTo>
                <a:lnTo>
                  <a:pt x="7826967" y="0"/>
                </a:lnTo>
                <a:cubicBezTo>
                  <a:pt x="7882384" y="0"/>
                  <a:pt x="7927309" y="44924"/>
                  <a:pt x="7927309" y="100342"/>
                </a:cubicBezTo>
                <a:lnTo>
                  <a:pt x="7927309" y="769321"/>
                </a:lnTo>
                <a:cubicBezTo>
                  <a:pt x="7927309" y="824738"/>
                  <a:pt x="7882384" y="869663"/>
                  <a:pt x="7826967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1210" y="5017284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Shape 30"/>
          <p:cNvSpPr/>
          <p:nvPr/>
        </p:nvSpPr>
        <p:spPr>
          <a:xfrm>
            <a:off x="501728" y="5151078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468280" y="5151078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6560" y="5201251"/>
            <a:ext cx="67733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事项分享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1728" y="5552461"/>
            <a:ext cx="7709893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传达公司通知、分享新品信息、强调服务标准、提醒注意事项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1210" y="5987292"/>
            <a:ext cx="3905119" cy="869663"/>
          </a:xfrm>
          <a:custGeom>
            <a:avLst/>
            <a:gdLst/>
            <a:ahLst/>
            <a:cxnLst/>
            <a:rect l="l" t="t" r="r" b="b"/>
            <a:pathLst>
              <a:path w="3905119" h="869663">
                <a:moveTo>
                  <a:pt x="33449" y="0"/>
                </a:moveTo>
                <a:lnTo>
                  <a:pt x="3804778" y="0"/>
                </a:lnTo>
                <a:cubicBezTo>
                  <a:pt x="3860195" y="0"/>
                  <a:pt x="3905119" y="44924"/>
                  <a:pt x="3905119" y="100342"/>
                </a:cubicBezTo>
                <a:lnTo>
                  <a:pt x="3905119" y="769321"/>
                </a:lnTo>
                <a:cubicBezTo>
                  <a:pt x="3905119" y="824738"/>
                  <a:pt x="3860195" y="869663"/>
                  <a:pt x="3804778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1210" y="5987292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8" name="Shape 36"/>
          <p:cNvSpPr/>
          <p:nvPr/>
        </p:nvSpPr>
        <p:spPr>
          <a:xfrm>
            <a:off x="501728" y="6121086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9" name="Text 37"/>
          <p:cNvSpPr/>
          <p:nvPr/>
        </p:nvSpPr>
        <p:spPr>
          <a:xfrm>
            <a:off x="468280" y="6121086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6560" y="6171259"/>
            <a:ext cx="376296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1728" y="6522469"/>
            <a:ext cx="3687704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总结要点、强调重点、明确责任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75228" y="5987292"/>
            <a:ext cx="3905119" cy="869663"/>
          </a:xfrm>
          <a:custGeom>
            <a:avLst/>
            <a:gdLst/>
            <a:ahLst/>
            <a:cxnLst/>
            <a:rect l="l" t="t" r="r" b="b"/>
            <a:pathLst>
              <a:path w="3905119" h="869663">
                <a:moveTo>
                  <a:pt x="33449" y="0"/>
                </a:moveTo>
                <a:lnTo>
                  <a:pt x="3804778" y="0"/>
                </a:lnTo>
                <a:cubicBezTo>
                  <a:pt x="3860195" y="0"/>
                  <a:pt x="3905119" y="44924"/>
                  <a:pt x="3905119" y="100342"/>
                </a:cubicBezTo>
                <a:lnTo>
                  <a:pt x="3905119" y="769321"/>
                </a:lnTo>
                <a:cubicBezTo>
                  <a:pt x="3905119" y="824738"/>
                  <a:pt x="3860195" y="869663"/>
                  <a:pt x="3804778" y="869663"/>
                </a:cubicBez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75228" y="5987292"/>
            <a:ext cx="33449" cy="869663"/>
          </a:xfrm>
          <a:custGeom>
            <a:avLst/>
            <a:gdLst/>
            <a:ahLst/>
            <a:cxnLst/>
            <a:rect l="l" t="t" r="r" b="b"/>
            <a:pathLst>
              <a:path w="33449" h="869663">
                <a:moveTo>
                  <a:pt x="33449" y="0"/>
                </a:moveTo>
                <a:lnTo>
                  <a:pt x="33449" y="0"/>
                </a:lnTo>
                <a:lnTo>
                  <a:pt x="33449" y="869663"/>
                </a:lnTo>
                <a:lnTo>
                  <a:pt x="33449" y="869663"/>
                </a:lnTo>
                <a:cubicBezTo>
                  <a:pt x="14975" y="869663"/>
                  <a:pt x="0" y="854687"/>
                  <a:pt x="0" y="836214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Shape 42"/>
          <p:cNvSpPr/>
          <p:nvPr/>
        </p:nvSpPr>
        <p:spPr>
          <a:xfrm>
            <a:off x="4525747" y="6121086"/>
            <a:ext cx="334486" cy="334486"/>
          </a:xfrm>
          <a:custGeom>
            <a:avLst/>
            <a:gdLst/>
            <a:ahLst/>
            <a:cxnLst/>
            <a:rect l="l" t="t" r="r" b="b"/>
            <a:pathLst>
              <a:path w="334486" h="334486">
                <a:moveTo>
                  <a:pt x="66897" y="0"/>
                </a:moveTo>
                <a:lnTo>
                  <a:pt x="267588" y="0"/>
                </a:lnTo>
                <a:cubicBezTo>
                  <a:pt x="304535" y="0"/>
                  <a:pt x="334486" y="29951"/>
                  <a:pt x="334486" y="66897"/>
                </a:cubicBezTo>
                <a:lnTo>
                  <a:pt x="334486" y="267588"/>
                </a:lnTo>
                <a:cubicBezTo>
                  <a:pt x="334486" y="304535"/>
                  <a:pt x="304535" y="334486"/>
                  <a:pt x="267588" y="334486"/>
                </a:cubicBezTo>
                <a:lnTo>
                  <a:pt x="66897" y="334486"/>
                </a:lnTo>
                <a:cubicBezTo>
                  <a:pt x="29951" y="334486"/>
                  <a:pt x="0" y="304535"/>
                  <a:pt x="0" y="267588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5" name="Text 43"/>
          <p:cNvSpPr/>
          <p:nvPr/>
        </p:nvSpPr>
        <p:spPr>
          <a:xfrm>
            <a:off x="4492298" y="6121086"/>
            <a:ext cx="401383" cy="3344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60578" y="6171259"/>
            <a:ext cx="67733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鼓舞士气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25747" y="6522469"/>
            <a:ext cx="3687704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团队激励、口号宣导、鼓舞士气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49420" y="1137251"/>
            <a:ext cx="3403391" cy="1672428"/>
          </a:xfrm>
          <a:custGeom>
            <a:avLst/>
            <a:gdLst/>
            <a:ahLst/>
            <a:cxnLst/>
            <a:rect l="l" t="t" r="r" b="b"/>
            <a:pathLst>
              <a:path w="3403391" h="1672428">
                <a:moveTo>
                  <a:pt x="100346" y="0"/>
                </a:moveTo>
                <a:lnTo>
                  <a:pt x="3303045" y="0"/>
                </a:lnTo>
                <a:cubicBezTo>
                  <a:pt x="3358465" y="0"/>
                  <a:pt x="3403391" y="44926"/>
                  <a:pt x="3403391" y="100346"/>
                </a:cubicBezTo>
                <a:lnTo>
                  <a:pt x="3403391" y="1572082"/>
                </a:lnTo>
                <a:cubicBezTo>
                  <a:pt x="3403391" y="1627502"/>
                  <a:pt x="3358465" y="1672428"/>
                  <a:pt x="3303045" y="1672428"/>
                </a:cubicBezTo>
                <a:lnTo>
                  <a:pt x="100346" y="1672428"/>
                </a:lnTo>
                <a:cubicBezTo>
                  <a:pt x="44926" y="1672428"/>
                  <a:pt x="0" y="1627502"/>
                  <a:pt x="0" y="1572082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9" name="Shape 47"/>
          <p:cNvSpPr/>
          <p:nvPr/>
        </p:nvSpPr>
        <p:spPr>
          <a:xfrm>
            <a:off x="8618753" y="1346305"/>
            <a:ext cx="188148" cy="150519"/>
          </a:xfrm>
          <a:custGeom>
            <a:avLst/>
            <a:gdLst/>
            <a:ahLst/>
            <a:cxnLst/>
            <a:rect l="l" t="t" r="r" b="b"/>
            <a:pathLst>
              <a:path w="188148" h="150519">
                <a:moveTo>
                  <a:pt x="37630" y="28222"/>
                </a:moveTo>
                <a:cubicBezTo>
                  <a:pt x="37630" y="17845"/>
                  <a:pt x="46067" y="9407"/>
                  <a:pt x="56444" y="9407"/>
                </a:cubicBezTo>
                <a:lnTo>
                  <a:pt x="159926" y="9407"/>
                </a:lnTo>
                <a:cubicBezTo>
                  <a:pt x="170303" y="9407"/>
                  <a:pt x="178741" y="17845"/>
                  <a:pt x="178741" y="28222"/>
                </a:cubicBezTo>
                <a:lnTo>
                  <a:pt x="178741" y="98778"/>
                </a:lnTo>
                <a:lnTo>
                  <a:pt x="150519" y="98778"/>
                </a:lnTo>
                <a:lnTo>
                  <a:pt x="150519" y="94074"/>
                </a:lnTo>
                <a:cubicBezTo>
                  <a:pt x="150519" y="88871"/>
                  <a:pt x="146315" y="84667"/>
                  <a:pt x="141111" y="84667"/>
                </a:cubicBezTo>
                <a:lnTo>
                  <a:pt x="122296" y="84667"/>
                </a:lnTo>
                <a:cubicBezTo>
                  <a:pt x="117093" y="84667"/>
                  <a:pt x="112889" y="88871"/>
                  <a:pt x="112889" y="94074"/>
                </a:cubicBezTo>
                <a:lnTo>
                  <a:pt x="112889" y="98778"/>
                </a:lnTo>
                <a:lnTo>
                  <a:pt x="74936" y="98778"/>
                </a:lnTo>
                <a:cubicBezTo>
                  <a:pt x="78140" y="93251"/>
                  <a:pt x="79963" y="86813"/>
                  <a:pt x="79963" y="79963"/>
                </a:cubicBezTo>
                <a:cubicBezTo>
                  <a:pt x="79963" y="59178"/>
                  <a:pt x="63118" y="42333"/>
                  <a:pt x="42333" y="42333"/>
                </a:cubicBezTo>
                <a:cubicBezTo>
                  <a:pt x="40746" y="42333"/>
                  <a:pt x="39158" y="42422"/>
                  <a:pt x="37630" y="42627"/>
                </a:cubicBezTo>
                <a:lnTo>
                  <a:pt x="37630" y="28222"/>
                </a:lnTo>
                <a:close/>
                <a:moveTo>
                  <a:pt x="97896" y="131704"/>
                </a:moveTo>
                <a:cubicBezTo>
                  <a:pt x="96397" y="124589"/>
                  <a:pt x="93104" y="118151"/>
                  <a:pt x="88459" y="112889"/>
                </a:cubicBezTo>
                <a:lnTo>
                  <a:pt x="178741" y="112889"/>
                </a:lnTo>
                <a:cubicBezTo>
                  <a:pt x="178741" y="123266"/>
                  <a:pt x="170303" y="131704"/>
                  <a:pt x="159926" y="131704"/>
                </a:cubicBezTo>
                <a:lnTo>
                  <a:pt x="97896" y="131704"/>
                </a:lnTo>
                <a:close/>
                <a:moveTo>
                  <a:pt x="18815" y="79963"/>
                </a:moveTo>
                <a:cubicBezTo>
                  <a:pt x="18815" y="66983"/>
                  <a:pt x="29353" y="56444"/>
                  <a:pt x="42333" y="56444"/>
                </a:cubicBezTo>
                <a:cubicBezTo>
                  <a:pt x="55314" y="56444"/>
                  <a:pt x="65852" y="66983"/>
                  <a:pt x="65852" y="79963"/>
                </a:cubicBezTo>
                <a:cubicBezTo>
                  <a:pt x="65852" y="92943"/>
                  <a:pt x="55314" y="103481"/>
                  <a:pt x="42333" y="103481"/>
                </a:cubicBezTo>
                <a:cubicBezTo>
                  <a:pt x="29353" y="103481"/>
                  <a:pt x="18815" y="92943"/>
                  <a:pt x="18815" y="79963"/>
                </a:cubicBezTo>
                <a:close/>
                <a:moveTo>
                  <a:pt x="0" y="141111"/>
                </a:moveTo>
                <a:cubicBezTo>
                  <a:pt x="0" y="125530"/>
                  <a:pt x="12641" y="112889"/>
                  <a:pt x="28222" y="112889"/>
                </a:cubicBezTo>
                <a:lnTo>
                  <a:pt x="56444" y="112889"/>
                </a:lnTo>
                <a:cubicBezTo>
                  <a:pt x="72025" y="112889"/>
                  <a:pt x="84667" y="125530"/>
                  <a:pt x="84667" y="141111"/>
                </a:cubicBezTo>
                <a:cubicBezTo>
                  <a:pt x="84667" y="146315"/>
                  <a:pt x="80463" y="150519"/>
                  <a:pt x="75259" y="150519"/>
                </a:cubicBezTo>
                <a:lnTo>
                  <a:pt x="9407" y="150519"/>
                </a:lnTo>
                <a:cubicBezTo>
                  <a:pt x="4204" y="150519"/>
                  <a:pt x="0" y="146315"/>
                  <a:pt x="0" y="14111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0" name="Text 48"/>
          <p:cNvSpPr/>
          <p:nvPr/>
        </p:nvSpPr>
        <p:spPr>
          <a:xfrm>
            <a:off x="8808992" y="1304494"/>
            <a:ext cx="2951835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633387" y="1672428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2" name="Text 50"/>
          <p:cNvSpPr/>
          <p:nvPr/>
        </p:nvSpPr>
        <p:spPr>
          <a:xfrm>
            <a:off x="8850802" y="1638979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演示完整会议流程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633387" y="1940016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4" name="Text 52"/>
          <p:cNvSpPr/>
          <p:nvPr/>
        </p:nvSpPr>
        <p:spPr>
          <a:xfrm>
            <a:off x="8850802" y="1906568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讲解每个环节要点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633387" y="2207605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6" name="Text 54"/>
          <p:cNvSpPr/>
          <p:nvPr/>
        </p:nvSpPr>
        <p:spPr>
          <a:xfrm>
            <a:off x="8850802" y="2174156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分享高效会议技巧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633387" y="2475193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88952" y="55582"/>
                </a:moveTo>
                <a:lnTo>
                  <a:pt x="68047" y="89031"/>
                </a:lnTo>
                <a:cubicBezTo>
                  <a:pt x="66949" y="90781"/>
                  <a:pt x="65068" y="91879"/>
                  <a:pt x="63003" y="91984"/>
                </a:cubicBezTo>
                <a:cubicBezTo>
                  <a:pt x="60939" y="92088"/>
                  <a:pt x="58953" y="91147"/>
                  <a:pt x="57725" y="89475"/>
                </a:cubicBezTo>
                <a:lnTo>
                  <a:pt x="45182" y="72751"/>
                </a:lnTo>
                <a:cubicBezTo>
                  <a:pt x="43091" y="69981"/>
                  <a:pt x="43666" y="66061"/>
                  <a:pt x="46436" y="63970"/>
                </a:cubicBezTo>
                <a:cubicBezTo>
                  <a:pt x="49206" y="61880"/>
                  <a:pt x="53126" y="62455"/>
                  <a:pt x="55216" y="65225"/>
                </a:cubicBezTo>
                <a:lnTo>
                  <a:pt x="62272" y="74632"/>
                </a:lnTo>
                <a:lnTo>
                  <a:pt x="78317" y="48945"/>
                </a:lnTo>
                <a:cubicBezTo>
                  <a:pt x="80146" y="46018"/>
                  <a:pt x="84013" y="45103"/>
                  <a:pt x="86966" y="46959"/>
                </a:cubicBezTo>
                <a:cubicBezTo>
                  <a:pt x="89919" y="48814"/>
                  <a:pt x="90808" y="52655"/>
                  <a:pt x="88952" y="5560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8" name="Text 56"/>
          <p:cNvSpPr/>
          <p:nvPr/>
        </p:nvSpPr>
        <p:spPr>
          <a:xfrm>
            <a:off x="8850802" y="2441745"/>
            <a:ext cx="1271045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强调会议纪律与效率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49420" y="2943473"/>
            <a:ext cx="3403391" cy="1672428"/>
          </a:xfrm>
          <a:custGeom>
            <a:avLst/>
            <a:gdLst/>
            <a:ahLst/>
            <a:cxnLst/>
            <a:rect l="l" t="t" r="r" b="b"/>
            <a:pathLst>
              <a:path w="3403391" h="1672428">
                <a:moveTo>
                  <a:pt x="100346" y="0"/>
                </a:moveTo>
                <a:lnTo>
                  <a:pt x="3303045" y="0"/>
                </a:lnTo>
                <a:cubicBezTo>
                  <a:pt x="3358465" y="0"/>
                  <a:pt x="3403391" y="44926"/>
                  <a:pt x="3403391" y="100346"/>
                </a:cubicBezTo>
                <a:lnTo>
                  <a:pt x="3403391" y="1572082"/>
                </a:lnTo>
                <a:cubicBezTo>
                  <a:pt x="3403391" y="1627502"/>
                  <a:pt x="3358465" y="1672428"/>
                  <a:pt x="3303045" y="1672428"/>
                </a:cubicBezTo>
                <a:lnTo>
                  <a:pt x="100346" y="1672428"/>
                </a:lnTo>
                <a:cubicBezTo>
                  <a:pt x="44926" y="1672428"/>
                  <a:pt x="0" y="1627502"/>
                  <a:pt x="0" y="1572082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173" dist="3344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646975" y="3152527"/>
            <a:ext cx="131704" cy="150519"/>
          </a:xfrm>
          <a:custGeom>
            <a:avLst/>
            <a:gdLst/>
            <a:ahLst/>
            <a:cxnLst/>
            <a:rect l="l" t="t" r="r" b="b"/>
            <a:pathLst>
              <a:path w="131704" h="150519">
                <a:moveTo>
                  <a:pt x="70938" y="-3822"/>
                </a:moveTo>
                <a:cubicBezTo>
                  <a:pt x="67586" y="-4498"/>
                  <a:pt x="64147" y="-4498"/>
                  <a:pt x="60795" y="-3822"/>
                </a:cubicBezTo>
                <a:lnTo>
                  <a:pt x="5674" y="7203"/>
                </a:lnTo>
                <a:cubicBezTo>
                  <a:pt x="2381" y="7849"/>
                  <a:pt x="0" y="10760"/>
                  <a:pt x="0" y="14111"/>
                </a:cubicBezTo>
                <a:cubicBezTo>
                  <a:pt x="0" y="17139"/>
                  <a:pt x="1911" y="19785"/>
                  <a:pt x="4704" y="20755"/>
                </a:cubicBezTo>
                <a:lnTo>
                  <a:pt x="4704" y="42333"/>
                </a:lnTo>
                <a:lnTo>
                  <a:pt x="88" y="65440"/>
                </a:lnTo>
                <a:cubicBezTo>
                  <a:pt x="29" y="65705"/>
                  <a:pt x="0" y="65999"/>
                  <a:pt x="0" y="66293"/>
                </a:cubicBezTo>
                <a:cubicBezTo>
                  <a:pt x="0" y="68645"/>
                  <a:pt x="1911" y="70585"/>
                  <a:pt x="4292" y="70585"/>
                </a:cubicBezTo>
                <a:lnTo>
                  <a:pt x="14552" y="70585"/>
                </a:lnTo>
                <a:cubicBezTo>
                  <a:pt x="16904" y="70585"/>
                  <a:pt x="18844" y="68674"/>
                  <a:pt x="18844" y="66293"/>
                </a:cubicBezTo>
                <a:cubicBezTo>
                  <a:pt x="18844" y="65999"/>
                  <a:pt x="18815" y="65734"/>
                  <a:pt x="18756" y="65440"/>
                </a:cubicBezTo>
                <a:lnTo>
                  <a:pt x="14111" y="42333"/>
                </a:lnTo>
                <a:lnTo>
                  <a:pt x="14111" y="22725"/>
                </a:lnTo>
                <a:lnTo>
                  <a:pt x="28222" y="25547"/>
                </a:lnTo>
                <a:lnTo>
                  <a:pt x="28222" y="42333"/>
                </a:lnTo>
                <a:cubicBezTo>
                  <a:pt x="28222" y="63118"/>
                  <a:pt x="45067" y="79963"/>
                  <a:pt x="65852" y="79963"/>
                </a:cubicBezTo>
                <a:cubicBezTo>
                  <a:pt x="86636" y="79963"/>
                  <a:pt x="103481" y="63118"/>
                  <a:pt x="103481" y="42333"/>
                </a:cubicBezTo>
                <a:lnTo>
                  <a:pt x="103481" y="25547"/>
                </a:lnTo>
                <a:lnTo>
                  <a:pt x="126030" y="21049"/>
                </a:lnTo>
                <a:cubicBezTo>
                  <a:pt x="129322" y="20373"/>
                  <a:pt x="131704" y="17463"/>
                  <a:pt x="131704" y="14111"/>
                </a:cubicBezTo>
                <a:cubicBezTo>
                  <a:pt x="131704" y="10760"/>
                  <a:pt x="129322" y="7849"/>
                  <a:pt x="126030" y="7203"/>
                </a:cubicBezTo>
                <a:lnTo>
                  <a:pt x="70938" y="-3822"/>
                </a:lnTo>
                <a:close/>
                <a:moveTo>
                  <a:pt x="65852" y="65852"/>
                </a:moveTo>
                <a:cubicBezTo>
                  <a:pt x="52858" y="65852"/>
                  <a:pt x="42333" y="55327"/>
                  <a:pt x="42333" y="42333"/>
                </a:cubicBezTo>
                <a:lnTo>
                  <a:pt x="89370" y="42333"/>
                </a:lnTo>
                <a:cubicBezTo>
                  <a:pt x="89370" y="55327"/>
                  <a:pt x="78846" y="65852"/>
                  <a:pt x="65852" y="65852"/>
                </a:cubicBezTo>
                <a:close/>
                <a:moveTo>
                  <a:pt x="35307" y="94103"/>
                </a:moveTo>
                <a:cubicBezTo>
                  <a:pt x="17257" y="102394"/>
                  <a:pt x="4704" y="120621"/>
                  <a:pt x="4704" y="141787"/>
                </a:cubicBezTo>
                <a:cubicBezTo>
                  <a:pt x="4704" y="146609"/>
                  <a:pt x="8614" y="150519"/>
                  <a:pt x="13435" y="150519"/>
                </a:cubicBezTo>
                <a:lnTo>
                  <a:pt x="58796" y="150519"/>
                </a:lnTo>
                <a:lnTo>
                  <a:pt x="58796" y="107597"/>
                </a:lnTo>
                <a:lnTo>
                  <a:pt x="41922" y="94956"/>
                </a:lnTo>
                <a:cubicBezTo>
                  <a:pt x="40011" y="93516"/>
                  <a:pt x="37453" y="93133"/>
                  <a:pt x="35278" y="94133"/>
                </a:cubicBezTo>
                <a:close/>
                <a:moveTo>
                  <a:pt x="72907" y="150519"/>
                </a:moveTo>
                <a:lnTo>
                  <a:pt x="118269" y="150519"/>
                </a:lnTo>
                <a:cubicBezTo>
                  <a:pt x="123090" y="150519"/>
                  <a:pt x="127000" y="146609"/>
                  <a:pt x="127000" y="141787"/>
                </a:cubicBezTo>
                <a:cubicBezTo>
                  <a:pt x="127000" y="120621"/>
                  <a:pt x="114447" y="102394"/>
                  <a:pt x="96397" y="94133"/>
                </a:cubicBezTo>
                <a:cubicBezTo>
                  <a:pt x="94221" y="93133"/>
                  <a:pt x="91663" y="93516"/>
                  <a:pt x="89753" y="94956"/>
                </a:cubicBezTo>
                <a:lnTo>
                  <a:pt x="72878" y="107597"/>
                </a:lnTo>
                <a:lnTo>
                  <a:pt x="72878" y="150519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61" name="Text 59"/>
          <p:cNvSpPr/>
          <p:nvPr/>
        </p:nvSpPr>
        <p:spPr>
          <a:xfrm>
            <a:off x="8808992" y="3110716"/>
            <a:ext cx="2951835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16663" y="3445202"/>
            <a:ext cx="183967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804288" y="3445202"/>
            <a:ext cx="1078716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熟记7个会议环节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16663" y="3712790"/>
            <a:ext cx="183967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804288" y="3712790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掌握会议主持技巧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16663" y="3980379"/>
            <a:ext cx="183967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04288" y="3980379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学会数据通报方法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16663" y="4247967"/>
            <a:ext cx="183967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804288" y="4247967"/>
            <a:ext cx="1137251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学会团队激励技巧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49420" y="4749695"/>
            <a:ext cx="3403391" cy="769317"/>
          </a:xfrm>
          <a:custGeom>
            <a:avLst/>
            <a:gdLst/>
            <a:ahLst/>
            <a:cxnLst/>
            <a:rect l="l" t="t" r="r" b="b"/>
            <a:pathLst>
              <a:path w="3403391" h="769317">
                <a:moveTo>
                  <a:pt x="100342" y="0"/>
                </a:moveTo>
                <a:lnTo>
                  <a:pt x="3303049" y="0"/>
                </a:lnTo>
                <a:cubicBezTo>
                  <a:pt x="3358466" y="0"/>
                  <a:pt x="3403391" y="44925"/>
                  <a:pt x="3403391" y="100342"/>
                </a:cubicBezTo>
                <a:lnTo>
                  <a:pt x="3403391" y="668975"/>
                </a:lnTo>
                <a:cubicBezTo>
                  <a:pt x="3403391" y="724392"/>
                  <a:pt x="3358466" y="769317"/>
                  <a:pt x="3303049" y="769317"/>
                </a:cubicBezTo>
                <a:lnTo>
                  <a:pt x="100342" y="769317"/>
                </a:lnTo>
                <a:cubicBezTo>
                  <a:pt x="44925" y="769317"/>
                  <a:pt x="0" y="724392"/>
                  <a:pt x="0" y="668975"/>
                </a:cubicBezTo>
                <a:lnTo>
                  <a:pt x="0" y="100342"/>
                </a:lnTo>
                <a:cubicBezTo>
                  <a:pt x="0" y="44962"/>
                  <a:pt x="44962" y="0"/>
                  <a:pt x="100342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71" name="Shape 69"/>
          <p:cNvSpPr/>
          <p:nvPr/>
        </p:nvSpPr>
        <p:spPr>
          <a:xfrm>
            <a:off x="8622934" y="4925300"/>
            <a:ext cx="112889" cy="150519"/>
          </a:xfrm>
          <a:custGeom>
            <a:avLst/>
            <a:gdLst/>
            <a:ahLst/>
            <a:cxnLst/>
            <a:rect l="l" t="t" r="r" b="b"/>
            <a:pathLst>
              <a:path w="112889" h="150519">
                <a:moveTo>
                  <a:pt x="91546" y="9407"/>
                </a:moveTo>
                <a:lnTo>
                  <a:pt x="94074" y="9407"/>
                </a:lnTo>
                <a:cubicBezTo>
                  <a:pt x="104452" y="9407"/>
                  <a:pt x="112889" y="17845"/>
                  <a:pt x="112889" y="28222"/>
                </a:cubicBezTo>
                <a:lnTo>
                  <a:pt x="112889" y="131704"/>
                </a:lnTo>
                <a:cubicBezTo>
                  <a:pt x="112889" y="142081"/>
                  <a:pt x="104452" y="150519"/>
                  <a:pt x="94074" y="150519"/>
                </a:cubicBezTo>
                <a:lnTo>
                  <a:pt x="18815" y="150519"/>
                </a:lnTo>
                <a:cubicBezTo>
                  <a:pt x="8437" y="150519"/>
                  <a:pt x="0" y="142081"/>
                  <a:pt x="0" y="131704"/>
                </a:cubicBezTo>
                <a:lnTo>
                  <a:pt x="0" y="28222"/>
                </a:lnTo>
                <a:cubicBezTo>
                  <a:pt x="0" y="17845"/>
                  <a:pt x="8437" y="9407"/>
                  <a:pt x="18815" y="9407"/>
                </a:cubicBezTo>
                <a:lnTo>
                  <a:pt x="21343" y="9407"/>
                </a:lnTo>
                <a:cubicBezTo>
                  <a:pt x="24577" y="3792"/>
                  <a:pt x="30662" y="0"/>
                  <a:pt x="37630" y="0"/>
                </a:cubicBezTo>
                <a:lnTo>
                  <a:pt x="75259" y="0"/>
                </a:lnTo>
                <a:cubicBezTo>
                  <a:pt x="82227" y="0"/>
                  <a:pt x="88312" y="3792"/>
                  <a:pt x="91546" y="9407"/>
                </a:cubicBezTo>
                <a:close/>
                <a:moveTo>
                  <a:pt x="72907" y="32926"/>
                </a:moveTo>
                <a:cubicBezTo>
                  <a:pt x="76817" y="32926"/>
                  <a:pt x="79963" y="29780"/>
                  <a:pt x="79963" y="25870"/>
                </a:cubicBezTo>
                <a:cubicBezTo>
                  <a:pt x="79963" y="21960"/>
                  <a:pt x="76817" y="18815"/>
                  <a:pt x="72907" y="18815"/>
                </a:cubicBezTo>
                <a:lnTo>
                  <a:pt x="39981" y="18815"/>
                </a:lnTo>
                <a:cubicBezTo>
                  <a:pt x="36072" y="18815"/>
                  <a:pt x="32926" y="21960"/>
                  <a:pt x="32926" y="25870"/>
                </a:cubicBezTo>
                <a:cubicBezTo>
                  <a:pt x="32926" y="29780"/>
                  <a:pt x="36072" y="32926"/>
                  <a:pt x="39981" y="32926"/>
                </a:cubicBezTo>
                <a:lnTo>
                  <a:pt x="72907" y="32926"/>
                </a:lnTo>
                <a:close/>
                <a:moveTo>
                  <a:pt x="37630" y="75259"/>
                </a:moveTo>
                <a:cubicBezTo>
                  <a:pt x="37630" y="70067"/>
                  <a:pt x="33414" y="65852"/>
                  <a:pt x="28222" y="65852"/>
                </a:cubicBezTo>
                <a:cubicBezTo>
                  <a:pt x="23030" y="65852"/>
                  <a:pt x="18815" y="70067"/>
                  <a:pt x="18815" y="75259"/>
                </a:cubicBezTo>
                <a:cubicBezTo>
                  <a:pt x="18815" y="80451"/>
                  <a:pt x="23030" y="84667"/>
                  <a:pt x="28222" y="84667"/>
                </a:cubicBezTo>
                <a:cubicBezTo>
                  <a:pt x="33414" y="84667"/>
                  <a:pt x="37630" y="80451"/>
                  <a:pt x="37630" y="75259"/>
                </a:cubicBezTo>
                <a:close/>
                <a:moveTo>
                  <a:pt x="47037" y="75259"/>
                </a:moveTo>
                <a:cubicBezTo>
                  <a:pt x="47037" y="79169"/>
                  <a:pt x="50183" y="82315"/>
                  <a:pt x="54093" y="82315"/>
                </a:cubicBezTo>
                <a:lnTo>
                  <a:pt x="87019" y="82315"/>
                </a:lnTo>
                <a:cubicBezTo>
                  <a:pt x="90928" y="82315"/>
                  <a:pt x="94074" y="79169"/>
                  <a:pt x="94074" y="75259"/>
                </a:cubicBezTo>
                <a:cubicBezTo>
                  <a:pt x="94074" y="71349"/>
                  <a:pt x="90928" y="68204"/>
                  <a:pt x="87019" y="68204"/>
                </a:cubicBezTo>
                <a:lnTo>
                  <a:pt x="54093" y="68204"/>
                </a:lnTo>
                <a:cubicBezTo>
                  <a:pt x="50183" y="68204"/>
                  <a:pt x="47037" y="71349"/>
                  <a:pt x="47037" y="75259"/>
                </a:cubicBezTo>
                <a:close/>
                <a:moveTo>
                  <a:pt x="47037" y="112889"/>
                </a:moveTo>
                <a:cubicBezTo>
                  <a:pt x="47037" y="116799"/>
                  <a:pt x="50183" y="119944"/>
                  <a:pt x="54093" y="119944"/>
                </a:cubicBezTo>
                <a:lnTo>
                  <a:pt x="87019" y="119944"/>
                </a:lnTo>
                <a:cubicBezTo>
                  <a:pt x="90928" y="119944"/>
                  <a:pt x="94074" y="116799"/>
                  <a:pt x="94074" y="112889"/>
                </a:cubicBezTo>
                <a:cubicBezTo>
                  <a:pt x="94074" y="108979"/>
                  <a:pt x="90928" y="105833"/>
                  <a:pt x="87019" y="105833"/>
                </a:cubicBezTo>
                <a:lnTo>
                  <a:pt x="54093" y="105833"/>
                </a:lnTo>
                <a:cubicBezTo>
                  <a:pt x="50183" y="105833"/>
                  <a:pt x="47037" y="108979"/>
                  <a:pt x="47037" y="112889"/>
                </a:cubicBezTo>
                <a:close/>
                <a:moveTo>
                  <a:pt x="28222" y="122296"/>
                </a:moveTo>
                <a:cubicBezTo>
                  <a:pt x="33414" y="122296"/>
                  <a:pt x="37630" y="118081"/>
                  <a:pt x="37630" y="112889"/>
                </a:cubicBezTo>
                <a:cubicBezTo>
                  <a:pt x="37630" y="107697"/>
                  <a:pt x="33414" y="103481"/>
                  <a:pt x="28222" y="103481"/>
                </a:cubicBezTo>
                <a:cubicBezTo>
                  <a:pt x="23030" y="103481"/>
                  <a:pt x="18815" y="107697"/>
                  <a:pt x="18815" y="112889"/>
                </a:cubicBezTo>
                <a:cubicBezTo>
                  <a:pt x="18815" y="118081"/>
                  <a:pt x="23030" y="122296"/>
                  <a:pt x="28222" y="122296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72" name="Text 70"/>
          <p:cNvSpPr/>
          <p:nvPr/>
        </p:nvSpPr>
        <p:spPr>
          <a:xfrm>
            <a:off x="8775543" y="4883490"/>
            <a:ext cx="3018733" cy="234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583214" y="5184527"/>
            <a:ext cx="3202700" cy="200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实操演练:交接班会主持(15分)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62857"/>
            <a:ext cx="707571" cy="290286"/>
          </a:xfrm>
          <a:custGeom>
            <a:avLst/>
            <a:gdLst/>
            <a:ahLst/>
            <a:cxnLst/>
            <a:rect l="l" t="t" r="r" b="b"/>
            <a:pathLst>
              <a:path w="707571" h="290286">
                <a:moveTo>
                  <a:pt x="145143" y="0"/>
                </a:moveTo>
                <a:lnTo>
                  <a:pt x="562429" y="0"/>
                </a:lnTo>
                <a:cubicBezTo>
                  <a:pt x="642589" y="0"/>
                  <a:pt x="707571" y="64983"/>
                  <a:pt x="707571" y="145143"/>
                </a:cubicBezTo>
                <a:lnTo>
                  <a:pt x="707571" y="145143"/>
                </a:lnTo>
                <a:cubicBezTo>
                  <a:pt x="707571" y="225303"/>
                  <a:pt x="642589" y="290286"/>
                  <a:pt x="562429" y="290286"/>
                </a:cubicBezTo>
                <a:lnTo>
                  <a:pt x="145143" y="290286"/>
                </a:lnTo>
                <a:cubicBezTo>
                  <a:pt x="65036" y="290286"/>
                  <a:pt x="0" y="225249"/>
                  <a:pt x="0" y="145143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62857" y="362857"/>
            <a:ext cx="780143" cy="290286"/>
          </a:xfrm>
          <a:prstGeom prst="rect">
            <a:avLst/>
          </a:prstGeom>
          <a:noFill/>
        </p:spPr>
        <p:txBody>
          <a:bodyPr wrap="square" lIns="145143" tIns="36286" rIns="145143" bIns="36286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6876" y="399143"/>
            <a:ext cx="2249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kern="0" spc="57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STORE LOG &amp; DATA TOOLS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2857" y="725714"/>
            <a:ext cx="11629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会议管理 - 店铺日志与数据化工具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2857" y="1233714"/>
            <a:ext cx="6767286" cy="3664857"/>
          </a:xfrm>
          <a:custGeom>
            <a:avLst/>
            <a:gdLst/>
            <a:ahLst/>
            <a:cxnLst/>
            <a:rect l="l" t="t" r="r" b="b"/>
            <a:pathLst>
              <a:path w="6767286" h="3664857">
                <a:moveTo>
                  <a:pt x="108846" y="0"/>
                </a:moveTo>
                <a:lnTo>
                  <a:pt x="6658439" y="0"/>
                </a:lnTo>
                <a:cubicBezTo>
                  <a:pt x="6718554" y="0"/>
                  <a:pt x="6767286" y="48732"/>
                  <a:pt x="6767286" y="108846"/>
                </a:cubicBezTo>
                <a:lnTo>
                  <a:pt x="6767286" y="3556011"/>
                </a:lnTo>
                <a:cubicBezTo>
                  <a:pt x="6767286" y="3616125"/>
                  <a:pt x="6718554" y="3664857"/>
                  <a:pt x="6658439" y="3664857"/>
                </a:cubicBezTo>
                <a:lnTo>
                  <a:pt x="108846" y="3664857"/>
                </a:lnTo>
                <a:cubicBezTo>
                  <a:pt x="48732" y="3664857"/>
                  <a:pt x="0" y="3616125"/>
                  <a:pt x="0" y="3556011"/>
                </a:cubicBezTo>
                <a:lnTo>
                  <a:pt x="0" y="108846"/>
                </a:lnTo>
                <a:cubicBezTo>
                  <a:pt x="0" y="48772"/>
                  <a:pt x="48772" y="0"/>
                  <a:pt x="10884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107" y="1433286"/>
            <a:ext cx="190500" cy="217714"/>
          </a:xfrm>
          <a:custGeom>
            <a:avLst/>
            <a:gdLst/>
            <a:ahLst/>
            <a:cxnLst/>
            <a:rect l="l" t="t" r="r" b="b"/>
            <a:pathLst>
              <a:path w="190500" h="217714">
                <a:moveTo>
                  <a:pt x="163286" y="217714"/>
                </a:moveTo>
                <a:lnTo>
                  <a:pt x="40821" y="217714"/>
                </a:lnTo>
                <a:cubicBezTo>
                  <a:pt x="18285" y="217714"/>
                  <a:pt x="0" y="199430"/>
                  <a:pt x="0" y="176893"/>
                </a:cubicBezTo>
                <a:lnTo>
                  <a:pt x="0" y="40821"/>
                </a:lnTo>
                <a:cubicBezTo>
                  <a:pt x="0" y="18285"/>
                  <a:pt x="18285" y="0"/>
                  <a:pt x="40821" y="0"/>
                </a:cubicBezTo>
                <a:lnTo>
                  <a:pt x="170089" y="0"/>
                </a:lnTo>
                <a:cubicBezTo>
                  <a:pt x="181358" y="0"/>
                  <a:pt x="190500" y="9142"/>
                  <a:pt x="190500" y="20411"/>
                </a:cubicBezTo>
                <a:lnTo>
                  <a:pt x="190500" y="142875"/>
                </a:lnTo>
                <a:cubicBezTo>
                  <a:pt x="190500" y="151762"/>
                  <a:pt x="184802" y="159331"/>
                  <a:pt x="176893" y="162138"/>
                </a:cubicBezTo>
                <a:lnTo>
                  <a:pt x="176893" y="190500"/>
                </a:lnTo>
                <a:cubicBezTo>
                  <a:pt x="184419" y="190500"/>
                  <a:pt x="190500" y="196581"/>
                  <a:pt x="190500" y="204107"/>
                </a:cubicBezTo>
                <a:cubicBezTo>
                  <a:pt x="190500" y="211634"/>
                  <a:pt x="184419" y="217714"/>
                  <a:pt x="176893" y="217714"/>
                </a:cubicBezTo>
                <a:lnTo>
                  <a:pt x="163286" y="217714"/>
                </a:lnTo>
                <a:close/>
                <a:moveTo>
                  <a:pt x="40821" y="163286"/>
                </a:moveTo>
                <a:cubicBezTo>
                  <a:pt x="33295" y="163286"/>
                  <a:pt x="27214" y="169366"/>
                  <a:pt x="27214" y="176893"/>
                </a:cubicBezTo>
                <a:cubicBezTo>
                  <a:pt x="27214" y="184419"/>
                  <a:pt x="33295" y="190500"/>
                  <a:pt x="40821" y="190500"/>
                </a:cubicBezTo>
                <a:lnTo>
                  <a:pt x="149679" y="190500"/>
                </a:lnTo>
                <a:lnTo>
                  <a:pt x="149679" y="163286"/>
                </a:lnTo>
                <a:lnTo>
                  <a:pt x="40821" y="163286"/>
                </a:lnTo>
                <a:close/>
                <a:moveTo>
                  <a:pt x="54429" y="64634"/>
                </a:moveTo>
                <a:cubicBezTo>
                  <a:pt x="54429" y="70289"/>
                  <a:pt x="58978" y="74839"/>
                  <a:pt x="64634" y="74839"/>
                </a:cubicBezTo>
                <a:lnTo>
                  <a:pt x="139473" y="74839"/>
                </a:lnTo>
                <a:cubicBezTo>
                  <a:pt x="145129" y="74839"/>
                  <a:pt x="149679" y="70289"/>
                  <a:pt x="149679" y="64634"/>
                </a:cubicBezTo>
                <a:cubicBezTo>
                  <a:pt x="149679" y="58978"/>
                  <a:pt x="145129" y="54429"/>
                  <a:pt x="139473" y="54429"/>
                </a:cubicBezTo>
                <a:lnTo>
                  <a:pt x="64634" y="54429"/>
                </a:lnTo>
                <a:cubicBezTo>
                  <a:pt x="58978" y="54429"/>
                  <a:pt x="54429" y="58978"/>
                  <a:pt x="54429" y="64634"/>
                </a:cubicBezTo>
                <a:close/>
                <a:moveTo>
                  <a:pt x="64634" y="95250"/>
                </a:moveTo>
                <a:cubicBezTo>
                  <a:pt x="58978" y="95250"/>
                  <a:pt x="54429" y="99800"/>
                  <a:pt x="54429" y="105455"/>
                </a:cubicBezTo>
                <a:cubicBezTo>
                  <a:pt x="54429" y="111111"/>
                  <a:pt x="58978" y="115661"/>
                  <a:pt x="64634" y="115661"/>
                </a:cubicBezTo>
                <a:lnTo>
                  <a:pt x="139473" y="115661"/>
                </a:lnTo>
                <a:cubicBezTo>
                  <a:pt x="145129" y="115661"/>
                  <a:pt x="149679" y="111111"/>
                  <a:pt x="149679" y="105455"/>
                </a:cubicBezTo>
                <a:cubicBezTo>
                  <a:pt x="149679" y="99800"/>
                  <a:pt x="145129" y="95250"/>
                  <a:pt x="139473" y="95250"/>
                </a:cubicBezTo>
                <a:lnTo>
                  <a:pt x="64634" y="952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25286" y="1415143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店铺日志四大组成部分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286" y="1778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53143" y="1886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日检查项目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143" y="2140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每日店铺检查清单:卫生、陈列、服务、安全等标准化检查项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4286" y="2540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53143" y="2648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门店日报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143" y="2902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每日销售数据、达成情况、问题记录、改进措施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286" y="3302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53143" y="3410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门店周报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143" y="3664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周销售分析、目标达成、问题总结、下周计划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286" y="4064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53143" y="4172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门店月报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143" y="4426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月度业绩总结、数据分析、经验提炼、下月规划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857" y="5043714"/>
            <a:ext cx="6767286" cy="1814286"/>
          </a:xfrm>
          <a:custGeom>
            <a:avLst/>
            <a:gdLst/>
            <a:ahLst/>
            <a:cxnLst/>
            <a:rect l="l" t="t" r="r" b="b"/>
            <a:pathLst>
              <a:path w="6767286" h="1814286">
                <a:moveTo>
                  <a:pt x="108857" y="0"/>
                </a:moveTo>
                <a:lnTo>
                  <a:pt x="6658429" y="0"/>
                </a:lnTo>
                <a:cubicBezTo>
                  <a:pt x="6718549" y="0"/>
                  <a:pt x="6767286" y="48737"/>
                  <a:pt x="6767286" y="108857"/>
                </a:cubicBezTo>
                <a:lnTo>
                  <a:pt x="6767286" y="1705429"/>
                </a:lnTo>
                <a:cubicBezTo>
                  <a:pt x="6767286" y="1765549"/>
                  <a:pt x="6718549" y="1814286"/>
                  <a:pt x="6658429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1500" y="5243286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27214" y="27214"/>
                </a:moveTo>
                <a:cubicBezTo>
                  <a:pt x="27214" y="19688"/>
                  <a:pt x="21134" y="13607"/>
                  <a:pt x="13607" y="13607"/>
                </a:cubicBezTo>
                <a:cubicBezTo>
                  <a:pt x="6081" y="13607"/>
                  <a:pt x="0" y="19688"/>
                  <a:pt x="0" y="27214"/>
                </a:cubicBezTo>
                <a:lnTo>
                  <a:pt x="0" y="170089"/>
                </a:lnTo>
                <a:cubicBezTo>
                  <a:pt x="0" y="188884"/>
                  <a:pt x="15223" y="204107"/>
                  <a:pt x="34018" y="204107"/>
                </a:cubicBezTo>
                <a:lnTo>
                  <a:pt x="204107" y="204107"/>
                </a:lnTo>
                <a:cubicBezTo>
                  <a:pt x="211634" y="204107"/>
                  <a:pt x="217714" y="198026"/>
                  <a:pt x="217714" y="190500"/>
                </a:cubicBezTo>
                <a:cubicBezTo>
                  <a:pt x="217714" y="182974"/>
                  <a:pt x="211634" y="176893"/>
                  <a:pt x="204107" y="176893"/>
                </a:cubicBezTo>
                <a:lnTo>
                  <a:pt x="34018" y="176893"/>
                </a:lnTo>
                <a:cubicBezTo>
                  <a:pt x="30276" y="176893"/>
                  <a:pt x="27214" y="173831"/>
                  <a:pt x="27214" y="170089"/>
                </a:cubicBezTo>
                <a:lnTo>
                  <a:pt x="27214" y="27214"/>
                </a:lnTo>
                <a:close/>
                <a:moveTo>
                  <a:pt x="200110" y="64039"/>
                </a:moveTo>
                <a:cubicBezTo>
                  <a:pt x="205425" y="58723"/>
                  <a:pt x="205425" y="50091"/>
                  <a:pt x="200110" y="44776"/>
                </a:cubicBezTo>
                <a:cubicBezTo>
                  <a:pt x="194795" y="39461"/>
                  <a:pt x="186163" y="39461"/>
                  <a:pt x="180847" y="44776"/>
                </a:cubicBezTo>
                <a:lnTo>
                  <a:pt x="136071" y="89595"/>
                </a:lnTo>
                <a:lnTo>
                  <a:pt x="111664" y="65229"/>
                </a:lnTo>
                <a:cubicBezTo>
                  <a:pt x="106348" y="59914"/>
                  <a:pt x="97716" y="59914"/>
                  <a:pt x="92401" y="65229"/>
                </a:cubicBezTo>
                <a:lnTo>
                  <a:pt x="51580" y="106051"/>
                </a:lnTo>
                <a:cubicBezTo>
                  <a:pt x="46264" y="111366"/>
                  <a:pt x="46264" y="119998"/>
                  <a:pt x="51580" y="125313"/>
                </a:cubicBezTo>
                <a:cubicBezTo>
                  <a:pt x="56895" y="130629"/>
                  <a:pt x="65527" y="130629"/>
                  <a:pt x="70842" y="125313"/>
                </a:cubicBezTo>
                <a:lnTo>
                  <a:pt x="102054" y="94102"/>
                </a:lnTo>
                <a:lnTo>
                  <a:pt x="126461" y="118510"/>
                </a:lnTo>
                <a:cubicBezTo>
                  <a:pt x="131777" y="123825"/>
                  <a:pt x="140409" y="123825"/>
                  <a:pt x="145724" y="118510"/>
                </a:cubicBezTo>
                <a:lnTo>
                  <a:pt x="200153" y="64081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23" name="Text 21"/>
          <p:cNvSpPr/>
          <p:nvPr/>
        </p:nvSpPr>
        <p:spPr>
          <a:xfrm>
            <a:off x="925286" y="5225143"/>
            <a:ext cx="1360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数据化管理应用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286" y="5588000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问题追踪: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通过日志记录问题,追踪改进效果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286" y="5878286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经验沉淀: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将成功案例、有效方法记录沉淀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286" y="6168571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决策支持: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基于数据分析制定经营决策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286" y="6458857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沟通依据: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向上汇报、向下沟通的数据依据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57" y="1233714"/>
            <a:ext cx="4517571" cy="1814286"/>
          </a:xfrm>
          <a:custGeom>
            <a:avLst/>
            <a:gdLst/>
            <a:ahLst/>
            <a:cxnLst/>
            <a:rect l="l" t="t" r="r" b="b"/>
            <a:pathLst>
              <a:path w="4517571" h="1814286">
                <a:moveTo>
                  <a:pt x="108857" y="0"/>
                </a:moveTo>
                <a:lnTo>
                  <a:pt x="4408714" y="0"/>
                </a:lnTo>
                <a:cubicBezTo>
                  <a:pt x="4468834" y="0"/>
                  <a:pt x="4517571" y="48737"/>
                  <a:pt x="4517571" y="108857"/>
                </a:cubicBezTo>
                <a:lnTo>
                  <a:pt x="4517571" y="1705429"/>
                </a:lnTo>
                <a:cubicBezTo>
                  <a:pt x="4517571" y="1765549"/>
                  <a:pt x="4468834" y="1814286"/>
                  <a:pt x="4408714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9" name="Shape 27"/>
          <p:cNvSpPr/>
          <p:nvPr/>
        </p:nvSpPr>
        <p:spPr>
          <a:xfrm>
            <a:off x="7498953" y="1460500"/>
            <a:ext cx="204107" cy="163286"/>
          </a:xfrm>
          <a:custGeom>
            <a:avLst/>
            <a:gdLst/>
            <a:ahLst/>
            <a:cxnLst/>
            <a:rect l="l" t="t" r="r" b="b"/>
            <a:pathLst>
              <a:path w="204107" h="163286">
                <a:moveTo>
                  <a:pt x="40821" y="30616"/>
                </a:moveTo>
                <a:cubicBezTo>
                  <a:pt x="40821" y="19358"/>
                  <a:pt x="49974" y="10205"/>
                  <a:pt x="61232" y="10205"/>
                </a:cubicBezTo>
                <a:lnTo>
                  <a:pt x="173491" y="10205"/>
                </a:lnTo>
                <a:cubicBezTo>
                  <a:pt x="184749" y="10205"/>
                  <a:pt x="193902" y="19358"/>
                  <a:pt x="193902" y="30616"/>
                </a:cubicBezTo>
                <a:lnTo>
                  <a:pt x="193902" y="107156"/>
                </a:lnTo>
                <a:lnTo>
                  <a:pt x="163286" y="107156"/>
                </a:lnTo>
                <a:lnTo>
                  <a:pt x="163286" y="102054"/>
                </a:lnTo>
                <a:cubicBezTo>
                  <a:pt x="163286" y="96409"/>
                  <a:pt x="158725" y="91848"/>
                  <a:pt x="153080" y="91848"/>
                </a:cubicBezTo>
                <a:lnTo>
                  <a:pt x="132670" y="91848"/>
                </a:lnTo>
                <a:cubicBezTo>
                  <a:pt x="127025" y="91848"/>
                  <a:pt x="122464" y="96409"/>
                  <a:pt x="122464" y="102054"/>
                </a:cubicBezTo>
                <a:lnTo>
                  <a:pt x="122464" y="107156"/>
                </a:lnTo>
                <a:lnTo>
                  <a:pt x="81292" y="107156"/>
                </a:lnTo>
                <a:cubicBezTo>
                  <a:pt x="84768" y="101161"/>
                  <a:pt x="86746" y="94176"/>
                  <a:pt x="86746" y="86746"/>
                </a:cubicBezTo>
                <a:cubicBezTo>
                  <a:pt x="86746" y="64198"/>
                  <a:pt x="68472" y="45924"/>
                  <a:pt x="45924" y="45924"/>
                </a:cubicBezTo>
                <a:cubicBezTo>
                  <a:pt x="44202" y="45924"/>
                  <a:pt x="42480" y="46020"/>
                  <a:pt x="40821" y="46243"/>
                </a:cubicBezTo>
                <a:lnTo>
                  <a:pt x="40821" y="30616"/>
                </a:lnTo>
                <a:close/>
                <a:moveTo>
                  <a:pt x="106199" y="142875"/>
                </a:moveTo>
                <a:cubicBezTo>
                  <a:pt x="104573" y="135157"/>
                  <a:pt x="101001" y="128173"/>
                  <a:pt x="95962" y="122464"/>
                </a:cubicBezTo>
                <a:lnTo>
                  <a:pt x="193902" y="122464"/>
                </a:lnTo>
                <a:cubicBezTo>
                  <a:pt x="193902" y="133722"/>
                  <a:pt x="184749" y="142875"/>
                  <a:pt x="173491" y="142875"/>
                </a:cubicBezTo>
                <a:lnTo>
                  <a:pt x="106199" y="142875"/>
                </a:lnTo>
                <a:close/>
                <a:moveTo>
                  <a:pt x="20411" y="86746"/>
                </a:moveTo>
                <a:cubicBezTo>
                  <a:pt x="20411" y="72664"/>
                  <a:pt x="31843" y="61232"/>
                  <a:pt x="45924" y="61232"/>
                </a:cubicBezTo>
                <a:cubicBezTo>
                  <a:pt x="60005" y="61232"/>
                  <a:pt x="71438" y="72664"/>
                  <a:pt x="71438" y="86746"/>
                </a:cubicBezTo>
                <a:cubicBezTo>
                  <a:pt x="71438" y="100827"/>
                  <a:pt x="60005" y="112259"/>
                  <a:pt x="45924" y="112259"/>
                </a:cubicBezTo>
                <a:cubicBezTo>
                  <a:pt x="31843" y="112259"/>
                  <a:pt x="20411" y="100827"/>
                  <a:pt x="20411" y="86746"/>
                </a:cubicBezTo>
                <a:close/>
                <a:moveTo>
                  <a:pt x="0" y="153080"/>
                </a:moveTo>
                <a:cubicBezTo>
                  <a:pt x="0" y="136178"/>
                  <a:pt x="13713" y="122464"/>
                  <a:pt x="30616" y="122464"/>
                </a:cubicBezTo>
                <a:lnTo>
                  <a:pt x="61232" y="122464"/>
                </a:lnTo>
                <a:cubicBezTo>
                  <a:pt x="78135" y="122464"/>
                  <a:pt x="91848" y="136178"/>
                  <a:pt x="91848" y="153080"/>
                </a:cubicBezTo>
                <a:cubicBezTo>
                  <a:pt x="91848" y="158725"/>
                  <a:pt x="87288" y="163286"/>
                  <a:pt x="81643" y="163286"/>
                </a:cubicBezTo>
                <a:lnTo>
                  <a:pt x="10205" y="163286"/>
                </a:lnTo>
                <a:cubicBezTo>
                  <a:pt x="4561" y="163286"/>
                  <a:pt x="0" y="158725"/>
                  <a:pt x="0" y="15308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05328" y="1415143"/>
            <a:ext cx="4027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14828" y="1814286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Text 30"/>
          <p:cNvSpPr/>
          <p:nvPr/>
        </p:nvSpPr>
        <p:spPr>
          <a:xfrm>
            <a:off x="7750685" y="1778000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展示日志表格模板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14828" y="2104571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Text 32"/>
          <p:cNvSpPr/>
          <p:nvPr/>
        </p:nvSpPr>
        <p:spPr>
          <a:xfrm>
            <a:off x="7750685" y="2068286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讲解填写规范要求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14828" y="239485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7750685" y="2358571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说明日志管理价值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14828" y="2685143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7750685" y="2648857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建立数据记录习惯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57" y="3193143"/>
            <a:ext cx="4517571" cy="1814286"/>
          </a:xfrm>
          <a:custGeom>
            <a:avLst/>
            <a:gdLst/>
            <a:ahLst/>
            <a:cxnLst/>
            <a:rect l="l" t="t" r="r" b="b"/>
            <a:pathLst>
              <a:path w="4517571" h="1814286">
                <a:moveTo>
                  <a:pt x="108857" y="0"/>
                </a:moveTo>
                <a:lnTo>
                  <a:pt x="4408714" y="0"/>
                </a:lnTo>
                <a:cubicBezTo>
                  <a:pt x="4468834" y="0"/>
                  <a:pt x="4517571" y="48737"/>
                  <a:pt x="4517571" y="108857"/>
                </a:cubicBezTo>
                <a:lnTo>
                  <a:pt x="4517571" y="1705429"/>
                </a:lnTo>
                <a:cubicBezTo>
                  <a:pt x="4517571" y="1765549"/>
                  <a:pt x="4468834" y="1814286"/>
                  <a:pt x="4408714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29569" y="3419929"/>
            <a:ext cx="142875" cy="163286"/>
          </a:xfrm>
          <a:custGeom>
            <a:avLst/>
            <a:gdLst/>
            <a:ahLst/>
            <a:cxnLst/>
            <a:rect l="l" t="t" r="r" b="b"/>
            <a:pathLst>
              <a:path w="142875" h="163286">
                <a:moveTo>
                  <a:pt x="76955" y="-4146"/>
                </a:moveTo>
                <a:cubicBezTo>
                  <a:pt x="73319" y="-4879"/>
                  <a:pt x="69588" y="-4879"/>
                  <a:pt x="65952" y="-4146"/>
                </a:cubicBezTo>
                <a:lnTo>
                  <a:pt x="6155" y="7813"/>
                </a:lnTo>
                <a:cubicBezTo>
                  <a:pt x="2583" y="8515"/>
                  <a:pt x="0" y="11672"/>
                  <a:pt x="0" y="15308"/>
                </a:cubicBezTo>
                <a:cubicBezTo>
                  <a:pt x="0" y="18593"/>
                  <a:pt x="2073" y="21463"/>
                  <a:pt x="5103" y="22516"/>
                </a:cubicBezTo>
                <a:lnTo>
                  <a:pt x="5103" y="45924"/>
                </a:lnTo>
                <a:lnTo>
                  <a:pt x="96" y="70991"/>
                </a:lnTo>
                <a:cubicBezTo>
                  <a:pt x="32" y="71278"/>
                  <a:pt x="0" y="71597"/>
                  <a:pt x="0" y="71916"/>
                </a:cubicBezTo>
                <a:cubicBezTo>
                  <a:pt x="0" y="74467"/>
                  <a:pt x="2073" y="76572"/>
                  <a:pt x="4656" y="76572"/>
                </a:cubicBezTo>
                <a:lnTo>
                  <a:pt x="15786" y="76572"/>
                </a:lnTo>
                <a:cubicBezTo>
                  <a:pt x="18338" y="76572"/>
                  <a:pt x="20443" y="74499"/>
                  <a:pt x="20443" y="71916"/>
                </a:cubicBezTo>
                <a:cubicBezTo>
                  <a:pt x="20443" y="71597"/>
                  <a:pt x="20411" y="71310"/>
                  <a:pt x="20347" y="70991"/>
                </a:cubicBezTo>
                <a:lnTo>
                  <a:pt x="15308" y="45924"/>
                </a:lnTo>
                <a:lnTo>
                  <a:pt x="15308" y="24652"/>
                </a:lnTo>
                <a:lnTo>
                  <a:pt x="30616" y="27714"/>
                </a:lnTo>
                <a:lnTo>
                  <a:pt x="30616" y="45924"/>
                </a:lnTo>
                <a:cubicBezTo>
                  <a:pt x="30616" y="68472"/>
                  <a:pt x="48890" y="86746"/>
                  <a:pt x="71438" y="86746"/>
                </a:cubicBezTo>
                <a:cubicBezTo>
                  <a:pt x="93985" y="86746"/>
                  <a:pt x="112259" y="68472"/>
                  <a:pt x="112259" y="45924"/>
                </a:cubicBezTo>
                <a:lnTo>
                  <a:pt x="112259" y="27714"/>
                </a:lnTo>
                <a:lnTo>
                  <a:pt x="136720" y="22834"/>
                </a:lnTo>
                <a:cubicBezTo>
                  <a:pt x="140292" y="22101"/>
                  <a:pt x="142875" y="18944"/>
                  <a:pt x="142875" y="15308"/>
                </a:cubicBezTo>
                <a:cubicBezTo>
                  <a:pt x="142875" y="11672"/>
                  <a:pt x="140292" y="8515"/>
                  <a:pt x="136720" y="7813"/>
                </a:cubicBezTo>
                <a:lnTo>
                  <a:pt x="76955" y="-4146"/>
                </a:lnTo>
                <a:close/>
                <a:moveTo>
                  <a:pt x="71438" y="71438"/>
                </a:moveTo>
                <a:cubicBezTo>
                  <a:pt x="57341" y="71438"/>
                  <a:pt x="45924" y="60020"/>
                  <a:pt x="45924" y="45924"/>
                </a:cubicBezTo>
                <a:lnTo>
                  <a:pt x="96951" y="45924"/>
                </a:lnTo>
                <a:cubicBezTo>
                  <a:pt x="96951" y="60020"/>
                  <a:pt x="85534" y="71438"/>
                  <a:pt x="71438" y="71438"/>
                </a:cubicBezTo>
                <a:close/>
                <a:moveTo>
                  <a:pt x="38302" y="102085"/>
                </a:moveTo>
                <a:cubicBezTo>
                  <a:pt x="18720" y="111079"/>
                  <a:pt x="5103" y="130852"/>
                  <a:pt x="5103" y="153814"/>
                </a:cubicBezTo>
                <a:cubicBezTo>
                  <a:pt x="5103" y="159044"/>
                  <a:pt x="9344" y="163286"/>
                  <a:pt x="14575" y="163286"/>
                </a:cubicBezTo>
                <a:lnTo>
                  <a:pt x="63783" y="163286"/>
                </a:lnTo>
                <a:lnTo>
                  <a:pt x="63783" y="116724"/>
                </a:lnTo>
                <a:lnTo>
                  <a:pt x="45478" y="103010"/>
                </a:lnTo>
                <a:cubicBezTo>
                  <a:pt x="43405" y="101448"/>
                  <a:pt x="40630" y="101033"/>
                  <a:pt x="38270" y="102117"/>
                </a:cubicBezTo>
                <a:close/>
                <a:moveTo>
                  <a:pt x="79092" y="163286"/>
                </a:moveTo>
                <a:lnTo>
                  <a:pt x="128300" y="163286"/>
                </a:lnTo>
                <a:cubicBezTo>
                  <a:pt x="133531" y="163286"/>
                  <a:pt x="137772" y="159044"/>
                  <a:pt x="137772" y="153814"/>
                </a:cubicBezTo>
                <a:cubicBezTo>
                  <a:pt x="137772" y="130852"/>
                  <a:pt x="124155" y="111079"/>
                  <a:pt x="104573" y="102117"/>
                </a:cubicBezTo>
                <a:cubicBezTo>
                  <a:pt x="102213" y="101033"/>
                  <a:pt x="99438" y="101448"/>
                  <a:pt x="97365" y="103010"/>
                </a:cubicBezTo>
                <a:lnTo>
                  <a:pt x="79060" y="116724"/>
                </a:lnTo>
                <a:lnTo>
                  <a:pt x="79060" y="163286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1" name="Text 39"/>
          <p:cNvSpPr/>
          <p:nvPr/>
        </p:nvSpPr>
        <p:spPr>
          <a:xfrm>
            <a:off x="7705328" y="3374571"/>
            <a:ext cx="4027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96685" y="3737429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00225" y="3737429"/>
            <a:ext cx="11702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理解日志4大组成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96685" y="4027714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00225" y="4027714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掌握日志填写方法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96685" y="4318000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00225" y="4318000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学会数据分析应用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96685" y="4608286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0225" y="4608286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建立日常记录习惯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15257" y="5152571"/>
            <a:ext cx="4517571" cy="834571"/>
          </a:xfrm>
          <a:custGeom>
            <a:avLst/>
            <a:gdLst/>
            <a:ahLst/>
            <a:cxnLst/>
            <a:rect l="l" t="t" r="r" b="b"/>
            <a:pathLst>
              <a:path w="4517571" h="834571">
                <a:moveTo>
                  <a:pt x="108853" y="0"/>
                </a:moveTo>
                <a:lnTo>
                  <a:pt x="4408718" y="0"/>
                </a:lnTo>
                <a:cubicBezTo>
                  <a:pt x="4468836" y="0"/>
                  <a:pt x="4517571" y="48735"/>
                  <a:pt x="4517571" y="108853"/>
                </a:cubicBezTo>
                <a:lnTo>
                  <a:pt x="4517571" y="725718"/>
                </a:lnTo>
                <a:cubicBezTo>
                  <a:pt x="4517571" y="785836"/>
                  <a:pt x="4468836" y="834571"/>
                  <a:pt x="4408718" y="834571"/>
                </a:cubicBezTo>
                <a:lnTo>
                  <a:pt x="108853" y="834571"/>
                </a:lnTo>
                <a:cubicBezTo>
                  <a:pt x="48735" y="834571"/>
                  <a:pt x="0" y="785836"/>
                  <a:pt x="0" y="725718"/>
                </a:cubicBezTo>
                <a:lnTo>
                  <a:pt x="0" y="108853"/>
                </a:lnTo>
                <a:cubicBezTo>
                  <a:pt x="0" y="48775"/>
                  <a:pt x="48775" y="0"/>
                  <a:pt x="108853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1" name="Shape 49"/>
          <p:cNvSpPr/>
          <p:nvPr/>
        </p:nvSpPr>
        <p:spPr>
          <a:xfrm>
            <a:off x="7503489" y="5343071"/>
            <a:ext cx="122464" cy="163286"/>
          </a:xfrm>
          <a:custGeom>
            <a:avLst/>
            <a:gdLst/>
            <a:ahLst/>
            <a:cxnLst/>
            <a:rect l="l" t="t" r="r" b="b"/>
            <a:pathLst>
              <a:path w="122464" h="163286">
                <a:moveTo>
                  <a:pt x="99311" y="10205"/>
                </a:moveTo>
                <a:lnTo>
                  <a:pt x="102054" y="10205"/>
                </a:lnTo>
                <a:cubicBezTo>
                  <a:pt x="113311" y="10205"/>
                  <a:pt x="122464" y="19358"/>
                  <a:pt x="122464" y="30616"/>
                </a:cubicBezTo>
                <a:lnTo>
                  <a:pt x="122464" y="142875"/>
                </a:lnTo>
                <a:cubicBezTo>
                  <a:pt x="122464" y="154133"/>
                  <a:pt x="113311" y="163286"/>
                  <a:pt x="102054" y="163286"/>
                </a:cubicBezTo>
                <a:lnTo>
                  <a:pt x="20411" y="163286"/>
                </a:lnTo>
                <a:cubicBezTo>
                  <a:pt x="9153" y="163286"/>
                  <a:pt x="0" y="154133"/>
                  <a:pt x="0" y="142875"/>
                </a:cubicBezTo>
                <a:lnTo>
                  <a:pt x="0" y="30616"/>
                </a:lnTo>
                <a:cubicBezTo>
                  <a:pt x="0" y="19358"/>
                  <a:pt x="9153" y="10205"/>
                  <a:pt x="20411" y="10205"/>
                </a:cubicBezTo>
                <a:lnTo>
                  <a:pt x="23153" y="10205"/>
                </a:lnTo>
                <a:cubicBezTo>
                  <a:pt x="26661" y="4114"/>
                  <a:pt x="33263" y="0"/>
                  <a:pt x="40821" y="0"/>
                </a:cubicBezTo>
                <a:lnTo>
                  <a:pt x="81643" y="0"/>
                </a:lnTo>
                <a:cubicBezTo>
                  <a:pt x="89201" y="0"/>
                  <a:pt x="95803" y="4114"/>
                  <a:pt x="99311" y="10205"/>
                </a:cubicBezTo>
                <a:close/>
                <a:moveTo>
                  <a:pt x="79092" y="35719"/>
                </a:moveTo>
                <a:cubicBezTo>
                  <a:pt x="83333" y="35719"/>
                  <a:pt x="86746" y="32306"/>
                  <a:pt x="86746" y="28065"/>
                </a:cubicBezTo>
                <a:cubicBezTo>
                  <a:pt x="86746" y="23823"/>
                  <a:pt x="83333" y="20411"/>
                  <a:pt x="79092" y="20411"/>
                </a:cubicBezTo>
                <a:lnTo>
                  <a:pt x="43373" y="20411"/>
                </a:lnTo>
                <a:cubicBezTo>
                  <a:pt x="39131" y="20411"/>
                  <a:pt x="35719" y="23823"/>
                  <a:pt x="35719" y="28065"/>
                </a:cubicBezTo>
                <a:cubicBezTo>
                  <a:pt x="35719" y="32306"/>
                  <a:pt x="39131" y="35719"/>
                  <a:pt x="43373" y="35719"/>
                </a:cubicBezTo>
                <a:lnTo>
                  <a:pt x="79092" y="35719"/>
                </a:lnTo>
                <a:close/>
                <a:moveTo>
                  <a:pt x="40821" y="81643"/>
                </a:moveTo>
                <a:cubicBezTo>
                  <a:pt x="40821" y="76010"/>
                  <a:pt x="36249" y="71438"/>
                  <a:pt x="30616" y="71438"/>
                </a:cubicBezTo>
                <a:cubicBezTo>
                  <a:pt x="24984" y="71438"/>
                  <a:pt x="20411" y="76010"/>
                  <a:pt x="20411" y="81643"/>
                </a:cubicBezTo>
                <a:cubicBezTo>
                  <a:pt x="20411" y="87275"/>
                  <a:pt x="24984" y="91848"/>
                  <a:pt x="30616" y="91848"/>
                </a:cubicBezTo>
                <a:cubicBezTo>
                  <a:pt x="36249" y="91848"/>
                  <a:pt x="40821" y="87275"/>
                  <a:pt x="40821" y="81643"/>
                </a:cubicBezTo>
                <a:close/>
                <a:moveTo>
                  <a:pt x="51027" y="81643"/>
                </a:moveTo>
                <a:cubicBezTo>
                  <a:pt x="51027" y="85884"/>
                  <a:pt x="54439" y="89297"/>
                  <a:pt x="58681" y="89297"/>
                </a:cubicBezTo>
                <a:lnTo>
                  <a:pt x="94400" y="89297"/>
                </a:lnTo>
                <a:cubicBezTo>
                  <a:pt x="98641" y="89297"/>
                  <a:pt x="102054" y="85884"/>
                  <a:pt x="102054" y="81643"/>
                </a:cubicBezTo>
                <a:cubicBezTo>
                  <a:pt x="102054" y="77401"/>
                  <a:pt x="98641" y="73989"/>
                  <a:pt x="94400" y="73989"/>
                </a:cubicBezTo>
                <a:lnTo>
                  <a:pt x="58681" y="73989"/>
                </a:lnTo>
                <a:cubicBezTo>
                  <a:pt x="54439" y="73989"/>
                  <a:pt x="51027" y="77401"/>
                  <a:pt x="51027" y="81643"/>
                </a:cubicBezTo>
                <a:close/>
                <a:moveTo>
                  <a:pt x="51027" y="122464"/>
                </a:moveTo>
                <a:cubicBezTo>
                  <a:pt x="51027" y="126706"/>
                  <a:pt x="54439" y="130118"/>
                  <a:pt x="58681" y="130118"/>
                </a:cubicBezTo>
                <a:lnTo>
                  <a:pt x="94400" y="130118"/>
                </a:lnTo>
                <a:cubicBezTo>
                  <a:pt x="98641" y="130118"/>
                  <a:pt x="102054" y="126706"/>
                  <a:pt x="102054" y="122464"/>
                </a:cubicBezTo>
                <a:cubicBezTo>
                  <a:pt x="102054" y="118223"/>
                  <a:pt x="98641" y="114810"/>
                  <a:pt x="94400" y="114810"/>
                </a:cubicBezTo>
                <a:lnTo>
                  <a:pt x="58681" y="114810"/>
                </a:lnTo>
                <a:cubicBezTo>
                  <a:pt x="54439" y="114810"/>
                  <a:pt x="51027" y="118223"/>
                  <a:pt x="51027" y="122464"/>
                </a:cubicBezTo>
                <a:close/>
                <a:moveTo>
                  <a:pt x="30616" y="132670"/>
                </a:moveTo>
                <a:cubicBezTo>
                  <a:pt x="36249" y="132670"/>
                  <a:pt x="40821" y="128097"/>
                  <a:pt x="40821" y="122464"/>
                </a:cubicBezTo>
                <a:cubicBezTo>
                  <a:pt x="40821" y="116832"/>
                  <a:pt x="36249" y="112259"/>
                  <a:pt x="30616" y="112259"/>
                </a:cubicBezTo>
                <a:cubicBezTo>
                  <a:pt x="24984" y="112259"/>
                  <a:pt x="20411" y="116832"/>
                  <a:pt x="20411" y="122464"/>
                </a:cubicBezTo>
                <a:cubicBezTo>
                  <a:pt x="20411" y="128097"/>
                  <a:pt x="24984" y="132670"/>
                  <a:pt x="30616" y="13267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2" name="Text 50"/>
          <p:cNvSpPr/>
          <p:nvPr/>
        </p:nvSpPr>
        <p:spPr>
          <a:xfrm>
            <a:off x="7669042" y="5297714"/>
            <a:ext cx="4100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60400" y="5624286"/>
            <a:ext cx="4299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实操演练:店铺日志填写(10分)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2257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NEW PRODUCT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员工带教 - 新品波段带教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3048000"/>
          </a:xfrm>
          <a:custGeom>
            <a:avLst/>
            <a:gdLst/>
            <a:ahLst/>
            <a:cxnLst/>
            <a:rect l="l" t="t" r="r" b="b"/>
            <a:pathLst>
              <a:path w="6743700" h="3048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2933700"/>
                </a:lnTo>
                <a:cubicBezTo>
                  <a:pt x="6743700" y="2996784"/>
                  <a:pt x="6692484" y="3048000"/>
                  <a:pt x="6629400" y="3048000"/>
                </a:cubicBezTo>
                <a:lnTo>
                  <a:pt x="114300" y="3048000"/>
                </a:lnTo>
                <a:cubicBezTo>
                  <a:pt x="51216" y="3048000"/>
                  <a:pt x="0" y="2996784"/>
                  <a:pt x="0" y="2933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788" y="15049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590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新品带教123原则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1866900"/>
            <a:ext cx="6362700" cy="685800"/>
          </a:xfrm>
          <a:custGeom>
            <a:avLst/>
            <a:gdLst/>
            <a:ahLst/>
            <a:cxnLst/>
            <a:rect l="l" t="t" r="r" b="b"/>
            <a:pathLst>
              <a:path w="6362700" h="685800">
                <a:moveTo>
                  <a:pt x="76199" y="0"/>
                </a:moveTo>
                <a:lnTo>
                  <a:pt x="6286501" y="0"/>
                </a:lnTo>
                <a:cubicBezTo>
                  <a:pt x="6328584" y="0"/>
                  <a:pt x="6362700" y="34116"/>
                  <a:pt x="6362700" y="76199"/>
                </a:cubicBezTo>
                <a:lnTo>
                  <a:pt x="6362700" y="609601"/>
                </a:lnTo>
                <a:cubicBezTo>
                  <a:pt x="6362700" y="651684"/>
                  <a:pt x="6328584" y="685800"/>
                  <a:pt x="628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85800" y="1981200"/>
            <a:ext cx="621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1个目标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47900"/>
            <a:ext cx="620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确保员工掌握新品知识,能够熟练推荐销售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667000"/>
            <a:ext cx="6362700" cy="685800"/>
          </a:xfrm>
          <a:custGeom>
            <a:avLst/>
            <a:gdLst/>
            <a:ahLst/>
            <a:cxnLst/>
            <a:rect l="l" t="t" r="r" b="b"/>
            <a:pathLst>
              <a:path w="6362700" h="685800">
                <a:moveTo>
                  <a:pt x="76199" y="0"/>
                </a:moveTo>
                <a:lnTo>
                  <a:pt x="6286501" y="0"/>
                </a:lnTo>
                <a:cubicBezTo>
                  <a:pt x="6328584" y="0"/>
                  <a:pt x="6362700" y="34116"/>
                  <a:pt x="6362700" y="76199"/>
                </a:cubicBezTo>
                <a:lnTo>
                  <a:pt x="6362700" y="609601"/>
                </a:lnTo>
                <a:cubicBezTo>
                  <a:pt x="6362700" y="651684"/>
                  <a:pt x="6328584" y="685800"/>
                  <a:pt x="628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85800" y="2781300"/>
            <a:ext cx="621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2个维度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048000"/>
            <a:ext cx="620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知识维度(产品知识)+技能维度(销售技巧)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3467100"/>
            <a:ext cx="6362700" cy="685800"/>
          </a:xfrm>
          <a:custGeom>
            <a:avLst/>
            <a:gdLst/>
            <a:ahLst/>
            <a:cxnLst/>
            <a:rect l="l" t="t" r="r" b="b"/>
            <a:pathLst>
              <a:path w="6362700" h="685800">
                <a:moveTo>
                  <a:pt x="76199" y="0"/>
                </a:moveTo>
                <a:lnTo>
                  <a:pt x="6286501" y="0"/>
                </a:lnTo>
                <a:cubicBezTo>
                  <a:pt x="6328584" y="0"/>
                  <a:pt x="6362700" y="34116"/>
                  <a:pt x="6362700" y="76199"/>
                </a:cubicBezTo>
                <a:lnTo>
                  <a:pt x="6362700" y="609601"/>
                </a:lnTo>
                <a:cubicBezTo>
                  <a:pt x="6362700" y="651684"/>
                  <a:pt x="6328584" y="685800"/>
                  <a:pt x="628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85800" y="3581400"/>
            <a:ext cx="621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3个阶段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848100"/>
            <a:ext cx="620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学习期(知识输入)→练习期(技能演练)→应用期(实战应用)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" y="44958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0075" y="4705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0" name="Text 18"/>
          <p:cNvSpPr/>
          <p:nvPr/>
        </p:nvSpPr>
        <p:spPr>
          <a:xfrm>
            <a:off x="971550" y="4686300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学习后自检自查8问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50673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产品定位清晰吗?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90950" y="50673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目标客群明确吗?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53721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核心卖点掌握吗?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90950" y="53721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搭配方案会讲吗?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56769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价格策略理解吗?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90950" y="56769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竞品对比清楚吗?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9817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异议处理会吗?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90950" y="59817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8.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销售话术熟练吗?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0" name="Shape 28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Text 29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72400" y="1866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演示新品带教全流程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72400" y="2171700"/>
            <a:ext cx="1257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讲解123原则应用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72400" y="24765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说明8问检查方法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9" name="Text 37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建立系统带教思维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2" name="Text 40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19417" y="392430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理解123原则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9417" y="4229100"/>
            <a:ext cx="1076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掌握8问检查法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19417" y="4533900"/>
            <a:ext cx="1076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学会带教4步骤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掌握效果评估方法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2" name="Shape 50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3" name="Text 51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实操演练:新品带教模拟(15分)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304" y="331304"/>
            <a:ext cx="646043" cy="265043"/>
          </a:xfrm>
          <a:custGeom>
            <a:avLst/>
            <a:gdLst/>
            <a:ahLst/>
            <a:cxnLst/>
            <a:rect l="l" t="t" r="r" b="b"/>
            <a:pathLst>
              <a:path w="646043" h="265043">
                <a:moveTo>
                  <a:pt x="132522" y="0"/>
                </a:moveTo>
                <a:lnTo>
                  <a:pt x="513522" y="0"/>
                </a:lnTo>
                <a:cubicBezTo>
                  <a:pt x="586662" y="0"/>
                  <a:pt x="646043" y="59381"/>
                  <a:pt x="646043" y="132522"/>
                </a:cubicBezTo>
                <a:lnTo>
                  <a:pt x="646043" y="132522"/>
                </a:lnTo>
                <a:cubicBezTo>
                  <a:pt x="646043" y="205662"/>
                  <a:pt x="586662" y="265043"/>
                  <a:pt x="513522" y="265043"/>
                </a:cubicBezTo>
                <a:lnTo>
                  <a:pt x="132522" y="265043"/>
                </a:lnTo>
                <a:cubicBezTo>
                  <a:pt x="59332" y="265043"/>
                  <a:pt x="0" y="205711"/>
                  <a:pt x="0" y="132522"/>
                </a:cubicBezTo>
                <a:lnTo>
                  <a:pt x="0" y="132522"/>
                </a:lnTo>
                <a:cubicBezTo>
                  <a:pt x="0" y="59332"/>
                  <a:pt x="59332" y="0"/>
                  <a:pt x="132522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31304" y="331304"/>
            <a:ext cx="712304" cy="265043"/>
          </a:xfrm>
          <a:prstGeom prst="rect">
            <a:avLst/>
          </a:prstGeom>
          <a:noFill/>
        </p:spPr>
        <p:txBody>
          <a:bodyPr wrap="square" lIns="132522" tIns="33130" rIns="132522" bIns="3313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4539" y="364435"/>
            <a:ext cx="202095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kern="0" spc="52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NEW EMPLOYEE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1304" y="662609"/>
            <a:ext cx="11678478" cy="331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员工带教 - 新员工一个月带教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304" y="1126435"/>
            <a:ext cx="6816587" cy="3346174"/>
          </a:xfrm>
          <a:custGeom>
            <a:avLst/>
            <a:gdLst/>
            <a:ahLst/>
            <a:cxnLst/>
            <a:rect l="l" t="t" r="r" b="b"/>
            <a:pathLst>
              <a:path w="6816587" h="3346174">
                <a:moveTo>
                  <a:pt x="99381" y="0"/>
                </a:moveTo>
                <a:lnTo>
                  <a:pt x="6717206" y="0"/>
                </a:lnTo>
                <a:cubicBezTo>
                  <a:pt x="6772092" y="0"/>
                  <a:pt x="6816587" y="44495"/>
                  <a:pt x="6816587" y="99381"/>
                </a:cubicBezTo>
                <a:lnTo>
                  <a:pt x="6816587" y="3246793"/>
                </a:lnTo>
                <a:cubicBezTo>
                  <a:pt x="6816587" y="3301679"/>
                  <a:pt x="6772092" y="3346174"/>
                  <a:pt x="6717206" y="3346174"/>
                </a:cubicBezTo>
                <a:lnTo>
                  <a:pt x="99381" y="3346174"/>
                </a:lnTo>
                <a:cubicBezTo>
                  <a:pt x="44495" y="3346174"/>
                  <a:pt x="0" y="3301679"/>
                  <a:pt x="0" y="3246793"/>
                </a:cubicBezTo>
                <a:lnTo>
                  <a:pt x="0" y="99381"/>
                </a:lnTo>
                <a:cubicBezTo>
                  <a:pt x="0" y="44531"/>
                  <a:pt x="44531" y="0"/>
                  <a:pt x="9938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696" dist="331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6957" y="1308652"/>
            <a:ext cx="248478" cy="198783"/>
          </a:xfrm>
          <a:custGeom>
            <a:avLst/>
            <a:gdLst/>
            <a:ahLst/>
            <a:cxnLst/>
            <a:rect l="l" t="t" r="r" b="b"/>
            <a:pathLst>
              <a:path w="248478" h="198783">
                <a:moveTo>
                  <a:pt x="52802" y="49696"/>
                </a:moveTo>
                <a:cubicBezTo>
                  <a:pt x="52802" y="23982"/>
                  <a:pt x="73678" y="3106"/>
                  <a:pt x="99391" y="3106"/>
                </a:cubicBezTo>
                <a:cubicBezTo>
                  <a:pt x="125105" y="3106"/>
                  <a:pt x="145981" y="23982"/>
                  <a:pt x="145981" y="49696"/>
                </a:cubicBezTo>
                <a:cubicBezTo>
                  <a:pt x="145981" y="75409"/>
                  <a:pt x="125105" y="96285"/>
                  <a:pt x="99391" y="96285"/>
                </a:cubicBezTo>
                <a:cubicBezTo>
                  <a:pt x="73678" y="96285"/>
                  <a:pt x="52802" y="75409"/>
                  <a:pt x="52802" y="49696"/>
                </a:cubicBezTo>
                <a:close/>
                <a:moveTo>
                  <a:pt x="18636" y="187252"/>
                </a:moveTo>
                <a:cubicBezTo>
                  <a:pt x="18636" y="149009"/>
                  <a:pt x="49618" y="118027"/>
                  <a:pt x="87860" y="118027"/>
                </a:cubicBezTo>
                <a:lnTo>
                  <a:pt x="110922" y="118027"/>
                </a:lnTo>
                <a:cubicBezTo>
                  <a:pt x="149165" y="118027"/>
                  <a:pt x="180147" y="149009"/>
                  <a:pt x="180147" y="187252"/>
                </a:cubicBezTo>
                <a:cubicBezTo>
                  <a:pt x="180147" y="193619"/>
                  <a:pt x="174983" y="198783"/>
                  <a:pt x="168616" y="198783"/>
                </a:cubicBezTo>
                <a:lnTo>
                  <a:pt x="30167" y="198783"/>
                </a:lnTo>
                <a:cubicBezTo>
                  <a:pt x="23800" y="198783"/>
                  <a:pt x="18636" y="193619"/>
                  <a:pt x="18636" y="187252"/>
                </a:cubicBezTo>
                <a:close/>
                <a:moveTo>
                  <a:pt x="211207" y="37272"/>
                </a:moveTo>
                <a:cubicBezTo>
                  <a:pt x="216370" y="37272"/>
                  <a:pt x="220524" y="41426"/>
                  <a:pt x="220524" y="46590"/>
                </a:cubicBezTo>
                <a:lnTo>
                  <a:pt x="220524" y="65226"/>
                </a:lnTo>
                <a:lnTo>
                  <a:pt x="239160" y="65226"/>
                </a:lnTo>
                <a:cubicBezTo>
                  <a:pt x="244324" y="65226"/>
                  <a:pt x="248478" y="69380"/>
                  <a:pt x="248478" y="74543"/>
                </a:cubicBezTo>
                <a:cubicBezTo>
                  <a:pt x="248478" y="79707"/>
                  <a:pt x="244324" y="83861"/>
                  <a:pt x="239160" y="83861"/>
                </a:cubicBezTo>
                <a:lnTo>
                  <a:pt x="220524" y="83861"/>
                </a:lnTo>
                <a:lnTo>
                  <a:pt x="220524" y="102497"/>
                </a:lnTo>
                <a:cubicBezTo>
                  <a:pt x="220524" y="107661"/>
                  <a:pt x="216370" y="111815"/>
                  <a:pt x="211207" y="111815"/>
                </a:cubicBezTo>
                <a:cubicBezTo>
                  <a:pt x="206043" y="111815"/>
                  <a:pt x="201889" y="107661"/>
                  <a:pt x="201889" y="102497"/>
                </a:cubicBezTo>
                <a:lnTo>
                  <a:pt x="201889" y="83861"/>
                </a:lnTo>
                <a:lnTo>
                  <a:pt x="183253" y="83861"/>
                </a:lnTo>
                <a:cubicBezTo>
                  <a:pt x="178089" y="83861"/>
                  <a:pt x="173935" y="79707"/>
                  <a:pt x="173935" y="74543"/>
                </a:cubicBezTo>
                <a:cubicBezTo>
                  <a:pt x="173935" y="69380"/>
                  <a:pt x="178089" y="65226"/>
                  <a:pt x="183253" y="65226"/>
                </a:cubicBezTo>
                <a:lnTo>
                  <a:pt x="201889" y="65226"/>
                </a:lnTo>
                <a:lnTo>
                  <a:pt x="201889" y="46590"/>
                </a:lnTo>
                <a:cubicBezTo>
                  <a:pt x="201889" y="41426"/>
                  <a:pt x="206043" y="37272"/>
                  <a:pt x="211207" y="37272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844826" y="1292087"/>
            <a:ext cx="1242391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三七二一带教法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6957" y="1623391"/>
            <a:ext cx="6485283" cy="596348"/>
          </a:xfrm>
          <a:custGeom>
            <a:avLst/>
            <a:gdLst/>
            <a:ahLst/>
            <a:cxnLst/>
            <a:rect l="l" t="t" r="r" b="b"/>
            <a:pathLst>
              <a:path w="6485283" h="596348">
                <a:moveTo>
                  <a:pt x="66260" y="0"/>
                </a:moveTo>
                <a:lnTo>
                  <a:pt x="6419022" y="0"/>
                </a:lnTo>
                <a:cubicBezTo>
                  <a:pt x="6455617" y="0"/>
                  <a:pt x="6485283" y="29666"/>
                  <a:pt x="6485283" y="66260"/>
                </a:cubicBezTo>
                <a:lnTo>
                  <a:pt x="6485283" y="530088"/>
                </a:lnTo>
                <a:cubicBezTo>
                  <a:pt x="6485283" y="566682"/>
                  <a:pt x="6455617" y="596348"/>
                  <a:pt x="641902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596348" y="1722783"/>
            <a:ext cx="6352761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三天融入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348" y="1954696"/>
            <a:ext cx="63444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熟悉环境、了解文化、认识同事、掌握基础流程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6957" y="2319130"/>
            <a:ext cx="6485283" cy="596348"/>
          </a:xfrm>
          <a:custGeom>
            <a:avLst/>
            <a:gdLst/>
            <a:ahLst/>
            <a:cxnLst/>
            <a:rect l="l" t="t" r="r" b="b"/>
            <a:pathLst>
              <a:path w="6485283" h="596348">
                <a:moveTo>
                  <a:pt x="66260" y="0"/>
                </a:moveTo>
                <a:lnTo>
                  <a:pt x="6419022" y="0"/>
                </a:lnTo>
                <a:cubicBezTo>
                  <a:pt x="6455617" y="0"/>
                  <a:pt x="6485283" y="29666"/>
                  <a:pt x="6485283" y="66260"/>
                </a:cubicBezTo>
                <a:lnTo>
                  <a:pt x="6485283" y="530088"/>
                </a:lnTo>
                <a:cubicBezTo>
                  <a:pt x="6485283" y="566682"/>
                  <a:pt x="6455617" y="596348"/>
                  <a:pt x="641902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596348" y="2418522"/>
            <a:ext cx="6352761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七天掌握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348" y="2650435"/>
            <a:ext cx="63444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掌握产品知识、服务流程、销售技巧、系统操作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6957" y="3014870"/>
            <a:ext cx="6485283" cy="596348"/>
          </a:xfrm>
          <a:custGeom>
            <a:avLst/>
            <a:gdLst/>
            <a:ahLst/>
            <a:cxnLst/>
            <a:rect l="l" t="t" r="r" b="b"/>
            <a:pathLst>
              <a:path w="6485283" h="596348">
                <a:moveTo>
                  <a:pt x="66260" y="0"/>
                </a:moveTo>
                <a:lnTo>
                  <a:pt x="6419022" y="0"/>
                </a:lnTo>
                <a:cubicBezTo>
                  <a:pt x="6455617" y="0"/>
                  <a:pt x="6485283" y="29666"/>
                  <a:pt x="6485283" y="66260"/>
                </a:cubicBezTo>
                <a:lnTo>
                  <a:pt x="6485283" y="530088"/>
                </a:lnTo>
                <a:cubicBezTo>
                  <a:pt x="6485283" y="566682"/>
                  <a:pt x="6455617" y="596348"/>
                  <a:pt x="641902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96348" y="3114261"/>
            <a:ext cx="6352761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两周强化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348" y="3346174"/>
            <a:ext cx="63444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实战演练、师傅带教、问题纠正、技能强化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6957" y="3710609"/>
            <a:ext cx="6485283" cy="596348"/>
          </a:xfrm>
          <a:custGeom>
            <a:avLst/>
            <a:gdLst/>
            <a:ahLst/>
            <a:cxnLst/>
            <a:rect l="l" t="t" r="r" b="b"/>
            <a:pathLst>
              <a:path w="6485283" h="596348">
                <a:moveTo>
                  <a:pt x="66260" y="0"/>
                </a:moveTo>
                <a:lnTo>
                  <a:pt x="6419022" y="0"/>
                </a:lnTo>
                <a:cubicBezTo>
                  <a:pt x="6455617" y="0"/>
                  <a:pt x="6485283" y="29666"/>
                  <a:pt x="6485283" y="66260"/>
                </a:cubicBezTo>
                <a:lnTo>
                  <a:pt x="6485283" y="530088"/>
                </a:lnTo>
                <a:cubicBezTo>
                  <a:pt x="6485283" y="566682"/>
                  <a:pt x="6455617" y="596348"/>
                  <a:pt x="641902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596348" y="3810000"/>
            <a:ext cx="6352761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一周评估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6348" y="4041913"/>
            <a:ext cx="6344478" cy="165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综合考核、能力评估、转正决策、后续规划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1304" y="4605130"/>
            <a:ext cx="6816587" cy="2252870"/>
          </a:xfrm>
          <a:custGeom>
            <a:avLst/>
            <a:gdLst/>
            <a:ahLst/>
            <a:cxnLst/>
            <a:rect l="l" t="t" r="r" b="b"/>
            <a:pathLst>
              <a:path w="6816587" h="2252870">
                <a:moveTo>
                  <a:pt x="99397" y="0"/>
                </a:moveTo>
                <a:lnTo>
                  <a:pt x="6717190" y="0"/>
                </a:lnTo>
                <a:cubicBezTo>
                  <a:pt x="6772086" y="0"/>
                  <a:pt x="6816587" y="44501"/>
                  <a:pt x="6816587" y="99397"/>
                </a:cubicBezTo>
                <a:lnTo>
                  <a:pt x="6816587" y="2153473"/>
                </a:lnTo>
                <a:cubicBezTo>
                  <a:pt x="6816587" y="2208368"/>
                  <a:pt x="6772086" y="2252870"/>
                  <a:pt x="6717190" y="2252870"/>
                </a:cubicBezTo>
                <a:lnTo>
                  <a:pt x="99397" y="2252870"/>
                </a:lnTo>
                <a:cubicBezTo>
                  <a:pt x="44501" y="2252870"/>
                  <a:pt x="0" y="2208368"/>
                  <a:pt x="0" y="2153473"/>
                </a:cubicBezTo>
                <a:lnTo>
                  <a:pt x="0" y="99397"/>
                </a:lnTo>
                <a:cubicBezTo>
                  <a:pt x="0" y="44538"/>
                  <a:pt x="44538" y="0"/>
                  <a:pt x="9939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696" dist="331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4228" y="4787348"/>
            <a:ext cx="173935" cy="198783"/>
          </a:xfrm>
          <a:custGeom>
            <a:avLst/>
            <a:gdLst/>
            <a:ahLst/>
            <a:cxnLst/>
            <a:rect l="l" t="t" r="r" b="b"/>
            <a:pathLst>
              <a:path w="173935" h="198783">
                <a:moveTo>
                  <a:pt x="49696" y="0"/>
                </a:moveTo>
                <a:cubicBezTo>
                  <a:pt x="56568" y="0"/>
                  <a:pt x="62120" y="5552"/>
                  <a:pt x="62120" y="12424"/>
                </a:cubicBezTo>
                <a:lnTo>
                  <a:pt x="62120" y="24848"/>
                </a:lnTo>
                <a:lnTo>
                  <a:pt x="111815" y="24848"/>
                </a:lnTo>
                <a:lnTo>
                  <a:pt x="111815" y="12424"/>
                </a:lnTo>
                <a:cubicBezTo>
                  <a:pt x="111815" y="5552"/>
                  <a:pt x="117367" y="0"/>
                  <a:pt x="124239" y="0"/>
                </a:cubicBezTo>
                <a:cubicBezTo>
                  <a:pt x="131111" y="0"/>
                  <a:pt x="136663" y="5552"/>
                  <a:pt x="136663" y="12424"/>
                </a:cubicBezTo>
                <a:lnTo>
                  <a:pt x="136663" y="24848"/>
                </a:lnTo>
                <a:lnTo>
                  <a:pt x="149087" y="24848"/>
                </a:lnTo>
                <a:cubicBezTo>
                  <a:pt x="162792" y="24848"/>
                  <a:pt x="173935" y="35991"/>
                  <a:pt x="173935" y="49696"/>
                </a:cubicBezTo>
                <a:lnTo>
                  <a:pt x="173935" y="161511"/>
                </a:lnTo>
                <a:cubicBezTo>
                  <a:pt x="173935" y="175216"/>
                  <a:pt x="162792" y="186359"/>
                  <a:pt x="149087" y="186359"/>
                </a:cubicBezTo>
                <a:lnTo>
                  <a:pt x="24848" y="186359"/>
                </a:lnTo>
                <a:cubicBezTo>
                  <a:pt x="11143" y="186359"/>
                  <a:pt x="0" y="175216"/>
                  <a:pt x="0" y="161511"/>
                </a:cubicBezTo>
                <a:lnTo>
                  <a:pt x="0" y="49696"/>
                </a:lnTo>
                <a:cubicBezTo>
                  <a:pt x="0" y="35991"/>
                  <a:pt x="11143" y="24848"/>
                  <a:pt x="24848" y="24848"/>
                </a:cubicBezTo>
                <a:lnTo>
                  <a:pt x="37272" y="24848"/>
                </a:lnTo>
                <a:lnTo>
                  <a:pt x="37272" y="12424"/>
                </a:lnTo>
                <a:cubicBezTo>
                  <a:pt x="37272" y="5552"/>
                  <a:pt x="42824" y="0"/>
                  <a:pt x="49696" y="0"/>
                </a:cubicBezTo>
                <a:close/>
                <a:moveTo>
                  <a:pt x="49696" y="99391"/>
                </a:moveTo>
                <a:cubicBezTo>
                  <a:pt x="42824" y="99391"/>
                  <a:pt x="37272" y="104943"/>
                  <a:pt x="37272" y="111815"/>
                </a:cubicBezTo>
                <a:lnTo>
                  <a:pt x="37272" y="136663"/>
                </a:lnTo>
                <a:cubicBezTo>
                  <a:pt x="37272" y="143535"/>
                  <a:pt x="42824" y="149087"/>
                  <a:pt x="49696" y="149087"/>
                </a:cubicBezTo>
                <a:lnTo>
                  <a:pt x="124239" y="149087"/>
                </a:lnTo>
                <a:cubicBezTo>
                  <a:pt x="131111" y="149087"/>
                  <a:pt x="136663" y="143535"/>
                  <a:pt x="136663" y="136663"/>
                </a:cubicBezTo>
                <a:lnTo>
                  <a:pt x="136663" y="111815"/>
                </a:lnTo>
                <a:cubicBezTo>
                  <a:pt x="136663" y="104943"/>
                  <a:pt x="131111" y="99391"/>
                  <a:pt x="124239" y="99391"/>
                </a:cubicBezTo>
                <a:lnTo>
                  <a:pt x="49696" y="99391"/>
                </a:lnTo>
                <a:close/>
              </a:path>
            </a:pathLst>
          </a:custGeom>
          <a:solidFill>
            <a:srgbClr val="3D3D3D"/>
          </a:solidFill>
        </p:spPr>
      </p:sp>
      <p:sp>
        <p:nvSpPr>
          <p:cNvPr id="23" name="Text 21"/>
          <p:cNvSpPr/>
          <p:nvPr/>
        </p:nvSpPr>
        <p:spPr>
          <a:xfrm>
            <a:off x="844826" y="4770783"/>
            <a:ext cx="1341783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7天详细带教计划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6957" y="5102087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入职办理、环境熟悉、文化介绍、同事认识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6957" y="5334000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2: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产品知识学习、陈列认知、基础服务流程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6957" y="5565913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3: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系统操作学习、收银流程、退换货处理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6957" y="5797826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4: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销售技巧培训、接待流程、需求挖掘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6957" y="6029739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5: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搭配技巧学习、推荐话术、异议处理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6957" y="6261652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6: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实战演练、师傅带教、问题纠正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6957" y="6493565"/>
            <a:ext cx="655154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7:</a:t>
            </a: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综合考核、能力评估、反馈沟通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26" y="1126435"/>
            <a:ext cx="4547152" cy="1656522"/>
          </a:xfrm>
          <a:custGeom>
            <a:avLst/>
            <a:gdLst/>
            <a:ahLst/>
            <a:cxnLst/>
            <a:rect l="l" t="t" r="r" b="b"/>
            <a:pathLst>
              <a:path w="4547152" h="1656522">
                <a:moveTo>
                  <a:pt x="99391" y="0"/>
                </a:moveTo>
                <a:lnTo>
                  <a:pt x="4447761" y="0"/>
                </a:lnTo>
                <a:cubicBezTo>
                  <a:pt x="4502653" y="0"/>
                  <a:pt x="4547152" y="44499"/>
                  <a:pt x="4547152" y="99391"/>
                </a:cubicBezTo>
                <a:lnTo>
                  <a:pt x="4547152" y="1557130"/>
                </a:lnTo>
                <a:cubicBezTo>
                  <a:pt x="4547152" y="1612023"/>
                  <a:pt x="4502653" y="1656522"/>
                  <a:pt x="4447761" y="1656522"/>
                </a:cubicBezTo>
                <a:lnTo>
                  <a:pt x="99391" y="1656522"/>
                </a:lnTo>
                <a:cubicBezTo>
                  <a:pt x="44499" y="1656522"/>
                  <a:pt x="0" y="1612023"/>
                  <a:pt x="0" y="1557130"/>
                </a:cubicBezTo>
                <a:lnTo>
                  <a:pt x="0" y="99391"/>
                </a:lnTo>
                <a:cubicBezTo>
                  <a:pt x="0" y="44536"/>
                  <a:pt x="44536" y="0"/>
                  <a:pt x="99391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2" name="Shape 30"/>
          <p:cNvSpPr/>
          <p:nvPr/>
        </p:nvSpPr>
        <p:spPr>
          <a:xfrm>
            <a:off x="7482949" y="1333500"/>
            <a:ext cx="186359" cy="149087"/>
          </a:xfrm>
          <a:custGeom>
            <a:avLst/>
            <a:gdLst/>
            <a:ahLst/>
            <a:cxnLst/>
            <a:rect l="l" t="t" r="r" b="b"/>
            <a:pathLst>
              <a:path w="186359" h="149087">
                <a:moveTo>
                  <a:pt x="37272" y="27954"/>
                </a:moveTo>
                <a:cubicBezTo>
                  <a:pt x="37272" y="17675"/>
                  <a:pt x="45629" y="9318"/>
                  <a:pt x="55908" y="9318"/>
                </a:cubicBezTo>
                <a:lnTo>
                  <a:pt x="158405" y="9318"/>
                </a:lnTo>
                <a:cubicBezTo>
                  <a:pt x="168684" y="9318"/>
                  <a:pt x="177041" y="17675"/>
                  <a:pt x="177041" y="27954"/>
                </a:cubicBezTo>
                <a:lnTo>
                  <a:pt x="177041" y="97838"/>
                </a:lnTo>
                <a:lnTo>
                  <a:pt x="149087" y="97838"/>
                </a:lnTo>
                <a:lnTo>
                  <a:pt x="149087" y="93179"/>
                </a:lnTo>
                <a:cubicBezTo>
                  <a:pt x="149087" y="88025"/>
                  <a:pt x="144923" y="83861"/>
                  <a:pt x="139769" y="83861"/>
                </a:cubicBezTo>
                <a:lnTo>
                  <a:pt x="121133" y="83861"/>
                </a:lnTo>
                <a:cubicBezTo>
                  <a:pt x="115979" y="83861"/>
                  <a:pt x="111815" y="88025"/>
                  <a:pt x="111815" y="93179"/>
                </a:cubicBezTo>
                <a:lnTo>
                  <a:pt x="111815" y="97838"/>
                </a:lnTo>
                <a:lnTo>
                  <a:pt x="74223" y="97838"/>
                </a:lnTo>
                <a:cubicBezTo>
                  <a:pt x="77397" y="92364"/>
                  <a:pt x="79202" y="85987"/>
                  <a:pt x="79202" y="79202"/>
                </a:cubicBezTo>
                <a:cubicBezTo>
                  <a:pt x="79202" y="58616"/>
                  <a:pt x="62518" y="41931"/>
                  <a:pt x="41931" y="41931"/>
                </a:cubicBezTo>
                <a:cubicBezTo>
                  <a:pt x="40358" y="41931"/>
                  <a:pt x="38786" y="42018"/>
                  <a:pt x="37272" y="42222"/>
                </a:cubicBezTo>
                <a:lnTo>
                  <a:pt x="37272" y="27954"/>
                </a:lnTo>
                <a:close/>
                <a:moveTo>
                  <a:pt x="96965" y="130451"/>
                </a:moveTo>
                <a:cubicBezTo>
                  <a:pt x="95480" y="123404"/>
                  <a:pt x="92218" y="117027"/>
                  <a:pt x="87618" y="111815"/>
                </a:cubicBezTo>
                <a:lnTo>
                  <a:pt x="177041" y="111815"/>
                </a:lnTo>
                <a:cubicBezTo>
                  <a:pt x="177041" y="122094"/>
                  <a:pt x="168684" y="130451"/>
                  <a:pt x="158405" y="130451"/>
                </a:cubicBezTo>
                <a:lnTo>
                  <a:pt x="96965" y="130451"/>
                </a:lnTo>
                <a:close/>
                <a:moveTo>
                  <a:pt x="18636" y="79202"/>
                </a:moveTo>
                <a:cubicBezTo>
                  <a:pt x="18636" y="66346"/>
                  <a:pt x="29074" y="55908"/>
                  <a:pt x="41931" y="55908"/>
                </a:cubicBezTo>
                <a:cubicBezTo>
                  <a:pt x="54787" y="55908"/>
                  <a:pt x="65226" y="66346"/>
                  <a:pt x="65226" y="79202"/>
                </a:cubicBezTo>
                <a:cubicBezTo>
                  <a:pt x="65226" y="92059"/>
                  <a:pt x="54787" y="102497"/>
                  <a:pt x="41931" y="102497"/>
                </a:cubicBezTo>
                <a:cubicBezTo>
                  <a:pt x="29074" y="102497"/>
                  <a:pt x="18636" y="92059"/>
                  <a:pt x="18636" y="79202"/>
                </a:cubicBezTo>
                <a:close/>
                <a:moveTo>
                  <a:pt x="0" y="139769"/>
                </a:moveTo>
                <a:cubicBezTo>
                  <a:pt x="0" y="124336"/>
                  <a:pt x="12521" y="111815"/>
                  <a:pt x="27954" y="111815"/>
                </a:cubicBezTo>
                <a:lnTo>
                  <a:pt x="55908" y="111815"/>
                </a:lnTo>
                <a:cubicBezTo>
                  <a:pt x="71340" y="111815"/>
                  <a:pt x="83861" y="124336"/>
                  <a:pt x="83861" y="139769"/>
                </a:cubicBezTo>
                <a:cubicBezTo>
                  <a:pt x="83861" y="144923"/>
                  <a:pt x="79697" y="149087"/>
                  <a:pt x="74543" y="149087"/>
                </a:cubicBezTo>
                <a:lnTo>
                  <a:pt x="9318" y="149087"/>
                </a:lnTo>
                <a:cubicBezTo>
                  <a:pt x="4164" y="149087"/>
                  <a:pt x="0" y="144923"/>
                  <a:pt x="0" y="139769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671378" y="1292087"/>
            <a:ext cx="4099891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97443" y="1656522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88106" y="55053"/>
                </a:moveTo>
                <a:lnTo>
                  <a:pt x="67400" y="88184"/>
                </a:lnTo>
                <a:cubicBezTo>
                  <a:pt x="66313" y="89918"/>
                  <a:pt x="64449" y="91005"/>
                  <a:pt x="62404" y="91109"/>
                </a:cubicBezTo>
                <a:cubicBezTo>
                  <a:pt x="60360" y="91212"/>
                  <a:pt x="58392" y="90280"/>
                  <a:pt x="57176" y="88624"/>
                </a:cubicBezTo>
                <a:lnTo>
                  <a:pt x="44752" y="72059"/>
                </a:lnTo>
                <a:cubicBezTo>
                  <a:pt x="42681" y="69315"/>
                  <a:pt x="43251" y="65433"/>
                  <a:pt x="45994" y="63362"/>
                </a:cubicBezTo>
                <a:cubicBezTo>
                  <a:pt x="48738" y="61291"/>
                  <a:pt x="52620" y="61861"/>
                  <a:pt x="54691" y="64604"/>
                </a:cubicBezTo>
                <a:lnTo>
                  <a:pt x="61680" y="73922"/>
                </a:lnTo>
                <a:lnTo>
                  <a:pt x="77572" y="48479"/>
                </a:lnTo>
                <a:cubicBezTo>
                  <a:pt x="79384" y="45580"/>
                  <a:pt x="83214" y="44674"/>
                  <a:pt x="86139" y="46512"/>
                </a:cubicBezTo>
                <a:cubicBezTo>
                  <a:pt x="89064" y="48350"/>
                  <a:pt x="89944" y="52155"/>
                  <a:pt x="88106" y="55079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12791" y="1623391"/>
            <a:ext cx="112643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讲解带教体系逻辑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7443" y="1921565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88106" y="55053"/>
                </a:moveTo>
                <a:lnTo>
                  <a:pt x="67400" y="88184"/>
                </a:lnTo>
                <a:cubicBezTo>
                  <a:pt x="66313" y="89918"/>
                  <a:pt x="64449" y="91005"/>
                  <a:pt x="62404" y="91109"/>
                </a:cubicBezTo>
                <a:cubicBezTo>
                  <a:pt x="60360" y="91212"/>
                  <a:pt x="58392" y="90280"/>
                  <a:pt x="57176" y="88624"/>
                </a:cubicBezTo>
                <a:lnTo>
                  <a:pt x="44752" y="72059"/>
                </a:lnTo>
                <a:cubicBezTo>
                  <a:pt x="42681" y="69315"/>
                  <a:pt x="43251" y="65433"/>
                  <a:pt x="45994" y="63362"/>
                </a:cubicBezTo>
                <a:cubicBezTo>
                  <a:pt x="48738" y="61291"/>
                  <a:pt x="52620" y="61861"/>
                  <a:pt x="54691" y="64604"/>
                </a:cubicBezTo>
                <a:lnTo>
                  <a:pt x="61680" y="73922"/>
                </a:lnTo>
                <a:lnTo>
                  <a:pt x="77572" y="48479"/>
                </a:lnTo>
                <a:cubicBezTo>
                  <a:pt x="79384" y="45580"/>
                  <a:pt x="83214" y="44674"/>
                  <a:pt x="86139" y="46512"/>
                </a:cubicBezTo>
                <a:cubicBezTo>
                  <a:pt x="89064" y="48350"/>
                  <a:pt x="89944" y="52155"/>
                  <a:pt x="88106" y="55079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12791" y="1888435"/>
            <a:ext cx="106845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演示7天带教计划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97443" y="2186609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88106" y="55053"/>
                </a:moveTo>
                <a:lnTo>
                  <a:pt x="67400" y="88184"/>
                </a:lnTo>
                <a:cubicBezTo>
                  <a:pt x="66313" y="89918"/>
                  <a:pt x="64449" y="91005"/>
                  <a:pt x="62404" y="91109"/>
                </a:cubicBezTo>
                <a:cubicBezTo>
                  <a:pt x="60360" y="91212"/>
                  <a:pt x="58392" y="90280"/>
                  <a:pt x="57176" y="88624"/>
                </a:cubicBezTo>
                <a:lnTo>
                  <a:pt x="44752" y="72059"/>
                </a:lnTo>
                <a:cubicBezTo>
                  <a:pt x="42681" y="69315"/>
                  <a:pt x="43251" y="65433"/>
                  <a:pt x="45994" y="63362"/>
                </a:cubicBezTo>
                <a:cubicBezTo>
                  <a:pt x="48738" y="61291"/>
                  <a:pt x="52620" y="61861"/>
                  <a:pt x="54691" y="64604"/>
                </a:cubicBezTo>
                <a:lnTo>
                  <a:pt x="61680" y="73922"/>
                </a:lnTo>
                <a:lnTo>
                  <a:pt x="77572" y="48479"/>
                </a:lnTo>
                <a:cubicBezTo>
                  <a:pt x="79384" y="45580"/>
                  <a:pt x="83214" y="44674"/>
                  <a:pt x="86139" y="46512"/>
                </a:cubicBezTo>
                <a:cubicBezTo>
                  <a:pt x="89064" y="48350"/>
                  <a:pt x="89944" y="52155"/>
                  <a:pt x="88106" y="55079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9" name="Text 37"/>
          <p:cNvSpPr/>
          <p:nvPr/>
        </p:nvSpPr>
        <p:spPr>
          <a:xfrm>
            <a:off x="7712791" y="2153478"/>
            <a:ext cx="112643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分享带教成功案例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97443" y="2451652"/>
            <a:ext cx="132522" cy="132522"/>
          </a:xfrm>
          <a:custGeom>
            <a:avLst/>
            <a:gdLst/>
            <a:ahLst/>
            <a:cxnLst/>
            <a:rect l="l" t="t" r="r" b="b"/>
            <a:pathLst>
              <a:path w="132522" h="132522">
                <a:moveTo>
                  <a:pt x="66261" y="132522"/>
                </a:moveTo>
                <a:cubicBezTo>
                  <a:pt x="102831" y="132522"/>
                  <a:pt x="132522" y="102831"/>
                  <a:pt x="132522" y="66261"/>
                </a:cubicBezTo>
                <a:cubicBezTo>
                  <a:pt x="132522" y="29691"/>
                  <a:pt x="102831" y="0"/>
                  <a:pt x="66261" y="0"/>
                </a:cubicBezTo>
                <a:cubicBezTo>
                  <a:pt x="29691" y="0"/>
                  <a:pt x="0" y="29691"/>
                  <a:pt x="0" y="66261"/>
                </a:cubicBezTo>
                <a:cubicBezTo>
                  <a:pt x="0" y="102831"/>
                  <a:pt x="29691" y="132522"/>
                  <a:pt x="66261" y="132522"/>
                </a:cubicBezTo>
                <a:close/>
                <a:moveTo>
                  <a:pt x="88106" y="55053"/>
                </a:moveTo>
                <a:lnTo>
                  <a:pt x="67400" y="88184"/>
                </a:lnTo>
                <a:cubicBezTo>
                  <a:pt x="66313" y="89918"/>
                  <a:pt x="64449" y="91005"/>
                  <a:pt x="62404" y="91109"/>
                </a:cubicBezTo>
                <a:cubicBezTo>
                  <a:pt x="60360" y="91212"/>
                  <a:pt x="58392" y="90280"/>
                  <a:pt x="57176" y="88624"/>
                </a:cubicBezTo>
                <a:lnTo>
                  <a:pt x="44752" y="72059"/>
                </a:lnTo>
                <a:cubicBezTo>
                  <a:pt x="42681" y="69315"/>
                  <a:pt x="43251" y="65433"/>
                  <a:pt x="45994" y="63362"/>
                </a:cubicBezTo>
                <a:cubicBezTo>
                  <a:pt x="48738" y="61291"/>
                  <a:pt x="52620" y="61861"/>
                  <a:pt x="54691" y="64604"/>
                </a:cubicBezTo>
                <a:lnTo>
                  <a:pt x="61680" y="73922"/>
                </a:lnTo>
                <a:lnTo>
                  <a:pt x="77572" y="48479"/>
                </a:lnTo>
                <a:cubicBezTo>
                  <a:pt x="79384" y="45580"/>
                  <a:pt x="83214" y="44674"/>
                  <a:pt x="86139" y="46512"/>
                </a:cubicBezTo>
                <a:cubicBezTo>
                  <a:pt x="89064" y="48350"/>
                  <a:pt x="89944" y="52155"/>
                  <a:pt x="88106" y="55079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1" name="Text 39"/>
          <p:cNvSpPr/>
          <p:nvPr/>
        </p:nvSpPr>
        <p:spPr>
          <a:xfrm>
            <a:off x="7712791" y="2418522"/>
            <a:ext cx="112643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建立系统带教能力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26" y="2915478"/>
            <a:ext cx="4547152" cy="1656522"/>
          </a:xfrm>
          <a:custGeom>
            <a:avLst/>
            <a:gdLst/>
            <a:ahLst/>
            <a:cxnLst/>
            <a:rect l="l" t="t" r="r" b="b"/>
            <a:pathLst>
              <a:path w="4547152" h="1656522">
                <a:moveTo>
                  <a:pt x="99391" y="0"/>
                </a:moveTo>
                <a:lnTo>
                  <a:pt x="4447761" y="0"/>
                </a:lnTo>
                <a:cubicBezTo>
                  <a:pt x="4502653" y="0"/>
                  <a:pt x="4547152" y="44499"/>
                  <a:pt x="4547152" y="99391"/>
                </a:cubicBezTo>
                <a:lnTo>
                  <a:pt x="4547152" y="1557130"/>
                </a:lnTo>
                <a:cubicBezTo>
                  <a:pt x="4547152" y="1612023"/>
                  <a:pt x="4502653" y="1656522"/>
                  <a:pt x="4447761" y="1656522"/>
                </a:cubicBezTo>
                <a:lnTo>
                  <a:pt x="99391" y="1656522"/>
                </a:lnTo>
                <a:cubicBezTo>
                  <a:pt x="44499" y="1656522"/>
                  <a:pt x="0" y="1612023"/>
                  <a:pt x="0" y="1557130"/>
                </a:cubicBezTo>
                <a:lnTo>
                  <a:pt x="0" y="99391"/>
                </a:lnTo>
                <a:cubicBezTo>
                  <a:pt x="0" y="44536"/>
                  <a:pt x="44536" y="0"/>
                  <a:pt x="993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49696" dist="331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510903" y="3122543"/>
            <a:ext cx="130451" cy="149087"/>
          </a:xfrm>
          <a:custGeom>
            <a:avLst/>
            <a:gdLst/>
            <a:ahLst/>
            <a:cxnLst/>
            <a:rect l="l" t="t" r="r" b="b"/>
            <a:pathLst>
              <a:path w="130451" h="149087">
                <a:moveTo>
                  <a:pt x="70263" y="-3785"/>
                </a:moveTo>
                <a:cubicBezTo>
                  <a:pt x="66944" y="-4455"/>
                  <a:pt x="63537" y="-4455"/>
                  <a:pt x="60217" y="-3785"/>
                </a:cubicBezTo>
                <a:lnTo>
                  <a:pt x="5620" y="7134"/>
                </a:lnTo>
                <a:cubicBezTo>
                  <a:pt x="2359" y="7775"/>
                  <a:pt x="0" y="10657"/>
                  <a:pt x="0" y="13977"/>
                </a:cubicBezTo>
                <a:cubicBezTo>
                  <a:pt x="0" y="16976"/>
                  <a:pt x="1893" y="19597"/>
                  <a:pt x="4659" y="20558"/>
                </a:cubicBezTo>
                <a:lnTo>
                  <a:pt x="4659" y="41931"/>
                </a:lnTo>
                <a:lnTo>
                  <a:pt x="87" y="64818"/>
                </a:lnTo>
                <a:cubicBezTo>
                  <a:pt x="29" y="65080"/>
                  <a:pt x="0" y="65371"/>
                  <a:pt x="0" y="65662"/>
                </a:cubicBezTo>
                <a:cubicBezTo>
                  <a:pt x="0" y="67992"/>
                  <a:pt x="1893" y="69914"/>
                  <a:pt x="4251" y="69914"/>
                </a:cubicBezTo>
                <a:lnTo>
                  <a:pt x="14414" y="69914"/>
                </a:lnTo>
                <a:cubicBezTo>
                  <a:pt x="16743" y="69914"/>
                  <a:pt x="18665" y="68021"/>
                  <a:pt x="18665" y="65662"/>
                </a:cubicBezTo>
                <a:cubicBezTo>
                  <a:pt x="18665" y="65371"/>
                  <a:pt x="18636" y="65109"/>
                  <a:pt x="18578" y="64818"/>
                </a:cubicBezTo>
                <a:lnTo>
                  <a:pt x="13977" y="41931"/>
                </a:lnTo>
                <a:lnTo>
                  <a:pt x="13977" y="22509"/>
                </a:lnTo>
                <a:lnTo>
                  <a:pt x="27954" y="25304"/>
                </a:lnTo>
                <a:lnTo>
                  <a:pt x="27954" y="41931"/>
                </a:lnTo>
                <a:cubicBezTo>
                  <a:pt x="27954" y="62518"/>
                  <a:pt x="44639" y="79202"/>
                  <a:pt x="65226" y="79202"/>
                </a:cubicBezTo>
                <a:cubicBezTo>
                  <a:pt x="85812" y="79202"/>
                  <a:pt x="102497" y="62518"/>
                  <a:pt x="102497" y="41931"/>
                </a:cubicBezTo>
                <a:lnTo>
                  <a:pt x="102497" y="25304"/>
                </a:lnTo>
                <a:lnTo>
                  <a:pt x="124831" y="20849"/>
                </a:lnTo>
                <a:cubicBezTo>
                  <a:pt x="128092" y="20179"/>
                  <a:pt x="130451" y="17296"/>
                  <a:pt x="130451" y="13977"/>
                </a:cubicBezTo>
                <a:cubicBezTo>
                  <a:pt x="130451" y="10657"/>
                  <a:pt x="128092" y="7775"/>
                  <a:pt x="124831" y="7134"/>
                </a:cubicBezTo>
                <a:lnTo>
                  <a:pt x="70263" y="-3785"/>
                </a:lnTo>
                <a:close/>
                <a:moveTo>
                  <a:pt x="65226" y="65226"/>
                </a:moveTo>
                <a:cubicBezTo>
                  <a:pt x="52355" y="65226"/>
                  <a:pt x="41931" y="54801"/>
                  <a:pt x="41931" y="41931"/>
                </a:cubicBezTo>
                <a:lnTo>
                  <a:pt x="88520" y="41931"/>
                </a:lnTo>
                <a:cubicBezTo>
                  <a:pt x="88520" y="54801"/>
                  <a:pt x="78096" y="65226"/>
                  <a:pt x="65226" y="65226"/>
                </a:cubicBezTo>
                <a:close/>
                <a:moveTo>
                  <a:pt x="34971" y="93208"/>
                </a:moveTo>
                <a:cubicBezTo>
                  <a:pt x="17093" y="101420"/>
                  <a:pt x="4659" y="119473"/>
                  <a:pt x="4659" y="140439"/>
                </a:cubicBezTo>
                <a:cubicBezTo>
                  <a:pt x="4659" y="145214"/>
                  <a:pt x="8532" y="149087"/>
                  <a:pt x="13307" y="149087"/>
                </a:cubicBezTo>
                <a:lnTo>
                  <a:pt x="58237" y="149087"/>
                </a:lnTo>
                <a:lnTo>
                  <a:pt x="58237" y="106574"/>
                </a:lnTo>
                <a:lnTo>
                  <a:pt x="41523" y="94053"/>
                </a:lnTo>
                <a:cubicBezTo>
                  <a:pt x="39630" y="92626"/>
                  <a:pt x="37097" y="92248"/>
                  <a:pt x="34942" y="93238"/>
                </a:cubicBezTo>
                <a:close/>
                <a:moveTo>
                  <a:pt x="72214" y="149087"/>
                </a:moveTo>
                <a:lnTo>
                  <a:pt x="117144" y="149087"/>
                </a:lnTo>
                <a:cubicBezTo>
                  <a:pt x="121919" y="149087"/>
                  <a:pt x="125792" y="145214"/>
                  <a:pt x="125792" y="140439"/>
                </a:cubicBezTo>
                <a:cubicBezTo>
                  <a:pt x="125792" y="119473"/>
                  <a:pt x="113359" y="101420"/>
                  <a:pt x="95480" y="93238"/>
                </a:cubicBezTo>
                <a:cubicBezTo>
                  <a:pt x="93325" y="92248"/>
                  <a:pt x="90792" y="92626"/>
                  <a:pt x="88899" y="94053"/>
                </a:cubicBezTo>
                <a:lnTo>
                  <a:pt x="72185" y="106574"/>
                </a:lnTo>
                <a:lnTo>
                  <a:pt x="72185" y="149087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4" name="Text 42"/>
          <p:cNvSpPr/>
          <p:nvPr/>
        </p:nvSpPr>
        <p:spPr>
          <a:xfrm>
            <a:off x="7671378" y="3081130"/>
            <a:ext cx="4099891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80878" y="3412435"/>
            <a:ext cx="18221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66719" y="3412435"/>
            <a:ext cx="993913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理解三七二一法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80878" y="3677478"/>
            <a:ext cx="18221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66719" y="3677478"/>
            <a:ext cx="106845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掌握7天带教计划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80878" y="3942522"/>
            <a:ext cx="18221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666719" y="3942522"/>
            <a:ext cx="112643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学会带教方法技巧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80878" y="4207565"/>
            <a:ext cx="182217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666719" y="4207565"/>
            <a:ext cx="1126435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学会效果评估方法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15226" y="4704522"/>
            <a:ext cx="4547152" cy="762000"/>
          </a:xfrm>
          <a:custGeom>
            <a:avLst/>
            <a:gdLst/>
            <a:ahLst/>
            <a:cxnLst/>
            <a:rect l="l" t="t" r="r" b="b"/>
            <a:pathLst>
              <a:path w="4547152" h="762000">
                <a:moveTo>
                  <a:pt x="99388" y="0"/>
                </a:moveTo>
                <a:lnTo>
                  <a:pt x="4447765" y="0"/>
                </a:lnTo>
                <a:cubicBezTo>
                  <a:pt x="4502655" y="0"/>
                  <a:pt x="4547152" y="44497"/>
                  <a:pt x="4547152" y="99388"/>
                </a:cubicBezTo>
                <a:lnTo>
                  <a:pt x="4547152" y="662612"/>
                </a:lnTo>
                <a:cubicBezTo>
                  <a:pt x="4547152" y="717503"/>
                  <a:pt x="4502655" y="762000"/>
                  <a:pt x="4447765" y="762000"/>
                </a:cubicBezTo>
                <a:lnTo>
                  <a:pt x="99388" y="762000"/>
                </a:lnTo>
                <a:cubicBezTo>
                  <a:pt x="44497" y="762000"/>
                  <a:pt x="0" y="717503"/>
                  <a:pt x="0" y="662612"/>
                </a:cubicBezTo>
                <a:lnTo>
                  <a:pt x="0" y="99388"/>
                </a:lnTo>
                <a:cubicBezTo>
                  <a:pt x="0" y="44497"/>
                  <a:pt x="44497" y="0"/>
                  <a:pt x="99388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4" name="Shape 52"/>
          <p:cNvSpPr/>
          <p:nvPr/>
        </p:nvSpPr>
        <p:spPr>
          <a:xfrm>
            <a:off x="7487090" y="4878457"/>
            <a:ext cx="111815" cy="149087"/>
          </a:xfrm>
          <a:custGeom>
            <a:avLst/>
            <a:gdLst/>
            <a:ahLst/>
            <a:cxnLst/>
            <a:rect l="l" t="t" r="r" b="b"/>
            <a:pathLst>
              <a:path w="111815" h="149087">
                <a:moveTo>
                  <a:pt x="90675" y="9318"/>
                </a:moveTo>
                <a:lnTo>
                  <a:pt x="93179" y="9318"/>
                </a:lnTo>
                <a:cubicBezTo>
                  <a:pt x="103458" y="9318"/>
                  <a:pt x="111815" y="17675"/>
                  <a:pt x="111815" y="27954"/>
                </a:cubicBezTo>
                <a:lnTo>
                  <a:pt x="111815" y="130451"/>
                </a:lnTo>
                <a:cubicBezTo>
                  <a:pt x="111815" y="140730"/>
                  <a:pt x="103458" y="149087"/>
                  <a:pt x="93179" y="149087"/>
                </a:cubicBezTo>
                <a:lnTo>
                  <a:pt x="18636" y="149087"/>
                </a:lnTo>
                <a:cubicBezTo>
                  <a:pt x="8357" y="149087"/>
                  <a:pt x="0" y="140730"/>
                  <a:pt x="0" y="130451"/>
                </a:cubicBezTo>
                <a:lnTo>
                  <a:pt x="0" y="27954"/>
                </a:lnTo>
                <a:cubicBezTo>
                  <a:pt x="0" y="17675"/>
                  <a:pt x="8357" y="9318"/>
                  <a:pt x="18636" y="9318"/>
                </a:cubicBezTo>
                <a:lnTo>
                  <a:pt x="21140" y="9318"/>
                </a:lnTo>
                <a:cubicBezTo>
                  <a:pt x="24343" y="3756"/>
                  <a:pt x="30371" y="0"/>
                  <a:pt x="37272" y="0"/>
                </a:cubicBezTo>
                <a:lnTo>
                  <a:pt x="74543" y="0"/>
                </a:lnTo>
                <a:cubicBezTo>
                  <a:pt x="81445" y="0"/>
                  <a:pt x="87472" y="3756"/>
                  <a:pt x="90675" y="9318"/>
                </a:cubicBezTo>
                <a:close/>
                <a:moveTo>
                  <a:pt x="72214" y="32613"/>
                </a:moveTo>
                <a:cubicBezTo>
                  <a:pt x="76087" y="32613"/>
                  <a:pt x="79202" y="29497"/>
                  <a:pt x="79202" y="25624"/>
                </a:cubicBezTo>
                <a:cubicBezTo>
                  <a:pt x="79202" y="21752"/>
                  <a:pt x="76087" y="18636"/>
                  <a:pt x="72214" y="18636"/>
                </a:cubicBezTo>
                <a:lnTo>
                  <a:pt x="39601" y="18636"/>
                </a:lnTo>
                <a:cubicBezTo>
                  <a:pt x="35728" y="18636"/>
                  <a:pt x="32613" y="21752"/>
                  <a:pt x="32613" y="25624"/>
                </a:cubicBezTo>
                <a:cubicBezTo>
                  <a:pt x="32613" y="29497"/>
                  <a:pt x="35728" y="32613"/>
                  <a:pt x="39601" y="32613"/>
                </a:cubicBezTo>
                <a:lnTo>
                  <a:pt x="72214" y="32613"/>
                </a:lnTo>
                <a:close/>
                <a:moveTo>
                  <a:pt x="37272" y="74543"/>
                </a:moveTo>
                <a:cubicBezTo>
                  <a:pt x="37272" y="69401"/>
                  <a:pt x="33097" y="65226"/>
                  <a:pt x="27954" y="65226"/>
                </a:cubicBezTo>
                <a:cubicBezTo>
                  <a:pt x="22811" y="65226"/>
                  <a:pt x="18636" y="69401"/>
                  <a:pt x="18636" y="74543"/>
                </a:cubicBezTo>
                <a:cubicBezTo>
                  <a:pt x="18636" y="79686"/>
                  <a:pt x="22811" y="83861"/>
                  <a:pt x="27954" y="83861"/>
                </a:cubicBezTo>
                <a:cubicBezTo>
                  <a:pt x="33097" y="83861"/>
                  <a:pt x="37272" y="79686"/>
                  <a:pt x="37272" y="74543"/>
                </a:cubicBezTo>
                <a:close/>
                <a:moveTo>
                  <a:pt x="46590" y="74543"/>
                </a:moveTo>
                <a:cubicBezTo>
                  <a:pt x="46590" y="78416"/>
                  <a:pt x="49705" y="81532"/>
                  <a:pt x="53578" y="81532"/>
                </a:cubicBezTo>
                <a:lnTo>
                  <a:pt x="86191" y="81532"/>
                </a:lnTo>
                <a:cubicBezTo>
                  <a:pt x="90064" y="81532"/>
                  <a:pt x="93179" y="78416"/>
                  <a:pt x="93179" y="74543"/>
                </a:cubicBezTo>
                <a:cubicBezTo>
                  <a:pt x="93179" y="70671"/>
                  <a:pt x="90064" y="67555"/>
                  <a:pt x="86191" y="67555"/>
                </a:cubicBezTo>
                <a:lnTo>
                  <a:pt x="53578" y="67555"/>
                </a:lnTo>
                <a:cubicBezTo>
                  <a:pt x="49705" y="67555"/>
                  <a:pt x="46590" y="70671"/>
                  <a:pt x="46590" y="74543"/>
                </a:cubicBezTo>
                <a:close/>
                <a:moveTo>
                  <a:pt x="46590" y="111815"/>
                </a:moveTo>
                <a:cubicBezTo>
                  <a:pt x="46590" y="115688"/>
                  <a:pt x="49705" y="118804"/>
                  <a:pt x="53578" y="118804"/>
                </a:cubicBezTo>
                <a:lnTo>
                  <a:pt x="86191" y="118804"/>
                </a:lnTo>
                <a:cubicBezTo>
                  <a:pt x="90064" y="118804"/>
                  <a:pt x="93179" y="115688"/>
                  <a:pt x="93179" y="111815"/>
                </a:cubicBezTo>
                <a:cubicBezTo>
                  <a:pt x="93179" y="107942"/>
                  <a:pt x="90064" y="104827"/>
                  <a:pt x="86191" y="104827"/>
                </a:cubicBezTo>
                <a:lnTo>
                  <a:pt x="53578" y="104827"/>
                </a:lnTo>
                <a:cubicBezTo>
                  <a:pt x="49705" y="104827"/>
                  <a:pt x="46590" y="107942"/>
                  <a:pt x="46590" y="111815"/>
                </a:cubicBezTo>
                <a:close/>
                <a:moveTo>
                  <a:pt x="27954" y="121133"/>
                </a:moveTo>
                <a:cubicBezTo>
                  <a:pt x="33097" y="121133"/>
                  <a:pt x="37272" y="116958"/>
                  <a:pt x="37272" y="111815"/>
                </a:cubicBezTo>
                <a:cubicBezTo>
                  <a:pt x="37272" y="106673"/>
                  <a:pt x="33097" y="102497"/>
                  <a:pt x="27954" y="102497"/>
                </a:cubicBezTo>
                <a:cubicBezTo>
                  <a:pt x="22811" y="102497"/>
                  <a:pt x="18636" y="106673"/>
                  <a:pt x="18636" y="111815"/>
                </a:cubicBezTo>
                <a:cubicBezTo>
                  <a:pt x="18636" y="116958"/>
                  <a:pt x="22811" y="121133"/>
                  <a:pt x="27954" y="12113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5" name="Text 53"/>
          <p:cNvSpPr/>
          <p:nvPr/>
        </p:nvSpPr>
        <p:spPr>
          <a:xfrm>
            <a:off x="7638248" y="4837043"/>
            <a:ext cx="4166152" cy="2319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47748" y="5135217"/>
            <a:ext cx="4348370" cy="198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案例分析:新员工带教方案设计(15分)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" y="372844"/>
            <a:ext cx="727046" cy="298275"/>
          </a:xfrm>
          <a:custGeom>
            <a:avLst/>
            <a:gdLst/>
            <a:ahLst/>
            <a:cxnLst/>
            <a:rect l="l" t="t" r="r" b="b"/>
            <a:pathLst>
              <a:path w="727046" h="298275">
                <a:moveTo>
                  <a:pt x="149138" y="0"/>
                </a:moveTo>
                <a:lnTo>
                  <a:pt x="577908" y="0"/>
                </a:lnTo>
                <a:cubicBezTo>
                  <a:pt x="660275" y="0"/>
                  <a:pt x="727046" y="66771"/>
                  <a:pt x="727046" y="149138"/>
                </a:cubicBezTo>
                <a:lnTo>
                  <a:pt x="727046" y="149138"/>
                </a:lnTo>
                <a:cubicBezTo>
                  <a:pt x="727046" y="231504"/>
                  <a:pt x="660275" y="298275"/>
                  <a:pt x="577908" y="298275"/>
                </a:cubicBezTo>
                <a:lnTo>
                  <a:pt x="149138" y="298275"/>
                </a:lnTo>
                <a:cubicBezTo>
                  <a:pt x="66771" y="298275"/>
                  <a:pt x="0" y="231504"/>
                  <a:pt x="0" y="149138"/>
                </a:cubicBezTo>
                <a:lnTo>
                  <a:pt x="0" y="149138"/>
                </a:lnTo>
                <a:cubicBezTo>
                  <a:pt x="0" y="66771"/>
                  <a:pt x="66771" y="0"/>
                  <a:pt x="149138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72844" y="372844"/>
            <a:ext cx="801615" cy="298275"/>
          </a:xfrm>
          <a:prstGeom prst="rect">
            <a:avLst/>
          </a:prstGeom>
          <a:noFill/>
        </p:spPr>
        <p:txBody>
          <a:bodyPr wrap="square" lIns="149138" tIns="37284" rIns="149138" bIns="37284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9267" y="410128"/>
            <a:ext cx="2852257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kern="0" spc="59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NEW STORE MANAGER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2844" y="745688"/>
            <a:ext cx="11614092" cy="372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员工带教 - 新店长三个月带教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844" y="1267670"/>
            <a:ext cx="6757798" cy="2982752"/>
          </a:xfrm>
          <a:custGeom>
            <a:avLst/>
            <a:gdLst/>
            <a:ahLst/>
            <a:cxnLst/>
            <a:rect l="l" t="t" r="r" b="b"/>
            <a:pathLst>
              <a:path w="6757798" h="2982752">
                <a:moveTo>
                  <a:pt x="111853" y="0"/>
                </a:moveTo>
                <a:lnTo>
                  <a:pt x="6645945" y="0"/>
                </a:lnTo>
                <a:cubicBezTo>
                  <a:pt x="6707720" y="0"/>
                  <a:pt x="6757798" y="50078"/>
                  <a:pt x="6757798" y="111853"/>
                </a:cubicBezTo>
                <a:lnTo>
                  <a:pt x="6757798" y="2870899"/>
                </a:lnTo>
                <a:cubicBezTo>
                  <a:pt x="6757798" y="2932674"/>
                  <a:pt x="6707720" y="2982752"/>
                  <a:pt x="6645945" y="2982752"/>
                </a:cubicBezTo>
                <a:lnTo>
                  <a:pt x="111853" y="2982752"/>
                </a:lnTo>
                <a:cubicBezTo>
                  <a:pt x="50078" y="2982752"/>
                  <a:pt x="0" y="2932674"/>
                  <a:pt x="0" y="2870899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927" dist="372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3248" y="1472734"/>
            <a:ext cx="251670" cy="223706"/>
          </a:xfrm>
          <a:custGeom>
            <a:avLst/>
            <a:gdLst/>
            <a:ahLst/>
            <a:cxnLst/>
            <a:rect l="l" t="t" r="r" b="b"/>
            <a:pathLst>
              <a:path w="251670" h="223706">
                <a:moveTo>
                  <a:pt x="136758" y="38100"/>
                </a:moveTo>
                <a:cubicBezTo>
                  <a:pt x="140778" y="34910"/>
                  <a:pt x="143312" y="29973"/>
                  <a:pt x="143312" y="24468"/>
                </a:cubicBezTo>
                <a:cubicBezTo>
                  <a:pt x="143312" y="14812"/>
                  <a:pt x="135491" y="6991"/>
                  <a:pt x="125835" y="6991"/>
                </a:cubicBezTo>
                <a:cubicBezTo>
                  <a:pt x="116179" y="6991"/>
                  <a:pt x="108358" y="14812"/>
                  <a:pt x="108358" y="24468"/>
                </a:cubicBezTo>
                <a:cubicBezTo>
                  <a:pt x="108358" y="29973"/>
                  <a:pt x="110936" y="34910"/>
                  <a:pt x="114912" y="38100"/>
                </a:cubicBezTo>
                <a:lnTo>
                  <a:pt x="85026" y="85113"/>
                </a:lnTo>
                <a:cubicBezTo>
                  <a:pt x="80657" y="91973"/>
                  <a:pt x="71350" y="93677"/>
                  <a:pt x="64840" y="88783"/>
                </a:cubicBezTo>
                <a:lnTo>
                  <a:pt x="38843" y="69340"/>
                </a:lnTo>
                <a:cubicBezTo>
                  <a:pt x="40809" y="66544"/>
                  <a:pt x="41945" y="63092"/>
                  <a:pt x="41945" y="59422"/>
                </a:cubicBezTo>
                <a:cubicBezTo>
                  <a:pt x="41945" y="49766"/>
                  <a:pt x="34124" y="41945"/>
                  <a:pt x="24468" y="41945"/>
                </a:cubicBezTo>
                <a:cubicBezTo>
                  <a:pt x="14812" y="41945"/>
                  <a:pt x="6991" y="49766"/>
                  <a:pt x="6991" y="59422"/>
                </a:cubicBezTo>
                <a:cubicBezTo>
                  <a:pt x="6991" y="68947"/>
                  <a:pt x="14637" y="76724"/>
                  <a:pt x="24118" y="76899"/>
                </a:cubicBezTo>
                <a:lnTo>
                  <a:pt x="38362" y="171931"/>
                </a:lnTo>
                <a:cubicBezTo>
                  <a:pt x="40416" y="185606"/>
                  <a:pt x="52169" y="195743"/>
                  <a:pt x="66020" y="195743"/>
                </a:cubicBezTo>
                <a:lnTo>
                  <a:pt x="185650" y="195743"/>
                </a:lnTo>
                <a:cubicBezTo>
                  <a:pt x="199501" y="195743"/>
                  <a:pt x="211254" y="185606"/>
                  <a:pt x="213308" y="171931"/>
                </a:cubicBezTo>
                <a:lnTo>
                  <a:pt x="227551" y="76899"/>
                </a:lnTo>
                <a:cubicBezTo>
                  <a:pt x="237033" y="76724"/>
                  <a:pt x="244679" y="68947"/>
                  <a:pt x="244679" y="59422"/>
                </a:cubicBezTo>
                <a:cubicBezTo>
                  <a:pt x="244679" y="49766"/>
                  <a:pt x="236858" y="41945"/>
                  <a:pt x="227202" y="41945"/>
                </a:cubicBezTo>
                <a:cubicBezTo>
                  <a:pt x="217546" y="41945"/>
                  <a:pt x="209725" y="49766"/>
                  <a:pt x="209725" y="59422"/>
                </a:cubicBezTo>
                <a:cubicBezTo>
                  <a:pt x="209725" y="63092"/>
                  <a:pt x="210861" y="66544"/>
                  <a:pt x="212827" y="69340"/>
                </a:cubicBezTo>
                <a:lnTo>
                  <a:pt x="186874" y="88827"/>
                </a:lnTo>
                <a:cubicBezTo>
                  <a:pt x="180363" y="93721"/>
                  <a:pt x="171057" y="92017"/>
                  <a:pt x="166688" y="85157"/>
                </a:cubicBezTo>
                <a:lnTo>
                  <a:pt x="136758" y="3810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50752" y="1454092"/>
            <a:ext cx="1771009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新店长一三二带教法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9266" y="1826936"/>
            <a:ext cx="6384954" cy="671119"/>
          </a:xfrm>
          <a:custGeom>
            <a:avLst/>
            <a:gdLst/>
            <a:ahLst/>
            <a:cxnLst/>
            <a:rect l="l" t="t" r="r" b="b"/>
            <a:pathLst>
              <a:path w="6384954" h="671119">
                <a:moveTo>
                  <a:pt x="74568" y="0"/>
                </a:moveTo>
                <a:lnTo>
                  <a:pt x="6310386" y="0"/>
                </a:lnTo>
                <a:cubicBezTo>
                  <a:pt x="6351569" y="0"/>
                  <a:pt x="6384954" y="33385"/>
                  <a:pt x="6384954" y="74568"/>
                </a:cubicBezTo>
                <a:lnTo>
                  <a:pt x="6384954" y="596551"/>
                </a:lnTo>
                <a:cubicBezTo>
                  <a:pt x="6384954" y="637734"/>
                  <a:pt x="6351569" y="671119"/>
                  <a:pt x="6310386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71119" y="1938789"/>
            <a:ext cx="6235817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一周全面掌握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1119" y="2199780"/>
            <a:ext cx="6226495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店铺基本情况、人员结构、业绩现状、问题诊断、资源盘点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9266" y="2609908"/>
            <a:ext cx="6384954" cy="671119"/>
          </a:xfrm>
          <a:custGeom>
            <a:avLst/>
            <a:gdLst/>
            <a:ahLst/>
            <a:cxnLst/>
            <a:rect l="l" t="t" r="r" b="b"/>
            <a:pathLst>
              <a:path w="6384954" h="671119">
                <a:moveTo>
                  <a:pt x="74568" y="0"/>
                </a:moveTo>
                <a:lnTo>
                  <a:pt x="6310386" y="0"/>
                </a:lnTo>
                <a:cubicBezTo>
                  <a:pt x="6351569" y="0"/>
                  <a:pt x="6384954" y="33385"/>
                  <a:pt x="6384954" y="74568"/>
                </a:cubicBezTo>
                <a:lnTo>
                  <a:pt x="6384954" y="596551"/>
                </a:lnTo>
                <a:cubicBezTo>
                  <a:pt x="6384954" y="637734"/>
                  <a:pt x="6351569" y="671119"/>
                  <a:pt x="6310386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71119" y="2721761"/>
            <a:ext cx="6235817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三周强化提升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1119" y="2982752"/>
            <a:ext cx="6226495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目标制定、计划执行、团队建设、销售提升、标准落地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9266" y="3392881"/>
            <a:ext cx="6384954" cy="671119"/>
          </a:xfrm>
          <a:custGeom>
            <a:avLst/>
            <a:gdLst/>
            <a:ahLst/>
            <a:cxnLst/>
            <a:rect l="l" t="t" r="r" b="b"/>
            <a:pathLst>
              <a:path w="6384954" h="671119">
                <a:moveTo>
                  <a:pt x="74568" y="0"/>
                </a:moveTo>
                <a:lnTo>
                  <a:pt x="6310386" y="0"/>
                </a:lnTo>
                <a:cubicBezTo>
                  <a:pt x="6351569" y="0"/>
                  <a:pt x="6384954" y="33385"/>
                  <a:pt x="6384954" y="74568"/>
                </a:cubicBezTo>
                <a:lnTo>
                  <a:pt x="6384954" y="596551"/>
                </a:lnTo>
                <a:cubicBezTo>
                  <a:pt x="6384954" y="637734"/>
                  <a:pt x="6351569" y="671119"/>
                  <a:pt x="6310386" y="671119"/>
                </a:cubicBezTo>
                <a:lnTo>
                  <a:pt x="74568" y="671119"/>
                </a:lnTo>
                <a:cubicBezTo>
                  <a:pt x="33413" y="671119"/>
                  <a:pt x="0" y="637706"/>
                  <a:pt x="0" y="596551"/>
                </a:cubicBezTo>
                <a:lnTo>
                  <a:pt x="0" y="74568"/>
                </a:lnTo>
                <a:cubicBezTo>
                  <a:pt x="0" y="33385"/>
                  <a:pt x="33385" y="0"/>
                  <a:pt x="74568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71119" y="3504734"/>
            <a:ext cx="6235817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两月实践考核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1119" y="3765725"/>
            <a:ext cx="6226495" cy="186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独立运营、问题解决、业绩达成、综合评估、转正决策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2844" y="4399560"/>
            <a:ext cx="6757798" cy="2460771"/>
          </a:xfrm>
          <a:custGeom>
            <a:avLst/>
            <a:gdLst/>
            <a:ahLst/>
            <a:cxnLst/>
            <a:rect l="l" t="t" r="r" b="b"/>
            <a:pathLst>
              <a:path w="6757798" h="2460771">
                <a:moveTo>
                  <a:pt x="111842" y="0"/>
                </a:moveTo>
                <a:lnTo>
                  <a:pt x="6645956" y="0"/>
                </a:lnTo>
                <a:cubicBezTo>
                  <a:pt x="6707725" y="0"/>
                  <a:pt x="6757798" y="50073"/>
                  <a:pt x="6757798" y="111842"/>
                </a:cubicBezTo>
                <a:lnTo>
                  <a:pt x="6757798" y="2348929"/>
                </a:lnTo>
                <a:cubicBezTo>
                  <a:pt x="6757798" y="2410697"/>
                  <a:pt x="6707725" y="2460771"/>
                  <a:pt x="6645956" y="2460771"/>
                </a:cubicBezTo>
                <a:lnTo>
                  <a:pt x="111842" y="2460771"/>
                </a:lnTo>
                <a:cubicBezTo>
                  <a:pt x="50073" y="2460771"/>
                  <a:pt x="0" y="2410697"/>
                  <a:pt x="0" y="2348929"/>
                </a:cubicBezTo>
                <a:lnTo>
                  <a:pt x="0" y="111842"/>
                </a:lnTo>
                <a:cubicBezTo>
                  <a:pt x="0" y="50073"/>
                  <a:pt x="50073" y="0"/>
                  <a:pt x="11184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927" dist="372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229" y="4604624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58461" y="15860"/>
                </a:moveTo>
                <a:cubicBezTo>
                  <a:pt x="63223" y="19181"/>
                  <a:pt x="64359" y="25735"/>
                  <a:pt x="61039" y="30454"/>
                </a:cubicBezTo>
                <a:lnTo>
                  <a:pt x="36571" y="65408"/>
                </a:lnTo>
                <a:cubicBezTo>
                  <a:pt x="34779" y="67942"/>
                  <a:pt x="31983" y="69559"/>
                  <a:pt x="28881" y="69821"/>
                </a:cubicBezTo>
                <a:cubicBezTo>
                  <a:pt x="25779" y="70083"/>
                  <a:pt x="22720" y="69034"/>
                  <a:pt x="20536" y="66850"/>
                </a:cubicBezTo>
                <a:lnTo>
                  <a:pt x="3058" y="49373"/>
                </a:lnTo>
                <a:cubicBezTo>
                  <a:pt x="-1005" y="45266"/>
                  <a:pt x="-1005" y="38624"/>
                  <a:pt x="3058" y="34517"/>
                </a:cubicBezTo>
                <a:cubicBezTo>
                  <a:pt x="7122" y="30410"/>
                  <a:pt x="13807" y="30454"/>
                  <a:pt x="17914" y="34517"/>
                </a:cubicBezTo>
                <a:lnTo>
                  <a:pt x="26565" y="43168"/>
                </a:lnTo>
                <a:lnTo>
                  <a:pt x="43867" y="18438"/>
                </a:lnTo>
                <a:cubicBezTo>
                  <a:pt x="47188" y="13676"/>
                  <a:pt x="53742" y="12540"/>
                  <a:pt x="58461" y="15860"/>
                </a:cubicBezTo>
                <a:close/>
                <a:moveTo>
                  <a:pt x="58461" y="85769"/>
                </a:moveTo>
                <a:cubicBezTo>
                  <a:pt x="63223" y="89089"/>
                  <a:pt x="64359" y="95643"/>
                  <a:pt x="61039" y="100362"/>
                </a:cubicBezTo>
                <a:lnTo>
                  <a:pt x="36571" y="135316"/>
                </a:lnTo>
                <a:cubicBezTo>
                  <a:pt x="34779" y="137850"/>
                  <a:pt x="31983" y="139467"/>
                  <a:pt x="28881" y="139729"/>
                </a:cubicBezTo>
                <a:cubicBezTo>
                  <a:pt x="25779" y="139991"/>
                  <a:pt x="22720" y="138943"/>
                  <a:pt x="20536" y="136758"/>
                </a:cubicBezTo>
                <a:lnTo>
                  <a:pt x="3058" y="119281"/>
                </a:lnTo>
                <a:cubicBezTo>
                  <a:pt x="-1049" y="115174"/>
                  <a:pt x="-1049" y="108533"/>
                  <a:pt x="3058" y="104469"/>
                </a:cubicBezTo>
                <a:cubicBezTo>
                  <a:pt x="7166" y="100406"/>
                  <a:pt x="13807" y="100362"/>
                  <a:pt x="17870" y="104469"/>
                </a:cubicBezTo>
                <a:lnTo>
                  <a:pt x="26521" y="113120"/>
                </a:lnTo>
                <a:lnTo>
                  <a:pt x="43824" y="88390"/>
                </a:lnTo>
                <a:cubicBezTo>
                  <a:pt x="47144" y="83628"/>
                  <a:pt x="53698" y="82492"/>
                  <a:pt x="58417" y="85812"/>
                </a:cubicBezTo>
                <a:close/>
                <a:moveTo>
                  <a:pt x="97872" y="41945"/>
                </a:moveTo>
                <a:cubicBezTo>
                  <a:pt x="97872" y="34211"/>
                  <a:pt x="104120" y="27963"/>
                  <a:pt x="111853" y="27963"/>
                </a:cubicBezTo>
                <a:lnTo>
                  <a:pt x="209725" y="27963"/>
                </a:lnTo>
                <a:cubicBezTo>
                  <a:pt x="217458" y="27963"/>
                  <a:pt x="223706" y="34211"/>
                  <a:pt x="223706" y="41945"/>
                </a:cubicBezTo>
                <a:cubicBezTo>
                  <a:pt x="223706" y="49679"/>
                  <a:pt x="217458" y="55927"/>
                  <a:pt x="209725" y="55927"/>
                </a:cubicBezTo>
                <a:lnTo>
                  <a:pt x="111853" y="55927"/>
                </a:lnTo>
                <a:cubicBezTo>
                  <a:pt x="104120" y="55927"/>
                  <a:pt x="97872" y="49679"/>
                  <a:pt x="97872" y="41945"/>
                </a:cubicBezTo>
                <a:close/>
                <a:moveTo>
                  <a:pt x="97872" y="111853"/>
                </a:moveTo>
                <a:cubicBezTo>
                  <a:pt x="97872" y="104120"/>
                  <a:pt x="104120" y="97872"/>
                  <a:pt x="111853" y="97872"/>
                </a:cubicBezTo>
                <a:lnTo>
                  <a:pt x="209725" y="97872"/>
                </a:lnTo>
                <a:cubicBezTo>
                  <a:pt x="217458" y="97872"/>
                  <a:pt x="223706" y="104120"/>
                  <a:pt x="223706" y="111853"/>
                </a:cubicBezTo>
                <a:cubicBezTo>
                  <a:pt x="223706" y="119587"/>
                  <a:pt x="217458" y="125835"/>
                  <a:pt x="209725" y="125835"/>
                </a:cubicBezTo>
                <a:lnTo>
                  <a:pt x="111853" y="125835"/>
                </a:lnTo>
                <a:cubicBezTo>
                  <a:pt x="104120" y="125835"/>
                  <a:pt x="97872" y="119587"/>
                  <a:pt x="97872" y="111853"/>
                </a:cubicBezTo>
                <a:close/>
                <a:moveTo>
                  <a:pt x="69908" y="181761"/>
                </a:moveTo>
                <a:cubicBezTo>
                  <a:pt x="69908" y="174028"/>
                  <a:pt x="76156" y="167780"/>
                  <a:pt x="83890" y="167780"/>
                </a:cubicBezTo>
                <a:lnTo>
                  <a:pt x="209725" y="167780"/>
                </a:lnTo>
                <a:cubicBezTo>
                  <a:pt x="217458" y="167780"/>
                  <a:pt x="223706" y="174028"/>
                  <a:pt x="223706" y="181761"/>
                </a:cubicBezTo>
                <a:cubicBezTo>
                  <a:pt x="223706" y="189495"/>
                  <a:pt x="217458" y="195743"/>
                  <a:pt x="209725" y="195743"/>
                </a:cubicBezTo>
                <a:lnTo>
                  <a:pt x="83890" y="195743"/>
                </a:lnTo>
                <a:cubicBezTo>
                  <a:pt x="76156" y="195743"/>
                  <a:pt x="69908" y="189495"/>
                  <a:pt x="69908" y="181761"/>
                </a:cubicBezTo>
                <a:close/>
                <a:moveTo>
                  <a:pt x="27963" y="164284"/>
                </a:moveTo>
                <a:cubicBezTo>
                  <a:pt x="37609" y="164284"/>
                  <a:pt x="45440" y="172116"/>
                  <a:pt x="45440" y="181761"/>
                </a:cubicBezTo>
                <a:cubicBezTo>
                  <a:pt x="45440" y="191407"/>
                  <a:pt x="37609" y="199239"/>
                  <a:pt x="27963" y="199239"/>
                </a:cubicBezTo>
                <a:cubicBezTo>
                  <a:pt x="18317" y="199239"/>
                  <a:pt x="10486" y="191407"/>
                  <a:pt x="10486" y="181761"/>
                </a:cubicBezTo>
                <a:cubicBezTo>
                  <a:pt x="10486" y="172116"/>
                  <a:pt x="18317" y="164284"/>
                  <a:pt x="27963" y="164284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0" name="Text 18"/>
          <p:cNvSpPr/>
          <p:nvPr/>
        </p:nvSpPr>
        <p:spPr>
          <a:xfrm>
            <a:off x="950752" y="4585982"/>
            <a:ext cx="1771009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详细带教计划与考核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9266" y="4958826"/>
            <a:ext cx="6459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 1:</a:t>
            </a: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店铺全面了解、人员沟通、业绩分析、问题诊断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9266" y="5257101"/>
            <a:ext cx="6459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 2:</a:t>
            </a: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目标制定、计划分解、团队建设启动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266" y="5555376"/>
            <a:ext cx="6459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 3:</a:t>
            </a: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销售提升举措、标准落地执行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9266" y="5853651"/>
            <a:ext cx="6459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 4:</a:t>
            </a: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阶段性总结、调整优化、持续改进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9266" y="6151927"/>
            <a:ext cx="6459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 5-6:</a:t>
            </a: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独立运营实践、督导辅导支持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9266" y="6450202"/>
            <a:ext cx="6459523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Week 7-8:</a:t>
            </a: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综合考核评估、转正决策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7647" y="1267670"/>
            <a:ext cx="4502092" cy="1864220"/>
          </a:xfrm>
          <a:custGeom>
            <a:avLst/>
            <a:gdLst/>
            <a:ahLst/>
            <a:cxnLst/>
            <a:rect l="l" t="t" r="r" b="b"/>
            <a:pathLst>
              <a:path w="4502092" h="1864220">
                <a:moveTo>
                  <a:pt x="111853" y="0"/>
                </a:moveTo>
                <a:lnTo>
                  <a:pt x="4390239" y="0"/>
                </a:lnTo>
                <a:cubicBezTo>
                  <a:pt x="4452013" y="0"/>
                  <a:pt x="4502092" y="50078"/>
                  <a:pt x="4502092" y="111853"/>
                </a:cubicBezTo>
                <a:lnTo>
                  <a:pt x="4502092" y="1752367"/>
                </a:lnTo>
                <a:cubicBezTo>
                  <a:pt x="4502092" y="1814142"/>
                  <a:pt x="4452013" y="1864220"/>
                  <a:pt x="4390239" y="1864220"/>
                </a:cubicBezTo>
                <a:lnTo>
                  <a:pt x="111853" y="1864220"/>
                </a:lnTo>
                <a:cubicBezTo>
                  <a:pt x="50078" y="1864220"/>
                  <a:pt x="0" y="1814142"/>
                  <a:pt x="0" y="1752367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8" name="Shape 26"/>
          <p:cNvSpPr/>
          <p:nvPr/>
        </p:nvSpPr>
        <p:spPr>
          <a:xfrm>
            <a:off x="7506399" y="1500697"/>
            <a:ext cx="209725" cy="167780"/>
          </a:xfrm>
          <a:custGeom>
            <a:avLst/>
            <a:gdLst/>
            <a:ahLst/>
            <a:cxnLst/>
            <a:rect l="l" t="t" r="r" b="b"/>
            <a:pathLst>
              <a:path w="209725" h="167780">
                <a:moveTo>
                  <a:pt x="41945" y="31459"/>
                </a:moveTo>
                <a:cubicBezTo>
                  <a:pt x="41945" y="19891"/>
                  <a:pt x="51350" y="10486"/>
                  <a:pt x="62917" y="10486"/>
                </a:cubicBezTo>
                <a:lnTo>
                  <a:pt x="178266" y="10486"/>
                </a:lnTo>
                <a:cubicBezTo>
                  <a:pt x="189834" y="10486"/>
                  <a:pt x="199239" y="19891"/>
                  <a:pt x="199239" y="31459"/>
                </a:cubicBezTo>
                <a:lnTo>
                  <a:pt x="199239" y="110106"/>
                </a:lnTo>
                <a:lnTo>
                  <a:pt x="167780" y="110106"/>
                </a:lnTo>
                <a:lnTo>
                  <a:pt x="167780" y="104862"/>
                </a:lnTo>
                <a:cubicBezTo>
                  <a:pt x="167780" y="99062"/>
                  <a:pt x="163094" y="94376"/>
                  <a:pt x="157294" y="94376"/>
                </a:cubicBezTo>
                <a:lnTo>
                  <a:pt x="136321" y="94376"/>
                </a:lnTo>
                <a:cubicBezTo>
                  <a:pt x="130521" y="94376"/>
                  <a:pt x="125835" y="99062"/>
                  <a:pt x="125835" y="104862"/>
                </a:cubicBezTo>
                <a:lnTo>
                  <a:pt x="125835" y="110106"/>
                </a:lnTo>
                <a:lnTo>
                  <a:pt x="83529" y="110106"/>
                </a:lnTo>
                <a:cubicBezTo>
                  <a:pt x="87101" y="103945"/>
                  <a:pt x="89133" y="96768"/>
                  <a:pt x="89133" y="89133"/>
                </a:cubicBezTo>
                <a:cubicBezTo>
                  <a:pt x="89133" y="65965"/>
                  <a:pt x="70356" y="47188"/>
                  <a:pt x="47188" y="47188"/>
                </a:cubicBezTo>
                <a:cubicBezTo>
                  <a:pt x="45419" y="47188"/>
                  <a:pt x="43649" y="47286"/>
                  <a:pt x="41945" y="47516"/>
                </a:cubicBezTo>
                <a:lnTo>
                  <a:pt x="41945" y="31459"/>
                </a:lnTo>
                <a:close/>
                <a:moveTo>
                  <a:pt x="109122" y="146807"/>
                </a:moveTo>
                <a:cubicBezTo>
                  <a:pt x="107451" y="138877"/>
                  <a:pt x="103781" y="131701"/>
                  <a:pt x="98603" y="125835"/>
                </a:cubicBezTo>
                <a:lnTo>
                  <a:pt x="199239" y="125835"/>
                </a:lnTo>
                <a:cubicBezTo>
                  <a:pt x="199239" y="137402"/>
                  <a:pt x="189834" y="146807"/>
                  <a:pt x="178266" y="146807"/>
                </a:cubicBezTo>
                <a:lnTo>
                  <a:pt x="109122" y="146807"/>
                </a:lnTo>
                <a:close/>
                <a:moveTo>
                  <a:pt x="20972" y="89133"/>
                </a:moveTo>
                <a:cubicBezTo>
                  <a:pt x="20972" y="74664"/>
                  <a:pt x="32719" y="62917"/>
                  <a:pt x="47188" y="62917"/>
                </a:cubicBezTo>
                <a:cubicBezTo>
                  <a:pt x="61657" y="62917"/>
                  <a:pt x="73404" y="74664"/>
                  <a:pt x="73404" y="89133"/>
                </a:cubicBezTo>
                <a:cubicBezTo>
                  <a:pt x="73404" y="103602"/>
                  <a:pt x="61657" y="115349"/>
                  <a:pt x="47188" y="115349"/>
                </a:cubicBezTo>
                <a:cubicBezTo>
                  <a:pt x="32719" y="115349"/>
                  <a:pt x="20972" y="103602"/>
                  <a:pt x="20972" y="89133"/>
                </a:cubicBezTo>
                <a:close/>
                <a:moveTo>
                  <a:pt x="0" y="157294"/>
                </a:moveTo>
                <a:cubicBezTo>
                  <a:pt x="0" y="139926"/>
                  <a:pt x="14091" y="125835"/>
                  <a:pt x="31459" y="125835"/>
                </a:cubicBezTo>
                <a:lnTo>
                  <a:pt x="62917" y="125835"/>
                </a:lnTo>
                <a:cubicBezTo>
                  <a:pt x="80285" y="125835"/>
                  <a:pt x="94376" y="139926"/>
                  <a:pt x="94376" y="157294"/>
                </a:cubicBezTo>
                <a:cubicBezTo>
                  <a:pt x="94376" y="163094"/>
                  <a:pt x="89690" y="167780"/>
                  <a:pt x="83890" y="167780"/>
                </a:cubicBezTo>
                <a:lnTo>
                  <a:pt x="10486" y="167780"/>
                </a:lnTo>
                <a:cubicBezTo>
                  <a:pt x="4686" y="167780"/>
                  <a:pt x="0" y="163094"/>
                  <a:pt x="0" y="15729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9" name="Text 27"/>
          <p:cNvSpPr/>
          <p:nvPr/>
        </p:nvSpPr>
        <p:spPr>
          <a:xfrm>
            <a:off x="7718454" y="1454092"/>
            <a:ext cx="3998752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22711" y="1864220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1" name="Text 29"/>
          <p:cNvSpPr/>
          <p:nvPr/>
        </p:nvSpPr>
        <p:spPr>
          <a:xfrm>
            <a:off x="7765060" y="1826936"/>
            <a:ext cx="1416807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讲解一三二带教逻辑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2711" y="2162495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65060" y="2125211"/>
            <a:ext cx="1118532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说明各阶段重点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22711" y="2460771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5" name="Text 33"/>
          <p:cNvSpPr/>
          <p:nvPr/>
        </p:nvSpPr>
        <p:spPr>
          <a:xfrm>
            <a:off x="7765060" y="2423486"/>
            <a:ext cx="96939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分享带教经验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22711" y="2759046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99153" y="61956"/>
                </a:moveTo>
                <a:lnTo>
                  <a:pt x="75850" y="99241"/>
                </a:lnTo>
                <a:cubicBezTo>
                  <a:pt x="74627" y="101192"/>
                  <a:pt x="72530" y="102416"/>
                  <a:pt x="70229" y="102532"/>
                </a:cubicBezTo>
                <a:cubicBezTo>
                  <a:pt x="67928" y="102649"/>
                  <a:pt x="65714" y="101600"/>
                  <a:pt x="64345" y="99736"/>
                </a:cubicBezTo>
                <a:lnTo>
                  <a:pt x="50363" y="81094"/>
                </a:lnTo>
                <a:cubicBezTo>
                  <a:pt x="48033" y="78006"/>
                  <a:pt x="48674" y="73637"/>
                  <a:pt x="51761" y="71306"/>
                </a:cubicBezTo>
                <a:cubicBezTo>
                  <a:pt x="54849" y="68976"/>
                  <a:pt x="59218" y="69617"/>
                  <a:pt x="61548" y="72705"/>
                </a:cubicBezTo>
                <a:lnTo>
                  <a:pt x="69413" y="83191"/>
                </a:lnTo>
                <a:lnTo>
                  <a:pt x="87298" y="54558"/>
                </a:lnTo>
                <a:cubicBezTo>
                  <a:pt x="89337" y="51295"/>
                  <a:pt x="93648" y="50276"/>
                  <a:pt x="96939" y="52344"/>
                </a:cubicBezTo>
                <a:cubicBezTo>
                  <a:pt x="100231" y="54412"/>
                  <a:pt x="101221" y="58694"/>
                  <a:pt x="99153" y="6198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65060" y="2721761"/>
            <a:ext cx="1267670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建立系统培养能力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17647" y="3281028"/>
            <a:ext cx="4502092" cy="1864220"/>
          </a:xfrm>
          <a:custGeom>
            <a:avLst/>
            <a:gdLst/>
            <a:ahLst/>
            <a:cxnLst/>
            <a:rect l="l" t="t" r="r" b="b"/>
            <a:pathLst>
              <a:path w="4502092" h="1864220">
                <a:moveTo>
                  <a:pt x="111853" y="0"/>
                </a:moveTo>
                <a:lnTo>
                  <a:pt x="4390239" y="0"/>
                </a:lnTo>
                <a:cubicBezTo>
                  <a:pt x="4452013" y="0"/>
                  <a:pt x="4502092" y="50078"/>
                  <a:pt x="4502092" y="111853"/>
                </a:cubicBezTo>
                <a:lnTo>
                  <a:pt x="4502092" y="1752367"/>
                </a:lnTo>
                <a:cubicBezTo>
                  <a:pt x="4502092" y="1814142"/>
                  <a:pt x="4452013" y="1864220"/>
                  <a:pt x="4390239" y="1864220"/>
                </a:cubicBezTo>
                <a:lnTo>
                  <a:pt x="111853" y="1864220"/>
                </a:lnTo>
                <a:cubicBezTo>
                  <a:pt x="50078" y="1864220"/>
                  <a:pt x="0" y="1814142"/>
                  <a:pt x="0" y="1752367"/>
                </a:cubicBezTo>
                <a:lnTo>
                  <a:pt x="0" y="111853"/>
                </a:lnTo>
                <a:cubicBezTo>
                  <a:pt x="0" y="50120"/>
                  <a:pt x="50120" y="0"/>
                  <a:pt x="11185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5927" dist="3728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37858" y="3514055"/>
            <a:ext cx="146807" cy="167780"/>
          </a:xfrm>
          <a:custGeom>
            <a:avLst/>
            <a:gdLst/>
            <a:ahLst/>
            <a:cxnLst/>
            <a:rect l="l" t="t" r="r" b="b"/>
            <a:pathLst>
              <a:path w="146807" h="167780">
                <a:moveTo>
                  <a:pt x="79073" y="-4260"/>
                </a:moveTo>
                <a:cubicBezTo>
                  <a:pt x="75337" y="-5014"/>
                  <a:pt x="71503" y="-5014"/>
                  <a:pt x="67767" y="-4260"/>
                </a:cubicBezTo>
                <a:lnTo>
                  <a:pt x="6325" y="8029"/>
                </a:lnTo>
                <a:cubicBezTo>
                  <a:pt x="2654" y="8749"/>
                  <a:pt x="0" y="11994"/>
                  <a:pt x="0" y="15729"/>
                </a:cubicBezTo>
                <a:cubicBezTo>
                  <a:pt x="0" y="19105"/>
                  <a:pt x="2130" y="22054"/>
                  <a:pt x="5243" y="23135"/>
                </a:cubicBezTo>
                <a:lnTo>
                  <a:pt x="5243" y="47188"/>
                </a:lnTo>
                <a:lnTo>
                  <a:pt x="98" y="72945"/>
                </a:lnTo>
                <a:cubicBezTo>
                  <a:pt x="33" y="73240"/>
                  <a:pt x="0" y="73568"/>
                  <a:pt x="0" y="73895"/>
                </a:cubicBezTo>
                <a:cubicBezTo>
                  <a:pt x="0" y="76517"/>
                  <a:pt x="2130" y="78680"/>
                  <a:pt x="4784" y="78680"/>
                </a:cubicBezTo>
                <a:lnTo>
                  <a:pt x="16221" y="78680"/>
                </a:lnTo>
                <a:cubicBezTo>
                  <a:pt x="18842" y="78680"/>
                  <a:pt x="21005" y="76550"/>
                  <a:pt x="21005" y="73895"/>
                </a:cubicBezTo>
                <a:cubicBezTo>
                  <a:pt x="21005" y="73568"/>
                  <a:pt x="20972" y="73273"/>
                  <a:pt x="20907" y="72945"/>
                </a:cubicBezTo>
                <a:lnTo>
                  <a:pt x="15729" y="47188"/>
                </a:lnTo>
                <a:lnTo>
                  <a:pt x="15729" y="25331"/>
                </a:lnTo>
                <a:lnTo>
                  <a:pt x="31459" y="28477"/>
                </a:lnTo>
                <a:lnTo>
                  <a:pt x="31459" y="47188"/>
                </a:lnTo>
                <a:cubicBezTo>
                  <a:pt x="31459" y="70356"/>
                  <a:pt x="50236" y="89133"/>
                  <a:pt x="73404" y="89133"/>
                </a:cubicBezTo>
                <a:cubicBezTo>
                  <a:pt x="96572" y="89133"/>
                  <a:pt x="115349" y="70356"/>
                  <a:pt x="115349" y="47188"/>
                </a:cubicBezTo>
                <a:lnTo>
                  <a:pt x="115349" y="28477"/>
                </a:lnTo>
                <a:lnTo>
                  <a:pt x="140483" y="23463"/>
                </a:lnTo>
                <a:cubicBezTo>
                  <a:pt x="144153" y="22709"/>
                  <a:pt x="146807" y="19465"/>
                  <a:pt x="146807" y="15729"/>
                </a:cubicBezTo>
                <a:cubicBezTo>
                  <a:pt x="146807" y="11994"/>
                  <a:pt x="144153" y="8749"/>
                  <a:pt x="140483" y="8029"/>
                </a:cubicBezTo>
                <a:lnTo>
                  <a:pt x="79073" y="-4260"/>
                </a:lnTo>
                <a:close/>
                <a:moveTo>
                  <a:pt x="73404" y="73404"/>
                </a:moveTo>
                <a:cubicBezTo>
                  <a:pt x="58920" y="73404"/>
                  <a:pt x="47188" y="61672"/>
                  <a:pt x="47188" y="47188"/>
                </a:cubicBezTo>
                <a:lnTo>
                  <a:pt x="99619" y="47188"/>
                </a:lnTo>
                <a:cubicBezTo>
                  <a:pt x="99619" y="61672"/>
                  <a:pt x="87888" y="73404"/>
                  <a:pt x="73404" y="73404"/>
                </a:cubicBezTo>
                <a:close/>
                <a:moveTo>
                  <a:pt x="39356" y="104895"/>
                </a:moveTo>
                <a:cubicBezTo>
                  <a:pt x="19236" y="114136"/>
                  <a:pt x="5243" y="134453"/>
                  <a:pt x="5243" y="158047"/>
                </a:cubicBezTo>
                <a:cubicBezTo>
                  <a:pt x="5243" y="163421"/>
                  <a:pt x="9601" y="167780"/>
                  <a:pt x="14976" y="167780"/>
                </a:cubicBezTo>
                <a:lnTo>
                  <a:pt x="65539" y="167780"/>
                </a:lnTo>
                <a:lnTo>
                  <a:pt x="65539" y="119936"/>
                </a:lnTo>
                <a:lnTo>
                  <a:pt x="46729" y="105845"/>
                </a:lnTo>
                <a:cubicBezTo>
                  <a:pt x="44599" y="104240"/>
                  <a:pt x="41748" y="103814"/>
                  <a:pt x="39323" y="104928"/>
                </a:cubicBezTo>
                <a:close/>
                <a:moveTo>
                  <a:pt x="81268" y="167780"/>
                </a:moveTo>
                <a:lnTo>
                  <a:pt x="131832" y="167780"/>
                </a:lnTo>
                <a:cubicBezTo>
                  <a:pt x="137206" y="167780"/>
                  <a:pt x="141564" y="163421"/>
                  <a:pt x="141564" y="158047"/>
                </a:cubicBezTo>
                <a:cubicBezTo>
                  <a:pt x="141564" y="134453"/>
                  <a:pt x="127572" y="114136"/>
                  <a:pt x="107451" y="104928"/>
                </a:cubicBezTo>
                <a:cubicBezTo>
                  <a:pt x="105026" y="103814"/>
                  <a:pt x="102175" y="104240"/>
                  <a:pt x="100045" y="105845"/>
                </a:cubicBezTo>
                <a:lnTo>
                  <a:pt x="81236" y="119936"/>
                </a:lnTo>
                <a:lnTo>
                  <a:pt x="81236" y="16778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0" name="Text 38"/>
          <p:cNvSpPr/>
          <p:nvPr/>
        </p:nvSpPr>
        <p:spPr>
          <a:xfrm>
            <a:off x="7718454" y="3467450"/>
            <a:ext cx="3998752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04069" y="3840294"/>
            <a:ext cx="20506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713211" y="3840294"/>
            <a:ext cx="96939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理解一三二法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04069" y="4138569"/>
            <a:ext cx="20506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13211" y="4138569"/>
            <a:ext cx="1202422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掌握8周带教计划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04069" y="4436844"/>
            <a:ext cx="20506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3211" y="4436844"/>
            <a:ext cx="1267670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学会店长培养方法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04069" y="4735119"/>
            <a:ext cx="205064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13211" y="4735119"/>
            <a:ext cx="1267670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学会考核评估方法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317647" y="5294385"/>
            <a:ext cx="4502092" cy="857541"/>
          </a:xfrm>
          <a:custGeom>
            <a:avLst/>
            <a:gdLst/>
            <a:ahLst/>
            <a:cxnLst/>
            <a:rect l="l" t="t" r="r" b="b"/>
            <a:pathLst>
              <a:path w="4502092" h="857541">
                <a:moveTo>
                  <a:pt x="111849" y="0"/>
                </a:moveTo>
                <a:lnTo>
                  <a:pt x="4390243" y="0"/>
                </a:lnTo>
                <a:cubicBezTo>
                  <a:pt x="4452015" y="0"/>
                  <a:pt x="4502092" y="50077"/>
                  <a:pt x="4502092" y="111849"/>
                </a:cubicBezTo>
                <a:lnTo>
                  <a:pt x="4502092" y="745692"/>
                </a:lnTo>
                <a:cubicBezTo>
                  <a:pt x="4502092" y="807465"/>
                  <a:pt x="4452015" y="857541"/>
                  <a:pt x="4390243" y="857541"/>
                </a:cubicBezTo>
                <a:lnTo>
                  <a:pt x="111849" y="857541"/>
                </a:lnTo>
                <a:cubicBezTo>
                  <a:pt x="50077" y="857541"/>
                  <a:pt x="0" y="807465"/>
                  <a:pt x="0" y="745692"/>
                </a:cubicBezTo>
                <a:lnTo>
                  <a:pt x="0" y="111849"/>
                </a:lnTo>
                <a:cubicBezTo>
                  <a:pt x="0" y="50118"/>
                  <a:pt x="50118" y="0"/>
                  <a:pt x="111849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0" name="Shape 48"/>
          <p:cNvSpPr/>
          <p:nvPr/>
        </p:nvSpPr>
        <p:spPr>
          <a:xfrm>
            <a:off x="7511060" y="5490128"/>
            <a:ext cx="125835" cy="167780"/>
          </a:xfrm>
          <a:custGeom>
            <a:avLst/>
            <a:gdLst/>
            <a:ahLst/>
            <a:cxnLst/>
            <a:rect l="l" t="t" r="r" b="b"/>
            <a:pathLst>
              <a:path w="125835" h="167780">
                <a:moveTo>
                  <a:pt x="102044" y="10486"/>
                </a:moveTo>
                <a:lnTo>
                  <a:pt x="104862" y="10486"/>
                </a:lnTo>
                <a:cubicBezTo>
                  <a:pt x="116430" y="10486"/>
                  <a:pt x="125835" y="19891"/>
                  <a:pt x="125835" y="31459"/>
                </a:cubicBezTo>
                <a:lnTo>
                  <a:pt x="125835" y="146807"/>
                </a:lnTo>
                <a:cubicBezTo>
                  <a:pt x="125835" y="158375"/>
                  <a:pt x="116430" y="167780"/>
                  <a:pt x="104862" y="167780"/>
                </a:cubicBezTo>
                <a:lnTo>
                  <a:pt x="20972" y="167780"/>
                </a:lnTo>
                <a:cubicBezTo>
                  <a:pt x="9405" y="167780"/>
                  <a:pt x="0" y="158375"/>
                  <a:pt x="0" y="146807"/>
                </a:cubicBezTo>
                <a:lnTo>
                  <a:pt x="0" y="31459"/>
                </a:lnTo>
                <a:cubicBezTo>
                  <a:pt x="0" y="19891"/>
                  <a:pt x="9405" y="10486"/>
                  <a:pt x="20972" y="10486"/>
                </a:cubicBezTo>
                <a:lnTo>
                  <a:pt x="23791" y="10486"/>
                </a:lnTo>
                <a:cubicBezTo>
                  <a:pt x="27395" y="4227"/>
                  <a:pt x="34179" y="0"/>
                  <a:pt x="41945" y="0"/>
                </a:cubicBezTo>
                <a:lnTo>
                  <a:pt x="83890" y="0"/>
                </a:lnTo>
                <a:cubicBezTo>
                  <a:pt x="91656" y="0"/>
                  <a:pt x="98440" y="4227"/>
                  <a:pt x="102044" y="10486"/>
                </a:cubicBezTo>
                <a:close/>
                <a:moveTo>
                  <a:pt x="81268" y="36702"/>
                </a:moveTo>
                <a:cubicBezTo>
                  <a:pt x="85627" y="36702"/>
                  <a:pt x="89133" y="33195"/>
                  <a:pt x="89133" y="28837"/>
                </a:cubicBezTo>
                <a:cubicBezTo>
                  <a:pt x="89133" y="24479"/>
                  <a:pt x="85627" y="20972"/>
                  <a:pt x="81268" y="20972"/>
                </a:cubicBezTo>
                <a:lnTo>
                  <a:pt x="44567" y="20972"/>
                </a:lnTo>
                <a:cubicBezTo>
                  <a:pt x="40208" y="20972"/>
                  <a:pt x="36702" y="24479"/>
                  <a:pt x="36702" y="28837"/>
                </a:cubicBezTo>
                <a:cubicBezTo>
                  <a:pt x="36702" y="33195"/>
                  <a:pt x="40208" y="36702"/>
                  <a:pt x="44567" y="36702"/>
                </a:cubicBezTo>
                <a:lnTo>
                  <a:pt x="81268" y="36702"/>
                </a:lnTo>
                <a:close/>
                <a:moveTo>
                  <a:pt x="41945" y="83890"/>
                </a:moveTo>
                <a:cubicBezTo>
                  <a:pt x="41945" y="78102"/>
                  <a:pt x="37246" y="73404"/>
                  <a:pt x="31459" y="73404"/>
                </a:cubicBezTo>
                <a:cubicBezTo>
                  <a:pt x="25671" y="73404"/>
                  <a:pt x="20972" y="78102"/>
                  <a:pt x="20972" y="83890"/>
                </a:cubicBezTo>
                <a:cubicBezTo>
                  <a:pt x="20972" y="89677"/>
                  <a:pt x="25671" y="94376"/>
                  <a:pt x="31459" y="94376"/>
                </a:cubicBezTo>
                <a:cubicBezTo>
                  <a:pt x="37246" y="94376"/>
                  <a:pt x="41945" y="89677"/>
                  <a:pt x="41945" y="83890"/>
                </a:cubicBezTo>
                <a:close/>
                <a:moveTo>
                  <a:pt x="52431" y="83890"/>
                </a:moveTo>
                <a:cubicBezTo>
                  <a:pt x="52431" y="88248"/>
                  <a:pt x="55938" y="91755"/>
                  <a:pt x="60296" y="91755"/>
                </a:cubicBezTo>
                <a:lnTo>
                  <a:pt x="96998" y="91755"/>
                </a:lnTo>
                <a:cubicBezTo>
                  <a:pt x="101356" y="91755"/>
                  <a:pt x="104862" y="88248"/>
                  <a:pt x="104862" y="83890"/>
                </a:cubicBezTo>
                <a:cubicBezTo>
                  <a:pt x="104862" y="79532"/>
                  <a:pt x="101356" y="76025"/>
                  <a:pt x="96998" y="76025"/>
                </a:cubicBezTo>
                <a:lnTo>
                  <a:pt x="60296" y="76025"/>
                </a:lnTo>
                <a:cubicBezTo>
                  <a:pt x="55938" y="76025"/>
                  <a:pt x="52431" y="79532"/>
                  <a:pt x="52431" y="83890"/>
                </a:cubicBezTo>
                <a:close/>
                <a:moveTo>
                  <a:pt x="52431" y="125835"/>
                </a:moveTo>
                <a:cubicBezTo>
                  <a:pt x="52431" y="130193"/>
                  <a:pt x="55938" y="133700"/>
                  <a:pt x="60296" y="133700"/>
                </a:cubicBezTo>
                <a:lnTo>
                  <a:pt x="96998" y="133700"/>
                </a:lnTo>
                <a:cubicBezTo>
                  <a:pt x="101356" y="133700"/>
                  <a:pt x="104862" y="130193"/>
                  <a:pt x="104862" y="125835"/>
                </a:cubicBezTo>
                <a:cubicBezTo>
                  <a:pt x="104862" y="121477"/>
                  <a:pt x="101356" y="117970"/>
                  <a:pt x="96998" y="117970"/>
                </a:cubicBezTo>
                <a:lnTo>
                  <a:pt x="60296" y="117970"/>
                </a:lnTo>
                <a:cubicBezTo>
                  <a:pt x="55938" y="117970"/>
                  <a:pt x="52431" y="121477"/>
                  <a:pt x="52431" y="125835"/>
                </a:cubicBezTo>
                <a:close/>
                <a:moveTo>
                  <a:pt x="31459" y="136321"/>
                </a:moveTo>
                <a:cubicBezTo>
                  <a:pt x="37246" y="136321"/>
                  <a:pt x="41945" y="131622"/>
                  <a:pt x="41945" y="125835"/>
                </a:cubicBezTo>
                <a:cubicBezTo>
                  <a:pt x="41945" y="120047"/>
                  <a:pt x="37246" y="115349"/>
                  <a:pt x="31459" y="115349"/>
                </a:cubicBezTo>
                <a:cubicBezTo>
                  <a:pt x="25671" y="115349"/>
                  <a:pt x="20972" y="120047"/>
                  <a:pt x="20972" y="125835"/>
                </a:cubicBezTo>
                <a:cubicBezTo>
                  <a:pt x="20972" y="131622"/>
                  <a:pt x="25671" y="136321"/>
                  <a:pt x="31459" y="136321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1" name="Text 49"/>
          <p:cNvSpPr/>
          <p:nvPr/>
        </p:nvSpPr>
        <p:spPr>
          <a:xfrm>
            <a:off x="7681170" y="5443523"/>
            <a:ext cx="4073321" cy="2609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66784" y="5779083"/>
            <a:ext cx="4278385" cy="2237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方案设计:新店长带教计划(15分)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108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IIS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运营标准化工具 - IIS内部检测体系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" y="1504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095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IIS项目概述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确保店铺运营标准化落地,提升整体运营水平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适用范围: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所有凯施迪品牌店铺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检测内容: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SOP各模块一级指标(服务、陈列、卫生、安全等)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检测频次: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店铺自检(每日)+区域抽检(每周)+总部抽检(每月)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3528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363" y="3562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971550" y="3543300"/>
            <a:ext cx="1809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店长职责与检核要求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924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店铺自检: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每日按IIS标准进行自检,记录问题并整改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4229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问题整改: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针对检核问题制定整改计划,限期完成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533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标准培训: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对员工进行SOP标准培训,确保人人掌握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持续改进: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建立持续改进机制,不断提升运营水平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1" name="Shape 19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Text 20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4" name="Text 22"/>
          <p:cNvSpPr/>
          <p:nvPr/>
        </p:nvSpPr>
        <p:spPr>
          <a:xfrm>
            <a:off x="7772400" y="1866900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讲解IIS体系价值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Text 24"/>
          <p:cNvSpPr/>
          <p:nvPr/>
        </p:nvSpPr>
        <p:spPr>
          <a:xfrm>
            <a:off x="7772400" y="21717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说明检测内容与标准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8" name="Text 26"/>
          <p:cNvSpPr/>
          <p:nvPr/>
        </p:nvSpPr>
        <p:spPr>
          <a:xfrm>
            <a:off x="7772400" y="2476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演示自检操作流程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72400" y="27813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建立标准化意识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19417" y="3924300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理解IIS体系目的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19417" y="42291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掌握检测内容标准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学会自检操作方法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掌握问题整改方法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3" name="Shape 41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4" name="Text 42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书面测试:IIS体系理解(10分)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42950" cy="304800"/>
          </a:xfrm>
          <a:custGeom>
            <a:avLst/>
            <a:gdLst/>
            <a:ahLst/>
            <a:cxnLst/>
            <a:rect l="l" t="t" r="r" b="b"/>
            <a:pathLst>
              <a:path w="742950" h="304800">
                <a:moveTo>
                  <a:pt x="152400" y="0"/>
                </a:moveTo>
                <a:lnTo>
                  <a:pt x="590550" y="0"/>
                </a:lnTo>
                <a:cubicBezTo>
                  <a:pt x="674662" y="0"/>
                  <a:pt x="742950" y="68288"/>
                  <a:pt x="742950" y="152400"/>
                </a:cubicBezTo>
                <a:lnTo>
                  <a:pt x="742950" y="152400"/>
                </a:lnTo>
                <a:cubicBezTo>
                  <a:pt x="742950" y="236512"/>
                  <a:pt x="674662" y="304800"/>
                  <a:pt x="5905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1915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5720" y="4191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MSP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运营标准化工具 - MSP神秘顾客检测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4363" y="1504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6349" y="-7144"/>
                </a:moveTo>
                <a:cubicBezTo>
                  <a:pt x="60097" y="-7144"/>
                  <a:pt x="50542" y="18886"/>
                  <a:pt x="45854" y="42863"/>
                </a:cubicBezTo>
                <a:lnTo>
                  <a:pt x="32147" y="42863"/>
                </a:lnTo>
                <a:cubicBezTo>
                  <a:pt x="26209" y="42863"/>
                  <a:pt x="21431" y="47640"/>
                  <a:pt x="21431" y="53578"/>
                </a:cubicBezTo>
                <a:cubicBezTo>
                  <a:pt x="21431" y="59516"/>
                  <a:pt x="26209" y="64294"/>
                  <a:pt x="32147" y="64294"/>
                </a:cubicBezTo>
                <a:lnTo>
                  <a:pt x="42863" y="64294"/>
                </a:lnTo>
                <a:lnTo>
                  <a:pt x="42863" y="78581"/>
                </a:lnTo>
                <a:cubicBezTo>
                  <a:pt x="42863" y="86171"/>
                  <a:pt x="44336" y="93405"/>
                  <a:pt x="47015" y="100013"/>
                </a:cubicBezTo>
                <a:lnTo>
                  <a:pt x="42863" y="100013"/>
                </a:lnTo>
                <a:lnTo>
                  <a:pt x="42863" y="100013"/>
                </a:lnTo>
                <a:lnTo>
                  <a:pt x="33710" y="100013"/>
                </a:lnTo>
                <a:cubicBezTo>
                  <a:pt x="26923" y="100013"/>
                  <a:pt x="21431" y="105504"/>
                  <a:pt x="21431" y="112291"/>
                </a:cubicBezTo>
                <a:cubicBezTo>
                  <a:pt x="21431" y="113630"/>
                  <a:pt x="21654" y="114925"/>
                  <a:pt x="22056" y="116175"/>
                </a:cubicBezTo>
                <a:lnTo>
                  <a:pt x="34960" y="154841"/>
                </a:lnTo>
                <a:cubicBezTo>
                  <a:pt x="17949" y="169485"/>
                  <a:pt x="7144" y="191140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91140"/>
                  <a:pt x="182076" y="169485"/>
                  <a:pt x="165065" y="154885"/>
                </a:cubicBezTo>
                <a:lnTo>
                  <a:pt x="177969" y="116220"/>
                </a:lnTo>
                <a:cubicBezTo>
                  <a:pt x="178371" y="114970"/>
                  <a:pt x="178594" y="113675"/>
                  <a:pt x="178594" y="112335"/>
                </a:cubicBezTo>
                <a:cubicBezTo>
                  <a:pt x="178594" y="105549"/>
                  <a:pt x="173102" y="100057"/>
                  <a:pt x="166315" y="100057"/>
                </a:cubicBezTo>
                <a:lnTo>
                  <a:pt x="157162" y="100057"/>
                </a:lnTo>
                <a:lnTo>
                  <a:pt x="157162" y="100057"/>
                </a:lnTo>
                <a:lnTo>
                  <a:pt x="153010" y="100057"/>
                </a:lnTo>
                <a:cubicBezTo>
                  <a:pt x="155689" y="93449"/>
                  <a:pt x="157162" y="86216"/>
                  <a:pt x="157162" y="78626"/>
                </a:cubicBezTo>
                <a:lnTo>
                  <a:pt x="157162" y="64338"/>
                </a:lnTo>
                <a:lnTo>
                  <a:pt x="167878" y="64338"/>
                </a:lnTo>
                <a:cubicBezTo>
                  <a:pt x="173816" y="64338"/>
                  <a:pt x="178594" y="59561"/>
                  <a:pt x="178594" y="53623"/>
                </a:cubicBezTo>
                <a:cubicBezTo>
                  <a:pt x="178594" y="47685"/>
                  <a:pt x="173816" y="42907"/>
                  <a:pt x="167878" y="42907"/>
                </a:cubicBezTo>
                <a:lnTo>
                  <a:pt x="154171" y="42907"/>
                </a:lnTo>
                <a:cubicBezTo>
                  <a:pt x="149528" y="18931"/>
                  <a:pt x="139928" y="-7099"/>
                  <a:pt x="123676" y="-7099"/>
                </a:cubicBezTo>
                <a:cubicBezTo>
                  <a:pt x="119390" y="-7099"/>
                  <a:pt x="115193" y="-5358"/>
                  <a:pt x="111398" y="-3438"/>
                </a:cubicBezTo>
                <a:cubicBezTo>
                  <a:pt x="107737" y="-1607"/>
                  <a:pt x="103183" y="45"/>
                  <a:pt x="100012" y="45"/>
                </a:cubicBezTo>
                <a:cubicBezTo>
                  <a:pt x="96842" y="45"/>
                  <a:pt x="92288" y="-1607"/>
                  <a:pt x="88627" y="-3438"/>
                </a:cubicBezTo>
                <a:cubicBezTo>
                  <a:pt x="84832" y="-5402"/>
                  <a:pt x="80635" y="-7144"/>
                  <a:pt x="76349" y="-7144"/>
                </a:cubicBezTo>
                <a:close/>
                <a:moveTo>
                  <a:pt x="118184" y="209133"/>
                </a:moveTo>
                <a:lnTo>
                  <a:pt x="107112" y="177478"/>
                </a:lnTo>
                <a:lnTo>
                  <a:pt x="119569" y="162967"/>
                </a:lnTo>
                <a:cubicBezTo>
                  <a:pt x="120774" y="161538"/>
                  <a:pt x="121444" y="159752"/>
                  <a:pt x="121444" y="157877"/>
                </a:cubicBezTo>
                <a:cubicBezTo>
                  <a:pt x="121444" y="153546"/>
                  <a:pt x="117961" y="150063"/>
                  <a:pt x="113630" y="150063"/>
                </a:cubicBezTo>
                <a:lnTo>
                  <a:pt x="86395" y="150063"/>
                </a:lnTo>
                <a:cubicBezTo>
                  <a:pt x="82064" y="150063"/>
                  <a:pt x="78581" y="153546"/>
                  <a:pt x="78581" y="157877"/>
                </a:cubicBezTo>
                <a:cubicBezTo>
                  <a:pt x="78581" y="159752"/>
                  <a:pt x="79251" y="161538"/>
                  <a:pt x="80456" y="162967"/>
                </a:cubicBezTo>
                <a:lnTo>
                  <a:pt x="92913" y="177478"/>
                </a:lnTo>
                <a:lnTo>
                  <a:pt x="81841" y="209133"/>
                </a:lnTo>
                <a:lnTo>
                  <a:pt x="56391" y="128588"/>
                </a:lnTo>
                <a:lnTo>
                  <a:pt x="72330" y="128588"/>
                </a:lnTo>
                <a:cubicBezTo>
                  <a:pt x="80546" y="133142"/>
                  <a:pt x="89967" y="135731"/>
                  <a:pt x="100012" y="135731"/>
                </a:cubicBezTo>
                <a:cubicBezTo>
                  <a:pt x="110058" y="135731"/>
                  <a:pt x="119479" y="133142"/>
                  <a:pt x="127695" y="128588"/>
                </a:cubicBezTo>
                <a:lnTo>
                  <a:pt x="143634" y="128588"/>
                </a:lnTo>
                <a:lnTo>
                  <a:pt x="118184" y="209133"/>
                </a:lnTo>
                <a:close/>
                <a:moveTo>
                  <a:pt x="100013" y="114300"/>
                </a:moveTo>
                <a:cubicBezTo>
                  <a:pt x="84519" y="114300"/>
                  <a:pt x="71348" y="104433"/>
                  <a:pt x="66392" y="90636"/>
                </a:cubicBezTo>
                <a:cubicBezTo>
                  <a:pt x="68937" y="92065"/>
                  <a:pt x="71884" y="92869"/>
                  <a:pt x="75009" y="92869"/>
                </a:cubicBezTo>
                <a:lnTo>
                  <a:pt x="80546" y="92869"/>
                </a:lnTo>
                <a:cubicBezTo>
                  <a:pt x="87913" y="92869"/>
                  <a:pt x="94431" y="88136"/>
                  <a:pt x="96753" y="81171"/>
                </a:cubicBezTo>
                <a:cubicBezTo>
                  <a:pt x="97780" y="78045"/>
                  <a:pt x="102200" y="78045"/>
                  <a:pt x="103227" y="81171"/>
                </a:cubicBezTo>
                <a:cubicBezTo>
                  <a:pt x="105549" y="88136"/>
                  <a:pt x="112112" y="92869"/>
                  <a:pt x="119435" y="92869"/>
                </a:cubicBezTo>
                <a:lnTo>
                  <a:pt x="124971" y="92869"/>
                </a:lnTo>
                <a:cubicBezTo>
                  <a:pt x="128096" y="92869"/>
                  <a:pt x="131043" y="92065"/>
                  <a:pt x="133588" y="90636"/>
                </a:cubicBezTo>
                <a:cubicBezTo>
                  <a:pt x="128632" y="104433"/>
                  <a:pt x="115461" y="114300"/>
                  <a:pt x="99968" y="11430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1295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MSP项目概述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从顾客视角检测店铺服务质量,发现服务盲点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适用范围: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所有凯施迪品牌店铺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检测内容: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VIP/活动、服务流程、空间形象、产品知识、销售技巧等6大板块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781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检测形式: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明访(公开身份)+暗访(隐藏身份)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3528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0075" y="3562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5" name="Text 13"/>
          <p:cNvSpPr/>
          <p:nvPr/>
        </p:nvSpPr>
        <p:spPr>
          <a:xfrm>
            <a:off x="971550" y="354330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店长执行流程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924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日常准备: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确保服务标准落地,随时迎接检测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4229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结果反馈: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收到检测报告后及时分析原因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500" y="4533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问题整改: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针对问题制定整改计划并执行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持续提升: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将MSP标准融入日常管理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1" name="Shape 19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2" name="Text 20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4" name="Text 22"/>
          <p:cNvSpPr/>
          <p:nvPr/>
        </p:nvSpPr>
        <p:spPr>
          <a:xfrm>
            <a:off x="7772400" y="1866900"/>
            <a:ext cx="1323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讲解MSP检测价值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Text 24"/>
          <p:cNvSpPr/>
          <p:nvPr/>
        </p:nvSpPr>
        <p:spPr>
          <a:xfrm>
            <a:off x="7772400" y="21717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说明6大检测板块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8" name="Text 26"/>
          <p:cNvSpPr/>
          <p:nvPr/>
        </p:nvSpPr>
        <p:spPr>
          <a:xfrm>
            <a:off x="7772400" y="24765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分享应对技巧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72400" y="27813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建立服务意识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3" name="Text 31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19417" y="3924300"/>
            <a:ext cx="1323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理解MSP目的意义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19417" y="42291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掌握6大检测内容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19417" y="4533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学会结果分析方法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9417" y="4838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掌握问题整改方法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3" name="Shape 41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4" name="Text 42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书面测试:MSP体系理解(10分)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857" y="362857"/>
            <a:ext cx="707571" cy="290286"/>
          </a:xfrm>
          <a:custGeom>
            <a:avLst/>
            <a:gdLst/>
            <a:ahLst/>
            <a:cxnLst/>
            <a:rect l="l" t="t" r="r" b="b"/>
            <a:pathLst>
              <a:path w="707571" h="290286">
                <a:moveTo>
                  <a:pt x="145143" y="0"/>
                </a:moveTo>
                <a:lnTo>
                  <a:pt x="562429" y="0"/>
                </a:lnTo>
                <a:cubicBezTo>
                  <a:pt x="642589" y="0"/>
                  <a:pt x="707571" y="64983"/>
                  <a:pt x="707571" y="145143"/>
                </a:cubicBezTo>
                <a:lnTo>
                  <a:pt x="707571" y="145143"/>
                </a:lnTo>
                <a:cubicBezTo>
                  <a:pt x="707571" y="225303"/>
                  <a:pt x="642589" y="290286"/>
                  <a:pt x="562429" y="290286"/>
                </a:cubicBezTo>
                <a:lnTo>
                  <a:pt x="145143" y="290286"/>
                </a:lnTo>
                <a:cubicBezTo>
                  <a:pt x="65036" y="290286"/>
                  <a:pt x="0" y="225249"/>
                  <a:pt x="0" y="145143"/>
                </a:cubicBezTo>
                <a:lnTo>
                  <a:pt x="0" y="145143"/>
                </a:lnTo>
                <a:cubicBezTo>
                  <a:pt x="0" y="65036"/>
                  <a:pt x="65036" y="0"/>
                  <a:pt x="145143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362857" y="362857"/>
            <a:ext cx="780143" cy="290286"/>
          </a:xfrm>
          <a:prstGeom prst="rect">
            <a:avLst/>
          </a:prstGeom>
          <a:noFill/>
        </p:spPr>
        <p:txBody>
          <a:bodyPr wrap="square" lIns="145143" tIns="36286" rIns="145143" bIns="36286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6876" y="399143"/>
            <a:ext cx="1868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kern="0" spc="57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STORE HEALTH CHECK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2857" y="725714"/>
            <a:ext cx="11629571" cy="362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运营标准化工具 - 店铺体检表应用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2857" y="1233714"/>
            <a:ext cx="6767286" cy="3664857"/>
          </a:xfrm>
          <a:custGeom>
            <a:avLst/>
            <a:gdLst/>
            <a:ahLst/>
            <a:cxnLst/>
            <a:rect l="l" t="t" r="r" b="b"/>
            <a:pathLst>
              <a:path w="6767286" h="3664857">
                <a:moveTo>
                  <a:pt x="108846" y="0"/>
                </a:moveTo>
                <a:lnTo>
                  <a:pt x="6658439" y="0"/>
                </a:lnTo>
                <a:cubicBezTo>
                  <a:pt x="6718554" y="0"/>
                  <a:pt x="6767286" y="48732"/>
                  <a:pt x="6767286" y="108846"/>
                </a:cubicBezTo>
                <a:lnTo>
                  <a:pt x="6767286" y="3556011"/>
                </a:lnTo>
                <a:cubicBezTo>
                  <a:pt x="6767286" y="3616125"/>
                  <a:pt x="6718554" y="3664857"/>
                  <a:pt x="6658439" y="3664857"/>
                </a:cubicBezTo>
                <a:lnTo>
                  <a:pt x="108846" y="3664857"/>
                </a:lnTo>
                <a:cubicBezTo>
                  <a:pt x="48732" y="3664857"/>
                  <a:pt x="0" y="3616125"/>
                  <a:pt x="0" y="3556011"/>
                </a:cubicBezTo>
                <a:lnTo>
                  <a:pt x="0" y="108846"/>
                </a:lnTo>
                <a:cubicBezTo>
                  <a:pt x="0" y="48772"/>
                  <a:pt x="48772" y="0"/>
                  <a:pt x="10884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893" y="1433286"/>
            <a:ext cx="244929" cy="217714"/>
          </a:xfrm>
          <a:custGeom>
            <a:avLst/>
            <a:gdLst/>
            <a:ahLst/>
            <a:cxnLst/>
            <a:rect l="l" t="t" r="r" b="b"/>
            <a:pathLst>
              <a:path w="244929" h="217714">
                <a:moveTo>
                  <a:pt x="13607" y="20411"/>
                </a:moveTo>
                <a:cubicBezTo>
                  <a:pt x="13607" y="9142"/>
                  <a:pt x="22749" y="0"/>
                  <a:pt x="34018" y="0"/>
                </a:cubicBezTo>
                <a:lnTo>
                  <a:pt x="54429" y="0"/>
                </a:lnTo>
                <a:cubicBezTo>
                  <a:pt x="61955" y="0"/>
                  <a:pt x="68036" y="6081"/>
                  <a:pt x="68036" y="13607"/>
                </a:cubicBezTo>
                <a:cubicBezTo>
                  <a:pt x="68036" y="21134"/>
                  <a:pt x="61955" y="27214"/>
                  <a:pt x="54429" y="27214"/>
                </a:cubicBezTo>
                <a:lnTo>
                  <a:pt x="40821" y="27214"/>
                </a:lnTo>
                <a:lnTo>
                  <a:pt x="40821" y="81643"/>
                </a:lnTo>
                <a:cubicBezTo>
                  <a:pt x="40821" y="104180"/>
                  <a:pt x="59106" y="122464"/>
                  <a:pt x="81643" y="122464"/>
                </a:cubicBezTo>
                <a:cubicBezTo>
                  <a:pt x="104180" y="122464"/>
                  <a:pt x="122464" y="104180"/>
                  <a:pt x="122464" y="81643"/>
                </a:cubicBezTo>
                <a:lnTo>
                  <a:pt x="122464" y="27214"/>
                </a:lnTo>
                <a:lnTo>
                  <a:pt x="108857" y="27214"/>
                </a:lnTo>
                <a:cubicBezTo>
                  <a:pt x="101331" y="27214"/>
                  <a:pt x="95250" y="21134"/>
                  <a:pt x="95250" y="13607"/>
                </a:cubicBezTo>
                <a:cubicBezTo>
                  <a:pt x="95250" y="6081"/>
                  <a:pt x="101331" y="0"/>
                  <a:pt x="108857" y="0"/>
                </a:cubicBezTo>
                <a:lnTo>
                  <a:pt x="129268" y="0"/>
                </a:lnTo>
                <a:cubicBezTo>
                  <a:pt x="140536" y="0"/>
                  <a:pt x="149679" y="9142"/>
                  <a:pt x="149679" y="20411"/>
                </a:cubicBezTo>
                <a:lnTo>
                  <a:pt x="149679" y="81643"/>
                </a:lnTo>
                <a:cubicBezTo>
                  <a:pt x="149679" y="114555"/>
                  <a:pt x="126291" y="142025"/>
                  <a:pt x="95250" y="148318"/>
                </a:cubicBezTo>
                <a:lnTo>
                  <a:pt x="95250" y="156482"/>
                </a:lnTo>
                <a:cubicBezTo>
                  <a:pt x="95250" y="182803"/>
                  <a:pt x="116554" y="204107"/>
                  <a:pt x="142875" y="204107"/>
                </a:cubicBezTo>
                <a:cubicBezTo>
                  <a:pt x="169196" y="204107"/>
                  <a:pt x="190500" y="182803"/>
                  <a:pt x="190500" y="156482"/>
                </a:cubicBezTo>
                <a:lnTo>
                  <a:pt x="190500" y="120126"/>
                </a:lnTo>
                <a:cubicBezTo>
                  <a:pt x="174639" y="114513"/>
                  <a:pt x="163286" y="99417"/>
                  <a:pt x="163286" y="81643"/>
                </a:cubicBezTo>
                <a:cubicBezTo>
                  <a:pt x="163286" y="59106"/>
                  <a:pt x="181570" y="40821"/>
                  <a:pt x="204107" y="40821"/>
                </a:cubicBezTo>
                <a:cubicBezTo>
                  <a:pt x="226644" y="40821"/>
                  <a:pt x="244929" y="59106"/>
                  <a:pt x="244929" y="81643"/>
                </a:cubicBezTo>
                <a:cubicBezTo>
                  <a:pt x="244929" y="99417"/>
                  <a:pt x="233575" y="114555"/>
                  <a:pt x="217714" y="120126"/>
                </a:cubicBezTo>
                <a:lnTo>
                  <a:pt x="217714" y="156482"/>
                </a:lnTo>
                <a:cubicBezTo>
                  <a:pt x="217714" y="197814"/>
                  <a:pt x="184207" y="231321"/>
                  <a:pt x="142875" y="231321"/>
                </a:cubicBezTo>
                <a:cubicBezTo>
                  <a:pt x="101543" y="231321"/>
                  <a:pt x="68036" y="197814"/>
                  <a:pt x="68036" y="156482"/>
                </a:cubicBezTo>
                <a:lnTo>
                  <a:pt x="68036" y="148318"/>
                </a:lnTo>
                <a:cubicBezTo>
                  <a:pt x="36994" y="142025"/>
                  <a:pt x="13607" y="114555"/>
                  <a:pt x="13607" y="81643"/>
                </a:cubicBezTo>
                <a:lnTo>
                  <a:pt x="13607" y="20411"/>
                </a:lnTo>
                <a:close/>
                <a:moveTo>
                  <a:pt x="204107" y="95250"/>
                </a:moveTo>
                <a:cubicBezTo>
                  <a:pt x="211617" y="95250"/>
                  <a:pt x="217714" y="89153"/>
                  <a:pt x="217714" y="81643"/>
                </a:cubicBezTo>
                <a:cubicBezTo>
                  <a:pt x="217714" y="74133"/>
                  <a:pt x="211617" y="68036"/>
                  <a:pt x="204107" y="68036"/>
                </a:cubicBezTo>
                <a:cubicBezTo>
                  <a:pt x="196597" y="68036"/>
                  <a:pt x="190500" y="74133"/>
                  <a:pt x="190500" y="81643"/>
                </a:cubicBezTo>
                <a:cubicBezTo>
                  <a:pt x="190500" y="89153"/>
                  <a:pt x="196597" y="95250"/>
                  <a:pt x="204107" y="9525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25286" y="1415143"/>
            <a:ext cx="997857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四大体检表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286" y="1778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53143" y="1886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进店客数体检表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143" y="2140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分析进店客流、时段分布、转化率,诊断引流问题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4286" y="2540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53143" y="2648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成交率体检表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143" y="2902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分析成交率、未成交原因、改进措施,诊断销售能力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4286" y="3302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D4A84B">
              <a:alpha val="1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53143" y="3410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交易比体检表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143" y="3664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分析连带率、客单件数、搭配销售,诊断连带能力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286" y="4064000"/>
            <a:ext cx="6404429" cy="653143"/>
          </a:xfrm>
          <a:custGeom>
            <a:avLst/>
            <a:gdLst/>
            <a:ahLst/>
            <a:cxnLst/>
            <a:rect l="l" t="t" r="r" b="b"/>
            <a:pathLst>
              <a:path w="6404429" h="653143">
                <a:moveTo>
                  <a:pt x="72571" y="0"/>
                </a:moveTo>
                <a:lnTo>
                  <a:pt x="6331858" y="0"/>
                </a:lnTo>
                <a:cubicBezTo>
                  <a:pt x="6371938" y="0"/>
                  <a:pt x="6404429" y="32491"/>
                  <a:pt x="6404429" y="72571"/>
                </a:cubicBezTo>
                <a:lnTo>
                  <a:pt x="6404429" y="580572"/>
                </a:lnTo>
                <a:cubicBezTo>
                  <a:pt x="6404429" y="620652"/>
                  <a:pt x="6371938" y="653143"/>
                  <a:pt x="6331858" y="653143"/>
                </a:cubicBezTo>
                <a:lnTo>
                  <a:pt x="72571" y="653143"/>
                </a:lnTo>
                <a:cubicBezTo>
                  <a:pt x="32518" y="653143"/>
                  <a:pt x="0" y="620625"/>
                  <a:pt x="0" y="580572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3D3D3D">
              <a:alpha val="1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653143" y="4172857"/>
            <a:ext cx="6259286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商品均价体检表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143" y="4426857"/>
            <a:ext cx="6250214" cy="1814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分析客单价、价格带分布、高客单策略,诊断价值销售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857" y="5043714"/>
            <a:ext cx="6767286" cy="1814286"/>
          </a:xfrm>
          <a:custGeom>
            <a:avLst/>
            <a:gdLst/>
            <a:ahLst/>
            <a:cxnLst/>
            <a:rect l="l" t="t" r="r" b="b"/>
            <a:pathLst>
              <a:path w="6767286" h="1814286">
                <a:moveTo>
                  <a:pt x="108857" y="0"/>
                </a:moveTo>
                <a:lnTo>
                  <a:pt x="6658429" y="0"/>
                </a:lnTo>
                <a:cubicBezTo>
                  <a:pt x="6718549" y="0"/>
                  <a:pt x="6767286" y="48737"/>
                  <a:pt x="6767286" y="108857"/>
                </a:cubicBezTo>
                <a:lnTo>
                  <a:pt x="6767286" y="1705429"/>
                </a:lnTo>
                <a:cubicBezTo>
                  <a:pt x="6767286" y="1765549"/>
                  <a:pt x="6718549" y="1814286"/>
                  <a:pt x="6658429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1500" y="5243286"/>
            <a:ext cx="217714" cy="217714"/>
          </a:xfrm>
          <a:custGeom>
            <a:avLst/>
            <a:gdLst/>
            <a:ahLst/>
            <a:cxnLst/>
            <a:rect l="l" t="t" r="r" b="b"/>
            <a:pathLst>
              <a:path w="217714" h="217714">
                <a:moveTo>
                  <a:pt x="13607" y="13607"/>
                </a:moveTo>
                <a:cubicBezTo>
                  <a:pt x="21134" y="13607"/>
                  <a:pt x="27214" y="19688"/>
                  <a:pt x="27214" y="27214"/>
                </a:cubicBezTo>
                <a:lnTo>
                  <a:pt x="27214" y="170089"/>
                </a:lnTo>
                <a:cubicBezTo>
                  <a:pt x="27214" y="173831"/>
                  <a:pt x="30276" y="176893"/>
                  <a:pt x="34018" y="176893"/>
                </a:cubicBezTo>
                <a:lnTo>
                  <a:pt x="204107" y="176893"/>
                </a:lnTo>
                <a:cubicBezTo>
                  <a:pt x="211634" y="176893"/>
                  <a:pt x="217714" y="182974"/>
                  <a:pt x="217714" y="190500"/>
                </a:cubicBezTo>
                <a:cubicBezTo>
                  <a:pt x="217714" y="198026"/>
                  <a:pt x="211634" y="204107"/>
                  <a:pt x="204107" y="204107"/>
                </a:cubicBezTo>
                <a:lnTo>
                  <a:pt x="34018" y="204107"/>
                </a:lnTo>
                <a:cubicBezTo>
                  <a:pt x="15223" y="204107"/>
                  <a:pt x="0" y="188884"/>
                  <a:pt x="0" y="170089"/>
                </a:cubicBezTo>
                <a:lnTo>
                  <a:pt x="0" y="27214"/>
                </a:lnTo>
                <a:cubicBezTo>
                  <a:pt x="0" y="19688"/>
                  <a:pt x="6081" y="13607"/>
                  <a:pt x="13607" y="13607"/>
                </a:cubicBezTo>
                <a:close/>
                <a:moveTo>
                  <a:pt x="54429" y="40821"/>
                </a:moveTo>
                <a:cubicBezTo>
                  <a:pt x="54429" y="33295"/>
                  <a:pt x="60509" y="27214"/>
                  <a:pt x="68036" y="27214"/>
                </a:cubicBezTo>
                <a:lnTo>
                  <a:pt x="149679" y="27214"/>
                </a:lnTo>
                <a:cubicBezTo>
                  <a:pt x="157205" y="27214"/>
                  <a:pt x="163286" y="33295"/>
                  <a:pt x="163286" y="40821"/>
                </a:cubicBezTo>
                <a:cubicBezTo>
                  <a:pt x="163286" y="48348"/>
                  <a:pt x="157205" y="54429"/>
                  <a:pt x="149679" y="54429"/>
                </a:cubicBezTo>
                <a:lnTo>
                  <a:pt x="68036" y="54429"/>
                </a:lnTo>
                <a:cubicBezTo>
                  <a:pt x="60509" y="54429"/>
                  <a:pt x="54429" y="48348"/>
                  <a:pt x="54429" y="40821"/>
                </a:cubicBezTo>
                <a:close/>
                <a:moveTo>
                  <a:pt x="68036" y="74839"/>
                </a:moveTo>
                <a:lnTo>
                  <a:pt x="122464" y="74839"/>
                </a:lnTo>
                <a:cubicBezTo>
                  <a:pt x="129991" y="74839"/>
                  <a:pt x="136071" y="80920"/>
                  <a:pt x="136071" y="88446"/>
                </a:cubicBezTo>
                <a:cubicBezTo>
                  <a:pt x="136071" y="95973"/>
                  <a:pt x="129991" y="102054"/>
                  <a:pt x="122464" y="102054"/>
                </a:cubicBezTo>
                <a:lnTo>
                  <a:pt x="68036" y="102054"/>
                </a:lnTo>
                <a:cubicBezTo>
                  <a:pt x="60509" y="102054"/>
                  <a:pt x="54429" y="95973"/>
                  <a:pt x="54429" y="88446"/>
                </a:cubicBezTo>
                <a:cubicBezTo>
                  <a:pt x="54429" y="80920"/>
                  <a:pt x="60509" y="74839"/>
                  <a:pt x="68036" y="74839"/>
                </a:cubicBezTo>
                <a:close/>
                <a:moveTo>
                  <a:pt x="68036" y="122464"/>
                </a:moveTo>
                <a:lnTo>
                  <a:pt x="176893" y="122464"/>
                </a:lnTo>
                <a:cubicBezTo>
                  <a:pt x="184419" y="122464"/>
                  <a:pt x="190500" y="128545"/>
                  <a:pt x="190500" y="136071"/>
                </a:cubicBezTo>
                <a:cubicBezTo>
                  <a:pt x="190500" y="143598"/>
                  <a:pt x="184419" y="149679"/>
                  <a:pt x="176893" y="149679"/>
                </a:cubicBezTo>
                <a:lnTo>
                  <a:pt x="68036" y="149679"/>
                </a:lnTo>
                <a:cubicBezTo>
                  <a:pt x="60509" y="149679"/>
                  <a:pt x="54429" y="143598"/>
                  <a:pt x="54429" y="136071"/>
                </a:cubicBezTo>
                <a:cubicBezTo>
                  <a:pt x="54429" y="128545"/>
                  <a:pt x="60509" y="122464"/>
                  <a:pt x="68036" y="122464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3" name="Text 21"/>
          <p:cNvSpPr/>
          <p:nvPr/>
        </p:nvSpPr>
        <p:spPr>
          <a:xfrm>
            <a:off x="925286" y="5225143"/>
            <a:ext cx="1360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体检表应用方法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286" y="5588000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数据收集: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每日记录关键数据,建立数据档案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286" y="5878286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定期分析: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周/月汇总分析,发现问题趋势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286" y="6168571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问题诊断: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从数据中发现问题,定位原因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286" y="6458857"/>
            <a:ext cx="6477000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改进措施:</a:t>
            </a: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制定针对性改进计划并执行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57" y="1233714"/>
            <a:ext cx="4517571" cy="1814286"/>
          </a:xfrm>
          <a:custGeom>
            <a:avLst/>
            <a:gdLst/>
            <a:ahLst/>
            <a:cxnLst/>
            <a:rect l="l" t="t" r="r" b="b"/>
            <a:pathLst>
              <a:path w="4517571" h="1814286">
                <a:moveTo>
                  <a:pt x="108857" y="0"/>
                </a:moveTo>
                <a:lnTo>
                  <a:pt x="4408714" y="0"/>
                </a:lnTo>
                <a:cubicBezTo>
                  <a:pt x="4468834" y="0"/>
                  <a:pt x="4517571" y="48737"/>
                  <a:pt x="4517571" y="108857"/>
                </a:cubicBezTo>
                <a:lnTo>
                  <a:pt x="4517571" y="1705429"/>
                </a:lnTo>
                <a:cubicBezTo>
                  <a:pt x="4517571" y="1765549"/>
                  <a:pt x="4468834" y="1814286"/>
                  <a:pt x="4408714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9" name="Shape 27"/>
          <p:cNvSpPr/>
          <p:nvPr/>
        </p:nvSpPr>
        <p:spPr>
          <a:xfrm>
            <a:off x="7498953" y="1460500"/>
            <a:ext cx="204107" cy="163286"/>
          </a:xfrm>
          <a:custGeom>
            <a:avLst/>
            <a:gdLst/>
            <a:ahLst/>
            <a:cxnLst/>
            <a:rect l="l" t="t" r="r" b="b"/>
            <a:pathLst>
              <a:path w="204107" h="163286">
                <a:moveTo>
                  <a:pt x="40821" y="30616"/>
                </a:moveTo>
                <a:cubicBezTo>
                  <a:pt x="40821" y="19358"/>
                  <a:pt x="49974" y="10205"/>
                  <a:pt x="61232" y="10205"/>
                </a:cubicBezTo>
                <a:lnTo>
                  <a:pt x="173491" y="10205"/>
                </a:lnTo>
                <a:cubicBezTo>
                  <a:pt x="184749" y="10205"/>
                  <a:pt x="193902" y="19358"/>
                  <a:pt x="193902" y="30616"/>
                </a:cubicBezTo>
                <a:lnTo>
                  <a:pt x="193902" y="107156"/>
                </a:lnTo>
                <a:lnTo>
                  <a:pt x="163286" y="107156"/>
                </a:lnTo>
                <a:lnTo>
                  <a:pt x="163286" y="102054"/>
                </a:lnTo>
                <a:cubicBezTo>
                  <a:pt x="163286" y="96409"/>
                  <a:pt x="158725" y="91848"/>
                  <a:pt x="153080" y="91848"/>
                </a:cubicBezTo>
                <a:lnTo>
                  <a:pt x="132670" y="91848"/>
                </a:lnTo>
                <a:cubicBezTo>
                  <a:pt x="127025" y="91848"/>
                  <a:pt x="122464" y="96409"/>
                  <a:pt x="122464" y="102054"/>
                </a:cubicBezTo>
                <a:lnTo>
                  <a:pt x="122464" y="107156"/>
                </a:lnTo>
                <a:lnTo>
                  <a:pt x="81292" y="107156"/>
                </a:lnTo>
                <a:cubicBezTo>
                  <a:pt x="84768" y="101161"/>
                  <a:pt x="86746" y="94176"/>
                  <a:pt x="86746" y="86746"/>
                </a:cubicBezTo>
                <a:cubicBezTo>
                  <a:pt x="86746" y="64198"/>
                  <a:pt x="68472" y="45924"/>
                  <a:pt x="45924" y="45924"/>
                </a:cubicBezTo>
                <a:cubicBezTo>
                  <a:pt x="44202" y="45924"/>
                  <a:pt x="42480" y="46020"/>
                  <a:pt x="40821" y="46243"/>
                </a:cubicBezTo>
                <a:lnTo>
                  <a:pt x="40821" y="30616"/>
                </a:lnTo>
                <a:close/>
                <a:moveTo>
                  <a:pt x="106199" y="142875"/>
                </a:moveTo>
                <a:cubicBezTo>
                  <a:pt x="104573" y="135157"/>
                  <a:pt x="101001" y="128173"/>
                  <a:pt x="95962" y="122464"/>
                </a:cubicBezTo>
                <a:lnTo>
                  <a:pt x="193902" y="122464"/>
                </a:lnTo>
                <a:cubicBezTo>
                  <a:pt x="193902" y="133722"/>
                  <a:pt x="184749" y="142875"/>
                  <a:pt x="173491" y="142875"/>
                </a:cubicBezTo>
                <a:lnTo>
                  <a:pt x="106199" y="142875"/>
                </a:lnTo>
                <a:close/>
                <a:moveTo>
                  <a:pt x="20411" y="86746"/>
                </a:moveTo>
                <a:cubicBezTo>
                  <a:pt x="20411" y="72664"/>
                  <a:pt x="31843" y="61232"/>
                  <a:pt x="45924" y="61232"/>
                </a:cubicBezTo>
                <a:cubicBezTo>
                  <a:pt x="60005" y="61232"/>
                  <a:pt x="71438" y="72664"/>
                  <a:pt x="71438" y="86746"/>
                </a:cubicBezTo>
                <a:cubicBezTo>
                  <a:pt x="71438" y="100827"/>
                  <a:pt x="60005" y="112259"/>
                  <a:pt x="45924" y="112259"/>
                </a:cubicBezTo>
                <a:cubicBezTo>
                  <a:pt x="31843" y="112259"/>
                  <a:pt x="20411" y="100827"/>
                  <a:pt x="20411" y="86746"/>
                </a:cubicBezTo>
                <a:close/>
                <a:moveTo>
                  <a:pt x="0" y="153080"/>
                </a:moveTo>
                <a:cubicBezTo>
                  <a:pt x="0" y="136178"/>
                  <a:pt x="13713" y="122464"/>
                  <a:pt x="30616" y="122464"/>
                </a:cubicBezTo>
                <a:lnTo>
                  <a:pt x="61232" y="122464"/>
                </a:lnTo>
                <a:cubicBezTo>
                  <a:pt x="78135" y="122464"/>
                  <a:pt x="91848" y="136178"/>
                  <a:pt x="91848" y="153080"/>
                </a:cubicBezTo>
                <a:cubicBezTo>
                  <a:pt x="91848" y="158725"/>
                  <a:pt x="87288" y="163286"/>
                  <a:pt x="81643" y="163286"/>
                </a:cubicBezTo>
                <a:lnTo>
                  <a:pt x="10205" y="163286"/>
                </a:lnTo>
                <a:cubicBezTo>
                  <a:pt x="4561" y="163286"/>
                  <a:pt x="0" y="158725"/>
                  <a:pt x="0" y="15308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05328" y="1415143"/>
            <a:ext cx="4027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14828" y="1814286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Text 30"/>
          <p:cNvSpPr/>
          <p:nvPr/>
        </p:nvSpPr>
        <p:spPr>
          <a:xfrm>
            <a:off x="7750685" y="1778000"/>
            <a:ext cx="1088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讲解体检表价值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14828" y="2104571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Text 32"/>
          <p:cNvSpPr/>
          <p:nvPr/>
        </p:nvSpPr>
        <p:spPr>
          <a:xfrm>
            <a:off x="7750685" y="2068286"/>
            <a:ext cx="11702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说明4大体检内容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14828" y="2394857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6" name="Text 34"/>
          <p:cNvSpPr/>
          <p:nvPr/>
        </p:nvSpPr>
        <p:spPr>
          <a:xfrm>
            <a:off x="7750685" y="2358571"/>
            <a:ext cx="943429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演示分析方法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14828" y="2685143"/>
            <a:ext cx="145143" cy="145143"/>
          </a:xfrm>
          <a:custGeom>
            <a:avLst/>
            <a:gdLst/>
            <a:ahLst/>
            <a:cxnLst/>
            <a:rect l="l" t="t" r="r" b="b"/>
            <a:pathLst>
              <a:path w="145143" h="145143">
                <a:moveTo>
                  <a:pt x="72571" y="145143"/>
                </a:moveTo>
                <a:cubicBezTo>
                  <a:pt x="112625" y="145143"/>
                  <a:pt x="145143" y="112625"/>
                  <a:pt x="145143" y="72571"/>
                </a:cubicBezTo>
                <a:cubicBezTo>
                  <a:pt x="145143" y="32518"/>
                  <a:pt x="112625" y="0"/>
                  <a:pt x="72571" y="0"/>
                </a:cubicBezTo>
                <a:cubicBezTo>
                  <a:pt x="32518" y="0"/>
                  <a:pt x="0" y="32518"/>
                  <a:pt x="0" y="72571"/>
                </a:cubicBezTo>
                <a:cubicBezTo>
                  <a:pt x="0" y="112625"/>
                  <a:pt x="32518" y="145143"/>
                  <a:pt x="72571" y="145143"/>
                </a:cubicBezTo>
                <a:close/>
                <a:moveTo>
                  <a:pt x="96497" y="60297"/>
                </a:moveTo>
                <a:lnTo>
                  <a:pt x="73819" y="96582"/>
                </a:lnTo>
                <a:cubicBezTo>
                  <a:pt x="72628" y="98482"/>
                  <a:pt x="70587" y="99672"/>
                  <a:pt x="68348" y="99786"/>
                </a:cubicBezTo>
                <a:cubicBezTo>
                  <a:pt x="66108" y="99899"/>
                  <a:pt x="63954" y="98879"/>
                  <a:pt x="62621" y="97064"/>
                </a:cubicBezTo>
                <a:lnTo>
                  <a:pt x="49014" y="78921"/>
                </a:lnTo>
                <a:cubicBezTo>
                  <a:pt x="46746" y="75917"/>
                  <a:pt x="47370" y="71664"/>
                  <a:pt x="50375" y="69396"/>
                </a:cubicBezTo>
                <a:cubicBezTo>
                  <a:pt x="53380" y="67129"/>
                  <a:pt x="57632" y="67752"/>
                  <a:pt x="59900" y="70757"/>
                </a:cubicBezTo>
                <a:lnTo>
                  <a:pt x="67554" y="80963"/>
                </a:lnTo>
                <a:lnTo>
                  <a:pt x="84960" y="53096"/>
                </a:lnTo>
                <a:cubicBezTo>
                  <a:pt x="86944" y="49921"/>
                  <a:pt x="91140" y="48929"/>
                  <a:pt x="94343" y="50942"/>
                </a:cubicBezTo>
                <a:cubicBezTo>
                  <a:pt x="97546" y="52954"/>
                  <a:pt x="98510" y="57122"/>
                  <a:pt x="96497" y="60325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8" name="Text 36"/>
          <p:cNvSpPr/>
          <p:nvPr/>
        </p:nvSpPr>
        <p:spPr>
          <a:xfrm>
            <a:off x="7750685" y="2648857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建立数据诊断思维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57" y="3193143"/>
            <a:ext cx="4517571" cy="1814286"/>
          </a:xfrm>
          <a:custGeom>
            <a:avLst/>
            <a:gdLst/>
            <a:ahLst/>
            <a:cxnLst/>
            <a:rect l="l" t="t" r="r" b="b"/>
            <a:pathLst>
              <a:path w="4517571" h="1814286">
                <a:moveTo>
                  <a:pt x="108857" y="0"/>
                </a:moveTo>
                <a:lnTo>
                  <a:pt x="4408714" y="0"/>
                </a:lnTo>
                <a:cubicBezTo>
                  <a:pt x="4468834" y="0"/>
                  <a:pt x="4517571" y="48737"/>
                  <a:pt x="4517571" y="108857"/>
                </a:cubicBezTo>
                <a:lnTo>
                  <a:pt x="4517571" y="1705429"/>
                </a:lnTo>
                <a:cubicBezTo>
                  <a:pt x="4517571" y="1765549"/>
                  <a:pt x="4468834" y="1814286"/>
                  <a:pt x="4408714" y="1814286"/>
                </a:cubicBezTo>
                <a:lnTo>
                  <a:pt x="108857" y="1814286"/>
                </a:lnTo>
                <a:cubicBezTo>
                  <a:pt x="48737" y="1814286"/>
                  <a:pt x="0" y="1765549"/>
                  <a:pt x="0" y="1705429"/>
                </a:cubicBezTo>
                <a:lnTo>
                  <a:pt x="0" y="108857"/>
                </a:lnTo>
                <a:cubicBezTo>
                  <a:pt x="0" y="48777"/>
                  <a:pt x="48777" y="0"/>
                  <a:pt x="10885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4429" dist="362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29569" y="3419929"/>
            <a:ext cx="142875" cy="163286"/>
          </a:xfrm>
          <a:custGeom>
            <a:avLst/>
            <a:gdLst/>
            <a:ahLst/>
            <a:cxnLst/>
            <a:rect l="l" t="t" r="r" b="b"/>
            <a:pathLst>
              <a:path w="142875" h="163286">
                <a:moveTo>
                  <a:pt x="76955" y="-4146"/>
                </a:moveTo>
                <a:cubicBezTo>
                  <a:pt x="73319" y="-4879"/>
                  <a:pt x="69588" y="-4879"/>
                  <a:pt x="65952" y="-4146"/>
                </a:cubicBezTo>
                <a:lnTo>
                  <a:pt x="6155" y="7813"/>
                </a:lnTo>
                <a:cubicBezTo>
                  <a:pt x="2583" y="8515"/>
                  <a:pt x="0" y="11672"/>
                  <a:pt x="0" y="15308"/>
                </a:cubicBezTo>
                <a:cubicBezTo>
                  <a:pt x="0" y="18593"/>
                  <a:pt x="2073" y="21463"/>
                  <a:pt x="5103" y="22516"/>
                </a:cubicBezTo>
                <a:lnTo>
                  <a:pt x="5103" y="45924"/>
                </a:lnTo>
                <a:lnTo>
                  <a:pt x="96" y="70991"/>
                </a:lnTo>
                <a:cubicBezTo>
                  <a:pt x="32" y="71278"/>
                  <a:pt x="0" y="71597"/>
                  <a:pt x="0" y="71916"/>
                </a:cubicBezTo>
                <a:cubicBezTo>
                  <a:pt x="0" y="74467"/>
                  <a:pt x="2073" y="76572"/>
                  <a:pt x="4656" y="76572"/>
                </a:cubicBezTo>
                <a:lnTo>
                  <a:pt x="15786" y="76572"/>
                </a:lnTo>
                <a:cubicBezTo>
                  <a:pt x="18338" y="76572"/>
                  <a:pt x="20443" y="74499"/>
                  <a:pt x="20443" y="71916"/>
                </a:cubicBezTo>
                <a:cubicBezTo>
                  <a:pt x="20443" y="71597"/>
                  <a:pt x="20411" y="71310"/>
                  <a:pt x="20347" y="70991"/>
                </a:cubicBezTo>
                <a:lnTo>
                  <a:pt x="15308" y="45924"/>
                </a:lnTo>
                <a:lnTo>
                  <a:pt x="15308" y="24652"/>
                </a:lnTo>
                <a:lnTo>
                  <a:pt x="30616" y="27714"/>
                </a:lnTo>
                <a:lnTo>
                  <a:pt x="30616" y="45924"/>
                </a:lnTo>
                <a:cubicBezTo>
                  <a:pt x="30616" y="68472"/>
                  <a:pt x="48890" y="86746"/>
                  <a:pt x="71438" y="86746"/>
                </a:cubicBezTo>
                <a:cubicBezTo>
                  <a:pt x="93985" y="86746"/>
                  <a:pt x="112259" y="68472"/>
                  <a:pt x="112259" y="45924"/>
                </a:cubicBezTo>
                <a:lnTo>
                  <a:pt x="112259" y="27714"/>
                </a:lnTo>
                <a:lnTo>
                  <a:pt x="136720" y="22834"/>
                </a:lnTo>
                <a:cubicBezTo>
                  <a:pt x="140292" y="22101"/>
                  <a:pt x="142875" y="18944"/>
                  <a:pt x="142875" y="15308"/>
                </a:cubicBezTo>
                <a:cubicBezTo>
                  <a:pt x="142875" y="11672"/>
                  <a:pt x="140292" y="8515"/>
                  <a:pt x="136720" y="7813"/>
                </a:cubicBezTo>
                <a:lnTo>
                  <a:pt x="76955" y="-4146"/>
                </a:lnTo>
                <a:close/>
                <a:moveTo>
                  <a:pt x="71438" y="71438"/>
                </a:moveTo>
                <a:cubicBezTo>
                  <a:pt x="57341" y="71438"/>
                  <a:pt x="45924" y="60020"/>
                  <a:pt x="45924" y="45924"/>
                </a:cubicBezTo>
                <a:lnTo>
                  <a:pt x="96951" y="45924"/>
                </a:lnTo>
                <a:cubicBezTo>
                  <a:pt x="96951" y="60020"/>
                  <a:pt x="85534" y="71438"/>
                  <a:pt x="71438" y="71438"/>
                </a:cubicBezTo>
                <a:close/>
                <a:moveTo>
                  <a:pt x="38302" y="102085"/>
                </a:moveTo>
                <a:cubicBezTo>
                  <a:pt x="18720" y="111079"/>
                  <a:pt x="5103" y="130852"/>
                  <a:pt x="5103" y="153814"/>
                </a:cubicBezTo>
                <a:cubicBezTo>
                  <a:pt x="5103" y="159044"/>
                  <a:pt x="9344" y="163286"/>
                  <a:pt x="14575" y="163286"/>
                </a:cubicBezTo>
                <a:lnTo>
                  <a:pt x="63783" y="163286"/>
                </a:lnTo>
                <a:lnTo>
                  <a:pt x="63783" y="116724"/>
                </a:lnTo>
                <a:lnTo>
                  <a:pt x="45478" y="103010"/>
                </a:lnTo>
                <a:cubicBezTo>
                  <a:pt x="43405" y="101448"/>
                  <a:pt x="40630" y="101033"/>
                  <a:pt x="38270" y="102117"/>
                </a:cubicBezTo>
                <a:close/>
                <a:moveTo>
                  <a:pt x="79092" y="163286"/>
                </a:moveTo>
                <a:lnTo>
                  <a:pt x="128300" y="163286"/>
                </a:lnTo>
                <a:cubicBezTo>
                  <a:pt x="133531" y="163286"/>
                  <a:pt x="137772" y="159044"/>
                  <a:pt x="137772" y="153814"/>
                </a:cubicBezTo>
                <a:cubicBezTo>
                  <a:pt x="137772" y="130852"/>
                  <a:pt x="124155" y="111079"/>
                  <a:pt x="104573" y="102117"/>
                </a:cubicBezTo>
                <a:cubicBezTo>
                  <a:pt x="102213" y="101033"/>
                  <a:pt x="99438" y="101448"/>
                  <a:pt x="97365" y="103010"/>
                </a:cubicBezTo>
                <a:lnTo>
                  <a:pt x="79060" y="116724"/>
                </a:lnTo>
                <a:lnTo>
                  <a:pt x="79060" y="163286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41" name="Text 39"/>
          <p:cNvSpPr/>
          <p:nvPr/>
        </p:nvSpPr>
        <p:spPr>
          <a:xfrm>
            <a:off x="7705328" y="3374571"/>
            <a:ext cx="4027714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96685" y="3737429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00225" y="3737429"/>
            <a:ext cx="10250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理解4大体检表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96685" y="4027714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00225" y="4027714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掌握数据收集方法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96685" y="4318000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00225" y="4318000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学会问题诊断方法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96685" y="4608286"/>
            <a:ext cx="199571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0225" y="4608286"/>
            <a:ext cx="1233714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学会改进措施制定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315257" y="5152571"/>
            <a:ext cx="4517571" cy="834571"/>
          </a:xfrm>
          <a:custGeom>
            <a:avLst/>
            <a:gdLst/>
            <a:ahLst/>
            <a:cxnLst/>
            <a:rect l="l" t="t" r="r" b="b"/>
            <a:pathLst>
              <a:path w="4517571" h="834571">
                <a:moveTo>
                  <a:pt x="108853" y="0"/>
                </a:moveTo>
                <a:lnTo>
                  <a:pt x="4408718" y="0"/>
                </a:lnTo>
                <a:cubicBezTo>
                  <a:pt x="4468836" y="0"/>
                  <a:pt x="4517571" y="48735"/>
                  <a:pt x="4517571" y="108853"/>
                </a:cubicBezTo>
                <a:lnTo>
                  <a:pt x="4517571" y="725718"/>
                </a:lnTo>
                <a:cubicBezTo>
                  <a:pt x="4517571" y="785836"/>
                  <a:pt x="4468836" y="834571"/>
                  <a:pt x="4408718" y="834571"/>
                </a:cubicBezTo>
                <a:lnTo>
                  <a:pt x="108853" y="834571"/>
                </a:lnTo>
                <a:cubicBezTo>
                  <a:pt x="48735" y="834571"/>
                  <a:pt x="0" y="785836"/>
                  <a:pt x="0" y="725718"/>
                </a:cubicBezTo>
                <a:lnTo>
                  <a:pt x="0" y="108853"/>
                </a:lnTo>
                <a:cubicBezTo>
                  <a:pt x="0" y="48775"/>
                  <a:pt x="48775" y="0"/>
                  <a:pt x="108853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51" name="Shape 49"/>
          <p:cNvSpPr/>
          <p:nvPr/>
        </p:nvSpPr>
        <p:spPr>
          <a:xfrm>
            <a:off x="7503489" y="5343071"/>
            <a:ext cx="122464" cy="163286"/>
          </a:xfrm>
          <a:custGeom>
            <a:avLst/>
            <a:gdLst/>
            <a:ahLst/>
            <a:cxnLst/>
            <a:rect l="l" t="t" r="r" b="b"/>
            <a:pathLst>
              <a:path w="122464" h="163286">
                <a:moveTo>
                  <a:pt x="99311" y="10205"/>
                </a:moveTo>
                <a:lnTo>
                  <a:pt x="102054" y="10205"/>
                </a:lnTo>
                <a:cubicBezTo>
                  <a:pt x="113311" y="10205"/>
                  <a:pt x="122464" y="19358"/>
                  <a:pt x="122464" y="30616"/>
                </a:cubicBezTo>
                <a:lnTo>
                  <a:pt x="122464" y="142875"/>
                </a:lnTo>
                <a:cubicBezTo>
                  <a:pt x="122464" y="154133"/>
                  <a:pt x="113311" y="163286"/>
                  <a:pt x="102054" y="163286"/>
                </a:cubicBezTo>
                <a:lnTo>
                  <a:pt x="20411" y="163286"/>
                </a:lnTo>
                <a:cubicBezTo>
                  <a:pt x="9153" y="163286"/>
                  <a:pt x="0" y="154133"/>
                  <a:pt x="0" y="142875"/>
                </a:cubicBezTo>
                <a:lnTo>
                  <a:pt x="0" y="30616"/>
                </a:lnTo>
                <a:cubicBezTo>
                  <a:pt x="0" y="19358"/>
                  <a:pt x="9153" y="10205"/>
                  <a:pt x="20411" y="10205"/>
                </a:cubicBezTo>
                <a:lnTo>
                  <a:pt x="23153" y="10205"/>
                </a:lnTo>
                <a:cubicBezTo>
                  <a:pt x="26661" y="4114"/>
                  <a:pt x="33263" y="0"/>
                  <a:pt x="40821" y="0"/>
                </a:cubicBezTo>
                <a:lnTo>
                  <a:pt x="81643" y="0"/>
                </a:lnTo>
                <a:cubicBezTo>
                  <a:pt x="89201" y="0"/>
                  <a:pt x="95803" y="4114"/>
                  <a:pt x="99311" y="10205"/>
                </a:cubicBezTo>
                <a:close/>
                <a:moveTo>
                  <a:pt x="79092" y="35719"/>
                </a:moveTo>
                <a:cubicBezTo>
                  <a:pt x="83333" y="35719"/>
                  <a:pt x="86746" y="32306"/>
                  <a:pt x="86746" y="28065"/>
                </a:cubicBezTo>
                <a:cubicBezTo>
                  <a:pt x="86746" y="23823"/>
                  <a:pt x="83333" y="20411"/>
                  <a:pt x="79092" y="20411"/>
                </a:cubicBezTo>
                <a:lnTo>
                  <a:pt x="43373" y="20411"/>
                </a:lnTo>
                <a:cubicBezTo>
                  <a:pt x="39131" y="20411"/>
                  <a:pt x="35719" y="23823"/>
                  <a:pt x="35719" y="28065"/>
                </a:cubicBezTo>
                <a:cubicBezTo>
                  <a:pt x="35719" y="32306"/>
                  <a:pt x="39131" y="35719"/>
                  <a:pt x="43373" y="35719"/>
                </a:cubicBezTo>
                <a:lnTo>
                  <a:pt x="79092" y="35719"/>
                </a:lnTo>
                <a:close/>
                <a:moveTo>
                  <a:pt x="40821" y="81643"/>
                </a:moveTo>
                <a:cubicBezTo>
                  <a:pt x="40821" y="76010"/>
                  <a:pt x="36249" y="71438"/>
                  <a:pt x="30616" y="71438"/>
                </a:cubicBezTo>
                <a:cubicBezTo>
                  <a:pt x="24984" y="71438"/>
                  <a:pt x="20411" y="76010"/>
                  <a:pt x="20411" y="81643"/>
                </a:cubicBezTo>
                <a:cubicBezTo>
                  <a:pt x="20411" y="87275"/>
                  <a:pt x="24984" y="91848"/>
                  <a:pt x="30616" y="91848"/>
                </a:cubicBezTo>
                <a:cubicBezTo>
                  <a:pt x="36249" y="91848"/>
                  <a:pt x="40821" y="87275"/>
                  <a:pt x="40821" y="81643"/>
                </a:cubicBezTo>
                <a:close/>
                <a:moveTo>
                  <a:pt x="51027" y="81643"/>
                </a:moveTo>
                <a:cubicBezTo>
                  <a:pt x="51027" y="85884"/>
                  <a:pt x="54439" y="89297"/>
                  <a:pt x="58681" y="89297"/>
                </a:cubicBezTo>
                <a:lnTo>
                  <a:pt x="94400" y="89297"/>
                </a:lnTo>
                <a:cubicBezTo>
                  <a:pt x="98641" y="89297"/>
                  <a:pt x="102054" y="85884"/>
                  <a:pt x="102054" y="81643"/>
                </a:cubicBezTo>
                <a:cubicBezTo>
                  <a:pt x="102054" y="77401"/>
                  <a:pt x="98641" y="73989"/>
                  <a:pt x="94400" y="73989"/>
                </a:cubicBezTo>
                <a:lnTo>
                  <a:pt x="58681" y="73989"/>
                </a:lnTo>
                <a:cubicBezTo>
                  <a:pt x="54439" y="73989"/>
                  <a:pt x="51027" y="77401"/>
                  <a:pt x="51027" y="81643"/>
                </a:cubicBezTo>
                <a:close/>
                <a:moveTo>
                  <a:pt x="51027" y="122464"/>
                </a:moveTo>
                <a:cubicBezTo>
                  <a:pt x="51027" y="126706"/>
                  <a:pt x="54439" y="130118"/>
                  <a:pt x="58681" y="130118"/>
                </a:cubicBezTo>
                <a:lnTo>
                  <a:pt x="94400" y="130118"/>
                </a:lnTo>
                <a:cubicBezTo>
                  <a:pt x="98641" y="130118"/>
                  <a:pt x="102054" y="126706"/>
                  <a:pt x="102054" y="122464"/>
                </a:cubicBezTo>
                <a:cubicBezTo>
                  <a:pt x="102054" y="118223"/>
                  <a:pt x="98641" y="114810"/>
                  <a:pt x="94400" y="114810"/>
                </a:cubicBezTo>
                <a:lnTo>
                  <a:pt x="58681" y="114810"/>
                </a:lnTo>
                <a:cubicBezTo>
                  <a:pt x="54439" y="114810"/>
                  <a:pt x="51027" y="118223"/>
                  <a:pt x="51027" y="122464"/>
                </a:cubicBezTo>
                <a:close/>
                <a:moveTo>
                  <a:pt x="30616" y="132670"/>
                </a:moveTo>
                <a:cubicBezTo>
                  <a:pt x="36249" y="132670"/>
                  <a:pt x="40821" y="128097"/>
                  <a:pt x="40821" y="122464"/>
                </a:cubicBezTo>
                <a:cubicBezTo>
                  <a:pt x="40821" y="116832"/>
                  <a:pt x="36249" y="112259"/>
                  <a:pt x="30616" y="112259"/>
                </a:cubicBezTo>
                <a:cubicBezTo>
                  <a:pt x="24984" y="112259"/>
                  <a:pt x="20411" y="116832"/>
                  <a:pt x="20411" y="122464"/>
                </a:cubicBezTo>
                <a:cubicBezTo>
                  <a:pt x="20411" y="128097"/>
                  <a:pt x="24984" y="132670"/>
                  <a:pt x="30616" y="13267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52" name="Text 50"/>
          <p:cNvSpPr/>
          <p:nvPr/>
        </p:nvSpPr>
        <p:spPr>
          <a:xfrm>
            <a:off x="7669042" y="5297714"/>
            <a:ext cx="4100286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5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60400" y="5624286"/>
            <a:ext cx="4299857" cy="2177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5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实操演练:体检表分析应用(10分)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914400" cy="3048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9630" y="419100"/>
            <a:ext cx="2695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COMPREHENSIVE ASSESSMENT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综合考核与上岗通关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" y="1504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6"/>
          <p:cNvSpPr/>
          <p:nvPr/>
        </p:nvSpPr>
        <p:spPr>
          <a:xfrm>
            <a:off x="971550" y="1485900"/>
            <a:ext cx="2047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10天培训核心要点回顾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8669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1-2: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角色认知与店长画像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0950" y="18669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3-4: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岗位职责与工作流程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1717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5: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销售管理与数据分析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0950" y="21717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6: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控场管理技巧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4765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7: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会议管理与日志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0950" y="24765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8: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员工带教体系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7813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9: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运营标准化工具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90950" y="278130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Day 10: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综合考核通关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3352800"/>
            <a:ext cx="6743700" cy="1905000"/>
          </a:xfrm>
          <a:custGeom>
            <a:avLst/>
            <a:gdLst/>
            <a:ahLst/>
            <a:cxnLst/>
            <a:rect l="l" t="t" r="r" b="b"/>
            <a:pathLst>
              <a:path w="6743700" h="1905000">
                <a:moveTo>
                  <a:pt x="114300" y="0"/>
                </a:moveTo>
                <a:lnTo>
                  <a:pt x="6629400" y="0"/>
                </a:lnTo>
                <a:cubicBezTo>
                  <a:pt x="6692484" y="0"/>
                  <a:pt x="6743700" y="51216"/>
                  <a:pt x="6743700" y="114300"/>
                </a:cubicBezTo>
                <a:lnTo>
                  <a:pt x="6743700" y="1790700"/>
                </a:lnTo>
                <a:cubicBezTo>
                  <a:pt x="6743700" y="1853784"/>
                  <a:pt x="6692484" y="1905000"/>
                  <a:pt x="66294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363" y="35623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19" name="Text 17"/>
          <p:cNvSpPr/>
          <p:nvPr/>
        </p:nvSpPr>
        <p:spPr>
          <a:xfrm>
            <a:off x="971550" y="354330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上岗考核标准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39243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理论考试: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≥70分合格,≥90分优秀(满分100分)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" y="42291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实操考核: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≥70分合格(满分100分)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45339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综合评估: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工作态度、学习能力、团队协作达标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838700"/>
            <a:ext cx="6438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上岗资格:</a:t>
            </a: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理论与实操均合格方可上岗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0" y="12954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25" name="Shape 23"/>
          <p:cNvSpPr/>
          <p:nvPr/>
        </p:nvSpPr>
        <p:spPr>
          <a:xfrm>
            <a:off x="7508081" y="1533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6" name="Text 24"/>
          <p:cNvSpPr/>
          <p:nvPr/>
        </p:nvSpPr>
        <p:spPr>
          <a:xfrm>
            <a:off x="7724775" y="14859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讲师要点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24750" y="1905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28" name="Text 26"/>
          <p:cNvSpPr/>
          <p:nvPr/>
        </p:nvSpPr>
        <p:spPr>
          <a:xfrm>
            <a:off x="7772400" y="18669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系统回顾核心要点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24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0" name="Text 28"/>
          <p:cNvSpPr/>
          <p:nvPr/>
        </p:nvSpPr>
        <p:spPr>
          <a:xfrm>
            <a:off x="7772400" y="21717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明确考核标准流程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475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2" name="Text 30"/>
          <p:cNvSpPr/>
          <p:nvPr/>
        </p:nvSpPr>
        <p:spPr>
          <a:xfrm>
            <a:off x="7772400" y="2476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进行考前辅导答疑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24750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34" name="Text 32"/>
          <p:cNvSpPr/>
          <p:nvPr/>
        </p:nvSpPr>
        <p:spPr>
          <a:xfrm>
            <a:off x="7772400" y="2781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鼓舞学员信心士气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15200" y="3352800"/>
            <a:ext cx="4495800" cy="1905000"/>
          </a:xfrm>
          <a:custGeom>
            <a:avLst/>
            <a:gdLst/>
            <a:ahLst/>
            <a:cxnLst/>
            <a:rect l="l" t="t" r="r" b="b"/>
            <a:pathLst>
              <a:path w="4495800" h="1905000">
                <a:moveTo>
                  <a:pt x="114300" y="0"/>
                </a:moveTo>
                <a:lnTo>
                  <a:pt x="4381500" y="0"/>
                </a:lnTo>
                <a:cubicBezTo>
                  <a:pt x="4444584" y="0"/>
                  <a:pt x="4495800" y="51216"/>
                  <a:pt x="4495800" y="114300"/>
                </a:cubicBezTo>
                <a:lnTo>
                  <a:pt x="4495800" y="1790700"/>
                </a:lnTo>
                <a:cubicBezTo>
                  <a:pt x="4495800" y="1853784"/>
                  <a:pt x="4444584" y="1905000"/>
                  <a:pt x="4381500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0228" y="3590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37" name="Text 35"/>
          <p:cNvSpPr/>
          <p:nvPr/>
        </p:nvSpPr>
        <p:spPr>
          <a:xfrm>
            <a:off x="7724775" y="3543300"/>
            <a:ext cx="398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学员重点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05700" y="39243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19417" y="39243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系统复习知识点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05700" y="42291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9417" y="42291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明确考核要求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05700" y="45339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19417" y="45339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做好考前准备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05700" y="4838700"/>
            <a:ext cx="20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19417" y="4838700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建立必胜信心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315200" y="5410200"/>
            <a:ext cx="4495800" cy="876300"/>
          </a:xfrm>
          <a:custGeom>
            <a:avLst/>
            <a:gdLst/>
            <a:ahLst/>
            <a:cxnLst/>
            <a:rect l="l" t="t" r="r" b="b"/>
            <a:pathLst>
              <a:path w="4495800" h="876300">
                <a:moveTo>
                  <a:pt x="114296" y="0"/>
                </a:moveTo>
                <a:lnTo>
                  <a:pt x="4381504" y="0"/>
                </a:lnTo>
                <a:cubicBezTo>
                  <a:pt x="4444628" y="0"/>
                  <a:pt x="4495800" y="51172"/>
                  <a:pt x="4495800" y="114296"/>
                </a:cubicBezTo>
                <a:lnTo>
                  <a:pt x="4495800" y="762004"/>
                </a:lnTo>
                <a:cubicBezTo>
                  <a:pt x="4495800" y="825128"/>
                  <a:pt x="4444628" y="876300"/>
                  <a:pt x="4381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4A84B"/>
          </a:solidFill>
        </p:spPr>
      </p:sp>
      <p:sp>
        <p:nvSpPr>
          <p:cNvPr id="47" name="Shape 45"/>
          <p:cNvSpPr/>
          <p:nvPr/>
        </p:nvSpPr>
        <p:spPr>
          <a:xfrm>
            <a:off x="7512844" y="5610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42863" y="85725"/>
                </a:move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ubicBezTo>
                  <a:pt x="38061" y="96441"/>
                  <a:pt x="42863" y="91639"/>
                  <a:pt x="42863" y="85725"/>
                </a:cubicBezTo>
                <a:close/>
                <a:moveTo>
                  <a:pt x="53578" y="85725"/>
                </a:moveTo>
                <a:cubicBezTo>
                  <a:pt x="53578" y="90179"/>
                  <a:pt x="57161" y="93762"/>
                  <a:pt x="61615" y="93762"/>
                </a:cubicBezTo>
                <a:lnTo>
                  <a:pt x="99120" y="93762"/>
                </a:lnTo>
                <a:cubicBezTo>
                  <a:pt x="103573" y="93762"/>
                  <a:pt x="107156" y="90179"/>
                  <a:pt x="107156" y="85725"/>
                </a:cubicBezTo>
                <a:cubicBezTo>
                  <a:pt x="107156" y="81271"/>
                  <a:pt x="103573" y="77688"/>
                  <a:pt x="99120" y="77688"/>
                </a:cubicBezTo>
                <a:lnTo>
                  <a:pt x="61615" y="77688"/>
                </a:lnTo>
                <a:cubicBezTo>
                  <a:pt x="57161" y="77688"/>
                  <a:pt x="53578" y="81271"/>
                  <a:pt x="53578" y="85725"/>
                </a:cubicBezTo>
                <a:close/>
                <a:moveTo>
                  <a:pt x="53578" y="128588"/>
                </a:moveTo>
                <a:cubicBezTo>
                  <a:pt x="53578" y="133041"/>
                  <a:pt x="57161" y="136624"/>
                  <a:pt x="61615" y="136624"/>
                </a:cubicBezTo>
                <a:lnTo>
                  <a:pt x="99120" y="136624"/>
                </a:lnTo>
                <a:cubicBezTo>
                  <a:pt x="103573" y="136624"/>
                  <a:pt x="107156" y="133041"/>
                  <a:pt x="107156" y="128588"/>
                </a:cubicBezTo>
                <a:cubicBezTo>
                  <a:pt x="107156" y="124134"/>
                  <a:pt x="103573" y="120551"/>
                  <a:pt x="99120" y="120551"/>
                </a:cubicBezTo>
                <a:lnTo>
                  <a:pt x="61615" y="120551"/>
                </a:lnTo>
                <a:cubicBezTo>
                  <a:pt x="57161" y="120551"/>
                  <a:pt x="53578" y="124134"/>
                  <a:pt x="53578" y="128588"/>
                </a:cubicBezTo>
                <a:close/>
                <a:moveTo>
                  <a:pt x="32147" y="139303"/>
                </a:moveTo>
                <a:cubicBezTo>
                  <a:pt x="38061" y="139303"/>
                  <a:pt x="42863" y="134502"/>
                  <a:pt x="42863" y="128588"/>
                </a:cubicBezTo>
                <a:cubicBezTo>
                  <a:pt x="42863" y="122673"/>
                  <a:pt x="38061" y="117872"/>
                  <a:pt x="32147" y="117872"/>
                </a:cubicBezTo>
                <a:cubicBezTo>
                  <a:pt x="26233" y="117872"/>
                  <a:pt x="21431" y="122673"/>
                  <a:pt x="21431" y="128588"/>
                </a:cubicBezTo>
                <a:cubicBezTo>
                  <a:pt x="21431" y="134502"/>
                  <a:pt x="26233" y="139303"/>
                  <a:pt x="32147" y="139303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48" name="Text 46"/>
          <p:cNvSpPr/>
          <p:nvPr/>
        </p:nvSpPr>
        <p:spPr>
          <a:xfrm>
            <a:off x="7686675" y="5562600"/>
            <a:ext cx="4057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考核要点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67600" y="5905500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综合考核:理论+实操+评估(100分)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6761175-5973dc0f32e7?w=1280&amp;h=720&amp;fit=crop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D3D3D">
                  <a:alpha val="95000"/>
                </a:srgbClr>
              </a:gs>
              <a:gs pos="50000">
                <a:srgbClr val="3D3D3D">
                  <a:alpha val="90000"/>
                </a:srgbClr>
              </a:gs>
              <a:gs pos="100000">
                <a:srgbClr val="D4A84B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651" y="5619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D4A84B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67251" y="790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3D3D3D"/>
          </a:solidFill>
        </p:spPr>
      </p:sp>
      <p:sp>
        <p:nvSpPr>
          <p:cNvPr id="6" name="Text 3"/>
          <p:cNvSpPr/>
          <p:nvPr/>
        </p:nvSpPr>
        <p:spPr>
          <a:xfrm>
            <a:off x="4391323" y="1704975"/>
            <a:ext cx="34099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AFA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从优秀员工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到卓越店长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251" y="32861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84B"/>
          </a:solidFill>
        </p:spPr>
      </p:sp>
      <p:sp>
        <p:nvSpPr>
          <p:cNvPr id="8" name="Text 5"/>
          <p:cNvSpPr/>
          <p:nvPr/>
        </p:nvSpPr>
        <p:spPr>
          <a:xfrm>
            <a:off x="4477048" y="3552825"/>
            <a:ext cx="3238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AFAFA">
                    <a:alpha val="9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专业典范 · 追求卓越 · 持续超越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98019" y="4162425"/>
            <a:ext cx="1733550" cy="1257300"/>
          </a:xfrm>
          <a:custGeom>
            <a:avLst/>
            <a:gdLst/>
            <a:ahLst/>
            <a:cxnLst/>
            <a:rect l="l" t="t" r="r" b="b"/>
            <a:pathLst>
              <a:path w="1733550" h="1257300">
                <a:moveTo>
                  <a:pt x="114301" y="0"/>
                </a:moveTo>
                <a:lnTo>
                  <a:pt x="1619249" y="0"/>
                </a:lnTo>
                <a:cubicBezTo>
                  <a:pt x="1682333" y="0"/>
                  <a:pt x="1733550" y="51217"/>
                  <a:pt x="1733550" y="114301"/>
                </a:cubicBezTo>
                <a:lnTo>
                  <a:pt x="1733550" y="1142999"/>
                </a:lnTo>
                <a:cubicBezTo>
                  <a:pt x="1733550" y="1206083"/>
                  <a:pt x="1682333" y="1257300"/>
                  <a:pt x="16192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3312319" y="4391025"/>
            <a:ext cx="1504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83756" y="4924425"/>
            <a:ext cx="136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AFAF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系统化培训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31606" y="4162425"/>
            <a:ext cx="1733550" cy="1257300"/>
          </a:xfrm>
          <a:custGeom>
            <a:avLst/>
            <a:gdLst/>
            <a:ahLst/>
            <a:cxnLst/>
            <a:rect l="l" t="t" r="r" b="b"/>
            <a:pathLst>
              <a:path w="1733550" h="1257300">
                <a:moveTo>
                  <a:pt x="114301" y="0"/>
                </a:moveTo>
                <a:lnTo>
                  <a:pt x="1619249" y="0"/>
                </a:lnTo>
                <a:cubicBezTo>
                  <a:pt x="1682333" y="0"/>
                  <a:pt x="1733550" y="51217"/>
                  <a:pt x="1733550" y="114301"/>
                </a:cubicBezTo>
                <a:lnTo>
                  <a:pt x="1733550" y="1142999"/>
                </a:lnTo>
                <a:cubicBezTo>
                  <a:pt x="1733550" y="1206083"/>
                  <a:pt x="1682333" y="1257300"/>
                  <a:pt x="16192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5345906" y="4391025"/>
            <a:ext cx="1504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17344" y="4924425"/>
            <a:ext cx="136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AFAF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标准化运营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65194" y="4162425"/>
            <a:ext cx="1733550" cy="1257300"/>
          </a:xfrm>
          <a:custGeom>
            <a:avLst/>
            <a:gdLst/>
            <a:ahLst/>
            <a:cxnLst/>
            <a:rect l="l" t="t" r="r" b="b"/>
            <a:pathLst>
              <a:path w="1733550" h="1257300">
                <a:moveTo>
                  <a:pt x="114301" y="0"/>
                </a:moveTo>
                <a:lnTo>
                  <a:pt x="1619249" y="0"/>
                </a:lnTo>
                <a:cubicBezTo>
                  <a:pt x="1682333" y="0"/>
                  <a:pt x="1733550" y="51217"/>
                  <a:pt x="1733550" y="114301"/>
                </a:cubicBezTo>
                <a:lnTo>
                  <a:pt x="1733550" y="1142999"/>
                </a:lnTo>
                <a:cubicBezTo>
                  <a:pt x="1733550" y="1206083"/>
                  <a:pt x="1682333" y="1257300"/>
                  <a:pt x="1619249" y="1257300"/>
                </a:cubicBezTo>
                <a:lnTo>
                  <a:pt x="114301" y="1257300"/>
                </a:lnTo>
                <a:cubicBezTo>
                  <a:pt x="51217" y="1257300"/>
                  <a:pt x="0" y="1206083"/>
                  <a:pt x="0" y="114299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7379494" y="4391025"/>
            <a:ext cx="1504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4A84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∞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50931" y="4924425"/>
            <a:ext cx="136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AFAF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持续成长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15110" y="5724525"/>
            <a:ext cx="3762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AFAFA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凯施迪时尚服饰零售培训体系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19873" y="6067425"/>
            <a:ext cx="3752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AFAFA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Professional Excellence · Continuous Improvement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10551</Words>
  <Application>WPS 演示</Application>
  <PresentationFormat>On-screen Show (16:9)</PresentationFormat>
  <Paragraphs>1754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Noto Sans SC</vt:lpstr>
      <vt:lpstr>Noto Sans SC</vt:lpstr>
      <vt:lpstr>Quattrocento Sans</vt:lpstr>
      <vt:lpstr>Quattrocento Sans</vt:lpstr>
      <vt:lpstr>Quattrocento 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凯施迪新员工→合格店长 10天完整培训课件</dc:title>
  <dc:creator>Kimi</dc:creator>
  <dc:subject>凯施迪新员工→合格店长 10天完整培训课件</dc:subject>
  <cp:lastModifiedBy>黄坤平</cp:lastModifiedBy>
  <cp:revision>2</cp:revision>
  <dcterms:created xsi:type="dcterms:W3CDTF">2026-04-16T09:49:00Z</dcterms:created>
  <dcterms:modified xsi:type="dcterms:W3CDTF">2026-04-16T09:50:44Z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{"Label":"凯施迪新员工→合格店长 10天完整培训课件","ContentProducer":"001191110108MACG2KBH8F10000","ProduceID":"19d945b5-9832-80ea-8000-0000e15e0ed6","ReservedCode1":"","ContentPropagator":"001191110108MACG2KBH8F20000","PropagateID":"19d945b5-9832-80ea-8000-0000e15e0ed6","ReservedCode2":""}</vt:lpwstr>
  </property>
  <property fmtid="{D5CDD505-2E9C-101B-9397-08002B2CF9AE}" pid="3" name="ICV">
    <vt:lpwstr>83C09214093A4ACF8C4256E25133CE68_13</vt:lpwstr>
  </property>
  <property fmtid="{D5CDD505-2E9C-101B-9397-08002B2CF9AE}" pid="4" name="KSOProductBuildVer">
    <vt:lpwstr>2052-12.1.0.24657</vt:lpwstr>
  </property>
</Properties>
</file>