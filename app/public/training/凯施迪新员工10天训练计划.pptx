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88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</p:sldIdLst>
  <p:sldSz cx="12192000" cy="6858000"/>
  <p:notesSz cx="6858000" cy="12192000"/>
  <p:embeddedFontLst>
    <p:embeddedFont>
      <p:font typeface="Noto Sans SC" panose="020B0200000000000000" pitchFamily="34" charset="-122"/>
      <p:regular r:id="rId40"/>
    </p:embeddedFont>
    <p:embeddedFont>
      <p:font typeface="Noto Sans SC" panose="020B0200000000000000" pitchFamily="34" charset="-120"/>
      <p:regular r:id="rId41"/>
    </p:embeddedFont>
    <p:embeddedFont>
      <p:font typeface="微软雅黑" panose="020B0503020204020204" pitchFamily="34" charset="-122"/>
      <p:regular r:id="rId42"/>
    </p:embeddedFont>
    <p:embeddedFont>
      <p:font typeface="微软雅黑" panose="020B0503020204020204" pitchFamily="34" charset="-120"/>
      <p:regular r:id="rId43"/>
    </p:embeddedFont>
    <p:embeddedFont>
      <p:font typeface="Calibri" panose="020F0502020204030204" charset="0"/>
      <p:regular r:id="rId44"/>
      <p:bold r:id="rId45"/>
      <p:italic r:id="rId46"/>
      <p:boldItalic r:id="rId4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7" Type="http://schemas.openxmlformats.org/officeDocument/2006/relationships/font" Target="fonts/font8.fntdata"/><Relationship Id="rId46" Type="http://schemas.openxmlformats.org/officeDocument/2006/relationships/font" Target="fonts/font7.fntdata"/><Relationship Id="rId45" Type="http://schemas.openxmlformats.org/officeDocument/2006/relationships/font" Target="fonts/font6.fntdata"/><Relationship Id="rId44" Type="http://schemas.openxmlformats.org/officeDocument/2006/relationships/font" Target="fonts/font5.fntdata"/><Relationship Id="rId43" Type="http://schemas.openxmlformats.org/officeDocument/2006/relationships/font" Target="fonts/font4.fntdata"/><Relationship Id="rId42" Type="http://schemas.openxmlformats.org/officeDocument/2006/relationships/font" Target="fonts/font3.fntdata"/><Relationship Id="rId41" Type="http://schemas.openxmlformats.org/officeDocument/2006/relationships/font" Target="fonts/font2.fntdata"/><Relationship Id="rId40" Type="http://schemas.openxmlformats.org/officeDocument/2006/relationships/font" Target="fonts/font1.fntdata"/><Relationship Id="rId4" Type="http://schemas.openxmlformats.org/officeDocument/2006/relationships/notesMaster" Target="notesMasters/notesMaster1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学会FABG法则，是成为专业销售顾问的关键一步。它教我们如何将产品的特性，转化为顾客能感知到的利益。FABG不仅仅是话术，更是一种思维方式，帮助我们从顾客的角度出发，介绍产品。接下来的练习中，我们将重点实践这个法则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0" Type="http://schemas.openxmlformats.org/officeDocument/2006/relationships/notesSlide" Target="../notesSlides/notesSlide12.xml"/><Relationship Id="rId3" Type="http://schemas.openxmlformats.org/officeDocument/2006/relationships/tags" Target="../tags/tag3.xml"/><Relationship Id="rId29" Type="http://schemas.openxmlformats.org/officeDocument/2006/relationships/slideLayout" Target="../slideLayouts/slideLayout3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yyasw4ib73lsu/training_cover.jpg"/>
          <p:cNvPicPr>
            <a:picLocks noChangeAspect="1"/>
          </p:cNvPicPr>
          <p:nvPr/>
        </p:nvPicPr>
        <p:blipFill>
          <a:blip r:embed="rId1"/>
          <a:srcRect t="781" b="781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A4F41">
                  <a:alpha val="95000"/>
                </a:srgbClr>
              </a:gs>
              <a:gs pos="50000">
                <a:srgbClr val="3A4F41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</p:spPr>
      </p:sp>
      <p:sp>
        <p:nvSpPr>
          <p:cNvPr id="4" name="Text 1"/>
          <p:cNvSpPr/>
          <p:nvPr/>
        </p:nvSpPr>
        <p:spPr>
          <a:xfrm>
            <a:off x="381000" y="1520230"/>
            <a:ext cx="4229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360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ONBOARDING TRAINING PROGRAM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1901230"/>
            <a:ext cx="4495800" cy="16478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8F7F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凯施迪新员工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8F7F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10天训练计划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1000" y="377567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7" name="Text 4"/>
          <p:cNvSpPr/>
          <p:nvPr/>
        </p:nvSpPr>
        <p:spPr>
          <a:xfrm>
            <a:off x="381000" y="4118570"/>
            <a:ext cx="4267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8F7F5">
                    <a:alpha val="9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系统化入职培训 · 助力职业成长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88057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47A5A">
              <a:alpha val="20000"/>
            </a:srgbClr>
          </a:solidFill>
        </p:spPr>
      </p:sp>
      <p:sp>
        <p:nvSpPr>
          <p:cNvPr id="9" name="Shape 6"/>
          <p:cNvSpPr/>
          <p:nvPr/>
        </p:nvSpPr>
        <p:spPr>
          <a:xfrm>
            <a:off x="526256" y="5013921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54211" y="0"/>
                  <a:pt x="59531" y="5321"/>
                  <a:pt x="59531" y="11906"/>
                </a:cubicBezTo>
                <a:lnTo>
                  <a:pt x="59531" y="23812"/>
                </a:lnTo>
                <a:lnTo>
                  <a:pt x="107156" y="23812"/>
                </a:lnTo>
                <a:lnTo>
                  <a:pt x="107156" y="11906"/>
                </a:lnTo>
                <a:cubicBezTo>
                  <a:pt x="107156" y="5321"/>
                  <a:pt x="112477" y="0"/>
                  <a:pt x="119063" y="0"/>
                </a:cubicBezTo>
                <a:cubicBezTo>
                  <a:pt x="125648" y="0"/>
                  <a:pt x="130969" y="5321"/>
                  <a:pt x="130969" y="11906"/>
                </a:cubicBezTo>
                <a:lnTo>
                  <a:pt x="130969" y="23812"/>
                </a:lnTo>
                <a:lnTo>
                  <a:pt x="142875" y="23812"/>
                </a:lnTo>
                <a:cubicBezTo>
                  <a:pt x="156009" y="23812"/>
                  <a:pt x="166688" y="34491"/>
                  <a:pt x="166688" y="4762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47625"/>
                </a:lnTo>
                <a:cubicBezTo>
                  <a:pt x="0" y="34491"/>
                  <a:pt x="10678" y="23812"/>
                  <a:pt x="23812" y="23812"/>
                </a:cubicBezTo>
                <a:lnTo>
                  <a:pt x="35719" y="23812"/>
                </a:lnTo>
                <a:lnTo>
                  <a:pt x="35719" y="11906"/>
                </a:lnTo>
                <a:cubicBezTo>
                  <a:pt x="35719" y="5321"/>
                  <a:pt x="41039" y="0"/>
                  <a:pt x="47625" y="0"/>
                </a:cubicBezTo>
                <a:close/>
                <a:moveTo>
                  <a:pt x="23812" y="89297"/>
                </a:moveTo>
                <a:lnTo>
                  <a:pt x="23812" y="101203"/>
                </a:lnTo>
                <a:cubicBezTo>
                  <a:pt x="23812" y="104477"/>
                  <a:pt x="26491" y="107156"/>
                  <a:pt x="29766" y="107156"/>
                </a:cubicBezTo>
                <a:lnTo>
                  <a:pt x="41672" y="107156"/>
                </a:lnTo>
                <a:cubicBezTo>
                  <a:pt x="44946" y="107156"/>
                  <a:pt x="47625" y="104477"/>
                  <a:pt x="47625" y="101203"/>
                </a:cubicBezTo>
                <a:lnTo>
                  <a:pt x="47625" y="89297"/>
                </a:lnTo>
                <a:cubicBezTo>
                  <a:pt x="47625" y="86023"/>
                  <a:pt x="44946" y="83344"/>
                  <a:pt x="41672" y="83344"/>
                </a:cubicBezTo>
                <a:lnTo>
                  <a:pt x="29766" y="83344"/>
                </a:lnTo>
                <a:cubicBezTo>
                  <a:pt x="26491" y="83344"/>
                  <a:pt x="23812" y="86023"/>
                  <a:pt x="23812" y="89297"/>
                </a:cubicBezTo>
                <a:close/>
                <a:moveTo>
                  <a:pt x="71438" y="89297"/>
                </a:moveTo>
                <a:lnTo>
                  <a:pt x="71438" y="101203"/>
                </a:lnTo>
                <a:cubicBezTo>
                  <a:pt x="71438" y="104477"/>
                  <a:pt x="74116" y="107156"/>
                  <a:pt x="77391" y="107156"/>
                </a:cubicBezTo>
                <a:lnTo>
                  <a:pt x="89297" y="107156"/>
                </a:lnTo>
                <a:cubicBezTo>
                  <a:pt x="92571" y="107156"/>
                  <a:pt x="95250" y="104477"/>
                  <a:pt x="95250" y="101203"/>
                </a:cubicBezTo>
                <a:lnTo>
                  <a:pt x="95250" y="89297"/>
                </a:lnTo>
                <a:cubicBezTo>
                  <a:pt x="95250" y="86023"/>
                  <a:pt x="92571" y="83344"/>
                  <a:pt x="89297" y="83344"/>
                </a:cubicBezTo>
                <a:lnTo>
                  <a:pt x="77391" y="83344"/>
                </a:lnTo>
                <a:cubicBezTo>
                  <a:pt x="74116" y="83344"/>
                  <a:pt x="71438" y="86023"/>
                  <a:pt x="71438" y="89297"/>
                </a:cubicBezTo>
                <a:close/>
                <a:moveTo>
                  <a:pt x="125016" y="83344"/>
                </a:moveTo>
                <a:cubicBezTo>
                  <a:pt x="121741" y="83344"/>
                  <a:pt x="119063" y="86023"/>
                  <a:pt x="119063" y="89297"/>
                </a:cubicBezTo>
                <a:lnTo>
                  <a:pt x="119063" y="101203"/>
                </a:lnTo>
                <a:cubicBezTo>
                  <a:pt x="119063" y="104477"/>
                  <a:pt x="121741" y="107156"/>
                  <a:pt x="125016" y="107156"/>
                </a:cubicBezTo>
                <a:lnTo>
                  <a:pt x="136922" y="107156"/>
                </a:lnTo>
                <a:cubicBezTo>
                  <a:pt x="140196" y="107156"/>
                  <a:pt x="142875" y="104477"/>
                  <a:pt x="142875" y="101203"/>
                </a:cubicBezTo>
                <a:lnTo>
                  <a:pt x="142875" y="89297"/>
                </a:lnTo>
                <a:cubicBezTo>
                  <a:pt x="142875" y="86023"/>
                  <a:pt x="140196" y="83344"/>
                  <a:pt x="136922" y="83344"/>
                </a:cubicBezTo>
                <a:lnTo>
                  <a:pt x="125016" y="83344"/>
                </a:lnTo>
                <a:close/>
                <a:moveTo>
                  <a:pt x="23812" y="136922"/>
                </a:move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41672" y="154781"/>
                </a:lnTo>
                <a:cubicBezTo>
                  <a:pt x="44946" y="154781"/>
                  <a:pt x="47625" y="152102"/>
                  <a:pt x="47625" y="148828"/>
                </a:cubicBezTo>
                <a:lnTo>
                  <a:pt x="47625" y="136922"/>
                </a:lnTo>
                <a:cubicBezTo>
                  <a:pt x="47625" y="133648"/>
                  <a:pt x="44946" y="130969"/>
                  <a:pt x="41672" y="130969"/>
                </a:cubicBezTo>
                <a:lnTo>
                  <a:pt x="29766" y="130969"/>
                </a:lnTo>
                <a:cubicBezTo>
                  <a:pt x="26491" y="130969"/>
                  <a:pt x="23812" y="133648"/>
                  <a:pt x="23812" y="136922"/>
                </a:cubicBezTo>
                <a:close/>
                <a:moveTo>
                  <a:pt x="77391" y="130969"/>
                </a:moveTo>
                <a:cubicBezTo>
                  <a:pt x="74116" y="130969"/>
                  <a:pt x="71438" y="133648"/>
                  <a:pt x="71438" y="136922"/>
                </a:cubicBezTo>
                <a:lnTo>
                  <a:pt x="71438" y="148828"/>
                </a:lnTo>
                <a:cubicBezTo>
                  <a:pt x="71438" y="152102"/>
                  <a:pt x="74116" y="154781"/>
                  <a:pt x="77391" y="154781"/>
                </a:cubicBezTo>
                <a:lnTo>
                  <a:pt x="89297" y="154781"/>
                </a:lnTo>
                <a:cubicBezTo>
                  <a:pt x="92571" y="154781"/>
                  <a:pt x="95250" y="152102"/>
                  <a:pt x="95250" y="148828"/>
                </a:cubicBezTo>
                <a:lnTo>
                  <a:pt x="95250" y="136922"/>
                </a:lnTo>
                <a:cubicBezTo>
                  <a:pt x="95250" y="133648"/>
                  <a:pt x="92571" y="130969"/>
                  <a:pt x="89297" y="130969"/>
                </a:cubicBezTo>
                <a:lnTo>
                  <a:pt x="77391" y="130969"/>
                </a:lnTo>
                <a:close/>
                <a:moveTo>
                  <a:pt x="119063" y="136922"/>
                </a:moveTo>
                <a:lnTo>
                  <a:pt x="119063" y="148828"/>
                </a:lnTo>
                <a:cubicBezTo>
                  <a:pt x="119063" y="152102"/>
                  <a:pt x="121741" y="154781"/>
                  <a:pt x="125016" y="154781"/>
                </a:cubicBezTo>
                <a:lnTo>
                  <a:pt x="136922" y="154781"/>
                </a:lnTo>
                <a:cubicBezTo>
                  <a:pt x="140196" y="154781"/>
                  <a:pt x="142875" y="152102"/>
                  <a:pt x="142875" y="148828"/>
                </a:cubicBezTo>
                <a:lnTo>
                  <a:pt x="142875" y="136922"/>
                </a:lnTo>
                <a:cubicBezTo>
                  <a:pt x="142875" y="133648"/>
                  <a:pt x="140196" y="130969"/>
                  <a:pt x="136922" y="130969"/>
                </a:cubicBezTo>
                <a:lnTo>
                  <a:pt x="125016" y="130969"/>
                </a:lnTo>
                <a:cubicBezTo>
                  <a:pt x="121741" y="130969"/>
                  <a:pt x="119063" y="133648"/>
                  <a:pt x="119063" y="136922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10" name="Text 7"/>
          <p:cNvSpPr/>
          <p:nvPr/>
        </p:nvSpPr>
        <p:spPr>
          <a:xfrm>
            <a:off x="952500" y="4880571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7F5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培训周期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52500" y="5071071"/>
            <a:ext cx="619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7F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10天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790700" y="488057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47A5A">
              <a:alpha val="20000"/>
            </a:srgbClr>
          </a:solidFill>
        </p:spPr>
      </p:sp>
      <p:sp>
        <p:nvSpPr>
          <p:cNvPr id="13" name="Shape 10"/>
          <p:cNvSpPr/>
          <p:nvPr/>
        </p:nvSpPr>
        <p:spPr>
          <a:xfrm>
            <a:off x="1900238" y="5013921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14" name="Text 11"/>
          <p:cNvSpPr/>
          <p:nvPr/>
        </p:nvSpPr>
        <p:spPr>
          <a:xfrm>
            <a:off x="2362200" y="4880571"/>
            <a:ext cx="9239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7F5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培训对象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362200" y="5071071"/>
            <a:ext cx="9429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7F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新入职员工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10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TRAINING SCHEDULE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培训日程总览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409700"/>
            <a:ext cx="3667125" cy="1562100"/>
          </a:xfrm>
          <a:custGeom>
            <a:avLst/>
            <a:gdLst/>
            <a:ahLst/>
            <a:cxnLst/>
            <a:rect l="l" t="t" r="r" b="b"/>
            <a:pathLst>
              <a:path w="3667125" h="1562100">
                <a:moveTo>
                  <a:pt x="38100" y="0"/>
                </a:moveTo>
                <a:lnTo>
                  <a:pt x="3552826" y="0"/>
                </a:lnTo>
                <a:cubicBezTo>
                  <a:pt x="3615952" y="0"/>
                  <a:pt x="3667125" y="51173"/>
                  <a:pt x="3667125" y="114299"/>
                </a:cubicBezTo>
                <a:lnTo>
                  <a:pt x="3667125" y="1447801"/>
                </a:lnTo>
                <a:cubicBezTo>
                  <a:pt x="3667125" y="1510927"/>
                  <a:pt x="3615952" y="1562100"/>
                  <a:pt x="3552826" y="1562100"/>
                </a:cubicBezTo>
                <a:lnTo>
                  <a:pt x="38100" y="1562100"/>
                </a:lnTo>
                <a:cubicBezTo>
                  <a:pt x="17072" y="1562100"/>
                  <a:pt x="0" y="1545028"/>
                  <a:pt x="0" y="1524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" name="Shape 3"/>
          <p:cNvSpPr/>
          <p:nvPr/>
        </p:nvSpPr>
        <p:spPr>
          <a:xfrm>
            <a:off x="400050" y="1409700"/>
            <a:ext cx="38100" cy="1562100"/>
          </a:xfrm>
          <a:custGeom>
            <a:avLst/>
            <a:gdLst/>
            <a:ahLst/>
            <a:cxnLst/>
            <a:rect l="l" t="t" r="r" b="b"/>
            <a:pathLst>
              <a:path w="38100" h="1562100">
                <a:moveTo>
                  <a:pt x="38100" y="0"/>
                </a:moveTo>
                <a:lnTo>
                  <a:pt x="38100" y="0"/>
                </a:lnTo>
                <a:lnTo>
                  <a:pt x="38100" y="1562100"/>
                </a:lnTo>
                <a:lnTo>
                  <a:pt x="38100" y="1562100"/>
                </a:lnTo>
                <a:cubicBezTo>
                  <a:pt x="17072" y="1562100"/>
                  <a:pt x="0" y="1545028"/>
                  <a:pt x="0" y="1524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6" name="Shape 4"/>
          <p:cNvSpPr/>
          <p:nvPr/>
        </p:nvSpPr>
        <p:spPr>
          <a:xfrm>
            <a:off x="647700" y="17430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7" name="Text 5"/>
          <p:cNvSpPr/>
          <p:nvPr/>
        </p:nvSpPr>
        <p:spPr>
          <a:xfrm>
            <a:off x="590550" y="1743075"/>
            <a:ext cx="647700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33500" y="1876425"/>
            <a:ext cx="1809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企业文化与品牌认知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7700" y="2390775"/>
            <a:ext cx="3267075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品牌历史、产品线、服务礼仪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73550" y="1409700"/>
            <a:ext cx="3667125" cy="1562100"/>
          </a:xfrm>
          <a:custGeom>
            <a:avLst/>
            <a:gdLst/>
            <a:ahLst/>
            <a:cxnLst/>
            <a:rect l="l" t="t" r="r" b="b"/>
            <a:pathLst>
              <a:path w="3667125" h="1562100">
                <a:moveTo>
                  <a:pt x="38100" y="0"/>
                </a:moveTo>
                <a:lnTo>
                  <a:pt x="3552826" y="0"/>
                </a:lnTo>
                <a:cubicBezTo>
                  <a:pt x="3615952" y="0"/>
                  <a:pt x="3667125" y="51173"/>
                  <a:pt x="3667125" y="114299"/>
                </a:cubicBezTo>
                <a:lnTo>
                  <a:pt x="3667125" y="1447801"/>
                </a:lnTo>
                <a:cubicBezTo>
                  <a:pt x="3667125" y="1510927"/>
                  <a:pt x="3615952" y="1562100"/>
                  <a:pt x="3552826" y="1562100"/>
                </a:cubicBezTo>
                <a:lnTo>
                  <a:pt x="38100" y="1562100"/>
                </a:lnTo>
                <a:cubicBezTo>
                  <a:pt x="17072" y="1562100"/>
                  <a:pt x="0" y="1545028"/>
                  <a:pt x="0" y="1524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1" name="Shape 9"/>
          <p:cNvSpPr/>
          <p:nvPr/>
        </p:nvSpPr>
        <p:spPr>
          <a:xfrm>
            <a:off x="4273550" y="1409700"/>
            <a:ext cx="38100" cy="1562100"/>
          </a:xfrm>
          <a:custGeom>
            <a:avLst/>
            <a:gdLst/>
            <a:ahLst/>
            <a:cxnLst/>
            <a:rect l="l" t="t" r="r" b="b"/>
            <a:pathLst>
              <a:path w="38100" h="1562100">
                <a:moveTo>
                  <a:pt x="38100" y="0"/>
                </a:moveTo>
                <a:lnTo>
                  <a:pt x="38100" y="0"/>
                </a:lnTo>
                <a:lnTo>
                  <a:pt x="38100" y="1562100"/>
                </a:lnTo>
                <a:lnTo>
                  <a:pt x="38100" y="1562100"/>
                </a:lnTo>
                <a:cubicBezTo>
                  <a:pt x="17072" y="1562100"/>
                  <a:pt x="0" y="1545028"/>
                  <a:pt x="0" y="1524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12" name="Shape 10"/>
          <p:cNvSpPr/>
          <p:nvPr/>
        </p:nvSpPr>
        <p:spPr>
          <a:xfrm>
            <a:off x="4521200" y="17430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13" name="Text 11"/>
          <p:cNvSpPr/>
          <p:nvPr/>
        </p:nvSpPr>
        <p:spPr>
          <a:xfrm>
            <a:off x="4464050" y="1743075"/>
            <a:ext cx="647700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07000" y="1876425"/>
            <a:ext cx="1809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店铺运营与服务流程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21200" y="2390775"/>
            <a:ext cx="3267075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5S标准、服务流程8环节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47050" y="1409700"/>
            <a:ext cx="3667125" cy="1562100"/>
          </a:xfrm>
          <a:custGeom>
            <a:avLst/>
            <a:gdLst/>
            <a:ahLst/>
            <a:cxnLst/>
            <a:rect l="l" t="t" r="r" b="b"/>
            <a:pathLst>
              <a:path w="3667125" h="1562100">
                <a:moveTo>
                  <a:pt x="38100" y="0"/>
                </a:moveTo>
                <a:lnTo>
                  <a:pt x="3552826" y="0"/>
                </a:lnTo>
                <a:cubicBezTo>
                  <a:pt x="3615952" y="0"/>
                  <a:pt x="3667125" y="51173"/>
                  <a:pt x="3667125" y="114299"/>
                </a:cubicBezTo>
                <a:lnTo>
                  <a:pt x="3667125" y="1447801"/>
                </a:lnTo>
                <a:cubicBezTo>
                  <a:pt x="3667125" y="1510927"/>
                  <a:pt x="3615952" y="1562100"/>
                  <a:pt x="3552826" y="1562100"/>
                </a:cubicBezTo>
                <a:lnTo>
                  <a:pt x="38100" y="1562100"/>
                </a:lnTo>
                <a:cubicBezTo>
                  <a:pt x="17072" y="1562100"/>
                  <a:pt x="0" y="1545028"/>
                  <a:pt x="0" y="1524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7" name="Shape 15"/>
          <p:cNvSpPr/>
          <p:nvPr/>
        </p:nvSpPr>
        <p:spPr>
          <a:xfrm>
            <a:off x="8147050" y="1409700"/>
            <a:ext cx="38100" cy="1562100"/>
          </a:xfrm>
          <a:custGeom>
            <a:avLst/>
            <a:gdLst/>
            <a:ahLst/>
            <a:cxnLst/>
            <a:rect l="l" t="t" r="r" b="b"/>
            <a:pathLst>
              <a:path w="38100" h="1562100">
                <a:moveTo>
                  <a:pt x="38100" y="0"/>
                </a:moveTo>
                <a:lnTo>
                  <a:pt x="38100" y="0"/>
                </a:lnTo>
                <a:lnTo>
                  <a:pt x="38100" y="1562100"/>
                </a:lnTo>
                <a:lnTo>
                  <a:pt x="38100" y="1562100"/>
                </a:lnTo>
                <a:cubicBezTo>
                  <a:pt x="17072" y="1562100"/>
                  <a:pt x="0" y="1545028"/>
                  <a:pt x="0" y="1524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18" name="Shape 16"/>
          <p:cNvSpPr/>
          <p:nvPr/>
        </p:nvSpPr>
        <p:spPr>
          <a:xfrm>
            <a:off x="8394700" y="17430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19" name="Text 17"/>
          <p:cNvSpPr/>
          <p:nvPr/>
        </p:nvSpPr>
        <p:spPr>
          <a:xfrm>
            <a:off x="8337550" y="1743075"/>
            <a:ext cx="647700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080500" y="1876425"/>
            <a:ext cx="1809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陈列维护与产品销售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94700" y="2390775"/>
            <a:ext cx="3267075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陈列标准、FABE介绍法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00050" y="3162300"/>
            <a:ext cx="3667125" cy="1562100"/>
          </a:xfrm>
          <a:custGeom>
            <a:avLst/>
            <a:gdLst/>
            <a:ahLst/>
            <a:cxnLst/>
            <a:rect l="l" t="t" r="r" b="b"/>
            <a:pathLst>
              <a:path w="3667125" h="1562100">
                <a:moveTo>
                  <a:pt x="38100" y="0"/>
                </a:moveTo>
                <a:lnTo>
                  <a:pt x="3552826" y="0"/>
                </a:lnTo>
                <a:cubicBezTo>
                  <a:pt x="3615952" y="0"/>
                  <a:pt x="3667125" y="51173"/>
                  <a:pt x="3667125" y="114299"/>
                </a:cubicBezTo>
                <a:lnTo>
                  <a:pt x="3667125" y="1447801"/>
                </a:lnTo>
                <a:cubicBezTo>
                  <a:pt x="3667125" y="1510927"/>
                  <a:pt x="3615952" y="1562100"/>
                  <a:pt x="3552826" y="1562100"/>
                </a:cubicBezTo>
                <a:lnTo>
                  <a:pt x="38100" y="1562100"/>
                </a:lnTo>
                <a:cubicBezTo>
                  <a:pt x="17072" y="1562100"/>
                  <a:pt x="0" y="1545028"/>
                  <a:pt x="0" y="1524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3" name="Shape 21"/>
          <p:cNvSpPr/>
          <p:nvPr/>
        </p:nvSpPr>
        <p:spPr>
          <a:xfrm>
            <a:off x="400050" y="3162300"/>
            <a:ext cx="38100" cy="1562100"/>
          </a:xfrm>
          <a:custGeom>
            <a:avLst/>
            <a:gdLst/>
            <a:ahLst/>
            <a:cxnLst/>
            <a:rect l="l" t="t" r="r" b="b"/>
            <a:pathLst>
              <a:path w="38100" h="1562100">
                <a:moveTo>
                  <a:pt x="38100" y="0"/>
                </a:moveTo>
                <a:lnTo>
                  <a:pt x="38100" y="0"/>
                </a:lnTo>
                <a:lnTo>
                  <a:pt x="38100" y="1562100"/>
                </a:lnTo>
                <a:lnTo>
                  <a:pt x="38100" y="1562100"/>
                </a:lnTo>
                <a:cubicBezTo>
                  <a:pt x="17072" y="1562100"/>
                  <a:pt x="0" y="1545028"/>
                  <a:pt x="0" y="1524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24" name="Shape 22"/>
          <p:cNvSpPr/>
          <p:nvPr/>
        </p:nvSpPr>
        <p:spPr>
          <a:xfrm>
            <a:off x="647700" y="34956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25" name="Text 23"/>
          <p:cNvSpPr/>
          <p:nvPr/>
        </p:nvSpPr>
        <p:spPr>
          <a:xfrm>
            <a:off x="590550" y="3495675"/>
            <a:ext cx="647700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33500" y="3629025"/>
            <a:ext cx="1809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会员管理与客情服务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7700" y="4143375"/>
            <a:ext cx="3267075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会员卡管理、客诉处理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273550" y="3162300"/>
            <a:ext cx="3667125" cy="1562100"/>
          </a:xfrm>
          <a:custGeom>
            <a:avLst/>
            <a:gdLst/>
            <a:ahLst/>
            <a:cxnLst/>
            <a:rect l="l" t="t" r="r" b="b"/>
            <a:pathLst>
              <a:path w="3667125" h="1562100">
                <a:moveTo>
                  <a:pt x="38100" y="0"/>
                </a:moveTo>
                <a:lnTo>
                  <a:pt x="3552826" y="0"/>
                </a:lnTo>
                <a:cubicBezTo>
                  <a:pt x="3615952" y="0"/>
                  <a:pt x="3667125" y="51173"/>
                  <a:pt x="3667125" y="114299"/>
                </a:cubicBezTo>
                <a:lnTo>
                  <a:pt x="3667125" y="1447801"/>
                </a:lnTo>
                <a:cubicBezTo>
                  <a:pt x="3667125" y="1510927"/>
                  <a:pt x="3615952" y="1562100"/>
                  <a:pt x="3552826" y="1562100"/>
                </a:cubicBezTo>
                <a:lnTo>
                  <a:pt x="38100" y="1562100"/>
                </a:lnTo>
                <a:cubicBezTo>
                  <a:pt x="17072" y="1562100"/>
                  <a:pt x="0" y="1545028"/>
                  <a:pt x="0" y="1524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9" name="Shape 27"/>
          <p:cNvSpPr/>
          <p:nvPr/>
        </p:nvSpPr>
        <p:spPr>
          <a:xfrm>
            <a:off x="4273550" y="3162300"/>
            <a:ext cx="38100" cy="1562100"/>
          </a:xfrm>
          <a:custGeom>
            <a:avLst/>
            <a:gdLst/>
            <a:ahLst/>
            <a:cxnLst/>
            <a:rect l="l" t="t" r="r" b="b"/>
            <a:pathLst>
              <a:path w="38100" h="1562100">
                <a:moveTo>
                  <a:pt x="38100" y="0"/>
                </a:moveTo>
                <a:lnTo>
                  <a:pt x="38100" y="0"/>
                </a:lnTo>
                <a:lnTo>
                  <a:pt x="38100" y="1562100"/>
                </a:lnTo>
                <a:lnTo>
                  <a:pt x="38100" y="1562100"/>
                </a:lnTo>
                <a:cubicBezTo>
                  <a:pt x="17072" y="1562100"/>
                  <a:pt x="0" y="1545028"/>
                  <a:pt x="0" y="1524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30" name="Shape 28"/>
          <p:cNvSpPr/>
          <p:nvPr/>
        </p:nvSpPr>
        <p:spPr>
          <a:xfrm>
            <a:off x="4521200" y="34956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31" name="Text 29"/>
          <p:cNvSpPr/>
          <p:nvPr/>
        </p:nvSpPr>
        <p:spPr>
          <a:xfrm>
            <a:off x="4464050" y="3495675"/>
            <a:ext cx="647700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207000" y="3629025"/>
            <a:ext cx="1809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系统操作与收银服务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521200" y="4143375"/>
            <a:ext cx="3267075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POS系统、收银流程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147050" y="3162300"/>
            <a:ext cx="3667125" cy="1562100"/>
          </a:xfrm>
          <a:custGeom>
            <a:avLst/>
            <a:gdLst/>
            <a:ahLst/>
            <a:cxnLst/>
            <a:rect l="l" t="t" r="r" b="b"/>
            <a:pathLst>
              <a:path w="3667125" h="1562100">
                <a:moveTo>
                  <a:pt x="38100" y="0"/>
                </a:moveTo>
                <a:lnTo>
                  <a:pt x="3552826" y="0"/>
                </a:lnTo>
                <a:cubicBezTo>
                  <a:pt x="3615952" y="0"/>
                  <a:pt x="3667125" y="51173"/>
                  <a:pt x="3667125" y="114299"/>
                </a:cubicBezTo>
                <a:lnTo>
                  <a:pt x="3667125" y="1447801"/>
                </a:lnTo>
                <a:cubicBezTo>
                  <a:pt x="3667125" y="1510927"/>
                  <a:pt x="3615952" y="1562100"/>
                  <a:pt x="3552826" y="1562100"/>
                </a:cubicBezTo>
                <a:lnTo>
                  <a:pt x="38100" y="1562100"/>
                </a:lnTo>
                <a:cubicBezTo>
                  <a:pt x="17072" y="1562100"/>
                  <a:pt x="0" y="1545028"/>
                  <a:pt x="0" y="1524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5" name="Shape 33"/>
          <p:cNvSpPr/>
          <p:nvPr/>
        </p:nvSpPr>
        <p:spPr>
          <a:xfrm>
            <a:off x="8147050" y="3162300"/>
            <a:ext cx="38100" cy="1562100"/>
          </a:xfrm>
          <a:custGeom>
            <a:avLst/>
            <a:gdLst/>
            <a:ahLst/>
            <a:cxnLst/>
            <a:rect l="l" t="t" r="r" b="b"/>
            <a:pathLst>
              <a:path w="38100" h="1562100">
                <a:moveTo>
                  <a:pt x="38100" y="0"/>
                </a:moveTo>
                <a:lnTo>
                  <a:pt x="38100" y="0"/>
                </a:lnTo>
                <a:lnTo>
                  <a:pt x="38100" y="1562100"/>
                </a:lnTo>
                <a:lnTo>
                  <a:pt x="38100" y="1562100"/>
                </a:lnTo>
                <a:cubicBezTo>
                  <a:pt x="17072" y="1562100"/>
                  <a:pt x="0" y="1545028"/>
                  <a:pt x="0" y="1524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36" name="Shape 34"/>
          <p:cNvSpPr/>
          <p:nvPr/>
        </p:nvSpPr>
        <p:spPr>
          <a:xfrm>
            <a:off x="8394700" y="34956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37" name="Text 35"/>
          <p:cNvSpPr/>
          <p:nvPr/>
        </p:nvSpPr>
        <p:spPr>
          <a:xfrm>
            <a:off x="8337550" y="3495675"/>
            <a:ext cx="647700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080500" y="3629025"/>
            <a:ext cx="1809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商品管理与促成交易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394700" y="4143375"/>
            <a:ext cx="3267075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收货盘点、成交技巧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00050" y="4914900"/>
            <a:ext cx="3667125" cy="1562100"/>
          </a:xfrm>
          <a:custGeom>
            <a:avLst/>
            <a:gdLst/>
            <a:ahLst/>
            <a:cxnLst/>
            <a:rect l="l" t="t" r="r" b="b"/>
            <a:pathLst>
              <a:path w="3667125" h="1562100">
                <a:moveTo>
                  <a:pt x="38100" y="0"/>
                </a:moveTo>
                <a:lnTo>
                  <a:pt x="3552826" y="0"/>
                </a:lnTo>
                <a:cubicBezTo>
                  <a:pt x="3615952" y="0"/>
                  <a:pt x="3667125" y="51173"/>
                  <a:pt x="3667125" y="114299"/>
                </a:cubicBezTo>
                <a:lnTo>
                  <a:pt x="3667125" y="1447801"/>
                </a:lnTo>
                <a:cubicBezTo>
                  <a:pt x="3667125" y="1510927"/>
                  <a:pt x="3615952" y="1562100"/>
                  <a:pt x="3552826" y="1562100"/>
                </a:cubicBezTo>
                <a:lnTo>
                  <a:pt x="38100" y="1562100"/>
                </a:lnTo>
                <a:cubicBezTo>
                  <a:pt x="17072" y="1562100"/>
                  <a:pt x="0" y="1545028"/>
                  <a:pt x="0" y="1524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1" name="Shape 39"/>
          <p:cNvSpPr/>
          <p:nvPr/>
        </p:nvSpPr>
        <p:spPr>
          <a:xfrm>
            <a:off x="400050" y="4914900"/>
            <a:ext cx="38100" cy="1562100"/>
          </a:xfrm>
          <a:custGeom>
            <a:avLst/>
            <a:gdLst/>
            <a:ahLst/>
            <a:cxnLst/>
            <a:rect l="l" t="t" r="r" b="b"/>
            <a:pathLst>
              <a:path w="38100" h="1562100">
                <a:moveTo>
                  <a:pt x="38100" y="0"/>
                </a:moveTo>
                <a:lnTo>
                  <a:pt x="38100" y="0"/>
                </a:lnTo>
                <a:lnTo>
                  <a:pt x="38100" y="1562100"/>
                </a:lnTo>
                <a:lnTo>
                  <a:pt x="38100" y="1562100"/>
                </a:lnTo>
                <a:cubicBezTo>
                  <a:pt x="17072" y="1562100"/>
                  <a:pt x="0" y="1545028"/>
                  <a:pt x="0" y="1524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9A299"/>
          </a:solidFill>
        </p:spPr>
      </p:sp>
      <p:sp>
        <p:nvSpPr>
          <p:cNvPr id="42" name="Shape 40"/>
          <p:cNvSpPr/>
          <p:nvPr/>
        </p:nvSpPr>
        <p:spPr>
          <a:xfrm>
            <a:off x="647700" y="52482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A9A299"/>
          </a:solidFill>
        </p:spPr>
      </p:sp>
      <p:sp>
        <p:nvSpPr>
          <p:cNvPr id="43" name="Text 41"/>
          <p:cNvSpPr/>
          <p:nvPr/>
        </p:nvSpPr>
        <p:spPr>
          <a:xfrm>
            <a:off x="590550" y="5248275"/>
            <a:ext cx="647700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07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333500" y="5381625"/>
            <a:ext cx="2190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销售数据分析与客情维系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7700" y="5895975"/>
            <a:ext cx="3267075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业绩公式、数据分析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273550" y="4914900"/>
            <a:ext cx="3667125" cy="1562100"/>
          </a:xfrm>
          <a:custGeom>
            <a:avLst/>
            <a:gdLst/>
            <a:ahLst/>
            <a:cxnLst/>
            <a:rect l="l" t="t" r="r" b="b"/>
            <a:pathLst>
              <a:path w="3667125" h="1562100">
                <a:moveTo>
                  <a:pt x="38100" y="0"/>
                </a:moveTo>
                <a:lnTo>
                  <a:pt x="3552826" y="0"/>
                </a:lnTo>
                <a:cubicBezTo>
                  <a:pt x="3615952" y="0"/>
                  <a:pt x="3667125" y="51173"/>
                  <a:pt x="3667125" y="114299"/>
                </a:cubicBezTo>
                <a:lnTo>
                  <a:pt x="3667125" y="1447801"/>
                </a:lnTo>
                <a:cubicBezTo>
                  <a:pt x="3667125" y="1510927"/>
                  <a:pt x="3615952" y="1562100"/>
                  <a:pt x="3552826" y="1562100"/>
                </a:cubicBezTo>
                <a:lnTo>
                  <a:pt x="38100" y="1562100"/>
                </a:lnTo>
                <a:cubicBezTo>
                  <a:pt x="17072" y="1562100"/>
                  <a:pt x="0" y="1545028"/>
                  <a:pt x="0" y="1524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7" name="Shape 45"/>
          <p:cNvSpPr/>
          <p:nvPr/>
        </p:nvSpPr>
        <p:spPr>
          <a:xfrm>
            <a:off x="4273550" y="4914900"/>
            <a:ext cx="38100" cy="1562100"/>
          </a:xfrm>
          <a:custGeom>
            <a:avLst/>
            <a:gdLst/>
            <a:ahLst/>
            <a:cxnLst/>
            <a:rect l="l" t="t" r="r" b="b"/>
            <a:pathLst>
              <a:path w="38100" h="1562100">
                <a:moveTo>
                  <a:pt x="38100" y="0"/>
                </a:moveTo>
                <a:lnTo>
                  <a:pt x="38100" y="0"/>
                </a:lnTo>
                <a:lnTo>
                  <a:pt x="38100" y="1562100"/>
                </a:lnTo>
                <a:lnTo>
                  <a:pt x="38100" y="1562100"/>
                </a:lnTo>
                <a:cubicBezTo>
                  <a:pt x="17072" y="1562100"/>
                  <a:pt x="0" y="1545028"/>
                  <a:pt x="0" y="1524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9A299"/>
          </a:solidFill>
        </p:spPr>
      </p:sp>
      <p:sp>
        <p:nvSpPr>
          <p:cNvPr id="48" name="Shape 46"/>
          <p:cNvSpPr/>
          <p:nvPr/>
        </p:nvSpPr>
        <p:spPr>
          <a:xfrm>
            <a:off x="4521200" y="52482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A9A299"/>
          </a:solidFill>
        </p:spPr>
      </p:sp>
      <p:sp>
        <p:nvSpPr>
          <p:cNvPr id="49" name="Text 47"/>
          <p:cNvSpPr/>
          <p:nvPr/>
        </p:nvSpPr>
        <p:spPr>
          <a:xfrm>
            <a:off x="4464050" y="5248275"/>
            <a:ext cx="647700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08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207000" y="5381625"/>
            <a:ext cx="1619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服务流程综合训练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4521200" y="5895975"/>
            <a:ext cx="3267075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产品知识、全流程演练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147050" y="4914900"/>
            <a:ext cx="3667125" cy="1562100"/>
          </a:xfrm>
          <a:custGeom>
            <a:avLst/>
            <a:gdLst/>
            <a:ahLst/>
            <a:cxnLst/>
            <a:rect l="l" t="t" r="r" b="b"/>
            <a:pathLst>
              <a:path w="3667125" h="1562100">
                <a:moveTo>
                  <a:pt x="38100" y="0"/>
                </a:moveTo>
                <a:lnTo>
                  <a:pt x="3552826" y="0"/>
                </a:lnTo>
                <a:cubicBezTo>
                  <a:pt x="3615952" y="0"/>
                  <a:pt x="3667125" y="51173"/>
                  <a:pt x="3667125" y="114299"/>
                </a:cubicBezTo>
                <a:lnTo>
                  <a:pt x="3667125" y="1447801"/>
                </a:lnTo>
                <a:cubicBezTo>
                  <a:pt x="3667125" y="1510927"/>
                  <a:pt x="3615952" y="1562100"/>
                  <a:pt x="3552826" y="1562100"/>
                </a:cubicBezTo>
                <a:lnTo>
                  <a:pt x="38100" y="1562100"/>
                </a:lnTo>
                <a:cubicBezTo>
                  <a:pt x="17072" y="1562100"/>
                  <a:pt x="0" y="1545028"/>
                  <a:pt x="0" y="1524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3" name="Shape 51"/>
          <p:cNvSpPr/>
          <p:nvPr/>
        </p:nvSpPr>
        <p:spPr>
          <a:xfrm>
            <a:off x="8147050" y="4914900"/>
            <a:ext cx="38100" cy="1562100"/>
          </a:xfrm>
          <a:custGeom>
            <a:avLst/>
            <a:gdLst/>
            <a:ahLst/>
            <a:cxnLst/>
            <a:rect l="l" t="t" r="r" b="b"/>
            <a:pathLst>
              <a:path w="38100" h="1562100">
                <a:moveTo>
                  <a:pt x="38100" y="0"/>
                </a:moveTo>
                <a:lnTo>
                  <a:pt x="38100" y="0"/>
                </a:lnTo>
                <a:lnTo>
                  <a:pt x="38100" y="1562100"/>
                </a:lnTo>
                <a:lnTo>
                  <a:pt x="38100" y="1562100"/>
                </a:lnTo>
                <a:cubicBezTo>
                  <a:pt x="17072" y="1562100"/>
                  <a:pt x="0" y="1545028"/>
                  <a:pt x="0" y="1524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9A299"/>
          </a:solidFill>
        </p:spPr>
      </p:sp>
      <p:sp>
        <p:nvSpPr>
          <p:cNvPr id="54" name="Shape 52"/>
          <p:cNvSpPr/>
          <p:nvPr/>
        </p:nvSpPr>
        <p:spPr>
          <a:xfrm>
            <a:off x="8394700" y="52482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A9A299"/>
          </a:solidFill>
        </p:spPr>
      </p:sp>
      <p:sp>
        <p:nvSpPr>
          <p:cNvPr id="55" name="Text 53"/>
          <p:cNvSpPr/>
          <p:nvPr/>
        </p:nvSpPr>
        <p:spPr>
          <a:xfrm>
            <a:off x="8337550" y="5248275"/>
            <a:ext cx="647700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09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9080500" y="5381625"/>
            <a:ext cx="1428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综合实践与评估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394700" y="5895975"/>
            <a:ext cx="3267075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实战检验、综合评估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yyasw4ib73lsu/day1_culture.jpg"/>
          <p:cNvPicPr>
            <a:picLocks noChangeAspect="1"/>
          </p:cNvPicPr>
          <p:nvPr/>
        </p:nvPicPr>
        <p:blipFill>
          <a:blip r:embed="rId1"/>
          <a:srcRect t="781" b="781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A4F41">
                  <a:alpha val="90000"/>
                </a:srgbClr>
              </a:gs>
              <a:gs pos="50000">
                <a:srgbClr val="3A4F41">
                  <a:alpha val="70000"/>
                </a:srgbClr>
              </a:gs>
              <a:gs pos="100000">
                <a:srgbClr val="3A4F41">
                  <a:alpha val="90000"/>
                </a:srgbClr>
              </a:gs>
            </a:gsLst>
            <a:lin ang="5400000" scaled="1"/>
          </a:gradFill>
        </p:spPr>
      </p:sp>
      <p:sp>
        <p:nvSpPr>
          <p:cNvPr id="4" name="Text 1"/>
          <p:cNvSpPr/>
          <p:nvPr/>
        </p:nvSpPr>
        <p:spPr>
          <a:xfrm>
            <a:off x="4772025" y="2190750"/>
            <a:ext cx="26479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kern="0" spc="360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01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638675" y="2647950"/>
            <a:ext cx="291465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F8F7F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第1天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0" y="356235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7" name="Text 4"/>
          <p:cNvSpPr/>
          <p:nvPr/>
        </p:nvSpPr>
        <p:spPr>
          <a:xfrm>
            <a:off x="4738688" y="3905250"/>
            <a:ext cx="27146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F8F7F5">
                    <a:alpha val="9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企业文化与品牌认知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762500" y="4400550"/>
            <a:ext cx="26670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8F7F5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建立品牌认知 · 掌握基础规范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10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01 · OBJECTIVES &amp; PREPARATION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教学目标与训前准备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9575" y="1295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5" name="Text 3"/>
          <p:cNvSpPr/>
          <p:nvPr/>
        </p:nvSpPr>
        <p:spPr>
          <a:xfrm>
            <a:off x="781050" y="1257300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教学目标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714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7" name="Text 5"/>
          <p:cNvSpPr/>
          <p:nvPr/>
        </p:nvSpPr>
        <p:spPr>
          <a:xfrm>
            <a:off x="338138" y="1714500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714500"/>
            <a:ext cx="3286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了解品牌历史文化与定位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019300"/>
            <a:ext cx="32766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让新员工初步了解凯施迪品牌历史、文化与定位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1000" y="311785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11" name="Text 9"/>
          <p:cNvSpPr/>
          <p:nvPr/>
        </p:nvSpPr>
        <p:spPr>
          <a:xfrm>
            <a:off x="338138" y="3117852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3117852"/>
            <a:ext cx="31337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熟悉店铺环境与规章制度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3422652"/>
            <a:ext cx="31242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熟悉店铺基础环境、规章制度及员工形象标准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1000" y="452120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15" name="Text 13"/>
          <p:cNvSpPr/>
          <p:nvPr/>
        </p:nvSpPr>
        <p:spPr>
          <a:xfrm>
            <a:off x="338138" y="4521201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4521201"/>
            <a:ext cx="31337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掌握产品知识与货号编码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4826001"/>
            <a:ext cx="31242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掌握产品货号编码规则及三大产品线基础知识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1000" y="59245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19" name="Text 17"/>
          <p:cNvSpPr/>
          <p:nvPr/>
        </p:nvSpPr>
        <p:spPr>
          <a:xfrm>
            <a:off x="338138" y="5924550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5924550"/>
            <a:ext cx="3286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建立服务礼仪意识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" y="6229350"/>
            <a:ext cx="32766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建立基本服务礼仪意识，能够进行标准迎宾送宾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67450" y="12954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9035" y="14288"/>
                </a:moveTo>
                <a:lnTo>
                  <a:pt x="142875" y="14288"/>
                </a:lnTo>
                <a:cubicBezTo>
                  <a:pt x="158636" y="14288"/>
                  <a:pt x="171450" y="27102"/>
                  <a:pt x="171450" y="42863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42863"/>
                </a:lnTo>
                <a:cubicBezTo>
                  <a:pt x="0" y="27102"/>
                  <a:pt x="12814" y="14288"/>
                  <a:pt x="28575" y="14288"/>
                </a:cubicBezTo>
                <a:lnTo>
                  <a:pt x="32415" y="14288"/>
                </a:lnTo>
                <a:cubicBezTo>
                  <a:pt x="37326" y="5760"/>
                  <a:pt x="46568" y="0"/>
                  <a:pt x="57150" y="0"/>
                </a:cubicBezTo>
                <a:lnTo>
                  <a:pt x="114300" y="0"/>
                </a:lnTo>
                <a:cubicBezTo>
                  <a:pt x="124882" y="0"/>
                  <a:pt x="134124" y="5760"/>
                  <a:pt x="139035" y="14288"/>
                </a:cubicBezTo>
                <a:close/>
                <a:moveTo>
                  <a:pt x="110728" y="50006"/>
                </a:moveTo>
                <a:cubicBezTo>
                  <a:pt x="116666" y="50006"/>
                  <a:pt x="121444" y="45229"/>
                  <a:pt x="121444" y="39291"/>
                </a:cubicBezTo>
                <a:cubicBezTo>
                  <a:pt x="121444" y="33352"/>
                  <a:pt x="116666" y="28575"/>
                  <a:pt x="110728" y="28575"/>
                </a:cubicBezTo>
                <a:lnTo>
                  <a:pt x="60722" y="28575"/>
                </a:lnTo>
                <a:cubicBezTo>
                  <a:pt x="54784" y="28575"/>
                  <a:pt x="50006" y="33352"/>
                  <a:pt x="50006" y="39291"/>
                </a:cubicBezTo>
                <a:cubicBezTo>
                  <a:pt x="50006" y="45229"/>
                  <a:pt x="54784" y="50006"/>
                  <a:pt x="60722" y="50006"/>
                </a:cubicBezTo>
                <a:lnTo>
                  <a:pt x="110728" y="50006"/>
                </a:lnTo>
                <a:close/>
                <a:moveTo>
                  <a:pt x="123408" y="116398"/>
                </a:moveTo>
                <a:cubicBezTo>
                  <a:pt x="126534" y="111398"/>
                  <a:pt x="125016" y="104790"/>
                  <a:pt x="120015" y="101620"/>
                </a:cubicBezTo>
                <a:cubicBezTo>
                  <a:pt x="115014" y="98450"/>
                  <a:pt x="108406" y="100013"/>
                  <a:pt x="105236" y="105013"/>
                </a:cubicBezTo>
                <a:lnTo>
                  <a:pt x="77822" y="148903"/>
                </a:lnTo>
                <a:lnTo>
                  <a:pt x="65767" y="132829"/>
                </a:lnTo>
                <a:cubicBezTo>
                  <a:pt x="62195" y="128096"/>
                  <a:pt x="55498" y="127114"/>
                  <a:pt x="50765" y="130686"/>
                </a:cubicBezTo>
                <a:cubicBezTo>
                  <a:pt x="46033" y="134258"/>
                  <a:pt x="45050" y="140955"/>
                  <a:pt x="48622" y="145688"/>
                </a:cubicBezTo>
                <a:lnTo>
                  <a:pt x="70053" y="174263"/>
                </a:lnTo>
                <a:cubicBezTo>
                  <a:pt x="72152" y="177076"/>
                  <a:pt x="75545" y="178683"/>
                  <a:pt x="79072" y="178549"/>
                </a:cubicBezTo>
                <a:cubicBezTo>
                  <a:pt x="82600" y="178415"/>
                  <a:pt x="85814" y="176540"/>
                  <a:pt x="87690" y="173504"/>
                </a:cubicBezTo>
                <a:lnTo>
                  <a:pt x="123408" y="116354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23" name="Text 21"/>
          <p:cNvSpPr/>
          <p:nvPr/>
        </p:nvSpPr>
        <p:spPr>
          <a:xfrm>
            <a:off x="6610350" y="1257300"/>
            <a:ext cx="1485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训前准备清单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34113" y="17526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25" name="Text 23"/>
          <p:cNvSpPr/>
          <p:nvPr/>
        </p:nvSpPr>
        <p:spPr>
          <a:xfrm>
            <a:off x="6562725" y="1714500"/>
            <a:ext cx="31337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学习平台开通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562725" y="2019300"/>
            <a:ext cx="31242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开通凯施迪学习平台工号，确保新员工可登录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34113" y="29337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28" name="Text 26"/>
          <p:cNvSpPr/>
          <p:nvPr/>
        </p:nvSpPr>
        <p:spPr>
          <a:xfrm>
            <a:off x="6562725" y="2895600"/>
            <a:ext cx="2524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带教师傅指定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62725" y="3200400"/>
            <a:ext cx="25146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指定一对一带教师傅，确认带教资格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34113" y="41148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31" name="Text 29"/>
          <p:cNvSpPr/>
          <p:nvPr/>
        </p:nvSpPr>
        <p:spPr>
          <a:xfrm>
            <a:off x="6562725" y="4076700"/>
            <a:ext cx="31527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学员手册准备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62725" y="4381500"/>
            <a:ext cx="314325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准备《凯施迪新员工10天训练计划》学员手册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210300" y="5257800"/>
            <a:ext cx="5600700" cy="1219200"/>
          </a:xfrm>
          <a:custGeom>
            <a:avLst/>
            <a:gdLst/>
            <a:ahLst/>
            <a:cxnLst/>
            <a:rect l="l" t="t" r="r" b="b"/>
            <a:pathLst>
              <a:path w="5600700" h="1219200">
                <a:moveTo>
                  <a:pt x="76200" y="0"/>
                </a:moveTo>
                <a:lnTo>
                  <a:pt x="5524500" y="0"/>
                </a:lnTo>
                <a:cubicBezTo>
                  <a:pt x="5566556" y="0"/>
                  <a:pt x="5600700" y="34144"/>
                  <a:pt x="5600700" y="76200"/>
                </a:cubicBezTo>
                <a:lnTo>
                  <a:pt x="5600700" y="1143000"/>
                </a:lnTo>
                <a:cubicBezTo>
                  <a:pt x="5600700" y="1185056"/>
                  <a:pt x="5566556" y="1219200"/>
                  <a:pt x="5524500" y="1219200"/>
                </a:cubicBezTo>
                <a:lnTo>
                  <a:pt x="76200" y="1219200"/>
                </a:lnTo>
                <a:cubicBezTo>
                  <a:pt x="34144" y="1219200"/>
                  <a:pt x="0" y="1185056"/>
                  <a:pt x="0" y="11430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A4F41">
              <a:alpha val="5098"/>
            </a:srgbClr>
          </a:solidFill>
        </p:spPr>
      </p:sp>
      <p:sp>
        <p:nvSpPr>
          <p:cNvPr id="34" name="Text 32"/>
          <p:cNvSpPr/>
          <p:nvPr/>
        </p:nvSpPr>
        <p:spPr>
          <a:xfrm>
            <a:off x="6362700" y="5410200"/>
            <a:ext cx="53816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线上课程预习（入职3天内）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73416" y="583882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25003" y="16669"/>
                </a:moveTo>
                <a:cubicBezTo>
                  <a:pt x="15809" y="16669"/>
                  <a:pt x="8334" y="24144"/>
                  <a:pt x="8334" y="33337"/>
                </a:cubicBezTo>
                <a:lnTo>
                  <a:pt x="8334" y="100013"/>
                </a:lnTo>
                <a:cubicBezTo>
                  <a:pt x="8334" y="109206"/>
                  <a:pt x="15809" y="116681"/>
                  <a:pt x="25003" y="116681"/>
                </a:cubicBezTo>
                <a:lnTo>
                  <a:pt x="91678" y="116681"/>
                </a:lnTo>
                <a:cubicBezTo>
                  <a:pt x="100872" y="116681"/>
                  <a:pt x="108347" y="109206"/>
                  <a:pt x="108347" y="100013"/>
                </a:cubicBezTo>
                <a:lnTo>
                  <a:pt x="108347" y="33337"/>
                </a:lnTo>
                <a:cubicBezTo>
                  <a:pt x="108347" y="24144"/>
                  <a:pt x="100872" y="16669"/>
                  <a:pt x="91678" y="16669"/>
                </a:cubicBezTo>
                <a:lnTo>
                  <a:pt x="25003" y="16669"/>
                </a:lnTo>
                <a:close/>
                <a:moveTo>
                  <a:pt x="120848" y="87511"/>
                </a:moveTo>
                <a:lnTo>
                  <a:pt x="139991" y="102825"/>
                </a:lnTo>
                <a:cubicBezTo>
                  <a:pt x="141085" y="103711"/>
                  <a:pt x="142440" y="104180"/>
                  <a:pt x="143846" y="104180"/>
                </a:cubicBezTo>
                <a:cubicBezTo>
                  <a:pt x="147258" y="104180"/>
                  <a:pt x="150019" y="101419"/>
                  <a:pt x="150019" y="98007"/>
                </a:cubicBezTo>
                <a:lnTo>
                  <a:pt x="150019" y="35343"/>
                </a:lnTo>
                <a:cubicBezTo>
                  <a:pt x="150019" y="31931"/>
                  <a:pt x="147258" y="29170"/>
                  <a:pt x="143846" y="29170"/>
                </a:cubicBezTo>
                <a:cubicBezTo>
                  <a:pt x="142440" y="29170"/>
                  <a:pt x="141085" y="29639"/>
                  <a:pt x="139991" y="30525"/>
                </a:cubicBezTo>
                <a:lnTo>
                  <a:pt x="120848" y="45839"/>
                </a:lnTo>
                <a:lnTo>
                  <a:pt x="120848" y="87511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36" name="Text 34"/>
          <p:cNvSpPr/>
          <p:nvPr/>
        </p:nvSpPr>
        <p:spPr>
          <a:xfrm>
            <a:off x="6605588" y="5791200"/>
            <a:ext cx="25812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《凯施迪企业文化》（必修，15min）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73416" y="614362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25003" y="16669"/>
                </a:moveTo>
                <a:cubicBezTo>
                  <a:pt x="15809" y="16669"/>
                  <a:pt x="8334" y="24144"/>
                  <a:pt x="8334" y="33337"/>
                </a:cubicBezTo>
                <a:lnTo>
                  <a:pt x="8334" y="100013"/>
                </a:lnTo>
                <a:cubicBezTo>
                  <a:pt x="8334" y="109206"/>
                  <a:pt x="15809" y="116681"/>
                  <a:pt x="25003" y="116681"/>
                </a:cubicBezTo>
                <a:lnTo>
                  <a:pt x="91678" y="116681"/>
                </a:lnTo>
                <a:cubicBezTo>
                  <a:pt x="100872" y="116681"/>
                  <a:pt x="108347" y="109206"/>
                  <a:pt x="108347" y="100013"/>
                </a:cubicBezTo>
                <a:lnTo>
                  <a:pt x="108347" y="33337"/>
                </a:lnTo>
                <a:cubicBezTo>
                  <a:pt x="108347" y="24144"/>
                  <a:pt x="100872" y="16669"/>
                  <a:pt x="91678" y="16669"/>
                </a:cubicBezTo>
                <a:lnTo>
                  <a:pt x="25003" y="16669"/>
                </a:lnTo>
                <a:close/>
                <a:moveTo>
                  <a:pt x="120848" y="87511"/>
                </a:moveTo>
                <a:lnTo>
                  <a:pt x="139991" y="102825"/>
                </a:lnTo>
                <a:cubicBezTo>
                  <a:pt x="141085" y="103711"/>
                  <a:pt x="142440" y="104180"/>
                  <a:pt x="143846" y="104180"/>
                </a:cubicBezTo>
                <a:cubicBezTo>
                  <a:pt x="147258" y="104180"/>
                  <a:pt x="150019" y="101419"/>
                  <a:pt x="150019" y="98007"/>
                </a:cubicBezTo>
                <a:lnTo>
                  <a:pt x="150019" y="35343"/>
                </a:lnTo>
                <a:cubicBezTo>
                  <a:pt x="150019" y="31931"/>
                  <a:pt x="147258" y="29170"/>
                  <a:pt x="143846" y="29170"/>
                </a:cubicBezTo>
                <a:cubicBezTo>
                  <a:pt x="142440" y="29170"/>
                  <a:pt x="141085" y="29639"/>
                  <a:pt x="139991" y="30525"/>
                </a:cubicBezTo>
                <a:lnTo>
                  <a:pt x="120848" y="45839"/>
                </a:lnTo>
                <a:lnTo>
                  <a:pt x="120848" y="87511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38" name="Text 36"/>
          <p:cNvSpPr/>
          <p:nvPr/>
        </p:nvSpPr>
        <p:spPr>
          <a:xfrm>
            <a:off x="6605588" y="6096000"/>
            <a:ext cx="25812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《凯施迪零售制度》（必修，15min）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10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01 · TEACHING MODULES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分模块教学内容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总计时长：100分钟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381000" y="1485900"/>
          <a:ext cx="11430000" cy="4010025"/>
        </p:xfrm>
        <a:graphic>
          <a:graphicData uri="http://schemas.openxmlformats.org/drawingml/2006/table">
            <a:tbl>
              <a:tblPr/>
              <a:tblGrid>
                <a:gridCol w="1447800"/>
                <a:gridCol w="2162175"/>
                <a:gridCol w="5410200"/>
                <a:gridCol w="1447800"/>
                <a:gridCol w="962025"/>
              </a:tblGrid>
              <a:tr h="445558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8F7F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模块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4F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8F7F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大纲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4F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8F7F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详细教学内容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4F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8F7F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教学方法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4F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F8F7F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时长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4F41"/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2E2E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熟悉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3A4F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店铺迎新仪式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2E2E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例会上互相自我介绍，欢迎新员工加入；添加店铺同事联系方式及工作群；指定带教老师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A9A29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店铺例会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C47A5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15min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2E2E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熟悉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3A4F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环境熟悉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2E2E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介绍店铺卖场、仓库、休息区位置；介绍商场楼层环境、商管办公室、服务台、洗手间等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A9A29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店铺带教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C47A5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15min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2E2E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熟悉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3A4F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店铺了解</a:t>
                      </a:r>
                      <a:r>
                        <a:rPr lang="zh-CN" altLang="en-US" sz="1200" b="1" dirty="0">
                          <a:solidFill>
                            <a:srgbClr val="3A4F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  <a:sym typeface="+mn-ea"/>
                        </a:rPr>
                        <a:t>《门店制度》</a:t>
                      </a:r>
                      <a:endParaRPr lang="zh-CN" altLang="en-US" sz="1200" b="1" u="none" dirty="0">
                        <a:solidFill>
                          <a:srgbClr val="3A4F4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  <a:p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2E2E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了解店铺规定与制度，员工行为规范；开/闭店基本标准作业流程；对讲机操作规范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A9A29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店铺带教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C47A5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10min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2E2E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企业文化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3A4F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品牌介绍</a:t>
                      </a:r>
                      <a:r>
                        <a:rPr lang="zh-CN" altLang="en-US" sz="1200" b="1" u="none" dirty="0">
                          <a:solidFill>
                            <a:srgbClr val="3A4F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《品牌简介》</a:t>
                      </a:r>
                      <a:endParaRPr lang="zh-CN" altLang="en-US" sz="1200" b="1" u="none" dirty="0">
                        <a:solidFill>
                          <a:srgbClr val="3A4F4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152400" marR="1524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2E2E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介绍凯施迪品牌历史、品牌文化、品牌定位及目标消费者；熟记品牌文化和品牌历史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A9A29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店铺带教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C47A5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10min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45558">
                <a:tc rowSpan="4"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2E2E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产品知识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3A4F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凯施迪系列</a:t>
                      </a:r>
                      <a:r>
                        <a:rPr lang="zh-CN" altLang="en-US" sz="1200" b="1" dirty="0">
                          <a:solidFill>
                            <a:srgbClr val="3A4F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  <a:sym typeface="+mn-ea"/>
                        </a:rPr>
                        <a:t>《品牌简介》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2E2E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熟记凯施迪产品线名称及中英文发音，子系列及穿着场景；介绍各系列特质、穿着场景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A9A29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店铺带教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C47A5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15min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45558"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3A4F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产品货号</a:t>
                      </a:r>
                      <a:r>
                        <a:rPr lang="zh-CN" altLang="en-US" sz="1200" b="1" u="none" dirty="0">
                          <a:solidFill>
                            <a:srgbClr val="3A4F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（吊牌知识）</a:t>
                      </a:r>
                      <a:endParaRPr lang="zh-CN" altLang="en-US" sz="1200" b="1" u="none" dirty="0">
                        <a:solidFill>
                          <a:srgbClr val="3A4F4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152400" marR="1524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2E2E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介绍凯施迪产品编码规则，要求熟记；练习判断系列和服饰类型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A9A29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店铺带教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C47A5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15min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45558"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3A4F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员工形象</a:t>
                      </a:r>
                      <a:r>
                        <a:rPr lang="zh-CN" altLang="en-US" sz="1200" b="1" u="none" dirty="0">
                          <a:solidFill>
                            <a:srgbClr val="3A4F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《门店制度》</a:t>
                      </a:r>
                      <a:endParaRPr lang="zh-CN" altLang="en-US" sz="1200" b="1" u="none" dirty="0">
                        <a:solidFill>
                          <a:srgbClr val="3A4F4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152400" marR="1524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2E2E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介绍员工工服及工牌标准、员工终端形象标准、销售服务礼仪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A9A29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店铺带教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C47A5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10min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45558"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3A4F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基本服务标准</a:t>
                      </a:r>
                      <a:r>
                        <a:rPr lang="zh-CN" altLang="en-US" sz="1200" b="1" dirty="0">
                          <a:solidFill>
                            <a:srgbClr val="3A4F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  <a:sym typeface="+mn-ea"/>
                        </a:rPr>
                        <a:t>《门店制度》</a:t>
                      </a:r>
                      <a:endParaRPr lang="zh-CN" altLang="en-US" sz="1200" b="1" u="none" dirty="0">
                        <a:solidFill>
                          <a:srgbClr val="3A4F4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  <a:p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2E2E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强调迎宾送宾重要性；示范亲切迎宾送客、送客服务标准动作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A9A29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店铺带教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C47A5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10min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10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01 · PRACTICE &amp; ASSESSMENT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训后练习与考核标准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9575" y="1257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9740" y="16207"/>
                </a:moveTo>
                <a:cubicBezTo>
                  <a:pt x="64606" y="19601"/>
                  <a:pt x="65767" y="26298"/>
                  <a:pt x="62374" y="31120"/>
                </a:cubicBezTo>
                <a:lnTo>
                  <a:pt x="37371" y="66839"/>
                </a:lnTo>
                <a:cubicBezTo>
                  <a:pt x="35540" y="69428"/>
                  <a:pt x="32683" y="71080"/>
                  <a:pt x="29513" y="71348"/>
                </a:cubicBezTo>
                <a:cubicBezTo>
                  <a:pt x="26343" y="71616"/>
                  <a:pt x="23217" y="70545"/>
                  <a:pt x="20985" y="68312"/>
                </a:cubicBezTo>
                <a:lnTo>
                  <a:pt x="3125" y="50453"/>
                </a:lnTo>
                <a:cubicBezTo>
                  <a:pt x="-1027" y="46256"/>
                  <a:pt x="-1027" y="39469"/>
                  <a:pt x="3125" y="35272"/>
                </a:cubicBezTo>
                <a:cubicBezTo>
                  <a:pt x="7278" y="31075"/>
                  <a:pt x="14109" y="31120"/>
                  <a:pt x="18306" y="35272"/>
                </a:cubicBezTo>
                <a:lnTo>
                  <a:pt x="27146" y="44113"/>
                </a:lnTo>
                <a:lnTo>
                  <a:pt x="44827" y="18842"/>
                </a:lnTo>
                <a:cubicBezTo>
                  <a:pt x="48220" y="13975"/>
                  <a:pt x="54918" y="12814"/>
                  <a:pt x="59740" y="16207"/>
                </a:cubicBezTo>
                <a:close/>
                <a:moveTo>
                  <a:pt x="59740" y="87645"/>
                </a:moveTo>
                <a:cubicBezTo>
                  <a:pt x="64606" y="91038"/>
                  <a:pt x="65767" y="97735"/>
                  <a:pt x="62374" y="102557"/>
                </a:cubicBezTo>
                <a:lnTo>
                  <a:pt x="37371" y="138276"/>
                </a:lnTo>
                <a:cubicBezTo>
                  <a:pt x="35540" y="140866"/>
                  <a:pt x="32683" y="142518"/>
                  <a:pt x="29513" y="142786"/>
                </a:cubicBezTo>
                <a:cubicBezTo>
                  <a:pt x="26343" y="143054"/>
                  <a:pt x="23217" y="141982"/>
                  <a:pt x="20985" y="139750"/>
                </a:cubicBezTo>
                <a:lnTo>
                  <a:pt x="3125" y="121890"/>
                </a:lnTo>
                <a:cubicBezTo>
                  <a:pt x="-1072" y="117693"/>
                  <a:pt x="-1072" y="110907"/>
                  <a:pt x="3125" y="106754"/>
                </a:cubicBezTo>
                <a:cubicBezTo>
                  <a:pt x="7322" y="102602"/>
                  <a:pt x="14109" y="102557"/>
                  <a:pt x="18261" y="106754"/>
                </a:cubicBezTo>
                <a:lnTo>
                  <a:pt x="27102" y="115595"/>
                </a:lnTo>
                <a:lnTo>
                  <a:pt x="44782" y="90324"/>
                </a:lnTo>
                <a:cubicBezTo>
                  <a:pt x="48176" y="85457"/>
                  <a:pt x="54873" y="84296"/>
                  <a:pt x="59695" y="87690"/>
                </a:cubicBezTo>
                <a:close/>
                <a:moveTo>
                  <a:pt x="100013" y="42863"/>
                </a:moveTo>
                <a:cubicBezTo>
                  <a:pt x="100013" y="34960"/>
                  <a:pt x="106397" y="28575"/>
                  <a:pt x="114300" y="28575"/>
                </a:cubicBezTo>
                <a:lnTo>
                  <a:pt x="214313" y="28575"/>
                </a:lnTo>
                <a:cubicBezTo>
                  <a:pt x="222215" y="28575"/>
                  <a:pt x="228600" y="34960"/>
                  <a:pt x="228600" y="42863"/>
                </a:cubicBezTo>
                <a:cubicBezTo>
                  <a:pt x="228600" y="50765"/>
                  <a:pt x="222215" y="57150"/>
                  <a:pt x="214313" y="57150"/>
                </a:cubicBezTo>
                <a:lnTo>
                  <a:pt x="114300" y="57150"/>
                </a:lnTo>
                <a:cubicBezTo>
                  <a:pt x="106397" y="57150"/>
                  <a:pt x="100013" y="50765"/>
                  <a:pt x="100013" y="42863"/>
                </a:cubicBezTo>
                <a:close/>
                <a:moveTo>
                  <a:pt x="100013" y="114300"/>
                </a:moveTo>
                <a:cubicBezTo>
                  <a:pt x="100013" y="106397"/>
                  <a:pt x="106397" y="100013"/>
                  <a:pt x="114300" y="100013"/>
                </a:cubicBezTo>
                <a:lnTo>
                  <a:pt x="214313" y="100013"/>
                </a:lnTo>
                <a:cubicBezTo>
                  <a:pt x="222215" y="100013"/>
                  <a:pt x="228600" y="106397"/>
                  <a:pt x="228600" y="114300"/>
                </a:cubicBezTo>
                <a:cubicBezTo>
                  <a:pt x="228600" y="122203"/>
                  <a:pt x="222215" y="128588"/>
                  <a:pt x="214313" y="128588"/>
                </a:cubicBezTo>
                <a:lnTo>
                  <a:pt x="114300" y="128588"/>
                </a:lnTo>
                <a:cubicBezTo>
                  <a:pt x="106397" y="128588"/>
                  <a:pt x="100013" y="122203"/>
                  <a:pt x="100013" y="114300"/>
                </a:cubicBezTo>
                <a:close/>
                <a:moveTo>
                  <a:pt x="71438" y="185738"/>
                </a:moveTo>
                <a:cubicBezTo>
                  <a:pt x="71438" y="177835"/>
                  <a:pt x="77822" y="171450"/>
                  <a:pt x="85725" y="171450"/>
                </a:cubicBezTo>
                <a:lnTo>
                  <a:pt x="214313" y="171450"/>
                </a:lnTo>
                <a:cubicBezTo>
                  <a:pt x="222215" y="171450"/>
                  <a:pt x="228600" y="177835"/>
                  <a:pt x="228600" y="185738"/>
                </a:cubicBezTo>
                <a:cubicBezTo>
                  <a:pt x="228600" y="193640"/>
                  <a:pt x="222215" y="200025"/>
                  <a:pt x="214313" y="200025"/>
                </a:cubicBezTo>
                <a:lnTo>
                  <a:pt x="85725" y="200025"/>
                </a:lnTo>
                <a:cubicBezTo>
                  <a:pt x="77822" y="200025"/>
                  <a:pt x="71438" y="193640"/>
                  <a:pt x="71438" y="185738"/>
                </a:cubicBezTo>
                <a:close/>
                <a:moveTo>
                  <a:pt x="28575" y="167878"/>
                </a:moveTo>
                <a:cubicBezTo>
                  <a:pt x="38432" y="167878"/>
                  <a:pt x="46434" y="175881"/>
                  <a:pt x="46434" y="185738"/>
                </a:cubicBezTo>
                <a:cubicBezTo>
                  <a:pt x="46434" y="195594"/>
                  <a:pt x="38432" y="203597"/>
                  <a:pt x="28575" y="203597"/>
                </a:cubicBezTo>
                <a:cubicBezTo>
                  <a:pt x="18718" y="203597"/>
                  <a:pt x="10716" y="195594"/>
                  <a:pt x="10716" y="185738"/>
                </a:cubicBezTo>
                <a:cubicBezTo>
                  <a:pt x="10716" y="175881"/>
                  <a:pt x="18718" y="167878"/>
                  <a:pt x="28575" y="167878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5" name="Text 3"/>
          <p:cNvSpPr/>
          <p:nvPr/>
        </p:nvSpPr>
        <p:spPr>
          <a:xfrm>
            <a:off x="781050" y="1219200"/>
            <a:ext cx="1485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训后落地练习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1676400"/>
            <a:ext cx="5581650" cy="1219200"/>
          </a:xfrm>
          <a:custGeom>
            <a:avLst/>
            <a:gdLst/>
            <a:ahLst/>
            <a:cxnLst/>
            <a:rect l="l" t="t" r="r" b="b"/>
            <a:pathLst>
              <a:path w="5581650" h="1219200">
                <a:moveTo>
                  <a:pt x="38100" y="0"/>
                </a:moveTo>
                <a:lnTo>
                  <a:pt x="5505450" y="0"/>
                </a:lnTo>
                <a:cubicBezTo>
                  <a:pt x="5547506" y="0"/>
                  <a:pt x="5581650" y="34144"/>
                  <a:pt x="5581650" y="76200"/>
                </a:cubicBezTo>
                <a:lnTo>
                  <a:pt x="5581650" y="1143000"/>
                </a:lnTo>
                <a:cubicBezTo>
                  <a:pt x="5581650" y="1185056"/>
                  <a:pt x="5547506" y="1219200"/>
                  <a:pt x="5505450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" name="Shape 5"/>
          <p:cNvSpPr/>
          <p:nvPr/>
        </p:nvSpPr>
        <p:spPr>
          <a:xfrm>
            <a:off x="400050" y="167640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8" name="Shape 6"/>
          <p:cNvSpPr/>
          <p:nvPr/>
        </p:nvSpPr>
        <p:spPr>
          <a:xfrm>
            <a:off x="609600" y="1866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9" name="Text 7"/>
          <p:cNvSpPr/>
          <p:nvPr/>
        </p:nvSpPr>
        <p:spPr>
          <a:xfrm>
            <a:off x="566738" y="1866900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1866900"/>
            <a:ext cx="47339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分享加入凯施迪的原因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2209800"/>
            <a:ext cx="47244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和带教老师及团队成员分享你加入凯施迪的原因，增进团队了解和归属感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0050" y="3086100"/>
            <a:ext cx="5581650" cy="1219200"/>
          </a:xfrm>
          <a:custGeom>
            <a:avLst/>
            <a:gdLst/>
            <a:ahLst/>
            <a:cxnLst/>
            <a:rect l="l" t="t" r="r" b="b"/>
            <a:pathLst>
              <a:path w="5581650" h="1219200">
                <a:moveTo>
                  <a:pt x="38100" y="0"/>
                </a:moveTo>
                <a:lnTo>
                  <a:pt x="5505450" y="0"/>
                </a:lnTo>
                <a:cubicBezTo>
                  <a:pt x="5547506" y="0"/>
                  <a:pt x="5581650" y="34144"/>
                  <a:pt x="5581650" y="76200"/>
                </a:cubicBezTo>
                <a:lnTo>
                  <a:pt x="5581650" y="1143000"/>
                </a:lnTo>
                <a:cubicBezTo>
                  <a:pt x="5581650" y="1185056"/>
                  <a:pt x="5547506" y="1219200"/>
                  <a:pt x="5505450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3" name="Shape 11"/>
          <p:cNvSpPr/>
          <p:nvPr/>
        </p:nvSpPr>
        <p:spPr>
          <a:xfrm>
            <a:off x="400050" y="308610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14" name="Shape 12"/>
          <p:cNvSpPr/>
          <p:nvPr/>
        </p:nvSpPr>
        <p:spPr>
          <a:xfrm>
            <a:off x="609600" y="3276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15" name="Text 13"/>
          <p:cNvSpPr/>
          <p:nvPr/>
        </p:nvSpPr>
        <p:spPr>
          <a:xfrm>
            <a:off x="566738" y="3276600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3276600"/>
            <a:ext cx="47339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分享最喜欢的系列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3619500"/>
            <a:ext cx="47244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分享你最喜欢的系列，并说明原因，展示对产品知识的理解和个人见解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1000" y="5219700"/>
            <a:ext cx="5600700" cy="1257300"/>
          </a:xfrm>
          <a:custGeom>
            <a:avLst/>
            <a:gdLst/>
            <a:ahLst/>
            <a:cxnLst/>
            <a:rect l="l" t="t" r="r" b="b"/>
            <a:pathLst>
              <a:path w="5600700" h="1257300">
                <a:moveTo>
                  <a:pt x="76205" y="0"/>
                </a:moveTo>
                <a:lnTo>
                  <a:pt x="5524495" y="0"/>
                </a:lnTo>
                <a:cubicBezTo>
                  <a:pt x="5566582" y="0"/>
                  <a:pt x="5600700" y="34118"/>
                  <a:pt x="5600700" y="76205"/>
                </a:cubicBezTo>
                <a:lnTo>
                  <a:pt x="5600700" y="1181095"/>
                </a:lnTo>
                <a:cubicBezTo>
                  <a:pt x="5600700" y="1223182"/>
                  <a:pt x="5566582" y="1257300"/>
                  <a:pt x="5524495" y="1257300"/>
                </a:cubicBezTo>
                <a:lnTo>
                  <a:pt x="76205" y="1257300"/>
                </a:lnTo>
                <a:cubicBezTo>
                  <a:pt x="34118" y="1257300"/>
                  <a:pt x="0" y="1223182"/>
                  <a:pt x="0" y="11810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3A4F41">
              <a:alpha val="5098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595313" y="54483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20" name="Text 18"/>
          <p:cNvSpPr/>
          <p:nvPr/>
        </p:nvSpPr>
        <p:spPr>
          <a:xfrm>
            <a:off x="923925" y="5410200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练习目的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1500" y="5791200"/>
            <a:ext cx="52959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通过分享交流，加深对品牌文化的理解，促进团队融合，提升表达能力和产品认知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67450" y="12573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9035" y="14288"/>
                </a:moveTo>
                <a:lnTo>
                  <a:pt x="142875" y="14288"/>
                </a:lnTo>
                <a:cubicBezTo>
                  <a:pt x="158636" y="14288"/>
                  <a:pt x="171450" y="27102"/>
                  <a:pt x="171450" y="42863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42863"/>
                </a:lnTo>
                <a:cubicBezTo>
                  <a:pt x="0" y="27102"/>
                  <a:pt x="12814" y="14288"/>
                  <a:pt x="28575" y="14288"/>
                </a:cubicBezTo>
                <a:lnTo>
                  <a:pt x="32415" y="14288"/>
                </a:lnTo>
                <a:cubicBezTo>
                  <a:pt x="37326" y="5760"/>
                  <a:pt x="46568" y="0"/>
                  <a:pt x="57150" y="0"/>
                </a:cubicBezTo>
                <a:lnTo>
                  <a:pt x="114300" y="0"/>
                </a:lnTo>
                <a:cubicBezTo>
                  <a:pt x="124882" y="0"/>
                  <a:pt x="134124" y="5760"/>
                  <a:pt x="139035" y="14288"/>
                </a:cubicBezTo>
                <a:close/>
                <a:moveTo>
                  <a:pt x="110728" y="50006"/>
                </a:moveTo>
                <a:cubicBezTo>
                  <a:pt x="116666" y="50006"/>
                  <a:pt x="121444" y="45229"/>
                  <a:pt x="121444" y="39291"/>
                </a:cubicBezTo>
                <a:cubicBezTo>
                  <a:pt x="121444" y="33352"/>
                  <a:pt x="116666" y="28575"/>
                  <a:pt x="110728" y="28575"/>
                </a:cubicBezTo>
                <a:lnTo>
                  <a:pt x="60722" y="28575"/>
                </a:lnTo>
                <a:cubicBezTo>
                  <a:pt x="54784" y="28575"/>
                  <a:pt x="50006" y="33352"/>
                  <a:pt x="50006" y="39291"/>
                </a:cubicBezTo>
                <a:cubicBezTo>
                  <a:pt x="50006" y="45229"/>
                  <a:pt x="54784" y="50006"/>
                  <a:pt x="60722" y="50006"/>
                </a:cubicBezTo>
                <a:lnTo>
                  <a:pt x="110728" y="50006"/>
                </a:lnTo>
                <a:close/>
                <a:moveTo>
                  <a:pt x="57150" y="114300"/>
                </a:moveTo>
                <a:cubicBezTo>
                  <a:pt x="57150" y="106415"/>
                  <a:pt x="50748" y="100013"/>
                  <a:pt x="42863" y="100013"/>
                </a:cubicBezTo>
                <a:cubicBezTo>
                  <a:pt x="34977" y="100013"/>
                  <a:pt x="28575" y="106415"/>
                  <a:pt x="28575" y="114300"/>
                </a:cubicBezTo>
                <a:cubicBezTo>
                  <a:pt x="28575" y="122185"/>
                  <a:pt x="34977" y="128588"/>
                  <a:pt x="42863" y="128588"/>
                </a:cubicBezTo>
                <a:cubicBezTo>
                  <a:pt x="50748" y="128588"/>
                  <a:pt x="57150" y="122185"/>
                  <a:pt x="57150" y="114300"/>
                </a:cubicBezTo>
                <a:close/>
                <a:moveTo>
                  <a:pt x="71438" y="114300"/>
                </a:moveTo>
                <a:cubicBezTo>
                  <a:pt x="71438" y="120238"/>
                  <a:pt x="76215" y="125016"/>
                  <a:pt x="82153" y="125016"/>
                </a:cubicBezTo>
                <a:lnTo>
                  <a:pt x="132159" y="125016"/>
                </a:lnTo>
                <a:cubicBezTo>
                  <a:pt x="138098" y="125016"/>
                  <a:pt x="142875" y="120238"/>
                  <a:pt x="142875" y="114300"/>
                </a:cubicBezTo>
                <a:cubicBezTo>
                  <a:pt x="142875" y="108362"/>
                  <a:pt x="138098" y="103584"/>
                  <a:pt x="132159" y="103584"/>
                </a:cubicBezTo>
                <a:lnTo>
                  <a:pt x="82153" y="103584"/>
                </a:lnTo>
                <a:cubicBezTo>
                  <a:pt x="76215" y="103584"/>
                  <a:pt x="71438" y="108362"/>
                  <a:pt x="71438" y="114300"/>
                </a:cubicBezTo>
                <a:close/>
                <a:moveTo>
                  <a:pt x="71438" y="171450"/>
                </a:moveTo>
                <a:cubicBezTo>
                  <a:pt x="71438" y="177388"/>
                  <a:pt x="76215" y="182166"/>
                  <a:pt x="82153" y="182166"/>
                </a:cubicBezTo>
                <a:lnTo>
                  <a:pt x="132159" y="182166"/>
                </a:lnTo>
                <a:cubicBezTo>
                  <a:pt x="138098" y="182166"/>
                  <a:pt x="142875" y="177388"/>
                  <a:pt x="142875" y="171450"/>
                </a:cubicBezTo>
                <a:cubicBezTo>
                  <a:pt x="142875" y="165512"/>
                  <a:pt x="138098" y="160734"/>
                  <a:pt x="132159" y="160734"/>
                </a:cubicBezTo>
                <a:lnTo>
                  <a:pt x="82153" y="160734"/>
                </a:lnTo>
                <a:cubicBezTo>
                  <a:pt x="76215" y="160734"/>
                  <a:pt x="71438" y="165512"/>
                  <a:pt x="71438" y="171450"/>
                </a:cubicBezTo>
                <a:close/>
                <a:moveTo>
                  <a:pt x="42863" y="185738"/>
                </a:moveTo>
                <a:cubicBezTo>
                  <a:pt x="50748" y="185738"/>
                  <a:pt x="57150" y="179335"/>
                  <a:pt x="57150" y="171450"/>
                </a:cubicBezTo>
                <a:cubicBezTo>
                  <a:pt x="57150" y="163565"/>
                  <a:pt x="50748" y="157163"/>
                  <a:pt x="42863" y="157163"/>
                </a:cubicBezTo>
                <a:cubicBezTo>
                  <a:pt x="34977" y="157163"/>
                  <a:pt x="28575" y="163565"/>
                  <a:pt x="28575" y="171450"/>
                </a:cubicBezTo>
                <a:cubicBezTo>
                  <a:pt x="28575" y="179335"/>
                  <a:pt x="34977" y="185738"/>
                  <a:pt x="42863" y="185738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23" name="Text 21"/>
          <p:cNvSpPr/>
          <p:nvPr/>
        </p:nvSpPr>
        <p:spPr>
          <a:xfrm>
            <a:off x="6610350" y="1219200"/>
            <a:ext cx="2171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考核要点与评分标准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10300" y="1676400"/>
            <a:ext cx="5600700" cy="4800600"/>
          </a:xfrm>
          <a:custGeom>
            <a:avLst/>
            <a:gdLst/>
            <a:ahLst/>
            <a:cxnLst/>
            <a:rect l="l" t="t" r="r" b="b"/>
            <a:pathLst>
              <a:path w="5600700" h="4800600">
                <a:moveTo>
                  <a:pt x="76186" y="0"/>
                </a:moveTo>
                <a:lnTo>
                  <a:pt x="5524514" y="0"/>
                </a:lnTo>
                <a:cubicBezTo>
                  <a:pt x="5566591" y="0"/>
                  <a:pt x="5600700" y="34109"/>
                  <a:pt x="5600700" y="76186"/>
                </a:cubicBezTo>
                <a:lnTo>
                  <a:pt x="5600700" y="4724414"/>
                </a:lnTo>
                <a:cubicBezTo>
                  <a:pt x="5600700" y="4766491"/>
                  <a:pt x="5566591" y="4800600"/>
                  <a:pt x="5524514" y="4800600"/>
                </a:cubicBezTo>
                <a:lnTo>
                  <a:pt x="76186" y="4800600"/>
                </a:lnTo>
                <a:cubicBezTo>
                  <a:pt x="34109" y="4800600"/>
                  <a:pt x="0" y="4766491"/>
                  <a:pt x="0" y="4724414"/>
                </a:cubicBezTo>
                <a:lnTo>
                  <a:pt x="0" y="76186"/>
                </a:lnTo>
                <a:cubicBezTo>
                  <a:pt x="0" y="34138"/>
                  <a:pt x="34138" y="0"/>
                  <a:pt x="76186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5" name="Shape 23"/>
          <p:cNvSpPr/>
          <p:nvPr/>
        </p:nvSpPr>
        <p:spPr>
          <a:xfrm>
            <a:off x="6210300" y="1676400"/>
            <a:ext cx="5600700" cy="762000"/>
          </a:xfrm>
          <a:custGeom>
            <a:avLst/>
            <a:gdLst/>
            <a:ahLst/>
            <a:cxnLst/>
            <a:rect l="l" t="t" r="r" b="b"/>
            <a:pathLst>
              <a:path w="5600700" h="762000">
                <a:moveTo>
                  <a:pt x="0" y="0"/>
                </a:moveTo>
                <a:lnTo>
                  <a:pt x="5600700" y="0"/>
                </a:lnTo>
                <a:lnTo>
                  <a:pt x="56007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3A4F41"/>
          </a:solidFill>
        </p:spPr>
      </p:sp>
      <p:sp>
        <p:nvSpPr>
          <p:cNvPr id="26" name="Text 24"/>
          <p:cNvSpPr/>
          <p:nvPr/>
        </p:nvSpPr>
        <p:spPr>
          <a:xfrm>
            <a:off x="6291263" y="1790700"/>
            <a:ext cx="5438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7F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总分100分，80分及格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67450" y="2019300"/>
            <a:ext cx="5486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8F7F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1 考核项目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62700" y="2936875"/>
            <a:ext cx="5295900" cy="6350"/>
          </a:xfrm>
          <a:custGeom>
            <a:avLst/>
            <a:gdLst/>
            <a:ahLst/>
            <a:cxnLst/>
            <a:rect l="l" t="t" r="r" b="b"/>
            <a:pathLst>
              <a:path w="5295900" h="6350">
                <a:moveTo>
                  <a:pt x="0" y="0"/>
                </a:moveTo>
                <a:lnTo>
                  <a:pt x="5295900" y="0"/>
                </a:lnTo>
                <a:lnTo>
                  <a:pt x="529590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A9A299">
              <a:alpha val="20000"/>
            </a:srgbClr>
          </a:solidFill>
        </p:spPr>
      </p:sp>
      <p:sp>
        <p:nvSpPr>
          <p:cNvPr id="29" name="Shape 27"/>
          <p:cNvSpPr/>
          <p:nvPr/>
        </p:nvSpPr>
        <p:spPr>
          <a:xfrm>
            <a:off x="6375797" y="26765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96441" y="21431"/>
                </a:moveTo>
                <a:cubicBezTo>
                  <a:pt x="131936" y="21431"/>
                  <a:pt x="160734" y="50229"/>
                  <a:pt x="160734" y="85725"/>
                </a:cubicBezTo>
                <a:cubicBezTo>
                  <a:pt x="160734" y="121221"/>
                  <a:pt x="131936" y="150019"/>
                  <a:pt x="96441" y="150019"/>
                </a:cubicBezTo>
                <a:cubicBezTo>
                  <a:pt x="74608" y="150019"/>
                  <a:pt x="55286" y="139136"/>
                  <a:pt x="43666" y="122460"/>
                </a:cubicBezTo>
                <a:cubicBezTo>
                  <a:pt x="40284" y="117604"/>
                  <a:pt x="33587" y="116432"/>
                  <a:pt x="28731" y="119814"/>
                </a:cubicBezTo>
                <a:cubicBezTo>
                  <a:pt x="23876" y="123196"/>
                  <a:pt x="22704" y="129893"/>
                  <a:pt x="26086" y="134749"/>
                </a:cubicBezTo>
                <a:cubicBezTo>
                  <a:pt x="41557" y="156917"/>
                  <a:pt x="67308" y="171450"/>
                  <a:pt x="96441" y="171450"/>
                </a:cubicBezTo>
                <a:cubicBezTo>
                  <a:pt x="143790" y="171450"/>
                  <a:pt x="182166" y="133075"/>
                  <a:pt x="182166" y="85725"/>
                </a:cubicBezTo>
                <a:cubicBezTo>
                  <a:pt x="182166" y="38375"/>
                  <a:pt x="143790" y="0"/>
                  <a:pt x="96441" y="0"/>
                </a:cubicBezTo>
                <a:cubicBezTo>
                  <a:pt x="67743" y="0"/>
                  <a:pt x="42360" y="14098"/>
                  <a:pt x="26789" y="35730"/>
                </a:cubicBezTo>
                <a:lnTo>
                  <a:pt x="26789" y="26789"/>
                </a:lnTo>
                <a:cubicBezTo>
                  <a:pt x="26789" y="20862"/>
                  <a:pt x="22001" y="16073"/>
                  <a:pt x="16073" y="16073"/>
                </a:cubicBezTo>
                <a:cubicBezTo>
                  <a:pt x="10146" y="16073"/>
                  <a:pt x="5358" y="20862"/>
                  <a:pt x="5358" y="26789"/>
                </a:cubicBezTo>
                <a:lnTo>
                  <a:pt x="5358" y="64294"/>
                </a:lnTo>
                <a:cubicBezTo>
                  <a:pt x="5358" y="70221"/>
                  <a:pt x="10146" y="75009"/>
                  <a:pt x="16073" y="75009"/>
                </a:cubicBezTo>
                <a:lnTo>
                  <a:pt x="24311" y="75009"/>
                </a:lnTo>
                <a:cubicBezTo>
                  <a:pt x="24479" y="75009"/>
                  <a:pt x="24646" y="75009"/>
                  <a:pt x="24813" y="75009"/>
                </a:cubicBezTo>
                <a:lnTo>
                  <a:pt x="53612" y="75009"/>
                </a:lnTo>
                <a:cubicBezTo>
                  <a:pt x="59539" y="75009"/>
                  <a:pt x="64327" y="70221"/>
                  <a:pt x="64327" y="64294"/>
                </a:cubicBezTo>
                <a:cubicBezTo>
                  <a:pt x="64327" y="58367"/>
                  <a:pt x="59539" y="53578"/>
                  <a:pt x="53612" y="53578"/>
                </a:cubicBezTo>
                <a:lnTo>
                  <a:pt x="40786" y="53578"/>
                </a:lnTo>
                <a:cubicBezTo>
                  <a:pt x="51870" y="34357"/>
                  <a:pt x="72665" y="21431"/>
                  <a:pt x="96441" y="21431"/>
                </a:cubicBezTo>
                <a:close/>
                <a:moveTo>
                  <a:pt x="104477" y="50899"/>
                </a:moveTo>
                <a:cubicBezTo>
                  <a:pt x="104477" y="46446"/>
                  <a:pt x="100894" y="42863"/>
                  <a:pt x="96441" y="42863"/>
                </a:cubicBezTo>
                <a:cubicBezTo>
                  <a:pt x="91987" y="42863"/>
                  <a:pt x="88404" y="46446"/>
                  <a:pt x="88404" y="50899"/>
                </a:cubicBezTo>
                <a:lnTo>
                  <a:pt x="88404" y="85725"/>
                </a:lnTo>
                <a:cubicBezTo>
                  <a:pt x="88404" y="87868"/>
                  <a:pt x="89241" y="89911"/>
                  <a:pt x="90748" y="91418"/>
                </a:cubicBezTo>
                <a:lnTo>
                  <a:pt x="114858" y="115528"/>
                </a:lnTo>
                <a:cubicBezTo>
                  <a:pt x="118006" y="118676"/>
                  <a:pt x="123096" y="118676"/>
                  <a:pt x="126210" y="115528"/>
                </a:cubicBezTo>
                <a:cubicBezTo>
                  <a:pt x="129324" y="112380"/>
                  <a:pt x="129358" y="107290"/>
                  <a:pt x="126210" y="104176"/>
                </a:cubicBezTo>
                <a:lnTo>
                  <a:pt x="104444" y="82410"/>
                </a:lnTo>
                <a:lnTo>
                  <a:pt x="104444" y="50899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30" name="Text 28"/>
          <p:cNvSpPr/>
          <p:nvPr/>
        </p:nvSpPr>
        <p:spPr>
          <a:xfrm>
            <a:off x="6691313" y="2647950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凯施迪诞生年份、诞生地、品牌历史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241881" y="2628900"/>
            <a:ext cx="5143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20分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62700" y="3584575"/>
            <a:ext cx="5295900" cy="6350"/>
          </a:xfrm>
          <a:custGeom>
            <a:avLst/>
            <a:gdLst/>
            <a:ahLst/>
            <a:cxnLst/>
            <a:rect l="l" t="t" r="r" b="b"/>
            <a:pathLst>
              <a:path w="5295900" h="6350">
                <a:moveTo>
                  <a:pt x="0" y="0"/>
                </a:moveTo>
                <a:lnTo>
                  <a:pt x="5295900" y="0"/>
                </a:lnTo>
                <a:lnTo>
                  <a:pt x="529590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A9A299">
              <a:alpha val="20000"/>
            </a:srgbClr>
          </a:solidFill>
        </p:spPr>
      </p:sp>
      <p:sp>
        <p:nvSpPr>
          <p:cNvPr id="33" name="Shape 31"/>
          <p:cNvSpPr/>
          <p:nvPr/>
        </p:nvSpPr>
        <p:spPr>
          <a:xfrm>
            <a:off x="6397228" y="33242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21431" y="10716"/>
                </a:moveTo>
                <a:cubicBezTo>
                  <a:pt x="21431" y="4789"/>
                  <a:pt x="16643" y="0"/>
                  <a:pt x="10716" y="0"/>
                </a:cubicBezTo>
                <a:cubicBezTo>
                  <a:pt x="4789" y="0"/>
                  <a:pt x="0" y="4789"/>
                  <a:pt x="0" y="10716"/>
                </a:cubicBezTo>
                <a:lnTo>
                  <a:pt x="0" y="160734"/>
                </a:lnTo>
                <a:cubicBezTo>
                  <a:pt x="0" y="166661"/>
                  <a:pt x="4789" y="171450"/>
                  <a:pt x="10716" y="171450"/>
                </a:cubicBezTo>
                <a:cubicBezTo>
                  <a:pt x="16643" y="171450"/>
                  <a:pt x="21431" y="166661"/>
                  <a:pt x="21431" y="160734"/>
                </a:cubicBezTo>
                <a:lnTo>
                  <a:pt x="21431" y="120015"/>
                </a:lnTo>
                <a:lnTo>
                  <a:pt x="42427" y="113720"/>
                </a:lnTo>
                <a:cubicBezTo>
                  <a:pt x="56458" y="109500"/>
                  <a:pt x="71594" y="110806"/>
                  <a:pt x="84687" y="117370"/>
                </a:cubicBezTo>
                <a:cubicBezTo>
                  <a:pt x="98986" y="124536"/>
                  <a:pt x="115662" y="125406"/>
                  <a:pt x="130630" y="119781"/>
                </a:cubicBezTo>
                <a:lnTo>
                  <a:pt x="143054" y="115126"/>
                </a:lnTo>
                <a:cubicBezTo>
                  <a:pt x="147239" y="113552"/>
                  <a:pt x="150019" y="109567"/>
                  <a:pt x="150019" y="105080"/>
                </a:cubicBezTo>
                <a:lnTo>
                  <a:pt x="150019" y="22134"/>
                </a:lnTo>
                <a:cubicBezTo>
                  <a:pt x="150019" y="14433"/>
                  <a:pt x="141915" y="9410"/>
                  <a:pt x="135017" y="12859"/>
                </a:cubicBezTo>
                <a:lnTo>
                  <a:pt x="131065" y="14834"/>
                </a:lnTo>
                <a:cubicBezTo>
                  <a:pt x="116030" y="22369"/>
                  <a:pt x="98316" y="22369"/>
                  <a:pt x="83247" y="14834"/>
                </a:cubicBezTo>
                <a:cubicBezTo>
                  <a:pt x="71058" y="8740"/>
                  <a:pt x="57027" y="7534"/>
                  <a:pt x="44001" y="11452"/>
                </a:cubicBezTo>
                <a:lnTo>
                  <a:pt x="21431" y="18217"/>
                </a:lnTo>
                <a:lnTo>
                  <a:pt x="21431" y="10716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34" name="Text 32"/>
          <p:cNvSpPr/>
          <p:nvPr/>
        </p:nvSpPr>
        <p:spPr>
          <a:xfrm>
            <a:off x="6691313" y="3295650"/>
            <a:ext cx="2705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凯施迪品牌定位、愿景、使命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241881" y="3276600"/>
            <a:ext cx="5143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20分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62700" y="4232275"/>
            <a:ext cx="5295900" cy="6350"/>
          </a:xfrm>
          <a:custGeom>
            <a:avLst/>
            <a:gdLst/>
            <a:ahLst/>
            <a:cxnLst/>
            <a:rect l="l" t="t" r="r" b="b"/>
            <a:pathLst>
              <a:path w="5295900" h="6350">
                <a:moveTo>
                  <a:pt x="0" y="0"/>
                </a:moveTo>
                <a:lnTo>
                  <a:pt x="5295900" y="0"/>
                </a:lnTo>
                <a:lnTo>
                  <a:pt x="529590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A9A299">
              <a:alpha val="20000"/>
            </a:srgbClr>
          </a:solidFill>
        </p:spPr>
      </p:sp>
      <p:sp>
        <p:nvSpPr>
          <p:cNvPr id="37" name="Shape 35"/>
          <p:cNvSpPr/>
          <p:nvPr/>
        </p:nvSpPr>
        <p:spPr>
          <a:xfrm>
            <a:off x="6365081" y="397192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07223" y="37505"/>
                </a:moveTo>
                <a:cubicBezTo>
                  <a:pt x="122024" y="37505"/>
                  <a:pt x="134012" y="25517"/>
                  <a:pt x="134012" y="10716"/>
                </a:cubicBezTo>
                <a:lnTo>
                  <a:pt x="151927" y="10716"/>
                </a:lnTo>
                <a:cubicBezTo>
                  <a:pt x="157620" y="10716"/>
                  <a:pt x="163078" y="12959"/>
                  <a:pt x="167097" y="16978"/>
                </a:cubicBezTo>
                <a:lnTo>
                  <a:pt x="206812" y="56726"/>
                </a:lnTo>
                <a:cubicBezTo>
                  <a:pt x="210997" y="60912"/>
                  <a:pt x="210997" y="67709"/>
                  <a:pt x="206812" y="71895"/>
                </a:cubicBezTo>
                <a:lnTo>
                  <a:pt x="189834" y="88873"/>
                </a:lnTo>
                <a:cubicBezTo>
                  <a:pt x="185648" y="93059"/>
                  <a:pt x="178850" y="93059"/>
                  <a:pt x="174665" y="88873"/>
                </a:cubicBezTo>
                <a:lnTo>
                  <a:pt x="160801" y="75009"/>
                </a:lnTo>
                <a:lnTo>
                  <a:pt x="160801" y="150019"/>
                </a:lnTo>
                <a:cubicBezTo>
                  <a:pt x="160801" y="161839"/>
                  <a:pt x="151191" y="171450"/>
                  <a:pt x="139370" y="171450"/>
                </a:cubicBezTo>
                <a:lnTo>
                  <a:pt x="75076" y="171450"/>
                </a:lnTo>
                <a:cubicBezTo>
                  <a:pt x="63256" y="171450"/>
                  <a:pt x="53645" y="161839"/>
                  <a:pt x="53645" y="150019"/>
                </a:cubicBezTo>
                <a:lnTo>
                  <a:pt x="53645" y="75009"/>
                </a:lnTo>
                <a:lnTo>
                  <a:pt x="39782" y="88873"/>
                </a:lnTo>
                <a:cubicBezTo>
                  <a:pt x="35596" y="93059"/>
                  <a:pt x="28798" y="93059"/>
                  <a:pt x="24612" y="88873"/>
                </a:cubicBezTo>
                <a:lnTo>
                  <a:pt x="7668" y="71862"/>
                </a:lnTo>
                <a:cubicBezTo>
                  <a:pt x="3483" y="67676"/>
                  <a:pt x="3483" y="60878"/>
                  <a:pt x="7668" y="56692"/>
                </a:cubicBezTo>
                <a:lnTo>
                  <a:pt x="47383" y="16978"/>
                </a:lnTo>
                <a:cubicBezTo>
                  <a:pt x="51402" y="12959"/>
                  <a:pt x="56860" y="10716"/>
                  <a:pt x="62552" y="10716"/>
                </a:cubicBezTo>
                <a:lnTo>
                  <a:pt x="80468" y="10716"/>
                </a:lnTo>
                <a:cubicBezTo>
                  <a:pt x="80468" y="25517"/>
                  <a:pt x="92456" y="37505"/>
                  <a:pt x="107257" y="37505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38" name="Text 36"/>
          <p:cNvSpPr/>
          <p:nvPr/>
        </p:nvSpPr>
        <p:spPr>
          <a:xfrm>
            <a:off x="6691313" y="3943350"/>
            <a:ext cx="2667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凯施迪三大产品线及各子系列穿着场景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242080" y="3924300"/>
            <a:ext cx="5143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30分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62700" y="4879975"/>
            <a:ext cx="5295900" cy="6350"/>
          </a:xfrm>
          <a:custGeom>
            <a:avLst/>
            <a:gdLst/>
            <a:ahLst/>
            <a:cxnLst/>
            <a:rect l="l" t="t" r="r" b="b"/>
            <a:pathLst>
              <a:path w="5295900" h="6350">
                <a:moveTo>
                  <a:pt x="0" y="0"/>
                </a:moveTo>
                <a:lnTo>
                  <a:pt x="5295900" y="0"/>
                </a:lnTo>
                <a:lnTo>
                  <a:pt x="529590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A9A299">
              <a:alpha val="20000"/>
            </a:srgbClr>
          </a:solidFill>
        </p:spPr>
      </p:sp>
      <p:sp>
        <p:nvSpPr>
          <p:cNvPr id="41" name="Shape 39"/>
          <p:cNvSpPr/>
          <p:nvPr/>
        </p:nvSpPr>
        <p:spPr>
          <a:xfrm>
            <a:off x="6397228" y="46196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75009" y="83046"/>
                </a:moveTo>
                <a:cubicBezTo>
                  <a:pt x="52831" y="83046"/>
                  <a:pt x="34826" y="65040"/>
                  <a:pt x="34826" y="42863"/>
                </a:cubicBezTo>
                <a:cubicBezTo>
                  <a:pt x="34826" y="20685"/>
                  <a:pt x="52831" y="2679"/>
                  <a:pt x="75009" y="2679"/>
                </a:cubicBezTo>
                <a:cubicBezTo>
                  <a:pt x="97187" y="2679"/>
                  <a:pt x="115193" y="20685"/>
                  <a:pt x="115193" y="42862"/>
                </a:cubicBezTo>
                <a:cubicBezTo>
                  <a:pt x="115193" y="65040"/>
                  <a:pt x="97187" y="83046"/>
                  <a:pt x="75009" y="83046"/>
                </a:cubicBezTo>
                <a:close/>
                <a:moveTo>
                  <a:pt x="64796" y="101798"/>
                </a:moveTo>
                <a:lnTo>
                  <a:pt x="85223" y="101798"/>
                </a:lnTo>
                <a:cubicBezTo>
                  <a:pt x="88471" y="101798"/>
                  <a:pt x="91083" y="104410"/>
                  <a:pt x="91083" y="107659"/>
                </a:cubicBezTo>
                <a:cubicBezTo>
                  <a:pt x="91083" y="109065"/>
                  <a:pt x="90581" y="110404"/>
                  <a:pt x="89676" y="111476"/>
                </a:cubicBezTo>
                <a:lnTo>
                  <a:pt x="80501" y="122192"/>
                </a:lnTo>
                <a:lnTo>
                  <a:pt x="90882" y="160734"/>
                </a:lnTo>
                <a:lnTo>
                  <a:pt x="91083" y="160734"/>
                </a:lnTo>
                <a:lnTo>
                  <a:pt x="102669" y="114356"/>
                </a:lnTo>
                <a:cubicBezTo>
                  <a:pt x="103406" y="111443"/>
                  <a:pt x="106386" y="109668"/>
                  <a:pt x="109199" y="110739"/>
                </a:cubicBezTo>
                <a:cubicBezTo>
                  <a:pt x="129927" y="118642"/>
                  <a:pt x="144661" y="138734"/>
                  <a:pt x="144661" y="162241"/>
                </a:cubicBezTo>
                <a:cubicBezTo>
                  <a:pt x="144661" y="167298"/>
                  <a:pt x="140542" y="171417"/>
                  <a:pt x="135486" y="171417"/>
                </a:cubicBezTo>
                <a:lnTo>
                  <a:pt x="14533" y="171450"/>
                </a:lnTo>
                <a:cubicBezTo>
                  <a:pt x="9477" y="171450"/>
                  <a:pt x="5358" y="167331"/>
                  <a:pt x="5358" y="162275"/>
                </a:cubicBezTo>
                <a:cubicBezTo>
                  <a:pt x="5358" y="138767"/>
                  <a:pt x="20092" y="118676"/>
                  <a:pt x="40820" y="110773"/>
                </a:cubicBezTo>
                <a:cubicBezTo>
                  <a:pt x="43633" y="109701"/>
                  <a:pt x="46613" y="111476"/>
                  <a:pt x="47350" y="114389"/>
                </a:cubicBezTo>
                <a:lnTo>
                  <a:pt x="58936" y="160768"/>
                </a:lnTo>
                <a:lnTo>
                  <a:pt x="59137" y="160768"/>
                </a:lnTo>
                <a:lnTo>
                  <a:pt x="69518" y="122225"/>
                </a:lnTo>
                <a:lnTo>
                  <a:pt x="60342" y="111509"/>
                </a:lnTo>
                <a:cubicBezTo>
                  <a:pt x="59438" y="110438"/>
                  <a:pt x="58936" y="109098"/>
                  <a:pt x="58936" y="107692"/>
                </a:cubicBezTo>
                <a:cubicBezTo>
                  <a:pt x="58936" y="104444"/>
                  <a:pt x="61548" y="101832"/>
                  <a:pt x="64796" y="101832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42" name="Text 40"/>
          <p:cNvSpPr/>
          <p:nvPr/>
        </p:nvSpPr>
        <p:spPr>
          <a:xfrm>
            <a:off x="6691313" y="4591050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员工形象标准及基本服务礼仪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241881" y="4572000"/>
            <a:ext cx="5143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20分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97228" y="52673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0716" y="10716"/>
                </a:moveTo>
                <a:cubicBezTo>
                  <a:pt x="4789" y="10716"/>
                  <a:pt x="0" y="15504"/>
                  <a:pt x="0" y="21431"/>
                </a:cubicBezTo>
                <a:lnTo>
                  <a:pt x="0" y="150019"/>
                </a:lnTo>
                <a:cubicBezTo>
                  <a:pt x="0" y="155946"/>
                  <a:pt x="4789" y="160734"/>
                  <a:pt x="10716" y="160734"/>
                </a:cubicBezTo>
                <a:cubicBezTo>
                  <a:pt x="16643" y="160734"/>
                  <a:pt x="21431" y="155946"/>
                  <a:pt x="21431" y="150019"/>
                </a:cubicBezTo>
                <a:lnTo>
                  <a:pt x="21431" y="21431"/>
                </a:lnTo>
                <a:cubicBezTo>
                  <a:pt x="21431" y="15504"/>
                  <a:pt x="16643" y="10716"/>
                  <a:pt x="10716" y="10716"/>
                </a:cubicBezTo>
                <a:close/>
                <a:moveTo>
                  <a:pt x="40184" y="10716"/>
                </a:moveTo>
                <a:cubicBezTo>
                  <a:pt x="35730" y="10716"/>
                  <a:pt x="32147" y="14299"/>
                  <a:pt x="32147" y="18752"/>
                </a:cubicBezTo>
                <a:lnTo>
                  <a:pt x="32147" y="152698"/>
                </a:lnTo>
                <a:cubicBezTo>
                  <a:pt x="32147" y="157151"/>
                  <a:pt x="35730" y="160734"/>
                  <a:pt x="40184" y="160734"/>
                </a:cubicBezTo>
                <a:cubicBezTo>
                  <a:pt x="44637" y="160734"/>
                  <a:pt x="48220" y="157151"/>
                  <a:pt x="48220" y="152698"/>
                </a:cubicBezTo>
                <a:lnTo>
                  <a:pt x="48220" y="18752"/>
                </a:lnTo>
                <a:cubicBezTo>
                  <a:pt x="48220" y="14299"/>
                  <a:pt x="44637" y="10716"/>
                  <a:pt x="40184" y="10716"/>
                </a:cubicBezTo>
                <a:close/>
                <a:moveTo>
                  <a:pt x="64294" y="21431"/>
                </a:moveTo>
                <a:lnTo>
                  <a:pt x="64294" y="150019"/>
                </a:lnTo>
                <a:cubicBezTo>
                  <a:pt x="64294" y="155946"/>
                  <a:pt x="69082" y="160734"/>
                  <a:pt x="75009" y="160734"/>
                </a:cubicBezTo>
                <a:cubicBezTo>
                  <a:pt x="80936" y="160734"/>
                  <a:pt x="85725" y="155946"/>
                  <a:pt x="85725" y="150019"/>
                </a:cubicBezTo>
                <a:lnTo>
                  <a:pt x="85725" y="21431"/>
                </a:lnTo>
                <a:cubicBezTo>
                  <a:pt x="85725" y="15504"/>
                  <a:pt x="80936" y="10716"/>
                  <a:pt x="75009" y="10716"/>
                </a:cubicBezTo>
                <a:cubicBezTo>
                  <a:pt x="69082" y="10716"/>
                  <a:pt x="64294" y="15504"/>
                  <a:pt x="64294" y="21431"/>
                </a:cubicBezTo>
                <a:close/>
                <a:moveTo>
                  <a:pt x="133945" y="18752"/>
                </a:moveTo>
                <a:lnTo>
                  <a:pt x="133945" y="152698"/>
                </a:lnTo>
                <a:cubicBezTo>
                  <a:pt x="133945" y="157151"/>
                  <a:pt x="137528" y="160734"/>
                  <a:pt x="141982" y="160734"/>
                </a:cubicBezTo>
                <a:cubicBezTo>
                  <a:pt x="146436" y="160734"/>
                  <a:pt x="150019" y="157151"/>
                  <a:pt x="150019" y="152698"/>
                </a:cubicBezTo>
                <a:lnTo>
                  <a:pt x="150019" y="18752"/>
                </a:lnTo>
                <a:cubicBezTo>
                  <a:pt x="150019" y="14299"/>
                  <a:pt x="146436" y="10716"/>
                  <a:pt x="141982" y="10716"/>
                </a:cubicBezTo>
                <a:cubicBezTo>
                  <a:pt x="137528" y="10716"/>
                  <a:pt x="133945" y="14299"/>
                  <a:pt x="133945" y="18752"/>
                </a:cubicBezTo>
                <a:close/>
                <a:moveTo>
                  <a:pt x="101798" y="18752"/>
                </a:moveTo>
                <a:lnTo>
                  <a:pt x="101798" y="152698"/>
                </a:lnTo>
                <a:cubicBezTo>
                  <a:pt x="101798" y="157151"/>
                  <a:pt x="105381" y="160734"/>
                  <a:pt x="109835" y="160734"/>
                </a:cubicBezTo>
                <a:cubicBezTo>
                  <a:pt x="114289" y="160734"/>
                  <a:pt x="117872" y="157151"/>
                  <a:pt x="117872" y="152698"/>
                </a:cubicBezTo>
                <a:lnTo>
                  <a:pt x="117872" y="18752"/>
                </a:lnTo>
                <a:cubicBezTo>
                  <a:pt x="117872" y="14299"/>
                  <a:pt x="114289" y="10716"/>
                  <a:pt x="109835" y="10716"/>
                </a:cubicBezTo>
                <a:cubicBezTo>
                  <a:pt x="105381" y="10716"/>
                  <a:pt x="101798" y="14299"/>
                  <a:pt x="101798" y="18752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45" name="Text 43"/>
          <p:cNvSpPr/>
          <p:nvPr/>
        </p:nvSpPr>
        <p:spPr>
          <a:xfrm>
            <a:off x="6691313" y="523875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产品货号编码规则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1266289" y="5219700"/>
            <a:ext cx="4857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10分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210300" y="5676900"/>
            <a:ext cx="5600700" cy="800100"/>
          </a:xfrm>
          <a:custGeom>
            <a:avLst/>
            <a:gdLst/>
            <a:ahLst/>
            <a:cxnLst/>
            <a:rect l="l" t="t" r="r" b="b"/>
            <a:pathLst>
              <a:path w="5600700" h="800100">
                <a:moveTo>
                  <a:pt x="0" y="0"/>
                </a:moveTo>
                <a:lnTo>
                  <a:pt x="5600700" y="0"/>
                </a:lnTo>
                <a:lnTo>
                  <a:pt x="560070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C47A5A">
              <a:alpha val="10196"/>
            </a:srgbClr>
          </a:solidFill>
        </p:spPr>
      </p:sp>
      <p:sp>
        <p:nvSpPr>
          <p:cNvPr id="48" name="Text 46"/>
          <p:cNvSpPr/>
          <p:nvPr/>
        </p:nvSpPr>
        <p:spPr>
          <a:xfrm>
            <a:off x="6291263" y="5791200"/>
            <a:ext cx="5438775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评分标准：</a:t>
            </a:r>
            <a:r>
              <a:rPr lang="en-US" sz="105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准确说出具体年份、地点及关键历史节点；完整复述品牌核心文化要素；准确说出三大产品线名称及对应子系列场景；着装规范，能标准演示迎宾送宾动作；能根据货号判断系列和服饰类型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yyasw4ib73lsu/day2_operation.jpg"/>
          <p:cNvPicPr>
            <a:picLocks noChangeAspect="1"/>
          </p:cNvPicPr>
          <p:nvPr/>
        </p:nvPicPr>
        <p:blipFill>
          <a:blip r:embed="rId1"/>
          <a:srcRect t="781" b="781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A4F41">
                  <a:alpha val="90000"/>
                </a:srgbClr>
              </a:gs>
              <a:gs pos="50000">
                <a:srgbClr val="3A4F41">
                  <a:alpha val="70000"/>
                </a:srgbClr>
              </a:gs>
              <a:gs pos="100000">
                <a:srgbClr val="3A4F41">
                  <a:alpha val="90000"/>
                </a:srgbClr>
              </a:gs>
            </a:gsLst>
            <a:lin ang="5400000" scaled="1"/>
          </a:gradFill>
        </p:spPr>
      </p:sp>
      <p:sp>
        <p:nvSpPr>
          <p:cNvPr id="4" name="Text 1"/>
          <p:cNvSpPr/>
          <p:nvPr/>
        </p:nvSpPr>
        <p:spPr>
          <a:xfrm>
            <a:off x="4772025" y="2190750"/>
            <a:ext cx="26479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kern="0" spc="360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02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638675" y="2647950"/>
            <a:ext cx="291465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F8F7F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第2天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0" y="356235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7" name="Text 4"/>
          <p:cNvSpPr/>
          <p:nvPr/>
        </p:nvSpPr>
        <p:spPr>
          <a:xfrm>
            <a:off x="4738688" y="3905250"/>
            <a:ext cx="27146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F8F7F5">
                    <a:alpha val="9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店铺运营与服务流程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762500" y="4400550"/>
            <a:ext cx="26670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8F7F5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规范店铺运营 · 精通服务流程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10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02 · OBJECTIVES &amp; CONTENT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教学目标与教学内容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9575" y="1219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5" name="Text 3"/>
          <p:cNvSpPr/>
          <p:nvPr/>
        </p:nvSpPr>
        <p:spPr>
          <a:xfrm>
            <a:off x="781050" y="1181100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教学目标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638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7" name="Text 5"/>
          <p:cNvSpPr/>
          <p:nvPr/>
        </p:nvSpPr>
        <p:spPr>
          <a:xfrm>
            <a:off x="338138" y="1638300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638300"/>
            <a:ext cx="25431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掌握店铺5S标准及仓库管理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1943100"/>
            <a:ext cx="253365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掌握店铺5S标准及终端仓库管理规范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1000" y="2628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11" name="Text 9"/>
          <p:cNvSpPr/>
          <p:nvPr/>
        </p:nvSpPr>
        <p:spPr>
          <a:xfrm>
            <a:off x="338138" y="2628900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2628900"/>
            <a:ext cx="28194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理解一句话板墙话术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2933700"/>
            <a:ext cx="2809875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理解并记忆"一句话板墙"话术及使用场景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1000" y="3619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15" name="Text 13"/>
          <p:cNvSpPr/>
          <p:nvPr/>
        </p:nvSpPr>
        <p:spPr>
          <a:xfrm>
            <a:off x="338138" y="3619500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3619500"/>
            <a:ext cx="26098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熟悉销售服务流程8个环节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3924300"/>
            <a:ext cx="2600325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熟悉销售服务流程8个环节的基本要领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1000" y="4610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19" name="Text 17"/>
          <p:cNvSpPr/>
          <p:nvPr/>
        </p:nvSpPr>
        <p:spPr>
          <a:xfrm>
            <a:off x="338138" y="4610100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4610100"/>
            <a:ext cx="22193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了解薪酬制度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" y="4914900"/>
            <a:ext cx="22098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了解薪酬制度及高工资获取方式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1000" y="5600700"/>
            <a:ext cx="5600700" cy="876300"/>
          </a:xfrm>
          <a:custGeom>
            <a:avLst/>
            <a:gdLst/>
            <a:ahLst/>
            <a:cxnLst/>
            <a:rect l="l" t="t" r="r" b="b"/>
            <a:pathLst>
              <a:path w="5600700" h="876300">
                <a:moveTo>
                  <a:pt x="76203" y="0"/>
                </a:moveTo>
                <a:lnTo>
                  <a:pt x="5524497" y="0"/>
                </a:lnTo>
                <a:cubicBezTo>
                  <a:pt x="5566583" y="0"/>
                  <a:pt x="5600700" y="34117"/>
                  <a:pt x="5600700" y="76203"/>
                </a:cubicBezTo>
                <a:lnTo>
                  <a:pt x="5600700" y="800097"/>
                </a:lnTo>
                <a:cubicBezTo>
                  <a:pt x="5600700" y="842183"/>
                  <a:pt x="5566583" y="876300"/>
                  <a:pt x="5524497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3A4F41">
              <a:alpha val="5098"/>
            </a:srgbClr>
          </a:solidFill>
        </p:spPr>
      </p:sp>
      <p:sp>
        <p:nvSpPr>
          <p:cNvPr id="23" name="Shape 21"/>
          <p:cNvSpPr/>
          <p:nvPr/>
        </p:nvSpPr>
        <p:spPr>
          <a:xfrm>
            <a:off x="546497" y="58007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32147" y="21431"/>
                </a:moveTo>
                <a:cubicBezTo>
                  <a:pt x="20326" y="21431"/>
                  <a:pt x="10716" y="31042"/>
                  <a:pt x="10716" y="42863"/>
                </a:cubicBezTo>
                <a:lnTo>
                  <a:pt x="10716" y="128588"/>
                </a:lnTo>
                <a:cubicBezTo>
                  <a:pt x="10716" y="140408"/>
                  <a:pt x="20326" y="150019"/>
                  <a:pt x="32147" y="150019"/>
                </a:cubicBezTo>
                <a:lnTo>
                  <a:pt x="117872" y="150019"/>
                </a:lnTo>
                <a:cubicBezTo>
                  <a:pt x="129693" y="150019"/>
                  <a:pt x="139303" y="140408"/>
                  <a:pt x="139303" y="128588"/>
                </a:cubicBezTo>
                <a:lnTo>
                  <a:pt x="139303" y="42863"/>
                </a:lnTo>
                <a:cubicBezTo>
                  <a:pt x="139303" y="31042"/>
                  <a:pt x="129693" y="21431"/>
                  <a:pt x="117872" y="21431"/>
                </a:cubicBezTo>
                <a:lnTo>
                  <a:pt x="32147" y="21431"/>
                </a:lnTo>
                <a:close/>
                <a:moveTo>
                  <a:pt x="155377" y="112514"/>
                </a:moveTo>
                <a:lnTo>
                  <a:pt x="179989" y="132204"/>
                </a:lnTo>
                <a:cubicBezTo>
                  <a:pt x="181395" y="133343"/>
                  <a:pt x="183137" y="133945"/>
                  <a:pt x="184945" y="133945"/>
                </a:cubicBezTo>
                <a:cubicBezTo>
                  <a:pt x="189332" y="133945"/>
                  <a:pt x="192881" y="130396"/>
                  <a:pt x="192881" y="126009"/>
                </a:cubicBezTo>
                <a:lnTo>
                  <a:pt x="192881" y="45441"/>
                </a:lnTo>
                <a:cubicBezTo>
                  <a:pt x="192881" y="41054"/>
                  <a:pt x="189332" y="37505"/>
                  <a:pt x="184945" y="37505"/>
                </a:cubicBezTo>
                <a:cubicBezTo>
                  <a:pt x="183137" y="37505"/>
                  <a:pt x="181395" y="38107"/>
                  <a:pt x="179989" y="39246"/>
                </a:cubicBezTo>
                <a:lnTo>
                  <a:pt x="155377" y="58936"/>
                </a:lnTo>
                <a:lnTo>
                  <a:pt x="155377" y="112514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24" name="Text 22"/>
          <p:cNvSpPr/>
          <p:nvPr/>
        </p:nvSpPr>
        <p:spPr>
          <a:xfrm>
            <a:off x="862013" y="5753100"/>
            <a:ext cx="18002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线上课程预习（必修）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3400" y="6096000"/>
            <a:ext cx="5372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《销售服务流程8PLUS》（25min）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38875" y="1219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63088"/>
                </a:moveTo>
                <a:lnTo>
                  <a:pt x="114300" y="201186"/>
                </a:lnTo>
                <a:lnTo>
                  <a:pt x="114523" y="201097"/>
                </a:lnTo>
                <a:cubicBezTo>
                  <a:pt x="138901" y="190961"/>
                  <a:pt x="165065" y="185738"/>
                  <a:pt x="191453" y="185738"/>
                </a:cubicBezTo>
                <a:lnTo>
                  <a:pt x="200025" y="185738"/>
                </a:lnTo>
                <a:lnTo>
                  <a:pt x="200025" y="42863"/>
                </a:lnTo>
                <a:lnTo>
                  <a:pt x="191453" y="42863"/>
                </a:lnTo>
                <a:cubicBezTo>
                  <a:pt x="172611" y="42863"/>
                  <a:pt x="153903" y="46613"/>
                  <a:pt x="136490" y="53846"/>
                </a:cubicBezTo>
                <a:cubicBezTo>
                  <a:pt x="128989" y="56971"/>
                  <a:pt x="121578" y="60052"/>
                  <a:pt x="114300" y="63088"/>
                </a:cubicBezTo>
                <a:close/>
                <a:moveTo>
                  <a:pt x="103093" y="27459"/>
                </a:moveTo>
                <a:lnTo>
                  <a:pt x="114300" y="32147"/>
                </a:lnTo>
                <a:lnTo>
                  <a:pt x="125507" y="27459"/>
                </a:lnTo>
                <a:cubicBezTo>
                  <a:pt x="146402" y="18752"/>
                  <a:pt x="168816" y="14288"/>
                  <a:pt x="191453" y="14288"/>
                </a:cubicBezTo>
                <a:lnTo>
                  <a:pt x="207169" y="14288"/>
                </a:lnTo>
                <a:cubicBezTo>
                  <a:pt x="219001" y="14288"/>
                  <a:pt x="228600" y="23887"/>
                  <a:pt x="228600" y="35719"/>
                </a:cubicBezTo>
                <a:lnTo>
                  <a:pt x="228600" y="192881"/>
                </a:lnTo>
                <a:cubicBezTo>
                  <a:pt x="228600" y="204713"/>
                  <a:pt x="219001" y="214313"/>
                  <a:pt x="207169" y="214313"/>
                </a:cubicBezTo>
                <a:lnTo>
                  <a:pt x="191453" y="214313"/>
                </a:lnTo>
                <a:cubicBezTo>
                  <a:pt x="168816" y="214313"/>
                  <a:pt x="146402" y="218777"/>
                  <a:pt x="125507" y="227484"/>
                </a:cubicBezTo>
                <a:lnTo>
                  <a:pt x="119792" y="229850"/>
                </a:lnTo>
                <a:cubicBezTo>
                  <a:pt x="116265" y="231324"/>
                  <a:pt x="112335" y="231324"/>
                  <a:pt x="108808" y="229850"/>
                </a:cubicBezTo>
                <a:lnTo>
                  <a:pt x="103093" y="227484"/>
                </a:lnTo>
                <a:cubicBezTo>
                  <a:pt x="82198" y="218777"/>
                  <a:pt x="59784" y="214313"/>
                  <a:pt x="37148" y="214313"/>
                </a:cubicBezTo>
                <a:lnTo>
                  <a:pt x="21431" y="214313"/>
                </a:lnTo>
                <a:cubicBezTo>
                  <a:pt x="9599" y="214313"/>
                  <a:pt x="0" y="204713"/>
                  <a:pt x="0" y="192881"/>
                </a:cubicBezTo>
                <a:lnTo>
                  <a:pt x="0" y="35719"/>
                </a:lnTo>
                <a:cubicBezTo>
                  <a:pt x="0" y="23887"/>
                  <a:pt x="9599" y="14288"/>
                  <a:pt x="21431" y="14288"/>
                </a:cubicBezTo>
                <a:lnTo>
                  <a:pt x="37148" y="14288"/>
                </a:lnTo>
                <a:cubicBezTo>
                  <a:pt x="59784" y="14288"/>
                  <a:pt x="82198" y="18752"/>
                  <a:pt x="103093" y="27459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27" name="Text 25"/>
          <p:cNvSpPr/>
          <p:nvPr/>
        </p:nvSpPr>
        <p:spPr>
          <a:xfrm>
            <a:off x="6610350" y="1181100"/>
            <a:ext cx="17145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分模块教学内容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490399" y="1219200"/>
            <a:ext cx="14001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总计时长：105分钟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10300" y="17145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30" name="Text 28"/>
          <p:cNvSpPr/>
          <p:nvPr/>
        </p:nvSpPr>
        <p:spPr>
          <a:xfrm>
            <a:off x="6400800" y="1638300"/>
            <a:ext cx="9810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店铺5S标准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399044" y="1676400"/>
            <a:ext cx="476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10min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00800" y="1943100"/>
            <a:ext cx="54864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整理、整顿、清扫、清洁、素养</a:t>
            </a:r>
            <a:endParaRPr lang="zh-CN" altLang="en-US" sz="1200" dirty="0">
              <a:solidFill>
                <a:srgbClr val="A9A299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210300" y="27241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34" name="Text 32"/>
          <p:cNvSpPr/>
          <p:nvPr/>
        </p:nvSpPr>
        <p:spPr>
          <a:xfrm>
            <a:off x="6400800" y="2647950"/>
            <a:ext cx="11144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终端仓库管理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399044" y="2686050"/>
            <a:ext cx="476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10min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00800" y="2952750"/>
            <a:ext cx="54864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介绍仓库整理标准，仓库区域划分，以及货品归仓要求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210300" y="37338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38" name="Text 36"/>
          <p:cNvSpPr/>
          <p:nvPr/>
        </p:nvSpPr>
        <p:spPr>
          <a:xfrm>
            <a:off x="6400800" y="3657600"/>
            <a:ext cx="9429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一句话板墙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399044" y="3695700"/>
            <a:ext cx="476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20min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00800" y="3962400"/>
            <a:ext cx="54864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讲解一句话板墙的好处、使用场景以及组成内容；掌握两个一句话板墙话术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210300" y="47434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42" name="Text 40"/>
          <p:cNvSpPr/>
          <p:nvPr/>
        </p:nvSpPr>
        <p:spPr>
          <a:xfrm>
            <a:off x="6400800" y="4667250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服务流程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399044" y="4705350"/>
            <a:ext cx="476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60min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00800" y="4972050"/>
            <a:ext cx="54864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讲解探寻需求、介绍商品、试衣服务、促成交易、收银服务、客情维系的基本要领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210300" y="60007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46" name="Text 44"/>
          <p:cNvSpPr/>
          <p:nvPr/>
        </p:nvSpPr>
        <p:spPr>
          <a:xfrm>
            <a:off x="6400800" y="5924550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薪酬制度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477725" y="5962650"/>
            <a:ext cx="4000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5min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400800" y="6229350"/>
            <a:ext cx="54864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了解个人工资的计算方式以及如何获取高工资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10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02 · PRACTICE &amp; ASSESSMENT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训后练习与考核标准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9575" y="1257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9740" y="16207"/>
                </a:moveTo>
                <a:cubicBezTo>
                  <a:pt x="64606" y="19601"/>
                  <a:pt x="65767" y="26298"/>
                  <a:pt x="62374" y="31120"/>
                </a:cubicBezTo>
                <a:lnTo>
                  <a:pt x="37371" y="66839"/>
                </a:lnTo>
                <a:cubicBezTo>
                  <a:pt x="35540" y="69428"/>
                  <a:pt x="32683" y="71080"/>
                  <a:pt x="29513" y="71348"/>
                </a:cubicBezTo>
                <a:cubicBezTo>
                  <a:pt x="26343" y="71616"/>
                  <a:pt x="23217" y="70545"/>
                  <a:pt x="20985" y="68312"/>
                </a:cubicBezTo>
                <a:lnTo>
                  <a:pt x="3125" y="50453"/>
                </a:lnTo>
                <a:cubicBezTo>
                  <a:pt x="-1027" y="46256"/>
                  <a:pt x="-1027" y="39469"/>
                  <a:pt x="3125" y="35272"/>
                </a:cubicBezTo>
                <a:cubicBezTo>
                  <a:pt x="7278" y="31075"/>
                  <a:pt x="14109" y="31120"/>
                  <a:pt x="18306" y="35272"/>
                </a:cubicBezTo>
                <a:lnTo>
                  <a:pt x="27146" y="44113"/>
                </a:lnTo>
                <a:lnTo>
                  <a:pt x="44827" y="18842"/>
                </a:lnTo>
                <a:cubicBezTo>
                  <a:pt x="48220" y="13975"/>
                  <a:pt x="54918" y="12814"/>
                  <a:pt x="59740" y="16207"/>
                </a:cubicBezTo>
                <a:close/>
                <a:moveTo>
                  <a:pt x="59740" y="87645"/>
                </a:moveTo>
                <a:cubicBezTo>
                  <a:pt x="64606" y="91038"/>
                  <a:pt x="65767" y="97735"/>
                  <a:pt x="62374" y="102557"/>
                </a:cubicBezTo>
                <a:lnTo>
                  <a:pt x="37371" y="138276"/>
                </a:lnTo>
                <a:cubicBezTo>
                  <a:pt x="35540" y="140866"/>
                  <a:pt x="32683" y="142518"/>
                  <a:pt x="29513" y="142786"/>
                </a:cubicBezTo>
                <a:cubicBezTo>
                  <a:pt x="26343" y="143054"/>
                  <a:pt x="23217" y="141982"/>
                  <a:pt x="20985" y="139750"/>
                </a:cubicBezTo>
                <a:lnTo>
                  <a:pt x="3125" y="121890"/>
                </a:lnTo>
                <a:cubicBezTo>
                  <a:pt x="-1072" y="117693"/>
                  <a:pt x="-1072" y="110907"/>
                  <a:pt x="3125" y="106754"/>
                </a:cubicBezTo>
                <a:cubicBezTo>
                  <a:pt x="7322" y="102602"/>
                  <a:pt x="14109" y="102557"/>
                  <a:pt x="18261" y="106754"/>
                </a:cubicBezTo>
                <a:lnTo>
                  <a:pt x="27102" y="115595"/>
                </a:lnTo>
                <a:lnTo>
                  <a:pt x="44782" y="90324"/>
                </a:lnTo>
                <a:cubicBezTo>
                  <a:pt x="48176" y="85457"/>
                  <a:pt x="54873" y="84296"/>
                  <a:pt x="59695" y="87690"/>
                </a:cubicBezTo>
                <a:close/>
                <a:moveTo>
                  <a:pt x="100013" y="42863"/>
                </a:moveTo>
                <a:cubicBezTo>
                  <a:pt x="100013" y="34960"/>
                  <a:pt x="106397" y="28575"/>
                  <a:pt x="114300" y="28575"/>
                </a:cubicBezTo>
                <a:lnTo>
                  <a:pt x="214313" y="28575"/>
                </a:lnTo>
                <a:cubicBezTo>
                  <a:pt x="222215" y="28575"/>
                  <a:pt x="228600" y="34960"/>
                  <a:pt x="228600" y="42863"/>
                </a:cubicBezTo>
                <a:cubicBezTo>
                  <a:pt x="228600" y="50765"/>
                  <a:pt x="222215" y="57150"/>
                  <a:pt x="214313" y="57150"/>
                </a:cubicBezTo>
                <a:lnTo>
                  <a:pt x="114300" y="57150"/>
                </a:lnTo>
                <a:cubicBezTo>
                  <a:pt x="106397" y="57150"/>
                  <a:pt x="100013" y="50765"/>
                  <a:pt x="100013" y="42863"/>
                </a:cubicBezTo>
                <a:close/>
                <a:moveTo>
                  <a:pt x="100013" y="114300"/>
                </a:moveTo>
                <a:cubicBezTo>
                  <a:pt x="100013" y="106397"/>
                  <a:pt x="106397" y="100013"/>
                  <a:pt x="114300" y="100013"/>
                </a:cubicBezTo>
                <a:lnTo>
                  <a:pt x="214313" y="100013"/>
                </a:lnTo>
                <a:cubicBezTo>
                  <a:pt x="222215" y="100013"/>
                  <a:pt x="228600" y="106397"/>
                  <a:pt x="228600" y="114300"/>
                </a:cubicBezTo>
                <a:cubicBezTo>
                  <a:pt x="228600" y="122203"/>
                  <a:pt x="222215" y="128588"/>
                  <a:pt x="214313" y="128588"/>
                </a:cubicBezTo>
                <a:lnTo>
                  <a:pt x="114300" y="128588"/>
                </a:lnTo>
                <a:cubicBezTo>
                  <a:pt x="106397" y="128588"/>
                  <a:pt x="100013" y="122203"/>
                  <a:pt x="100013" y="114300"/>
                </a:cubicBezTo>
                <a:close/>
                <a:moveTo>
                  <a:pt x="71438" y="185738"/>
                </a:moveTo>
                <a:cubicBezTo>
                  <a:pt x="71438" y="177835"/>
                  <a:pt x="77822" y="171450"/>
                  <a:pt x="85725" y="171450"/>
                </a:cubicBezTo>
                <a:lnTo>
                  <a:pt x="214313" y="171450"/>
                </a:lnTo>
                <a:cubicBezTo>
                  <a:pt x="222215" y="171450"/>
                  <a:pt x="228600" y="177835"/>
                  <a:pt x="228600" y="185738"/>
                </a:cubicBezTo>
                <a:cubicBezTo>
                  <a:pt x="228600" y="193640"/>
                  <a:pt x="222215" y="200025"/>
                  <a:pt x="214313" y="200025"/>
                </a:cubicBezTo>
                <a:lnTo>
                  <a:pt x="85725" y="200025"/>
                </a:lnTo>
                <a:cubicBezTo>
                  <a:pt x="77822" y="200025"/>
                  <a:pt x="71438" y="193640"/>
                  <a:pt x="71438" y="185738"/>
                </a:cubicBezTo>
                <a:close/>
                <a:moveTo>
                  <a:pt x="28575" y="167878"/>
                </a:moveTo>
                <a:cubicBezTo>
                  <a:pt x="38432" y="167878"/>
                  <a:pt x="46434" y="175881"/>
                  <a:pt x="46434" y="185738"/>
                </a:cubicBezTo>
                <a:cubicBezTo>
                  <a:pt x="46434" y="195594"/>
                  <a:pt x="38432" y="203597"/>
                  <a:pt x="28575" y="203597"/>
                </a:cubicBezTo>
                <a:cubicBezTo>
                  <a:pt x="18718" y="203597"/>
                  <a:pt x="10716" y="195594"/>
                  <a:pt x="10716" y="185738"/>
                </a:cubicBezTo>
                <a:cubicBezTo>
                  <a:pt x="10716" y="175881"/>
                  <a:pt x="18718" y="167878"/>
                  <a:pt x="28575" y="167878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5" name="Text 3"/>
          <p:cNvSpPr/>
          <p:nvPr/>
        </p:nvSpPr>
        <p:spPr>
          <a:xfrm>
            <a:off x="781050" y="1219200"/>
            <a:ext cx="1485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训后落地练习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1676400"/>
            <a:ext cx="5581650" cy="1219200"/>
          </a:xfrm>
          <a:custGeom>
            <a:avLst/>
            <a:gdLst/>
            <a:ahLst/>
            <a:cxnLst/>
            <a:rect l="l" t="t" r="r" b="b"/>
            <a:pathLst>
              <a:path w="5581650" h="1219200">
                <a:moveTo>
                  <a:pt x="38100" y="0"/>
                </a:moveTo>
                <a:lnTo>
                  <a:pt x="5505450" y="0"/>
                </a:lnTo>
                <a:cubicBezTo>
                  <a:pt x="5547506" y="0"/>
                  <a:pt x="5581650" y="34144"/>
                  <a:pt x="5581650" y="76200"/>
                </a:cubicBezTo>
                <a:lnTo>
                  <a:pt x="5581650" y="1143000"/>
                </a:lnTo>
                <a:cubicBezTo>
                  <a:pt x="5581650" y="1185056"/>
                  <a:pt x="5547506" y="1219200"/>
                  <a:pt x="5505450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" name="Shape 5"/>
          <p:cNvSpPr/>
          <p:nvPr/>
        </p:nvSpPr>
        <p:spPr>
          <a:xfrm>
            <a:off x="400050" y="167640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8" name="Shape 6"/>
          <p:cNvSpPr/>
          <p:nvPr/>
        </p:nvSpPr>
        <p:spPr>
          <a:xfrm>
            <a:off x="609600" y="1866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9" name="Text 7"/>
          <p:cNvSpPr/>
          <p:nvPr/>
        </p:nvSpPr>
        <p:spPr>
          <a:xfrm>
            <a:off x="566738" y="1866900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1866900"/>
            <a:ext cx="47339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分享超出顾客期望的服务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2209800"/>
            <a:ext cx="47244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和带教老师及团队成员分享如何提供超出顾客期望的服务，探讨服务创新思路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0050" y="3086100"/>
            <a:ext cx="5581650" cy="971550"/>
          </a:xfrm>
          <a:custGeom>
            <a:avLst/>
            <a:gdLst/>
            <a:ahLst/>
            <a:cxnLst/>
            <a:rect l="l" t="t" r="r" b="b"/>
            <a:pathLst>
              <a:path w="5581650" h="971550">
                <a:moveTo>
                  <a:pt x="38100" y="0"/>
                </a:moveTo>
                <a:lnTo>
                  <a:pt x="5505451" y="0"/>
                </a:lnTo>
                <a:cubicBezTo>
                  <a:pt x="5547535" y="0"/>
                  <a:pt x="5581650" y="34115"/>
                  <a:pt x="5581650" y="76199"/>
                </a:cubicBezTo>
                <a:lnTo>
                  <a:pt x="5581650" y="895351"/>
                </a:lnTo>
                <a:cubicBezTo>
                  <a:pt x="5581650" y="937435"/>
                  <a:pt x="5547535" y="971550"/>
                  <a:pt x="5505451" y="971550"/>
                </a:cubicBez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3" name="Shape 11"/>
          <p:cNvSpPr/>
          <p:nvPr/>
        </p:nvSpPr>
        <p:spPr>
          <a:xfrm>
            <a:off x="400050" y="3086100"/>
            <a:ext cx="38100" cy="971550"/>
          </a:xfrm>
          <a:custGeom>
            <a:avLst/>
            <a:gdLst/>
            <a:ahLst/>
            <a:cxnLst/>
            <a:rect l="l" t="t" r="r" b="b"/>
            <a:pathLst>
              <a:path w="38100" h="971550">
                <a:moveTo>
                  <a:pt x="38100" y="0"/>
                </a:moveTo>
                <a:lnTo>
                  <a:pt x="38100" y="0"/>
                </a:lnTo>
                <a:lnTo>
                  <a:pt x="38100" y="971550"/>
                </a:ln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14" name="Shape 12"/>
          <p:cNvSpPr/>
          <p:nvPr/>
        </p:nvSpPr>
        <p:spPr>
          <a:xfrm>
            <a:off x="609600" y="3276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15" name="Text 13"/>
          <p:cNvSpPr/>
          <p:nvPr/>
        </p:nvSpPr>
        <p:spPr>
          <a:xfrm>
            <a:off x="566738" y="3276600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3276600"/>
            <a:ext cx="34290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练习一句话板墙使用场景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3619500"/>
            <a:ext cx="3419475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练习"一句话板墙"的使用场景，熟练掌握话术应用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1000" y="5467350"/>
            <a:ext cx="5600700" cy="1009650"/>
          </a:xfrm>
          <a:custGeom>
            <a:avLst/>
            <a:gdLst/>
            <a:ahLst/>
            <a:cxnLst/>
            <a:rect l="l" t="t" r="r" b="b"/>
            <a:pathLst>
              <a:path w="5600700" h="1009650">
                <a:moveTo>
                  <a:pt x="76198" y="0"/>
                </a:moveTo>
                <a:lnTo>
                  <a:pt x="5524502" y="0"/>
                </a:lnTo>
                <a:cubicBezTo>
                  <a:pt x="5566585" y="0"/>
                  <a:pt x="5600700" y="34115"/>
                  <a:pt x="5600700" y="76198"/>
                </a:cubicBezTo>
                <a:lnTo>
                  <a:pt x="5600700" y="933452"/>
                </a:lnTo>
                <a:cubicBezTo>
                  <a:pt x="5600700" y="975535"/>
                  <a:pt x="5566585" y="1009650"/>
                  <a:pt x="5524502" y="1009650"/>
                </a:cubicBezTo>
                <a:lnTo>
                  <a:pt x="76198" y="1009650"/>
                </a:lnTo>
                <a:cubicBezTo>
                  <a:pt x="34115" y="1009650"/>
                  <a:pt x="0" y="975535"/>
                  <a:pt x="0" y="93345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3A4F41">
              <a:alpha val="5098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619125" y="56959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20" name="Text 18"/>
          <p:cNvSpPr/>
          <p:nvPr/>
        </p:nvSpPr>
        <p:spPr>
          <a:xfrm>
            <a:off x="923925" y="5657850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练习要点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1500" y="6038850"/>
            <a:ext cx="52959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通过实际演练，将理论知识转化为实践能力，提升服务意识和沟通技巧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67450" y="12573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9035" y="14288"/>
                </a:moveTo>
                <a:lnTo>
                  <a:pt x="142875" y="14288"/>
                </a:lnTo>
                <a:cubicBezTo>
                  <a:pt x="158636" y="14288"/>
                  <a:pt x="171450" y="27102"/>
                  <a:pt x="171450" y="42863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42863"/>
                </a:lnTo>
                <a:cubicBezTo>
                  <a:pt x="0" y="27102"/>
                  <a:pt x="12814" y="14288"/>
                  <a:pt x="28575" y="14288"/>
                </a:cubicBezTo>
                <a:lnTo>
                  <a:pt x="32415" y="14288"/>
                </a:lnTo>
                <a:cubicBezTo>
                  <a:pt x="37326" y="5760"/>
                  <a:pt x="46568" y="0"/>
                  <a:pt x="57150" y="0"/>
                </a:cubicBezTo>
                <a:lnTo>
                  <a:pt x="114300" y="0"/>
                </a:lnTo>
                <a:cubicBezTo>
                  <a:pt x="124882" y="0"/>
                  <a:pt x="134124" y="5760"/>
                  <a:pt x="139035" y="14288"/>
                </a:cubicBezTo>
                <a:close/>
                <a:moveTo>
                  <a:pt x="110728" y="50006"/>
                </a:moveTo>
                <a:cubicBezTo>
                  <a:pt x="116666" y="50006"/>
                  <a:pt x="121444" y="45229"/>
                  <a:pt x="121444" y="39291"/>
                </a:cubicBezTo>
                <a:cubicBezTo>
                  <a:pt x="121444" y="33352"/>
                  <a:pt x="116666" y="28575"/>
                  <a:pt x="110728" y="28575"/>
                </a:cubicBezTo>
                <a:lnTo>
                  <a:pt x="60722" y="28575"/>
                </a:lnTo>
                <a:cubicBezTo>
                  <a:pt x="54784" y="28575"/>
                  <a:pt x="50006" y="33352"/>
                  <a:pt x="50006" y="39291"/>
                </a:cubicBezTo>
                <a:cubicBezTo>
                  <a:pt x="50006" y="45229"/>
                  <a:pt x="54784" y="50006"/>
                  <a:pt x="60722" y="50006"/>
                </a:cubicBezTo>
                <a:lnTo>
                  <a:pt x="110728" y="50006"/>
                </a:lnTo>
                <a:close/>
                <a:moveTo>
                  <a:pt x="57150" y="114300"/>
                </a:moveTo>
                <a:cubicBezTo>
                  <a:pt x="57150" y="106415"/>
                  <a:pt x="50748" y="100013"/>
                  <a:pt x="42863" y="100013"/>
                </a:cubicBezTo>
                <a:cubicBezTo>
                  <a:pt x="34977" y="100013"/>
                  <a:pt x="28575" y="106415"/>
                  <a:pt x="28575" y="114300"/>
                </a:cubicBezTo>
                <a:cubicBezTo>
                  <a:pt x="28575" y="122185"/>
                  <a:pt x="34977" y="128588"/>
                  <a:pt x="42863" y="128588"/>
                </a:cubicBezTo>
                <a:cubicBezTo>
                  <a:pt x="50748" y="128588"/>
                  <a:pt x="57150" y="122185"/>
                  <a:pt x="57150" y="114300"/>
                </a:cubicBezTo>
                <a:close/>
                <a:moveTo>
                  <a:pt x="71438" y="114300"/>
                </a:moveTo>
                <a:cubicBezTo>
                  <a:pt x="71438" y="120238"/>
                  <a:pt x="76215" y="125016"/>
                  <a:pt x="82153" y="125016"/>
                </a:cubicBezTo>
                <a:lnTo>
                  <a:pt x="132159" y="125016"/>
                </a:lnTo>
                <a:cubicBezTo>
                  <a:pt x="138098" y="125016"/>
                  <a:pt x="142875" y="120238"/>
                  <a:pt x="142875" y="114300"/>
                </a:cubicBezTo>
                <a:cubicBezTo>
                  <a:pt x="142875" y="108362"/>
                  <a:pt x="138098" y="103584"/>
                  <a:pt x="132159" y="103584"/>
                </a:cubicBezTo>
                <a:lnTo>
                  <a:pt x="82153" y="103584"/>
                </a:lnTo>
                <a:cubicBezTo>
                  <a:pt x="76215" y="103584"/>
                  <a:pt x="71438" y="108362"/>
                  <a:pt x="71438" y="114300"/>
                </a:cubicBezTo>
                <a:close/>
                <a:moveTo>
                  <a:pt x="71438" y="171450"/>
                </a:moveTo>
                <a:cubicBezTo>
                  <a:pt x="71438" y="177388"/>
                  <a:pt x="76215" y="182166"/>
                  <a:pt x="82153" y="182166"/>
                </a:cubicBezTo>
                <a:lnTo>
                  <a:pt x="132159" y="182166"/>
                </a:lnTo>
                <a:cubicBezTo>
                  <a:pt x="138098" y="182166"/>
                  <a:pt x="142875" y="177388"/>
                  <a:pt x="142875" y="171450"/>
                </a:cubicBezTo>
                <a:cubicBezTo>
                  <a:pt x="142875" y="165512"/>
                  <a:pt x="138098" y="160734"/>
                  <a:pt x="132159" y="160734"/>
                </a:cubicBezTo>
                <a:lnTo>
                  <a:pt x="82153" y="160734"/>
                </a:lnTo>
                <a:cubicBezTo>
                  <a:pt x="76215" y="160734"/>
                  <a:pt x="71438" y="165512"/>
                  <a:pt x="71438" y="171450"/>
                </a:cubicBezTo>
                <a:close/>
                <a:moveTo>
                  <a:pt x="42863" y="185738"/>
                </a:moveTo>
                <a:cubicBezTo>
                  <a:pt x="50748" y="185738"/>
                  <a:pt x="57150" y="179335"/>
                  <a:pt x="57150" y="171450"/>
                </a:cubicBezTo>
                <a:cubicBezTo>
                  <a:pt x="57150" y="163565"/>
                  <a:pt x="50748" y="157163"/>
                  <a:pt x="42863" y="157163"/>
                </a:cubicBezTo>
                <a:cubicBezTo>
                  <a:pt x="34977" y="157163"/>
                  <a:pt x="28575" y="163565"/>
                  <a:pt x="28575" y="171450"/>
                </a:cubicBezTo>
                <a:cubicBezTo>
                  <a:pt x="28575" y="179335"/>
                  <a:pt x="34977" y="185738"/>
                  <a:pt x="42863" y="185738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23" name="Text 21"/>
          <p:cNvSpPr/>
          <p:nvPr/>
        </p:nvSpPr>
        <p:spPr>
          <a:xfrm>
            <a:off x="6610350" y="1219200"/>
            <a:ext cx="2171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考核要点与评分标准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10300" y="1676400"/>
            <a:ext cx="5600700" cy="4800600"/>
          </a:xfrm>
          <a:custGeom>
            <a:avLst/>
            <a:gdLst/>
            <a:ahLst/>
            <a:cxnLst/>
            <a:rect l="l" t="t" r="r" b="b"/>
            <a:pathLst>
              <a:path w="5600700" h="4800600">
                <a:moveTo>
                  <a:pt x="76186" y="0"/>
                </a:moveTo>
                <a:lnTo>
                  <a:pt x="5524514" y="0"/>
                </a:lnTo>
                <a:cubicBezTo>
                  <a:pt x="5566591" y="0"/>
                  <a:pt x="5600700" y="34109"/>
                  <a:pt x="5600700" y="76186"/>
                </a:cubicBezTo>
                <a:lnTo>
                  <a:pt x="5600700" y="4724414"/>
                </a:lnTo>
                <a:cubicBezTo>
                  <a:pt x="5600700" y="4766491"/>
                  <a:pt x="5566591" y="4800600"/>
                  <a:pt x="5524514" y="4800600"/>
                </a:cubicBezTo>
                <a:lnTo>
                  <a:pt x="76186" y="4800600"/>
                </a:lnTo>
                <a:cubicBezTo>
                  <a:pt x="34109" y="4800600"/>
                  <a:pt x="0" y="4766491"/>
                  <a:pt x="0" y="4724414"/>
                </a:cubicBezTo>
                <a:lnTo>
                  <a:pt x="0" y="76186"/>
                </a:lnTo>
                <a:cubicBezTo>
                  <a:pt x="0" y="34138"/>
                  <a:pt x="34138" y="0"/>
                  <a:pt x="76186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5" name="Shape 23"/>
          <p:cNvSpPr/>
          <p:nvPr/>
        </p:nvSpPr>
        <p:spPr>
          <a:xfrm>
            <a:off x="6210300" y="1676400"/>
            <a:ext cx="5600700" cy="762000"/>
          </a:xfrm>
          <a:custGeom>
            <a:avLst/>
            <a:gdLst/>
            <a:ahLst/>
            <a:cxnLst/>
            <a:rect l="l" t="t" r="r" b="b"/>
            <a:pathLst>
              <a:path w="5600700" h="762000">
                <a:moveTo>
                  <a:pt x="0" y="0"/>
                </a:moveTo>
                <a:lnTo>
                  <a:pt x="5600700" y="0"/>
                </a:lnTo>
                <a:lnTo>
                  <a:pt x="56007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3A4F41"/>
          </a:solidFill>
        </p:spPr>
      </p:sp>
      <p:sp>
        <p:nvSpPr>
          <p:cNvPr id="26" name="Text 24"/>
          <p:cNvSpPr/>
          <p:nvPr/>
        </p:nvSpPr>
        <p:spPr>
          <a:xfrm>
            <a:off x="6291263" y="1790700"/>
            <a:ext cx="5438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7F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总分100分，80分及格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67450" y="2019300"/>
            <a:ext cx="5486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8F7F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2 考核项目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62700" y="3013075"/>
            <a:ext cx="5295900" cy="6350"/>
          </a:xfrm>
          <a:custGeom>
            <a:avLst/>
            <a:gdLst/>
            <a:ahLst/>
            <a:cxnLst/>
            <a:rect l="l" t="t" r="r" b="b"/>
            <a:pathLst>
              <a:path w="5295900" h="6350">
                <a:moveTo>
                  <a:pt x="0" y="0"/>
                </a:moveTo>
                <a:lnTo>
                  <a:pt x="5295900" y="0"/>
                </a:lnTo>
                <a:lnTo>
                  <a:pt x="529590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A9A299">
              <a:alpha val="20000"/>
            </a:srgbClr>
          </a:solidFill>
        </p:spPr>
      </p:sp>
      <p:sp>
        <p:nvSpPr>
          <p:cNvPr id="29" name="Shape 27"/>
          <p:cNvSpPr/>
          <p:nvPr/>
        </p:nvSpPr>
        <p:spPr>
          <a:xfrm>
            <a:off x="6386513" y="27146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24110"/>
                </a:moveTo>
                <a:cubicBezTo>
                  <a:pt x="0" y="19690"/>
                  <a:pt x="3583" y="16073"/>
                  <a:pt x="8037" y="16073"/>
                </a:cubicBezTo>
                <a:lnTo>
                  <a:pt x="24110" y="16073"/>
                </a:lnTo>
                <a:cubicBezTo>
                  <a:pt x="28564" y="16073"/>
                  <a:pt x="32147" y="19656"/>
                  <a:pt x="32147" y="24110"/>
                </a:cubicBezTo>
                <a:lnTo>
                  <a:pt x="32147" y="58936"/>
                </a:lnTo>
                <a:lnTo>
                  <a:pt x="40184" y="58936"/>
                </a:lnTo>
                <a:cubicBezTo>
                  <a:pt x="44637" y="58936"/>
                  <a:pt x="48220" y="62519"/>
                  <a:pt x="48220" y="66973"/>
                </a:cubicBezTo>
                <a:cubicBezTo>
                  <a:pt x="48220" y="71426"/>
                  <a:pt x="44637" y="75009"/>
                  <a:pt x="40184" y="75009"/>
                </a:cubicBezTo>
                <a:lnTo>
                  <a:pt x="8037" y="75009"/>
                </a:lnTo>
                <a:cubicBezTo>
                  <a:pt x="3583" y="75009"/>
                  <a:pt x="0" y="71426"/>
                  <a:pt x="0" y="66973"/>
                </a:cubicBezTo>
                <a:cubicBezTo>
                  <a:pt x="0" y="62519"/>
                  <a:pt x="3583" y="58936"/>
                  <a:pt x="8037" y="58936"/>
                </a:cubicBezTo>
                <a:lnTo>
                  <a:pt x="16073" y="58936"/>
                </a:lnTo>
                <a:lnTo>
                  <a:pt x="16073" y="32147"/>
                </a:lnTo>
                <a:lnTo>
                  <a:pt x="8037" y="32147"/>
                </a:lnTo>
                <a:cubicBezTo>
                  <a:pt x="3583" y="32147"/>
                  <a:pt x="0" y="28564"/>
                  <a:pt x="0" y="24110"/>
                </a:cubicBezTo>
                <a:close/>
                <a:moveTo>
                  <a:pt x="10180" y="100861"/>
                </a:moveTo>
                <a:cubicBezTo>
                  <a:pt x="13997" y="97981"/>
                  <a:pt x="18652" y="96441"/>
                  <a:pt x="23440" y="96441"/>
                </a:cubicBezTo>
                <a:lnTo>
                  <a:pt x="25081" y="96441"/>
                </a:lnTo>
                <a:cubicBezTo>
                  <a:pt x="36366" y="96441"/>
                  <a:pt x="45541" y="105616"/>
                  <a:pt x="45541" y="116901"/>
                </a:cubicBezTo>
                <a:cubicBezTo>
                  <a:pt x="45541" y="123464"/>
                  <a:pt x="42394" y="129592"/>
                  <a:pt x="37103" y="133443"/>
                </a:cubicBezTo>
                <a:lnTo>
                  <a:pt x="29066" y="139303"/>
                </a:lnTo>
                <a:lnTo>
                  <a:pt x="40184" y="139303"/>
                </a:lnTo>
                <a:cubicBezTo>
                  <a:pt x="44637" y="139303"/>
                  <a:pt x="48220" y="142886"/>
                  <a:pt x="48220" y="147340"/>
                </a:cubicBezTo>
                <a:cubicBezTo>
                  <a:pt x="48220" y="151794"/>
                  <a:pt x="44637" y="155377"/>
                  <a:pt x="40184" y="155377"/>
                </a:cubicBezTo>
                <a:lnTo>
                  <a:pt x="9811" y="155377"/>
                </a:lnTo>
                <a:cubicBezTo>
                  <a:pt x="4387" y="155377"/>
                  <a:pt x="0" y="150990"/>
                  <a:pt x="0" y="145565"/>
                </a:cubicBezTo>
                <a:cubicBezTo>
                  <a:pt x="0" y="142417"/>
                  <a:pt x="1507" y="139471"/>
                  <a:pt x="4052" y="137629"/>
                </a:cubicBezTo>
                <a:lnTo>
                  <a:pt x="27660" y="120450"/>
                </a:lnTo>
                <a:cubicBezTo>
                  <a:pt x="28798" y="119613"/>
                  <a:pt x="29468" y="118307"/>
                  <a:pt x="29468" y="116901"/>
                </a:cubicBezTo>
                <a:cubicBezTo>
                  <a:pt x="29468" y="114490"/>
                  <a:pt x="27492" y="112514"/>
                  <a:pt x="25081" y="112514"/>
                </a:cubicBezTo>
                <a:lnTo>
                  <a:pt x="23440" y="112514"/>
                </a:lnTo>
                <a:cubicBezTo>
                  <a:pt x="22134" y="112514"/>
                  <a:pt x="20862" y="112949"/>
                  <a:pt x="19824" y="113720"/>
                </a:cubicBezTo>
                <a:lnTo>
                  <a:pt x="12859" y="118943"/>
                </a:lnTo>
                <a:cubicBezTo>
                  <a:pt x="9309" y="121622"/>
                  <a:pt x="4286" y="120886"/>
                  <a:pt x="1607" y="117336"/>
                </a:cubicBezTo>
                <a:cubicBezTo>
                  <a:pt x="-1072" y="113787"/>
                  <a:pt x="-335" y="108764"/>
                  <a:pt x="3215" y="106085"/>
                </a:cubicBezTo>
                <a:lnTo>
                  <a:pt x="10180" y="100861"/>
                </a:lnTo>
                <a:close/>
                <a:moveTo>
                  <a:pt x="75009" y="21431"/>
                </a:moveTo>
                <a:lnTo>
                  <a:pt x="160734" y="21431"/>
                </a:lnTo>
                <a:cubicBezTo>
                  <a:pt x="166661" y="21431"/>
                  <a:pt x="171450" y="26220"/>
                  <a:pt x="171450" y="32147"/>
                </a:cubicBezTo>
                <a:cubicBezTo>
                  <a:pt x="171450" y="38074"/>
                  <a:pt x="166661" y="42863"/>
                  <a:pt x="160734" y="42863"/>
                </a:cubicBezTo>
                <a:lnTo>
                  <a:pt x="75009" y="42863"/>
                </a:lnTo>
                <a:cubicBezTo>
                  <a:pt x="69082" y="42863"/>
                  <a:pt x="64294" y="38074"/>
                  <a:pt x="64294" y="32147"/>
                </a:cubicBezTo>
                <a:cubicBezTo>
                  <a:pt x="64294" y="26220"/>
                  <a:pt x="69082" y="21431"/>
                  <a:pt x="75009" y="21431"/>
                </a:cubicBezTo>
                <a:close/>
                <a:moveTo>
                  <a:pt x="75009" y="75009"/>
                </a:moveTo>
                <a:lnTo>
                  <a:pt x="160734" y="75009"/>
                </a:lnTo>
                <a:cubicBezTo>
                  <a:pt x="166661" y="75009"/>
                  <a:pt x="171450" y="79798"/>
                  <a:pt x="171450" y="85725"/>
                </a:cubicBezTo>
                <a:cubicBezTo>
                  <a:pt x="171450" y="91652"/>
                  <a:pt x="166661" y="96441"/>
                  <a:pt x="160734" y="96441"/>
                </a:cubicBezTo>
                <a:lnTo>
                  <a:pt x="75009" y="96441"/>
                </a:lnTo>
                <a:cubicBezTo>
                  <a:pt x="69082" y="96441"/>
                  <a:pt x="64294" y="91652"/>
                  <a:pt x="64294" y="85725"/>
                </a:cubicBezTo>
                <a:cubicBezTo>
                  <a:pt x="64294" y="79798"/>
                  <a:pt x="69082" y="75009"/>
                  <a:pt x="75009" y="75009"/>
                </a:cubicBezTo>
                <a:close/>
                <a:moveTo>
                  <a:pt x="75009" y="128588"/>
                </a:moveTo>
                <a:lnTo>
                  <a:pt x="160734" y="128588"/>
                </a:lnTo>
                <a:cubicBezTo>
                  <a:pt x="166661" y="128588"/>
                  <a:pt x="171450" y="133376"/>
                  <a:pt x="171450" y="139303"/>
                </a:cubicBezTo>
                <a:cubicBezTo>
                  <a:pt x="171450" y="145230"/>
                  <a:pt x="166661" y="150019"/>
                  <a:pt x="160734" y="150019"/>
                </a:cubicBezTo>
                <a:lnTo>
                  <a:pt x="75009" y="150019"/>
                </a:lnTo>
                <a:cubicBezTo>
                  <a:pt x="69082" y="150019"/>
                  <a:pt x="64294" y="145230"/>
                  <a:pt x="64294" y="139303"/>
                </a:cubicBezTo>
                <a:cubicBezTo>
                  <a:pt x="64294" y="133376"/>
                  <a:pt x="69082" y="128588"/>
                  <a:pt x="75009" y="128588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30" name="Text 28"/>
          <p:cNvSpPr/>
          <p:nvPr/>
        </p:nvSpPr>
        <p:spPr>
          <a:xfrm>
            <a:off x="6691313" y="2686050"/>
            <a:ext cx="13811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服务流程的8个步骤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241881" y="2667000"/>
            <a:ext cx="5143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36分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62700" y="3914778"/>
            <a:ext cx="5295900" cy="6350"/>
          </a:xfrm>
          <a:custGeom>
            <a:avLst/>
            <a:gdLst/>
            <a:ahLst/>
            <a:cxnLst/>
            <a:rect l="l" t="t" r="r" b="b"/>
            <a:pathLst>
              <a:path w="5295900" h="6350">
                <a:moveTo>
                  <a:pt x="0" y="0"/>
                </a:moveTo>
                <a:lnTo>
                  <a:pt x="5295900" y="0"/>
                </a:lnTo>
                <a:lnTo>
                  <a:pt x="529590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A9A299">
              <a:alpha val="20000"/>
            </a:srgbClr>
          </a:solidFill>
        </p:spPr>
      </p:sp>
      <p:sp>
        <p:nvSpPr>
          <p:cNvPr id="33" name="Shape 31"/>
          <p:cNvSpPr/>
          <p:nvPr/>
        </p:nvSpPr>
        <p:spPr>
          <a:xfrm>
            <a:off x="6386513" y="361632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60734"/>
                </a:moveTo>
                <a:cubicBezTo>
                  <a:pt x="133075" y="160734"/>
                  <a:pt x="171450" y="124737"/>
                  <a:pt x="171450" y="80367"/>
                </a:cubicBezTo>
                <a:cubicBezTo>
                  <a:pt x="171450" y="35998"/>
                  <a:pt x="133075" y="0"/>
                  <a:pt x="85725" y="0"/>
                </a:cubicBezTo>
                <a:cubicBezTo>
                  <a:pt x="38375" y="0"/>
                  <a:pt x="0" y="35998"/>
                  <a:pt x="0" y="80367"/>
                </a:cubicBezTo>
                <a:cubicBezTo>
                  <a:pt x="0" y="98550"/>
                  <a:pt x="6429" y="115293"/>
                  <a:pt x="17279" y="128755"/>
                </a:cubicBezTo>
                <a:lnTo>
                  <a:pt x="938" y="159663"/>
                </a:lnTo>
                <a:cubicBezTo>
                  <a:pt x="-670" y="162677"/>
                  <a:pt x="-167" y="166360"/>
                  <a:pt x="2143" y="168872"/>
                </a:cubicBezTo>
                <a:cubicBezTo>
                  <a:pt x="4454" y="171383"/>
                  <a:pt x="8104" y="172153"/>
                  <a:pt x="11218" y="170814"/>
                </a:cubicBezTo>
                <a:lnTo>
                  <a:pt x="50866" y="153836"/>
                </a:lnTo>
                <a:cubicBezTo>
                  <a:pt x="61514" y="158256"/>
                  <a:pt x="73302" y="160734"/>
                  <a:pt x="85725" y="160734"/>
                </a:cubicBezTo>
                <a:close/>
                <a:moveTo>
                  <a:pt x="42863" y="69652"/>
                </a:moveTo>
                <a:cubicBezTo>
                  <a:pt x="48777" y="69652"/>
                  <a:pt x="53578" y="74453"/>
                  <a:pt x="53578" y="80367"/>
                </a:cubicBezTo>
                <a:cubicBezTo>
                  <a:pt x="53578" y="86281"/>
                  <a:pt x="48777" y="91083"/>
                  <a:pt x="42863" y="91083"/>
                </a:cubicBezTo>
                <a:cubicBezTo>
                  <a:pt x="36948" y="91083"/>
                  <a:pt x="32147" y="86281"/>
                  <a:pt x="32147" y="80367"/>
                </a:cubicBezTo>
                <a:cubicBezTo>
                  <a:pt x="32147" y="74453"/>
                  <a:pt x="36948" y="69652"/>
                  <a:pt x="42863" y="69652"/>
                </a:cubicBezTo>
                <a:close/>
                <a:moveTo>
                  <a:pt x="85725" y="69652"/>
                </a:moveTo>
                <a:cubicBezTo>
                  <a:pt x="91639" y="69652"/>
                  <a:pt x="96441" y="74453"/>
                  <a:pt x="96441" y="80367"/>
                </a:cubicBezTo>
                <a:cubicBezTo>
                  <a:pt x="96441" y="86281"/>
                  <a:pt x="91639" y="91083"/>
                  <a:pt x="85725" y="91083"/>
                </a:cubicBezTo>
                <a:cubicBezTo>
                  <a:pt x="79811" y="91083"/>
                  <a:pt x="75009" y="86281"/>
                  <a:pt x="75009" y="80367"/>
                </a:cubicBezTo>
                <a:cubicBezTo>
                  <a:pt x="75009" y="74453"/>
                  <a:pt x="79811" y="69652"/>
                  <a:pt x="85725" y="69652"/>
                </a:cubicBezTo>
                <a:close/>
                <a:moveTo>
                  <a:pt x="117872" y="80367"/>
                </a:moveTo>
                <a:cubicBezTo>
                  <a:pt x="117872" y="74453"/>
                  <a:pt x="122673" y="69652"/>
                  <a:pt x="128588" y="69652"/>
                </a:cubicBezTo>
                <a:cubicBezTo>
                  <a:pt x="134502" y="69652"/>
                  <a:pt x="139303" y="74453"/>
                  <a:pt x="139303" y="80367"/>
                </a:cubicBezTo>
                <a:cubicBezTo>
                  <a:pt x="139303" y="86281"/>
                  <a:pt x="134502" y="91083"/>
                  <a:pt x="128588" y="91083"/>
                </a:cubicBezTo>
                <a:cubicBezTo>
                  <a:pt x="122673" y="91083"/>
                  <a:pt x="117872" y="86281"/>
                  <a:pt x="117872" y="80367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34" name="Text 32"/>
          <p:cNvSpPr/>
          <p:nvPr/>
        </p:nvSpPr>
        <p:spPr>
          <a:xfrm>
            <a:off x="6691313" y="3587753"/>
            <a:ext cx="2667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一句话板墙使用场景、组成内容及话术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242080" y="3568703"/>
            <a:ext cx="5143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34分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62700" y="4816477"/>
            <a:ext cx="5295900" cy="6350"/>
          </a:xfrm>
          <a:custGeom>
            <a:avLst/>
            <a:gdLst/>
            <a:ahLst/>
            <a:cxnLst/>
            <a:rect l="l" t="t" r="r" b="b"/>
            <a:pathLst>
              <a:path w="5295900" h="6350">
                <a:moveTo>
                  <a:pt x="0" y="0"/>
                </a:moveTo>
                <a:lnTo>
                  <a:pt x="5295900" y="0"/>
                </a:lnTo>
                <a:lnTo>
                  <a:pt x="529590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A9A299">
              <a:alpha val="20000"/>
            </a:srgbClr>
          </a:solidFill>
        </p:spPr>
      </p:sp>
      <p:sp>
        <p:nvSpPr>
          <p:cNvPr id="37" name="Shape 35"/>
          <p:cNvSpPr/>
          <p:nvPr/>
        </p:nvSpPr>
        <p:spPr>
          <a:xfrm>
            <a:off x="6375797" y="4518027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0" y="47584"/>
                </a:moveTo>
                <a:lnTo>
                  <a:pt x="0" y="160734"/>
                </a:lnTo>
                <a:cubicBezTo>
                  <a:pt x="0" y="166661"/>
                  <a:pt x="4789" y="171450"/>
                  <a:pt x="10716" y="171450"/>
                </a:cubicBezTo>
                <a:cubicBezTo>
                  <a:pt x="16643" y="171450"/>
                  <a:pt x="21431" y="166661"/>
                  <a:pt x="21431" y="160734"/>
                </a:cubicBezTo>
                <a:lnTo>
                  <a:pt x="21431" y="80367"/>
                </a:lnTo>
                <a:cubicBezTo>
                  <a:pt x="21431" y="74440"/>
                  <a:pt x="26220" y="69652"/>
                  <a:pt x="32147" y="69652"/>
                </a:cubicBezTo>
                <a:lnTo>
                  <a:pt x="160734" y="69652"/>
                </a:lnTo>
                <a:cubicBezTo>
                  <a:pt x="166661" y="69652"/>
                  <a:pt x="171450" y="74440"/>
                  <a:pt x="171450" y="80367"/>
                </a:cubicBezTo>
                <a:lnTo>
                  <a:pt x="171450" y="160734"/>
                </a:lnTo>
                <a:cubicBezTo>
                  <a:pt x="171450" y="166661"/>
                  <a:pt x="176239" y="171450"/>
                  <a:pt x="182166" y="171450"/>
                </a:cubicBezTo>
                <a:cubicBezTo>
                  <a:pt x="188093" y="171450"/>
                  <a:pt x="192881" y="166661"/>
                  <a:pt x="192881" y="160734"/>
                </a:cubicBezTo>
                <a:lnTo>
                  <a:pt x="192881" y="47584"/>
                </a:lnTo>
                <a:cubicBezTo>
                  <a:pt x="192881" y="38375"/>
                  <a:pt x="186988" y="30171"/>
                  <a:pt x="178214" y="27258"/>
                </a:cubicBezTo>
                <a:lnTo>
                  <a:pt x="101531" y="1708"/>
                </a:lnTo>
                <a:cubicBezTo>
                  <a:pt x="98215" y="603"/>
                  <a:pt x="94666" y="603"/>
                  <a:pt x="91351" y="1708"/>
                </a:cubicBezTo>
                <a:lnTo>
                  <a:pt x="14667" y="27258"/>
                </a:lnTo>
                <a:cubicBezTo>
                  <a:pt x="5894" y="30171"/>
                  <a:pt x="0" y="38375"/>
                  <a:pt x="0" y="47584"/>
                </a:cubicBezTo>
                <a:close/>
                <a:moveTo>
                  <a:pt x="155377" y="85725"/>
                </a:moveTo>
                <a:lnTo>
                  <a:pt x="37505" y="85725"/>
                </a:lnTo>
                <a:lnTo>
                  <a:pt x="37505" y="107156"/>
                </a:lnTo>
                <a:lnTo>
                  <a:pt x="155377" y="107156"/>
                </a:lnTo>
                <a:lnTo>
                  <a:pt x="155377" y="85725"/>
                </a:lnTo>
                <a:close/>
                <a:moveTo>
                  <a:pt x="37505" y="139303"/>
                </a:moveTo>
                <a:lnTo>
                  <a:pt x="155377" y="139303"/>
                </a:lnTo>
                <a:lnTo>
                  <a:pt x="155377" y="117872"/>
                </a:lnTo>
                <a:lnTo>
                  <a:pt x="37505" y="117872"/>
                </a:lnTo>
                <a:lnTo>
                  <a:pt x="37505" y="139303"/>
                </a:lnTo>
                <a:close/>
                <a:moveTo>
                  <a:pt x="155377" y="150019"/>
                </a:moveTo>
                <a:lnTo>
                  <a:pt x="37505" y="150019"/>
                </a:lnTo>
                <a:lnTo>
                  <a:pt x="37505" y="171450"/>
                </a:lnTo>
                <a:lnTo>
                  <a:pt x="155377" y="171450"/>
                </a:lnTo>
                <a:lnTo>
                  <a:pt x="155377" y="150019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38" name="Text 36"/>
          <p:cNvSpPr/>
          <p:nvPr/>
        </p:nvSpPr>
        <p:spPr>
          <a:xfrm>
            <a:off x="6691313" y="4489452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仓库整理标准实操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266091" y="4470402"/>
            <a:ext cx="4857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15分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75797" y="54197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89734" y="18284"/>
                </a:moveTo>
                <a:cubicBezTo>
                  <a:pt x="193919" y="14098"/>
                  <a:pt x="193919" y="7300"/>
                  <a:pt x="189734" y="3114"/>
                </a:cubicBezTo>
                <a:cubicBezTo>
                  <a:pt x="185548" y="-1072"/>
                  <a:pt x="178750" y="-1072"/>
                  <a:pt x="174564" y="3114"/>
                </a:cubicBezTo>
                <a:lnTo>
                  <a:pt x="110270" y="67408"/>
                </a:lnTo>
                <a:lnTo>
                  <a:pt x="98651" y="55788"/>
                </a:lnTo>
                <a:cubicBezTo>
                  <a:pt x="97244" y="54382"/>
                  <a:pt x="95302" y="53578"/>
                  <a:pt x="93293" y="53578"/>
                </a:cubicBezTo>
                <a:cubicBezTo>
                  <a:pt x="89107" y="53578"/>
                  <a:pt x="85725" y="56960"/>
                  <a:pt x="85725" y="61146"/>
                </a:cubicBezTo>
                <a:lnTo>
                  <a:pt x="85725" y="70891"/>
                </a:lnTo>
                <a:lnTo>
                  <a:pt x="121991" y="107156"/>
                </a:lnTo>
                <a:lnTo>
                  <a:pt x="131735" y="107156"/>
                </a:lnTo>
                <a:cubicBezTo>
                  <a:pt x="135921" y="107156"/>
                  <a:pt x="139303" y="103774"/>
                  <a:pt x="139303" y="99588"/>
                </a:cubicBezTo>
                <a:cubicBezTo>
                  <a:pt x="139303" y="97579"/>
                  <a:pt x="138499" y="95637"/>
                  <a:pt x="137093" y="94231"/>
                </a:cubicBezTo>
                <a:lnTo>
                  <a:pt x="125473" y="82611"/>
                </a:lnTo>
                <a:lnTo>
                  <a:pt x="189767" y="18317"/>
                </a:lnTo>
                <a:close/>
                <a:moveTo>
                  <a:pt x="114222" y="118341"/>
                </a:moveTo>
                <a:lnTo>
                  <a:pt x="74541" y="78659"/>
                </a:lnTo>
                <a:cubicBezTo>
                  <a:pt x="60242" y="77420"/>
                  <a:pt x="46010" y="82577"/>
                  <a:pt x="35763" y="92824"/>
                </a:cubicBezTo>
                <a:lnTo>
                  <a:pt x="33084" y="95503"/>
                </a:lnTo>
                <a:cubicBezTo>
                  <a:pt x="25617" y="102970"/>
                  <a:pt x="21431" y="113083"/>
                  <a:pt x="21431" y="123632"/>
                </a:cubicBezTo>
                <a:cubicBezTo>
                  <a:pt x="21431" y="125909"/>
                  <a:pt x="23809" y="127382"/>
                  <a:pt x="25851" y="126377"/>
                </a:cubicBezTo>
                <a:lnTo>
                  <a:pt x="42963" y="117838"/>
                </a:lnTo>
                <a:cubicBezTo>
                  <a:pt x="44637" y="117001"/>
                  <a:pt x="46144" y="119211"/>
                  <a:pt x="44771" y="120484"/>
                </a:cubicBezTo>
                <a:lnTo>
                  <a:pt x="2445" y="158524"/>
                </a:lnTo>
                <a:cubicBezTo>
                  <a:pt x="904" y="159931"/>
                  <a:pt x="0" y="161940"/>
                  <a:pt x="0" y="164050"/>
                </a:cubicBezTo>
                <a:cubicBezTo>
                  <a:pt x="0" y="168135"/>
                  <a:pt x="3315" y="171450"/>
                  <a:pt x="7400" y="171450"/>
                </a:cubicBezTo>
                <a:lnTo>
                  <a:pt x="65432" y="171450"/>
                </a:lnTo>
                <a:cubicBezTo>
                  <a:pt x="78425" y="171450"/>
                  <a:pt x="90848" y="166293"/>
                  <a:pt x="100057" y="157118"/>
                </a:cubicBezTo>
                <a:cubicBezTo>
                  <a:pt x="110304" y="146871"/>
                  <a:pt x="115427" y="132639"/>
                  <a:pt x="114222" y="118341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41" name="Text 39"/>
          <p:cNvSpPr/>
          <p:nvPr/>
        </p:nvSpPr>
        <p:spPr>
          <a:xfrm>
            <a:off x="6691313" y="5391150"/>
            <a:ext cx="11620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店铺5S标准实操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1266091" y="5372100"/>
            <a:ext cx="4857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15分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210300" y="5867400"/>
            <a:ext cx="5600700" cy="609600"/>
          </a:xfrm>
          <a:custGeom>
            <a:avLst/>
            <a:gdLst/>
            <a:ahLst/>
            <a:cxnLst/>
            <a:rect l="l" t="t" r="r" b="b"/>
            <a:pathLst>
              <a:path w="5600700" h="609600">
                <a:moveTo>
                  <a:pt x="0" y="0"/>
                </a:moveTo>
                <a:lnTo>
                  <a:pt x="5600700" y="0"/>
                </a:lnTo>
                <a:lnTo>
                  <a:pt x="56007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C47A5A">
              <a:alpha val="10196"/>
            </a:srgbClr>
          </a:solidFill>
        </p:spPr>
      </p:sp>
      <p:sp>
        <p:nvSpPr>
          <p:cNvPr id="44" name="Text 42"/>
          <p:cNvSpPr/>
          <p:nvPr/>
        </p:nvSpPr>
        <p:spPr>
          <a:xfrm>
            <a:off x="6291263" y="5981700"/>
            <a:ext cx="54387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评分标准：</a:t>
            </a:r>
            <a:r>
              <a:rPr lang="en-US" sz="105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准确按顺序说出8个步骤名称及要点；正确说明使用场景，流利背诵2个话术；按标准完成仓库区域划分及货品归仓；正确识别清洁用品位置，完成卫生评分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yyasw4ib73lsu/day3_display.jpg"/>
          <p:cNvPicPr>
            <a:picLocks noChangeAspect="1"/>
          </p:cNvPicPr>
          <p:nvPr/>
        </p:nvPicPr>
        <p:blipFill>
          <a:blip r:embed="rId1"/>
          <a:srcRect t="781" b="781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A4F41">
                  <a:alpha val="90000"/>
                </a:srgbClr>
              </a:gs>
              <a:gs pos="50000">
                <a:srgbClr val="3A4F41">
                  <a:alpha val="70000"/>
                </a:srgbClr>
              </a:gs>
              <a:gs pos="100000">
                <a:srgbClr val="3A4F41">
                  <a:alpha val="90000"/>
                </a:srgbClr>
              </a:gs>
            </a:gsLst>
            <a:lin ang="5400000" scaled="1"/>
          </a:gradFill>
        </p:spPr>
      </p:sp>
      <p:sp>
        <p:nvSpPr>
          <p:cNvPr id="4" name="Text 1"/>
          <p:cNvSpPr/>
          <p:nvPr/>
        </p:nvSpPr>
        <p:spPr>
          <a:xfrm>
            <a:off x="4772025" y="2190750"/>
            <a:ext cx="26479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kern="0" spc="360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03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638675" y="2647950"/>
            <a:ext cx="291465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F8F7F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第3天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0" y="356235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7" name="Text 4"/>
          <p:cNvSpPr/>
          <p:nvPr/>
        </p:nvSpPr>
        <p:spPr>
          <a:xfrm>
            <a:off x="4738688" y="3905250"/>
            <a:ext cx="27146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F8F7F5">
                    <a:alpha val="9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陈列维护与产品销售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762500" y="4400550"/>
            <a:ext cx="26670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8F7F5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精通陈列标准 · 掌握销售技巧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10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03 · OBJECTIVES &amp; CONTENT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教学目标与教学内容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9575" y="1219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5" name="Text 3"/>
          <p:cNvSpPr/>
          <p:nvPr/>
        </p:nvSpPr>
        <p:spPr>
          <a:xfrm>
            <a:off x="781050" y="1181100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教学目标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638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7" name="Text 5"/>
          <p:cNvSpPr/>
          <p:nvPr/>
        </p:nvSpPr>
        <p:spPr>
          <a:xfrm>
            <a:off x="338138" y="1638300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638300"/>
            <a:ext cx="2676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掌握商品维护管理制度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1943100"/>
            <a:ext cx="26670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掌握商品维护管理制度及脏样处理流程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1000" y="25622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11" name="Text 9"/>
          <p:cNvSpPr/>
          <p:nvPr/>
        </p:nvSpPr>
        <p:spPr>
          <a:xfrm>
            <a:off x="338138" y="2562225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2562225"/>
            <a:ext cx="3286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熟悉店铺陈列标准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2867025"/>
            <a:ext cx="32766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熟悉店铺陈列标准（陈列、视听、灯光、POP）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1000" y="34861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15" name="Text 13"/>
          <p:cNvSpPr/>
          <p:nvPr/>
        </p:nvSpPr>
        <p:spPr>
          <a:xfrm>
            <a:off x="338138" y="3486150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3486150"/>
            <a:ext cx="28289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掌握陈列维护标准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3790950"/>
            <a:ext cx="28194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掌握鞋、服、配及模特基础陈列维护标准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1000" y="44100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19" name="Text 17"/>
          <p:cNvSpPr/>
          <p:nvPr/>
        </p:nvSpPr>
        <p:spPr>
          <a:xfrm>
            <a:off x="338138" y="4410075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4410075"/>
            <a:ext cx="23431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熟练运用FABE介绍法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" y="4714875"/>
            <a:ext cx="2333625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熟练运用BFE介绍法进行产品销售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1000" y="5334000"/>
            <a:ext cx="5600700" cy="1143000"/>
          </a:xfrm>
          <a:custGeom>
            <a:avLst/>
            <a:gdLst/>
            <a:ahLst/>
            <a:cxnLst/>
            <a:rect l="l" t="t" r="r" b="b"/>
            <a:pathLst>
              <a:path w="5600700" h="1143000">
                <a:moveTo>
                  <a:pt x="76204" y="0"/>
                </a:moveTo>
                <a:lnTo>
                  <a:pt x="5524496" y="0"/>
                </a:lnTo>
                <a:cubicBezTo>
                  <a:pt x="5566582" y="0"/>
                  <a:pt x="5600700" y="34118"/>
                  <a:pt x="5600700" y="76204"/>
                </a:cubicBezTo>
                <a:lnTo>
                  <a:pt x="5600700" y="1066796"/>
                </a:lnTo>
                <a:cubicBezTo>
                  <a:pt x="5600700" y="1108882"/>
                  <a:pt x="5566582" y="1143000"/>
                  <a:pt x="5524496" y="1143000"/>
                </a:cubicBezTo>
                <a:lnTo>
                  <a:pt x="76204" y="1143000"/>
                </a:lnTo>
                <a:cubicBezTo>
                  <a:pt x="34118" y="1143000"/>
                  <a:pt x="0" y="1108882"/>
                  <a:pt x="0" y="106679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3A4F41">
              <a:alpha val="5098"/>
            </a:srgbClr>
          </a:solidFill>
        </p:spPr>
      </p:sp>
      <p:sp>
        <p:nvSpPr>
          <p:cNvPr id="23" name="Shape 21"/>
          <p:cNvSpPr/>
          <p:nvPr/>
        </p:nvSpPr>
        <p:spPr>
          <a:xfrm>
            <a:off x="546497" y="55340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32147" y="21431"/>
                </a:moveTo>
                <a:cubicBezTo>
                  <a:pt x="20326" y="21431"/>
                  <a:pt x="10716" y="31042"/>
                  <a:pt x="10716" y="42863"/>
                </a:cubicBezTo>
                <a:lnTo>
                  <a:pt x="10716" y="128588"/>
                </a:lnTo>
                <a:cubicBezTo>
                  <a:pt x="10716" y="140408"/>
                  <a:pt x="20326" y="150019"/>
                  <a:pt x="32147" y="150019"/>
                </a:cubicBezTo>
                <a:lnTo>
                  <a:pt x="117872" y="150019"/>
                </a:lnTo>
                <a:cubicBezTo>
                  <a:pt x="129693" y="150019"/>
                  <a:pt x="139303" y="140408"/>
                  <a:pt x="139303" y="128588"/>
                </a:cubicBezTo>
                <a:lnTo>
                  <a:pt x="139303" y="42863"/>
                </a:lnTo>
                <a:cubicBezTo>
                  <a:pt x="139303" y="31042"/>
                  <a:pt x="129693" y="21431"/>
                  <a:pt x="117872" y="21431"/>
                </a:cubicBezTo>
                <a:lnTo>
                  <a:pt x="32147" y="21431"/>
                </a:lnTo>
                <a:close/>
                <a:moveTo>
                  <a:pt x="155377" y="112514"/>
                </a:moveTo>
                <a:lnTo>
                  <a:pt x="179989" y="132204"/>
                </a:lnTo>
                <a:cubicBezTo>
                  <a:pt x="181395" y="133343"/>
                  <a:pt x="183137" y="133945"/>
                  <a:pt x="184945" y="133945"/>
                </a:cubicBezTo>
                <a:cubicBezTo>
                  <a:pt x="189332" y="133945"/>
                  <a:pt x="192881" y="130396"/>
                  <a:pt x="192881" y="126009"/>
                </a:cubicBezTo>
                <a:lnTo>
                  <a:pt x="192881" y="45441"/>
                </a:lnTo>
                <a:cubicBezTo>
                  <a:pt x="192881" y="41054"/>
                  <a:pt x="189332" y="37505"/>
                  <a:pt x="184945" y="37505"/>
                </a:cubicBezTo>
                <a:cubicBezTo>
                  <a:pt x="183137" y="37505"/>
                  <a:pt x="181395" y="38107"/>
                  <a:pt x="179989" y="39246"/>
                </a:cubicBezTo>
                <a:lnTo>
                  <a:pt x="155377" y="58936"/>
                </a:lnTo>
                <a:lnTo>
                  <a:pt x="155377" y="112514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24" name="Text 22"/>
          <p:cNvSpPr/>
          <p:nvPr/>
        </p:nvSpPr>
        <p:spPr>
          <a:xfrm>
            <a:off x="862013" y="5486400"/>
            <a:ext cx="11144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线上课程预习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3400" y="5829300"/>
            <a:ext cx="5372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《陈列基础标准》（必修，15min）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3400" y="6096000"/>
            <a:ext cx="5372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《产品话术怎么说》（产品力专区，选修，13min）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38875" y="1219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63088"/>
                </a:moveTo>
                <a:lnTo>
                  <a:pt x="114300" y="201186"/>
                </a:lnTo>
                <a:lnTo>
                  <a:pt x="114523" y="201097"/>
                </a:lnTo>
                <a:cubicBezTo>
                  <a:pt x="138901" y="190961"/>
                  <a:pt x="165065" y="185738"/>
                  <a:pt x="191453" y="185738"/>
                </a:cubicBezTo>
                <a:lnTo>
                  <a:pt x="200025" y="185738"/>
                </a:lnTo>
                <a:lnTo>
                  <a:pt x="200025" y="42863"/>
                </a:lnTo>
                <a:lnTo>
                  <a:pt x="191453" y="42863"/>
                </a:lnTo>
                <a:cubicBezTo>
                  <a:pt x="172611" y="42863"/>
                  <a:pt x="153903" y="46613"/>
                  <a:pt x="136490" y="53846"/>
                </a:cubicBezTo>
                <a:cubicBezTo>
                  <a:pt x="128989" y="56971"/>
                  <a:pt x="121578" y="60052"/>
                  <a:pt x="114300" y="63088"/>
                </a:cubicBezTo>
                <a:close/>
                <a:moveTo>
                  <a:pt x="103093" y="27459"/>
                </a:moveTo>
                <a:lnTo>
                  <a:pt x="114300" y="32147"/>
                </a:lnTo>
                <a:lnTo>
                  <a:pt x="125507" y="27459"/>
                </a:lnTo>
                <a:cubicBezTo>
                  <a:pt x="146402" y="18752"/>
                  <a:pt x="168816" y="14288"/>
                  <a:pt x="191453" y="14288"/>
                </a:cubicBezTo>
                <a:lnTo>
                  <a:pt x="207169" y="14288"/>
                </a:lnTo>
                <a:cubicBezTo>
                  <a:pt x="219001" y="14288"/>
                  <a:pt x="228600" y="23887"/>
                  <a:pt x="228600" y="35719"/>
                </a:cubicBezTo>
                <a:lnTo>
                  <a:pt x="228600" y="192881"/>
                </a:lnTo>
                <a:cubicBezTo>
                  <a:pt x="228600" y="204713"/>
                  <a:pt x="219001" y="214313"/>
                  <a:pt x="207169" y="214313"/>
                </a:cubicBezTo>
                <a:lnTo>
                  <a:pt x="191453" y="214313"/>
                </a:lnTo>
                <a:cubicBezTo>
                  <a:pt x="168816" y="214313"/>
                  <a:pt x="146402" y="218777"/>
                  <a:pt x="125507" y="227484"/>
                </a:cubicBezTo>
                <a:lnTo>
                  <a:pt x="119792" y="229850"/>
                </a:lnTo>
                <a:cubicBezTo>
                  <a:pt x="116265" y="231324"/>
                  <a:pt x="112335" y="231324"/>
                  <a:pt x="108808" y="229850"/>
                </a:cubicBezTo>
                <a:lnTo>
                  <a:pt x="103093" y="227484"/>
                </a:lnTo>
                <a:cubicBezTo>
                  <a:pt x="82198" y="218777"/>
                  <a:pt x="59784" y="214313"/>
                  <a:pt x="37148" y="214313"/>
                </a:cubicBezTo>
                <a:lnTo>
                  <a:pt x="21431" y="214313"/>
                </a:lnTo>
                <a:cubicBezTo>
                  <a:pt x="9599" y="214313"/>
                  <a:pt x="0" y="204713"/>
                  <a:pt x="0" y="192881"/>
                </a:cubicBezTo>
                <a:lnTo>
                  <a:pt x="0" y="35719"/>
                </a:lnTo>
                <a:cubicBezTo>
                  <a:pt x="0" y="23887"/>
                  <a:pt x="9599" y="14288"/>
                  <a:pt x="21431" y="14288"/>
                </a:cubicBezTo>
                <a:lnTo>
                  <a:pt x="37148" y="14288"/>
                </a:lnTo>
                <a:cubicBezTo>
                  <a:pt x="59784" y="14288"/>
                  <a:pt x="82198" y="18752"/>
                  <a:pt x="103093" y="27459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28" name="Text 26"/>
          <p:cNvSpPr/>
          <p:nvPr/>
        </p:nvSpPr>
        <p:spPr>
          <a:xfrm>
            <a:off x="6610350" y="1181100"/>
            <a:ext cx="17145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分模块教学内容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490399" y="1219200"/>
            <a:ext cx="14001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总计时长：125分钟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10300" y="17145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31" name="Text 29"/>
          <p:cNvSpPr/>
          <p:nvPr/>
        </p:nvSpPr>
        <p:spPr>
          <a:xfrm>
            <a:off x="6400800" y="1638300"/>
            <a:ext cx="11144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商品维护管理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399044" y="1676400"/>
            <a:ext cx="476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10min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00800" y="1943100"/>
            <a:ext cx="54864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商品维护的重要性，日常商品的维护制度，脏样商品的及时更换清洗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10300" y="25717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35" name="Text 33"/>
          <p:cNvSpPr/>
          <p:nvPr/>
        </p:nvSpPr>
        <p:spPr>
          <a:xfrm>
            <a:off x="6400800" y="2495550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出样管理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399044" y="2533650"/>
            <a:ext cx="476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10min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00800" y="2800350"/>
            <a:ext cx="54864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介绍出样的相关规定，出样时间、数量、尺码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210300" y="34290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39" name="Text 37"/>
          <p:cNvSpPr/>
          <p:nvPr/>
        </p:nvSpPr>
        <p:spPr>
          <a:xfrm>
            <a:off x="6400800" y="3352800"/>
            <a:ext cx="11144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店铺陈列标准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1399044" y="3390900"/>
            <a:ext cx="476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20min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00800" y="3657600"/>
            <a:ext cx="54864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介绍店铺陈列标准，包含陈列、视频音乐、灯光、POP管理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210300" y="42862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43" name="Text 41"/>
          <p:cNvSpPr/>
          <p:nvPr/>
        </p:nvSpPr>
        <p:spPr>
          <a:xfrm>
            <a:off x="6400800" y="4210050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陈列维护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1399044" y="4248150"/>
            <a:ext cx="476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25min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00800" y="4514850"/>
            <a:ext cx="54864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掌握鞋、服装、配件产品、模特基础着装陈列维护标准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210300" y="51435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47" name="Text 45"/>
          <p:cNvSpPr/>
          <p:nvPr/>
        </p:nvSpPr>
        <p:spPr>
          <a:xfrm>
            <a:off x="6400800" y="5067300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探寻需求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1399044" y="5105400"/>
            <a:ext cx="476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30min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400800" y="5372100"/>
            <a:ext cx="54864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讲解探寻需求环节的重点及易错点；训后练习探寻需求环节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210300" y="60007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51" name="Text 49"/>
          <p:cNvSpPr/>
          <p:nvPr/>
        </p:nvSpPr>
        <p:spPr>
          <a:xfrm>
            <a:off x="6400800" y="5924550"/>
            <a:ext cx="19526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产品介绍（BFE介绍法）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1399044" y="5962650"/>
            <a:ext cx="476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30min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400800" y="6229350"/>
            <a:ext cx="54864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说明BFE介绍法的好处，介绍BFE的含义及四大原则两大技巧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FABE法则：让产品自己说话</a:t>
            </a:r>
            <a:endParaRPr lang="en-US" sz="1100"/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1016000" y="1651000"/>
            <a:ext cx="2413000" cy="4318000"/>
          </a:xfrm>
          <a:prstGeom prst="roundRect">
            <a:avLst>
              <a:gd name="adj" fmla="val 63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1841500" y="1905000"/>
            <a:ext cx="762000" cy="762000"/>
          </a:xfrm>
          <a:prstGeom prst="ellipse">
            <a:avLst/>
          </a:prstGeom>
          <a:solidFill>
            <a:srgbClr val="EBEB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1841500" y="2032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F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4"/>
            </p:custDataLst>
          </p:nvPr>
        </p:nvSpPr>
        <p:spPr>
          <a:xfrm>
            <a:off x="1270000" y="29210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Feature / 特性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5"/>
            </p:custDataLst>
          </p:nvPr>
        </p:nvSpPr>
        <p:spPr>
          <a:xfrm>
            <a:off x="1270000" y="3556000"/>
            <a:ext cx="190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产品本身所固有的</a:t>
            </a:r>
            <a:br>
              <a:rPr lang="en-US" sz="1200" b="0" i="0" u="none" strike="noStrike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</a:b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客观属性与规格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1270000" y="4445000"/>
            <a:ext cx="1905000" cy="1143000"/>
          </a:xfrm>
          <a:prstGeom prst="roundRect">
            <a:avLst>
              <a:gd name="adj" fmla="val 8888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1397000" y="4572000"/>
            <a:ext cx="165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1" u="none" strike="noStrike">
                <a:solidFill>
                  <a:srgbClr val="88888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例如：这件西装采用澳洲进口的100%美利奴羊毛制成。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3683000" y="1651000"/>
            <a:ext cx="2413000" cy="4318000"/>
          </a:xfrm>
          <a:prstGeom prst="roundRect">
            <a:avLst>
              <a:gd name="adj" fmla="val 63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9"/>
            </p:custDataLst>
          </p:nvPr>
        </p:nvSpPr>
        <p:spPr>
          <a:xfrm>
            <a:off x="4508500" y="1905000"/>
            <a:ext cx="762000" cy="762000"/>
          </a:xfrm>
          <a:prstGeom prst="ellipse">
            <a:avLst/>
          </a:prstGeom>
          <a:solidFill>
            <a:srgbClr val="EBEB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>
            <p:custDataLst>
              <p:tags r:id="rId10"/>
            </p:custDataLst>
          </p:nvPr>
        </p:nvSpPr>
        <p:spPr>
          <a:xfrm>
            <a:off x="4508500" y="2032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A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11"/>
            </p:custDataLst>
          </p:nvPr>
        </p:nvSpPr>
        <p:spPr>
          <a:xfrm>
            <a:off x="3937000" y="29210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Advantage / 优势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2"/>
            </p:custDataLst>
          </p:nvPr>
        </p:nvSpPr>
        <p:spPr>
          <a:xfrm>
            <a:off x="3937000" y="3556000"/>
            <a:ext cx="190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由产品特性带来的</a:t>
            </a:r>
            <a:br>
              <a:rPr lang="en-US" sz="1200" b="0" i="0" u="none" strike="noStrike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</a:b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独特功能与优点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3"/>
            </p:custDataLst>
          </p:nvPr>
        </p:nvSpPr>
        <p:spPr>
          <a:xfrm>
            <a:off x="3937000" y="4445000"/>
            <a:ext cx="1905000" cy="1143000"/>
          </a:xfrm>
          <a:prstGeom prst="roundRect">
            <a:avLst>
              <a:gd name="adj" fmla="val 8888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>
            <p:custDataLst>
              <p:tags r:id="rId14"/>
            </p:custDataLst>
          </p:nvPr>
        </p:nvSpPr>
        <p:spPr>
          <a:xfrm>
            <a:off x="4064000" y="4572000"/>
            <a:ext cx="165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1" u="none" strike="noStrike">
                <a:solidFill>
                  <a:srgbClr val="88888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例如：面料细腻、手感柔软，且相比普通羊毛保暖性更佳。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15"/>
            </p:custDataLst>
          </p:nvPr>
        </p:nvSpPr>
        <p:spPr>
          <a:xfrm>
            <a:off x="6350000" y="1651000"/>
            <a:ext cx="2413000" cy="4318000"/>
          </a:xfrm>
          <a:prstGeom prst="roundRect">
            <a:avLst>
              <a:gd name="adj" fmla="val 63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>
            <p:custDataLst>
              <p:tags r:id="rId16"/>
            </p:custDataLst>
          </p:nvPr>
        </p:nvSpPr>
        <p:spPr>
          <a:xfrm>
            <a:off x="7175500" y="1905000"/>
            <a:ext cx="762000" cy="762000"/>
          </a:xfrm>
          <a:prstGeom prst="ellipse">
            <a:avLst/>
          </a:prstGeom>
          <a:solidFill>
            <a:srgbClr val="EBEB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>
            <p:custDataLst>
              <p:tags r:id="rId17"/>
            </p:custDataLst>
          </p:nvPr>
        </p:nvSpPr>
        <p:spPr>
          <a:xfrm>
            <a:off x="7175500" y="2032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B</a:t>
            </a:r>
            <a:endParaRPr lang="en-US" sz="1100"/>
          </a:p>
        </p:txBody>
      </p:sp>
      <p:sp>
        <p:nvSpPr>
          <p:cNvPr id="20" name="AutoShape 20"/>
          <p:cNvSpPr/>
          <p:nvPr>
            <p:custDataLst>
              <p:tags r:id="rId18"/>
            </p:custDataLst>
          </p:nvPr>
        </p:nvSpPr>
        <p:spPr>
          <a:xfrm>
            <a:off x="6604000" y="29210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Benefit / 利益</a:t>
            </a:r>
            <a:endParaRPr lang="en-US" sz="1100"/>
          </a:p>
        </p:txBody>
      </p:sp>
      <p:sp>
        <p:nvSpPr>
          <p:cNvPr id="21" name="AutoShape 21"/>
          <p:cNvSpPr/>
          <p:nvPr>
            <p:custDataLst>
              <p:tags r:id="rId19"/>
            </p:custDataLst>
          </p:nvPr>
        </p:nvSpPr>
        <p:spPr>
          <a:xfrm>
            <a:off x="6604000" y="3556000"/>
            <a:ext cx="190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能为顾客解决问题</a:t>
            </a:r>
            <a:br>
              <a:rPr lang="en-US" sz="1200" b="0" i="0" u="none" strike="noStrike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</a:b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或带来的实际好处</a:t>
            </a:r>
            <a:endParaRPr lang="en-US" sz="1100"/>
          </a:p>
        </p:txBody>
      </p:sp>
      <p:sp>
        <p:nvSpPr>
          <p:cNvPr id="22" name="AutoShape 22"/>
          <p:cNvSpPr/>
          <p:nvPr>
            <p:custDataLst>
              <p:tags r:id="rId20"/>
            </p:custDataLst>
          </p:nvPr>
        </p:nvSpPr>
        <p:spPr>
          <a:xfrm>
            <a:off x="6604000" y="4445000"/>
            <a:ext cx="1905000" cy="1143000"/>
          </a:xfrm>
          <a:prstGeom prst="roundRect">
            <a:avLst>
              <a:gd name="adj" fmla="val 8888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>
            <p:custDataLst>
              <p:tags r:id="rId21"/>
            </p:custDataLst>
          </p:nvPr>
        </p:nvSpPr>
        <p:spPr>
          <a:xfrm>
            <a:off x="6731000" y="4572000"/>
            <a:ext cx="165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1" u="none" strike="noStrike">
                <a:solidFill>
                  <a:srgbClr val="88888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例如：穿上后舒适透气，即使在寒冷冬季也能保持风度与温度。</a:t>
            </a:r>
            <a:endParaRPr lang="en-US" sz="1100"/>
          </a:p>
        </p:txBody>
      </p:sp>
      <p:sp>
        <p:nvSpPr>
          <p:cNvPr id="24" name="AutoShape 24"/>
          <p:cNvSpPr/>
          <p:nvPr>
            <p:custDataLst>
              <p:tags r:id="rId22"/>
            </p:custDataLst>
          </p:nvPr>
        </p:nvSpPr>
        <p:spPr>
          <a:xfrm>
            <a:off x="9017000" y="1651000"/>
            <a:ext cx="2413000" cy="4318000"/>
          </a:xfrm>
          <a:prstGeom prst="roundRect">
            <a:avLst>
              <a:gd name="adj" fmla="val 63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>
            <p:custDataLst>
              <p:tags r:id="rId23"/>
            </p:custDataLst>
          </p:nvPr>
        </p:nvSpPr>
        <p:spPr>
          <a:xfrm>
            <a:off x="9842500" y="1905000"/>
            <a:ext cx="762000" cy="762000"/>
          </a:xfrm>
          <a:prstGeom prst="ellipse">
            <a:avLst/>
          </a:prstGeom>
          <a:solidFill>
            <a:srgbClr val="EBEB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>
            <p:custDataLst>
              <p:tags r:id="rId24"/>
            </p:custDataLst>
          </p:nvPr>
        </p:nvSpPr>
        <p:spPr>
          <a:xfrm>
            <a:off x="9842500" y="2032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E</a:t>
            </a:r>
            <a:endParaRPr lang="en-US" sz="1100"/>
          </a:p>
        </p:txBody>
      </p:sp>
      <p:sp>
        <p:nvSpPr>
          <p:cNvPr id="27" name="AutoShape 27"/>
          <p:cNvSpPr/>
          <p:nvPr>
            <p:custDataLst>
              <p:tags r:id="rId25"/>
            </p:custDataLst>
          </p:nvPr>
        </p:nvSpPr>
        <p:spPr>
          <a:xfrm>
            <a:off x="9271000" y="29210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sz="1600" b="1"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E</a:t>
            </a:r>
            <a:r>
              <a:rPr lang="zh-CN" altLang="en-US" sz="1600" b="1"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（</a:t>
            </a:r>
            <a:r>
              <a:rPr lang="en-US" altLang="zh-CN" sz="1600" b="1"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Evidence</a:t>
            </a:r>
            <a:r>
              <a:rPr lang="zh-CN" altLang="en-US" sz="1600" b="1"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）佐证</a:t>
            </a:r>
            <a:endParaRPr lang="zh-CN" altLang="en-US" sz="1600" b="1"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2"/>
            </a:endParaRPr>
          </a:p>
        </p:txBody>
      </p:sp>
      <p:sp>
        <p:nvSpPr>
          <p:cNvPr id="28" name="AutoShape 28"/>
          <p:cNvSpPr/>
          <p:nvPr>
            <p:custDataLst>
              <p:tags r:id="rId26"/>
            </p:custDataLst>
          </p:nvPr>
        </p:nvSpPr>
        <p:spPr>
          <a:xfrm>
            <a:off x="9271000" y="3556000"/>
            <a:ext cx="190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通过动作演示或</a:t>
            </a:r>
            <a:br>
              <a:rPr lang="en-US" sz="1200" b="0" i="0" u="none" strike="noStrike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</a:b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客观数据来证明</a:t>
            </a:r>
            <a:endParaRPr lang="en-US" sz="1100"/>
          </a:p>
        </p:txBody>
      </p:sp>
      <p:sp>
        <p:nvSpPr>
          <p:cNvPr id="29" name="AutoShape 29"/>
          <p:cNvSpPr/>
          <p:nvPr>
            <p:custDataLst>
              <p:tags r:id="rId27"/>
            </p:custDataLst>
          </p:nvPr>
        </p:nvSpPr>
        <p:spPr>
          <a:xfrm>
            <a:off x="9271000" y="4445000"/>
            <a:ext cx="1905000" cy="1143000"/>
          </a:xfrm>
          <a:prstGeom prst="roundRect">
            <a:avLst>
              <a:gd name="adj" fmla="val 8888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>
            <p:custDataLst>
              <p:tags r:id="rId28"/>
            </p:custDataLst>
          </p:nvPr>
        </p:nvSpPr>
        <p:spPr>
          <a:xfrm>
            <a:off x="9398000" y="4572000"/>
            <a:ext cx="165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1" u="none" strike="noStrike">
                <a:solidFill>
                  <a:srgbClr val="88888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例如：您可以亲手触摸感受柔软度，或查阅我们的质检报告。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10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03 · PRACTICE &amp; ASSESSMENT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训后练习与考核标准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9575" y="1257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9740" y="16207"/>
                </a:moveTo>
                <a:cubicBezTo>
                  <a:pt x="64606" y="19601"/>
                  <a:pt x="65767" y="26298"/>
                  <a:pt x="62374" y="31120"/>
                </a:cubicBezTo>
                <a:lnTo>
                  <a:pt x="37371" y="66839"/>
                </a:lnTo>
                <a:cubicBezTo>
                  <a:pt x="35540" y="69428"/>
                  <a:pt x="32683" y="71080"/>
                  <a:pt x="29513" y="71348"/>
                </a:cubicBezTo>
                <a:cubicBezTo>
                  <a:pt x="26343" y="71616"/>
                  <a:pt x="23217" y="70545"/>
                  <a:pt x="20985" y="68312"/>
                </a:cubicBezTo>
                <a:lnTo>
                  <a:pt x="3125" y="50453"/>
                </a:lnTo>
                <a:cubicBezTo>
                  <a:pt x="-1027" y="46256"/>
                  <a:pt x="-1027" y="39469"/>
                  <a:pt x="3125" y="35272"/>
                </a:cubicBezTo>
                <a:cubicBezTo>
                  <a:pt x="7278" y="31075"/>
                  <a:pt x="14109" y="31120"/>
                  <a:pt x="18306" y="35272"/>
                </a:cubicBezTo>
                <a:lnTo>
                  <a:pt x="27146" y="44113"/>
                </a:lnTo>
                <a:lnTo>
                  <a:pt x="44827" y="18842"/>
                </a:lnTo>
                <a:cubicBezTo>
                  <a:pt x="48220" y="13975"/>
                  <a:pt x="54918" y="12814"/>
                  <a:pt x="59740" y="16207"/>
                </a:cubicBezTo>
                <a:close/>
                <a:moveTo>
                  <a:pt x="59740" y="87645"/>
                </a:moveTo>
                <a:cubicBezTo>
                  <a:pt x="64606" y="91038"/>
                  <a:pt x="65767" y="97735"/>
                  <a:pt x="62374" y="102557"/>
                </a:cubicBezTo>
                <a:lnTo>
                  <a:pt x="37371" y="138276"/>
                </a:lnTo>
                <a:cubicBezTo>
                  <a:pt x="35540" y="140866"/>
                  <a:pt x="32683" y="142518"/>
                  <a:pt x="29513" y="142786"/>
                </a:cubicBezTo>
                <a:cubicBezTo>
                  <a:pt x="26343" y="143054"/>
                  <a:pt x="23217" y="141982"/>
                  <a:pt x="20985" y="139750"/>
                </a:cubicBezTo>
                <a:lnTo>
                  <a:pt x="3125" y="121890"/>
                </a:lnTo>
                <a:cubicBezTo>
                  <a:pt x="-1072" y="117693"/>
                  <a:pt x="-1072" y="110907"/>
                  <a:pt x="3125" y="106754"/>
                </a:cubicBezTo>
                <a:cubicBezTo>
                  <a:pt x="7322" y="102602"/>
                  <a:pt x="14109" y="102557"/>
                  <a:pt x="18261" y="106754"/>
                </a:cubicBezTo>
                <a:lnTo>
                  <a:pt x="27102" y="115595"/>
                </a:lnTo>
                <a:lnTo>
                  <a:pt x="44782" y="90324"/>
                </a:lnTo>
                <a:cubicBezTo>
                  <a:pt x="48176" y="85457"/>
                  <a:pt x="54873" y="84296"/>
                  <a:pt x="59695" y="87690"/>
                </a:cubicBezTo>
                <a:close/>
                <a:moveTo>
                  <a:pt x="100013" y="42863"/>
                </a:moveTo>
                <a:cubicBezTo>
                  <a:pt x="100013" y="34960"/>
                  <a:pt x="106397" y="28575"/>
                  <a:pt x="114300" y="28575"/>
                </a:cubicBezTo>
                <a:lnTo>
                  <a:pt x="214313" y="28575"/>
                </a:lnTo>
                <a:cubicBezTo>
                  <a:pt x="222215" y="28575"/>
                  <a:pt x="228600" y="34960"/>
                  <a:pt x="228600" y="42863"/>
                </a:cubicBezTo>
                <a:cubicBezTo>
                  <a:pt x="228600" y="50765"/>
                  <a:pt x="222215" y="57150"/>
                  <a:pt x="214313" y="57150"/>
                </a:cubicBezTo>
                <a:lnTo>
                  <a:pt x="114300" y="57150"/>
                </a:lnTo>
                <a:cubicBezTo>
                  <a:pt x="106397" y="57150"/>
                  <a:pt x="100013" y="50765"/>
                  <a:pt x="100013" y="42863"/>
                </a:cubicBezTo>
                <a:close/>
                <a:moveTo>
                  <a:pt x="100013" y="114300"/>
                </a:moveTo>
                <a:cubicBezTo>
                  <a:pt x="100013" y="106397"/>
                  <a:pt x="106397" y="100013"/>
                  <a:pt x="114300" y="100013"/>
                </a:cubicBezTo>
                <a:lnTo>
                  <a:pt x="214313" y="100013"/>
                </a:lnTo>
                <a:cubicBezTo>
                  <a:pt x="222215" y="100013"/>
                  <a:pt x="228600" y="106397"/>
                  <a:pt x="228600" y="114300"/>
                </a:cubicBezTo>
                <a:cubicBezTo>
                  <a:pt x="228600" y="122203"/>
                  <a:pt x="222215" y="128588"/>
                  <a:pt x="214313" y="128588"/>
                </a:cubicBezTo>
                <a:lnTo>
                  <a:pt x="114300" y="128588"/>
                </a:lnTo>
                <a:cubicBezTo>
                  <a:pt x="106397" y="128588"/>
                  <a:pt x="100013" y="122203"/>
                  <a:pt x="100013" y="114300"/>
                </a:cubicBezTo>
                <a:close/>
                <a:moveTo>
                  <a:pt x="71438" y="185738"/>
                </a:moveTo>
                <a:cubicBezTo>
                  <a:pt x="71438" y="177835"/>
                  <a:pt x="77822" y="171450"/>
                  <a:pt x="85725" y="171450"/>
                </a:cubicBezTo>
                <a:lnTo>
                  <a:pt x="214313" y="171450"/>
                </a:lnTo>
                <a:cubicBezTo>
                  <a:pt x="222215" y="171450"/>
                  <a:pt x="228600" y="177835"/>
                  <a:pt x="228600" y="185738"/>
                </a:cubicBezTo>
                <a:cubicBezTo>
                  <a:pt x="228600" y="193640"/>
                  <a:pt x="222215" y="200025"/>
                  <a:pt x="214313" y="200025"/>
                </a:cubicBezTo>
                <a:lnTo>
                  <a:pt x="85725" y="200025"/>
                </a:lnTo>
                <a:cubicBezTo>
                  <a:pt x="77822" y="200025"/>
                  <a:pt x="71438" y="193640"/>
                  <a:pt x="71438" y="185738"/>
                </a:cubicBezTo>
                <a:close/>
                <a:moveTo>
                  <a:pt x="28575" y="167878"/>
                </a:moveTo>
                <a:cubicBezTo>
                  <a:pt x="38432" y="167878"/>
                  <a:pt x="46434" y="175881"/>
                  <a:pt x="46434" y="185738"/>
                </a:cubicBezTo>
                <a:cubicBezTo>
                  <a:pt x="46434" y="195594"/>
                  <a:pt x="38432" y="203597"/>
                  <a:pt x="28575" y="203597"/>
                </a:cubicBezTo>
                <a:cubicBezTo>
                  <a:pt x="18718" y="203597"/>
                  <a:pt x="10716" y="195594"/>
                  <a:pt x="10716" y="185738"/>
                </a:cubicBezTo>
                <a:cubicBezTo>
                  <a:pt x="10716" y="175881"/>
                  <a:pt x="18718" y="167878"/>
                  <a:pt x="28575" y="167878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5" name="Text 3"/>
          <p:cNvSpPr/>
          <p:nvPr/>
        </p:nvSpPr>
        <p:spPr>
          <a:xfrm>
            <a:off x="781050" y="1219200"/>
            <a:ext cx="1485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训后落地练习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1676400"/>
            <a:ext cx="5581650" cy="895350"/>
          </a:xfrm>
          <a:custGeom>
            <a:avLst/>
            <a:gdLst/>
            <a:ahLst/>
            <a:cxnLst/>
            <a:rect l="l" t="t" r="r" b="b"/>
            <a:pathLst>
              <a:path w="5581650" h="895350">
                <a:moveTo>
                  <a:pt x="38100" y="0"/>
                </a:moveTo>
                <a:lnTo>
                  <a:pt x="5505447" y="0"/>
                </a:lnTo>
                <a:cubicBezTo>
                  <a:pt x="5547533" y="0"/>
                  <a:pt x="5581650" y="34117"/>
                  <a:pt x="5581650" y="76203"/>
                </a:cubicBezTo>
                <a:lnTo>
                  <a:pt x="5581650" y="819147"/>
                </a:lnTo>
                <a:cubicBezTo>
                  <a:pt x="5581650" y="861233"/>
                  <a:pt x="5547533" y="895350"/>
                  <a:pt x="5505447" y="895350"/>
                </a:cubicBezTo>
                <a:lnTo>
                  <a:pt x="38100" y="895350"/>
                </a:lnTo>
                <a:cubicBezTo>
                  <a:pt x="17058" y="895350"/>
                  <a:pt x="0" y="878292"/>
                  <a:pt x="0" y="857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" name="Shape 5"/>
          <p:cNvSpPr/>
          <p:nvPr/>
        </p:nvSpPr>
        <p:spPr>
          <a:xfrm>
            <a:off x="400050" y="1676400"/>
            <a:ext cx="38100" cy="895350"/>
          </a:xfrm>
          <a:custGeom>
            <a:avLst/>
            <a:gdLst/>
            <a:ahLst/>
            <a:cxnLst/>
            <a:rect l="l" t="t" r="r" b="b"/>
            <a:pathLst>
              <a:path w="38100" h="895350">
                <a:moveTo>
                  <a:pt x="38100" y="0"/>
                </a:moveTo>
                <a:lnTo>
                  <a:pt x="38100" y="0"/>
                </a:lnTo>
                <a:lnTo>
                  <a:pt x="38100" y="895350"/>
                </a:lnTo>
                <a:lnTo>
                  <a:pt x="38100" y="895350"/>
                </a:lnTo>
                <a:cubicBezTo>
                  <a:pt x="17072" y="895350"/>
                  <a:pt x="0" y="878278"/>
                  <a:pt x="0" y="857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8" name="Shape 6"/>
          <p:cNvSpPr/>
          <p:nvPr/>
        </p:nvSpPr>
        <p:spPr>
          <a:xfrm>
            <a:off x="571500" y="18288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9" name="Text 7"/>
          <p:cNvSpPr/>
          <p:nvPr/>
        </p:nvSpPr>
        <p:spPr>
          <a:xfrm>
            <a:off x="528638" y="1828800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04900" y="1828800"/>
            <a:ext cx="38957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板墙陈列检查与调整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04900" y="2171700"/>
            <a:ext cx="38862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判断卖场上各个板墙陈列是否符合规范，并做出相应调整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0050" y="2724150"/>
            <a:ext cx="5581650" cy="895350"/>
          </a:xfrm>
          <a:custGeom>
            <a:avLst/>
            <a:gdLst/>
            <a:ahLst/>
            <a:cxnLst/>
            <a:rect l="l" t="t" r="r" b="b"/>
            <a:pathLst>
              <a:path w="5581650" h="895350">
                <a:moveTo>
                  <a:pt x="38100" y="0"/>
                </a:moveTo>
                <a:lnTo>
                  <a:pt x="5505447" y="0"/>
                </a:lnTo>
                <a:cubicBezTo>
                  <a:pt x="5547533" y="0"/>
                  <a:pt x="5581650" y="34117"/>
                  <a:pt x="5581650" y="76203"/>
                </a:cubicBezTo>
                <a:lnTo>
                  <a:pt x="5581650" y="819147"/>
                </a:lnTo>
                <a:cubicBezTo>
                  <a:pt x="5581650" y="861233"/>
                  <a:pt x="5547533" y="895350"/>
                  <a:pt x="5505447" y="895350"/>
                </a:cubicBezTo>
                <a:lnTo>
                  <a:pt x="38100" y="895350"/>
                </a:lnTo>
                <a:cubicBezTo>
                  <a:pt x="17058" y="895350"/>
                  <a:pt x="0" y="878292"/>
                  <a:pt x="0" y="857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3" name="Shape 11"/>
          <p:cNvSpPr/>
          <p:nvPr/>
        </p:nvSpPr>
        <p:spPr>
          <a:xfrm>
            <a:off x="400050" y="2724150"/>
            <a:ext cx="38100" cy="895350"/>
          </a:xfrm>
          <a:custGeom>
            <a:avLst/>
            <a:gdLst/>
            <a:ahLst/>
            <a:cxnLst/>
            <a:rect l="l" t="t" r="r" b="b"/>
            <a:pathLst>
              <a:path w="38100" h="895350">
                <a:moveTo>
                  <a:pt x="38100" y="0"/>
                </a:moveTo>
                <a:lnTo>
                  <a:pt x="38100" y="0"/>
                </a:lnTo>
                <a:lnTo>
                  <a:pt x="38100" y="895350"/>
                </a:lnTo>
                <a:lnTo>
                  <a:pt x="38100" y="895350"/>
                </a:lnTo>
                <a:cubicBezTo>
                  <a:pt x="17072" y="895350"/>
                  <a:pt x="0" y="878278"/>
                  <a:pt x="0" y="857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14" name="Shape 12"/>
          <p:cNvSpPr/>
          <p:nvPr/>
        </p:nvSpPr>
        <p:spPr>
          <a:xfrm>
            <a:off x="571500" y="28765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15" name="Text 13"/>
          <p:cNvSpPr/>
          <p:nvPr/>
        </p:nvSpPr>
        <p:spPr>
          <a:xfrm>
            <a:off x="528638" y="2876550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04900" y="2876550"/>
            <a:ext cx="28289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练习探寻需求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04900" y="3219450"/>
            <a:ext cx="28194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请带教老师扮演顾客，练习探寻需求环节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00050" y="3771900"/>
            <a:ext cx="5581650" cy="895350"/>
          </a:xfrm>
          <a:custGeom>
            <a:avLst/>
            <a:gdLst/>
            <a:ahLst/>
            <a:cxnLst/>
            <a:rect l="l" t="t" r="r" b="b"/>
            <a:pathLst>
              <a:path w="5581650" h="895350">
                <a:moveTo>
                  <a:pt x="38100" y="0"/>
                </a:moveTo>
                <a:lnTo>
                  <a:pt x="5505447" y="0"/>
                </a:lnTo>
                <a:cubicBezTo>
                  <a:pt x="5547533" y="0"/>
                  <a:pt x="5581650" y="34117"/>
                  <a:pt x="5581650" y="76203"/>
                </a:cubicBezTo>
                <a:lnTo>
                  <a:pt x="5581650" y="819147"/>
                </a:lnTo>
                <a:cubicBezTo>
                  <a:pt x="5581650" y="861233"/>
                  <a:pt x="5547533" y="895350"/>
                  <a:pt x="5505447" y="895350"/>
                </a:cubicBezTo>
                <a:lnTo>
                  <a:pt x="38100" y="895350"/>
                </a:lnTo>
                <a:cubicBezTo>
                  <a:pt x="17058" y="895350"/>
                  <a:pt x="0" y="878292"/>
                  <a:pt x="0" y="857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9" name="Shape 17"/>
          <p:cNvSpPr/>
          <p:nvPr/>
        </p:nvSpPr>
        <p:spPr>
          <a:xfrm>
            <a:off x="400050" y="3771900"/>
            <a:ext cx="38100" cy="895350"/>
          </a:xfrm>
          <a:custGeom>
            <a:avLst/>
            <a:gdLst/>
            <a:ahLst/>
            <a:cxnLst/>
            <a:rect l="l" t="t" r="r" b="b"/>
            <a:pathLst>
              <a:path w="38100" h="895350">
                <a:moveTo>
                  <a:pt x="38100" y="0"/>
                </a:moveTo>
                <a:lnTo>
                  <a:pt x="38100" y="0"/>
                </a:lnTo>
                <a:lnTo>
                  <a:pt x="38100" y="895350"/>
                </a:lnTo>
                <a:lnTo>
                  <a:pt x="38100" y="895350"/>
                </a:lnTo>
                <a:cubicBezTo>
                  <a:pt x="17072" y="895350"/>
                  <a:pt x="0" y="878278"/>
                  <a:pt x="0" y="857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9A299"/>
          </a:solidFill>
        </p:spPr>
      </p:sp>
      <p:sp>
        <p:nvSpPr>
          <p:cNvPr id="20" name="Shape 18"/>
          <p:cNvSpPr/>
          <p:nvPr/>
        </p:nvSpPr>
        <p:spPr>
          <a:xfrm>
            <a:off x="571500" y="3924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A9A299"/>
          </a:solidFill>
        </p:spPr>
      </p:sp>
      <p:sp>
        <p:nvSpPr>
          <p:cNvPr id="21" name="Text 19"/>
          <p:cNvSpPr/>
          <p:nvPr/>
        </p:nvSpPr>
        <p:spPr>
          <a:xfrm>
            <a:off x="528638" y="3924300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04900" y="3924300"/>
            <a:ext cx="28003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BFE介绍法实践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04900" y="4267200"/>
            <a:ext cx="2790825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用BFE介绍法向带教人推荐当季主推产品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1000" y="5543550"/>
            <a:ext cx="5600700" cy="933450"/>
          </a:xfrm>
          <a:custGeom>
            <a:avLst/>
            <a:gdLst/>
            <a:ahLst/>
            <a:cxnLst/>
            <a:rect l="l" t="t" r="r" b="b"/>
            <a:pathLst>
              <a:path w="5600700" h="933450">
                <a:moveTo>
                  <a:pt x="76198" y="0"/>
                </a:moveTo>
                <a:lnTo>
                  <a:pt x="5524502" y="0"/>
                </a:lnTo>
                <a:cubicBezTo>
                  <a:pt x="5566585" y="0"/>
                  <a:pt x="5600700" y="34115"/>
                  <a:pt x="5600700" y="76198"/>
                </a:cubicBezTo>
                <a:lnTo>
                  <a:pt x="5600700" y="857252"/>
                </a:lnTo>
                <a:cubicBezTo>
                  <a:pt x="5600700" y="899335"/>
                  <a:pt x="5566585" y="933450"/>
                  <a:pt x="5524502" y="933450"/>
                </a:cubicBezTo>
                <a:lnTo>
                  <a:pt x="76198" y="933450"/>
                </a:lnTo>
                <a:cubicBezTo>
                  <a:pt x="34115" y="933450"/>
                  <a:pt x="0" y="899335"/>
                  <a:pt x="0" y="85725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3A4F41">
              <a:alpha val="5098"/>
            </a:srgbClr>
          </a:solidFill>
        </p:spPr>
      </p:sp>
      <p:sp>
        <p:nvSpPr>
          <p:cNvPr id="25" name="Shape 23"/>
          <p:cNvSpPr/>
          <p:nvPr/>
        </p:nvSpPr>
        <p:spPr>
          <a:xfrm>
            <a:off x="557213" y="57340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26" name="Text 24"/>
          <p:cNvSpPr/>
          <p:nvPr/>
        </p:nvSpPr>
        <p:spPr>
          <a:xfrm>
            <a:off x="885825" y="5695950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练习目标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3400" y="6076950"/>
            <a:ext cx="53721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通过实操演练，将陈列标准和销售技巧转化为实际工作能力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67450" y="12573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9035" y="14288"/>
                </a:moveTo>
                <a:lnTo>
                  <a:pt x="142875" y="14288"/>
                </a:lnTo>
                <a:cubicBezTo>
                  <a:pt x="158636" y="14288"/>
                  <a:pt x="171450" y="27102"/>
                  <a:pt x="171450" y="42863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42863"/>
                </a:lnTo>
                <a:cubicBezTo>
                  <a:pt x="0" y="27102"/>
                  <a:pt x="12814" y="14288"/>
                  <a:pt x="28575" y="14288"/>
                </a:cubicBezTo>
                <a:lnTo>
                  <a:pt x="32415" y="14288"/>
                </a:lnTo>
                <a:cubicBezTo>
                  <a:pt x="37326" y="5760"/>
                  <a:pt x="46568" y="0"/>
                  <a:pt x="57150" y="0"/>
                </a:cubicBezTo>
                <a:lnTo>
                  <a:pt x="114300" y="0"/>
                </a:lnTo>
                <a:cubicBezTo>
                  <a:pt x="124882" y="0"/>
                  <a:pt x="134124" y="5760"/>
                  <a:pt x="139035" y="14288"/>
                </a:cubicBezTo>
                <a:close/>
                <a:moveTo>
                  <a:pt x="110728" y="50006"/>
                </a:moveTo>
                <a:cubicBezTo>
                  <a:pt x="116666" y="50006"/>
                  <a:pt x="121444" y="45229"/>
                  <a:pt x="121444" y="39291"/>
                </a:cubicBezTo>
                <a:cubicBezTo>
                  <a:pt x="121444" y="33352"/>
                  <a:pt x="116666" y="28575"/>
                  <a:pt x="110728" y="28575"/>
                </a:cubicBezTo>
                <a:lnTo>
                  <a:pt x="60722" y="28575"/>
                </a:lnTo>
                <a:cubicBezTo>
                  <a:pt x="54784" y="28575"/>
                  <a:pt x="50006" y="33352"/>
                  <a:pt x="50006" y="39291"/>
                </a:cubicBezTo>
                <a:cubicBezTo>
                  <a:pt x="50006" y="45229"/>
                  <a:pt x="54784" y="50006"/>
                  <a:pt x="60722" y="50006"/>
                </a:cubicBezTo>
                <a:lnTo>
                  <a:pt x="110728" y="50006"/>
                </a:lnTo>
                <a:close/>
                <a:moveTo>
                  <a:pt x="57150" y="114300"/>
                </a:moveTo>
                <a:cubicBezTo>
                  <a:pt x="57150" y="106415"/>
                  <a:pt x="50748" y="100013"/>
                  <a:pt x="42863" y="100013"/>
                </a:cubicBezTo>
                <a:cubicBezTo>
                  <a:pt x="34977" y="100013"/>
                  <a:pt x="28575" y="106415"/>
                  <a:pt x="28575" y="114300"/>
                </a:cubicBezTo>
                <a:cubicBezTo>
                  <a:pt x="28575" y="122185"/>
                  <a:pt x="34977" y="128588"/>
                  <a:pt x="42863" y="128588"/>
                </a:cubicBezTo>
                <a:cubicBezTo>
                  <a:pt x="50748" y="128588"/>
                  <a:pt x="57150" y="122185"/>
                  <a:pt x="57150" y="114300"/>
                </a:cubicBezTo>
                <a:close/>
                <a:moveTo>
                  <a:pt x="71438" y="114300"/>
                </a:moveTo>
                <a:cubicBezTo>
                  <a:pt x="71438" y="120238"/>
                  <a:pt x="76215" y="125016"/>
                  <a:pt x="82153" y="125016"/>
                </a:cubicBezTo>
                <a:lnTo>
                  <a:pt x="132159" y="125016"/>
                </a:lnTo>
                <a:cubicBezTo>
                  <a:pt x="138098" y="125016"/>
                  <a:pt x="142875" y="120238"/>
                  <a:pt x="142875" y="114300"/>
                </a:cubicBezTo>
                <a:cubicBezTo>
                  <a:pt x="142875" y="108362"/>
                  <a:pt x="138098" y="103584"/>
                  <a:pt x="132159" y="103584"/>
                </a:cubicBezTo>
                <a:lnTo>
                  <a:pt x="82153" y="103584"/>
                </a:lnTo>
                <a:cubicBezTo>
                  <a:pt x="76215" y="103584"/>
                  <a:pt x="71438" y="108362"/>
                  <a:pt x="71438" y="114300"/>
                </a:cubicBezTo>
                <a:close/>
                <a:moveTo>
                  <a:pt x="71438" y="171450"/>
                </a:moveTo>
                <a:cubicBezTo>
                  <a:pt x="71438" y="177388"/>
                  <a:pt x="76215" y="182166"/>
                  <a:pt x="82153" y="182166"/>
                </a:cubicBezTo>
                <a:lnTo>
                  <a:pt x="132159" y="182166"/>
                </a:lnTo>
                <a:cubicBezTo>
                  <a:pt x="138098" y="182166"/>
                  <a:pt x="142875" y="177388"/>
                  <a:pt x="142875" y="171450"/>
                </a:cubicBezTo>
                <a:cubicBezTo>
                  <a:pt x="142875" y="165512"/>
                  <a:pt x="138098" y="160734"/>
                  <a:pt x="132159" y="160734"/>
                </a:cubicBezTo>
                <a:lnTo>
                  <a:pt x="82153" y="160734"/>
                </a:lnTo>
                <a:cubicBezTo>
                  <a:pt x="76215" y="160734"/>
                  <a:pt x="71438" y="165512"/>
                  <a:pt x="71438" y="171450"/>
                </a:cubicBezTo>
                <a:close/>
                <a:moveTo>
                  <a:pt x="42863" y="185738"/>
                </a:moveTo>
                <a:cubicBezTo>
                  <a:pt x="50748" y="185738"/>
                  <a:pt x="57150" y="179335"/>
                  <a:pt x="57150" y="171450"/>
                </a:cubicBezTo>
                <a:cubicBezTo>
                  <a:pt x="57150" y="163565"/>
                  <a:pt x="50748" y="157163"/>
                  <a:pt x="42863" y="157163"/>
                </a:cubicBezTo>
                <a:cubicBezTo>
                  <a:pt x="34977" y="157163"/>
                  <a:pt x="28575" y="163565"/>
                  <a:pt x="28575" y="171450"/>
                </a:cubicBezTo>
                <a:cubicBezTo>
                  <a:pt x="28575" y="179335"/>
                  <a:pt x="34977" y="185738"/>
                  <a:pt x="42863" y="185738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29" name="Text 27"/>
          <p:cNvSpPr/>
          <p:nvPr/>
        </p:nvSpPr>
        <p:spPr>
          <a:xfrm>
            <a:off x="6610350" y="1219200"/>
            <a:ext cx="2171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考核要点与评分标准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10300" y="1676400"/>
            <a:ext cx="5600700" cy="4800600"/>
          </a:xfrm>
          <a:custGeom>
            <a:avLst/>
            <a:gdLst/>
            <a:ahLst/>
            <a:cxnLst/>
            <a:rect l="l" t="t" r="r" b="b"/>
            <a:pathLst>
              <a:path w="5600700" h="4800600">
                <a:moveTo>
                  <a:pt x="76186" y="0"/>
                </a:moveTo>
                <a:lnTo>
                  <a:pt x="5524514" y="0"/>
                </a:lnTo>
                <a:cubicBezTo>
                  <a:pt x="5566591" y="0"/>
                  <a:pt x="5600700" y="34109"/>
                  <a:pt x="5600700" y="76186"/>
                </a:cubicBezTo>
                <a:lnTo>
                  <a:pt x="5600700" y="4724414"/>
                </a:lnTo>
                <a:cubicBezTo>
                  <a:pt x="5600700" y="4766491"/>
                  <a:pt x="5566591" y="4800600"/>
                  <a:pt x="5524514" y="4800600"/>
                </a:cubicBezTo>
                <a:lnTo>
                  <a:pt x="76186" y="4800600"/>
                </a:lnTo>
                <a:cubicBezTo>
                  <a:pt x="34109" y="4800600"/>
                  <a:pt x="0" y="4766491"/>
                  <a:pt x="0" y="4724414"/>
                </a:cubicBezTo>
                <a:lnTo>
                  <a:pt x="0" y="76186"/>
                </a:lnTo>
                <a:cubicBezTo>
                  <a:pt x="0" y="34138"/>
                  <a:pt x="34138" y="0"/>
                  <a:pt x="76186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1" name="Shape 29"/>
          <p:cNvSpPr/>
          <p:nvPr/>
        </p:nvSpPr>
        <p:spPr>
          <a:xfrm>
            <a:off x="6210300" y="1676400"/>
            <a:ext cx="5600700" cy="762000"/>
          </a:xfrm>
          <a:custGeom>
            <a:avLst/>
            <a:gdLst/>
            <a:ahLst/>
            <a:cxnLst/>
            <a:rect l="l" t="t" r="r" b="b"/>
            <a:pathLst>
              <a:path w="5600700" h="762000">
                <a:moveTo>
                  <a:pt x="0" y="0"/>
                </a:moveTo>
                <a:lnTo>
                  <a:pt x="5600700" y="0"/>
                </a:lnTo>
                <a:lnTo>
                  <a:pt x="56007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3A4F41"/>
          </a:solidFill>
        </p:spPr>
      </p:sp>
      <p:sp>
        <p:nvSpPr>
          <p:cNvPr id="32" name="Text 30"/>
          <p:cNvSpPr/>
          <p:nvPr/>
        </p:nvSpPr>
        <p:spPr>
          <a:xfrm>
            <a:off x="6291263" y="1790700"/>
            <a:ext cx="5438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7F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总分100分，80分及格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267450" y="2019300"/>
            <a:ext cx="5486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8F7F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3 考核项目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62700" y="2936875"/>
            <a:ext cx="5295900" cy="6350"/>
          </a:xfrm>
          <a:custGeom>
            <a:avLst/>
            <a:gdLst/>
            <a:ahLst/>
            <a:cxnLst/>
            <a:rect l="l" t="t" r="r" b="b"/>
            <a:pathLst>
              <a:path w="5295900" h="6350">
                <a:moveTo>
                  <a:pt x="0" y="0"/>
                </a:moveTo>
                <a:lnTo>
                  <a:pt x="5295900" y="0"/>
                </a:lnTo>
                <a:lnTo>
                  <a:pt x="529590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A9A299">
              <a:alpha val="20000"/>
            </a:srgbClr>
          </a:solidFill>
        </p:spPr>
      </p:sp>
      <p:sp>
        <p:nvSpPr>
          <p:cNvPr id="35" name="Shape 33"/>
          <p:cNvSpPr/>
          <p:nvPr/>
        </p:nvSpPr>
        <p:spPr>
          <a:xfrm>
            <a:off x="6386513" y="26765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39303" y="69652"/>
                </a:moveTo>
                <a:cubicBezTo>
                  <a:pt x="139303" y="85022"/>
                  <a:pt x="134314" y="99220"/>
                  <a:pt x="125909" y="110739"/>
                </a:cubicBezTo>
                <a:lnTo>
                  <a:pt x="168302" y="153166"/>
                </a:lnTo>
                <a:cubicBezTo>
                  <a:pt x="172488" y="157352"/>
                  <a:pt x="172488" y="164150"/>
                  <a:pt x="168302" y="168336"/>
                </a:cubicBezTo>
                <a:cubicBezTo>
                  <a:pt x="164116" y="172522"/>
                  <a:pt x="157319" y="172522"/>
                  <a:pt x="153133" y="168336"/>
                </a:cubicBezTo>
                <a:lnTo>
                  <a:pt x="110739" y="125909"/>
                </a:lnTo>
                <a:cubicBezTo>
                  <a:pt x="99220" y="134314"/>
                  <a:pt x="85022" y="139303"/>
                  <a:pt x="69652" y="139303"/>
                </a:cubicBezTo>
                <a:cubicBezTo>
                  <a:pt x="31176" y="139303"/>
                  <a:pt x="0" y="108127"/>
                  <a:pt x="0" y="69652"/>
                </a:cubicBezTo>
                <a:cubicBezTo>
                  <a:pt x="0" y="31176"/>
                  <a:pt x="31176" y="0"/>
                  <a:pt x="69652" y="0"/>
                </a:cubicBezTo>
                <a:cubicBezTo>
                  <a:pt x="108127" y="0"/>
                  <a:pt x="139303" y="31176"/>
                  <a:pt x="139303" y="69652"/>
                </a:cubicBezTo>
                <a:close/>
                <a:moveTo>
                  <a:pt x="69652" y="117872"/>
                </a:moveTo>
                <a:cubicBezTo>
                  <a:pt x="96265" y="117872"/>
                  <a:pt x="117872" y="96265"/>
                  <a:pt x="117872" y="69652"/>
                </a:cubicBezTo>
                <a:cubicBezTo>
                  <a:pt x="117872" y="43038"/>
                  <a:pt x="96265" y="21431"/>
                  <a:pt x="69652" y="21431"/>
                </a:cubicBezTo>
                <a:cubicBezTo>
                  <a:pt x="43038" y="21431"/>
                  <a:pt x="21431" y="43038"/>
                  <a:pt x="21431" y="69652"/>
                </a:cubicBezTo>
                <a:cubicBezTo>
                  <a:pt x="21431" y="96265"/>
                  <a:pt x="43038" y="117872"/>
                  <a:pt x="69652" y="117872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36" name="Text 34"/>
          <p:cNvSpPr/>
          <p:nvPr/>
        </p:nvSpPr>
        <p:spPr>
          <a:xfrm>
            <a:off x="6691313" y="2647950"/>
            <a:ext cx="144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探寻需求环节的步骤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266289" y="2628900"/>
            <a:ext cx="4857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10分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62700" y="3632200"/>
            <a:ext cx="5295900" cy="6350"/>
          </a:xfrm>
          <a:custGeom>
            <a:avLst/>
            <a:gdLst/>
            <a:ahLst/>
            <a:cxnLst/>
            <a:rect l="l" t="t" r="r" b="b"/>
            <a:pathLst>
              <a:path w="5295900" h="6350">
                <a:moveTo>
                  <a:pt x="0" y="0"/>
                </a:moveTo>
                <a:lnTo>
                  <a:pt x="5295900" y="0"/>
                </a:lnTo>
                <a:lnTo>
                  <a:pt x="529590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A9A299">
              <a:alpha val="20000"/>
            </a:srgbClr>
          </a:solidFill>
        </p:spPr>
      </p:sp>
      <p:sp>
        <p:nvSpPr>
          <p:cNvPr id="39" name="Shape 37"/>
          <p:cNvSpPr/>
          <p:nvPr/>
        </p:nvSpPr>
        <p:spPr>
          <a:xfrm>
            <a:off x="6386513" y="33718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75009" y="53578"/>
                </a:moveTo>
                <a:cubicBezTo>
                  <a:pt x="75009" y="47664"/>
                  <a:pt x="79811" y="42863"/>
                  <a:pt x="85725" y="42863"/>
                </a:cubicBezTo>
                <a:cubicBezTo>
                  <a:pt x="91639" y="42863"/>
                  <a:pt x="96441" y="47664"/>
                  <a:pt x="96441" y="53578"/>
                </a:cubicBezTo>
                <a:cubicBezTo>
                  <a:pt x="96441" y="59492"/>
                  <a:pt x="91639" y="64294"/>
                  <a:pt x="85725" y="64294"/>
                </a:cubicBezTo>
                <a:cubicBezTo>
                  <a:pt x="79811" y="64294"/>
                  <a:pt x="75009" y="59492"/>
                  <a:pt x="75009" y="53578"/>
                </a:cubicBezTo>
                <a:close/>
                <a:moveTo>
                  <a:pt x="72330" y="75009"/>
                </a:moveTo>
                <a:lnTo>
                  <a:pt x="88404" y="75009"/>
                </a:lnTo>
                <a:cubicBezTo>
                  <a:pt x="92858" y="75009"/>
                  <a:pt x="96441" y="78592"/>
                  <a:pt x="96441" y="83046"/>
                </a:cubicBezTo>
                <a:lnTo>
                  <a:pt x="96441" y="112514"/>
                </a:lnTo>
                <a:lnTo>
                  <a:pt x="99120" y="112514"/>
                </a:lnTo>
                <a:cubicBezTo>
                  <a:pt x="103573" y="112514"/>
                  <a:pt x="107156" y="116097"/>
                  <a:pt x="107156" y="120551"/>
                </a:cubicBezTo>
                <a:cubicBezTo>
                  <a:pt x="107156" y="125004"/>
                  <a:pt x="103573" y="128588"/>
                  <a:pt x="99120" y="128588"/>
                </a:cubicBezTo>
                <a:lnTo>
                  <a:pt x="72330" y="128588"/>
                </a:lnTo>
                <a:cubicBezTo>
                  <a:pt x="67877" y="128588"/>
                  <a:pt x="64294" y="125004"/>
                  <a:pt x="64294" y="120551"/>
                </a:cubicBezTo>
                <a:cubicBezTo>
                  <a:pt x="64294" y="116097"/>
                  <a:pt x="67877" y="112514"/>
                  <a:pt x="72330" y="112514"/>
                </a:cubicBezTo>
                <a:lnTo>
                  <a:pt x="80367" y="112514"/>
                </a:lnTo>
                <a:lnTo>
                  <a:pt x="80367" y="91083"/>
                </a:lnTo>
                <a:lnTo>
                  <a:pt x="72330" y="91083"/>
                </a:lnTo>
                <a:cubicBezTo>
                  <a:pt x="67877" y="91083"/>
                  <a:pt x="64294" y="87500"/>
                  <a:pt x="64294" y="83046"/>
                </a:cubicBezTo>
                <a:cubicBezTo>
                  <a:pt x="64294" y="78592"/>
                  <a:pt x="67877" y="75009"/>
                  <a:pt x="72330" y="75009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40" name="Text 38"/>
          <p:cNvSpPr/>
          <p:nvPr/>
        </p:nvSpPr>
        <p:spPr>
          <a:xfrm>
            <a:off x="6610350" y="3171825"/>
            <a:ext cx="2654591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FABE的含义及四大原则、两大技巧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1266091" y="3324225"/>
            <a:ext cx="4857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18分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62700" y="4327525"/>
            <a:ext cx="5295900" cy="6350"/>
          </a:xfrm>
          <a:custGeom>
            <a:avLst/>
            <a:gdLst/>
            <a:ahLst/>
            <a:cxnLst/>
            <a:rect l="l" t="t" r="r" b="b"/>
            <a:pathLst>
              <a:path w="5295900" h="6350">
                <a:moveTo>
                  <a:pt x="0" y="0"/>
                </a:moveTo>
                <a:lnTo>
                  <a:pt x="5295900" y="0"/>
                </a:lnTo>
                <a:lnTo>
                  <a:pt x="529590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A9A299">
              <a:alpha val="20000"/>
            </a:srgbClr>
          </a:solidFill>
        </p:spPr>
      </p:sp>
      <p:sp>
        <p:nvSpPr>
          <p:cNvPr id="43" name="Shape 41"/>
          <p:cNvSpPr/>
          <p:nvPr/>
        </p:nvSpPr>
        <p:spPr>
          <a:xfrm>
            <a:off x="6407944" y="406717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64294" y="0"/>
                </a:moveTo>
                <a:cubicBezTo>
                  <a:pt x="46546" y="0"/>
                  <a:pt x="32147" y="14399"/>
                  <a:pt x="32147" y="32147"/>
                </a:cubicBezTo>
                <a:lnTo>
                  <a:pt x="32147" y="75009"/>
                </a:lnTo>
                <a:cubicBezTo>
                  <a:pt x="32147" y="92757"/>
                  <a:pt x="46546" y="107156"/>
                  <a:pt x="64294" y="107156"/>
                </a:cubicBezTo>
                <a:cubicBezTo>
                  <a:pt x="82042" y="107156"/>
                  <a:pt x="96441" y="92757"/>
                  <a:pt x="96441" y="75009"/>
                </a:cubicBezTo>
                <a:lnTo>
                  <a:pt x="96441" y="32147"/>
                </a:lnTo>
                <a:cubicBezTo>
                  <a:pt x="96441" y="14399"/>
                  <a:pt x="82042" y="0"/>
                  <a:pt x="64294" y="0"/>
                </a:cubicBezTo>
                <a:close/>
                <a:moveTo>
                  <a:pt x="16073" y="61615"/>
                </a:moveTo>
                <a:cubicBezTo>
                  <a:pt x="16073" y="57161"/>
                  <a:pt x="12490" y="53578"/>
                  <a:pt x="8037" y="53578"/>
                </a:cubicBezTo>
                <a:cubicBezTo>
                  <a:pt x="3583" y="53578"/>
                  <a:pt x="0" y="57161"/>
                  <a:pt x="0" y="61615"/>
                </a:cubicBezTo>
                <a:lnTo>
                  <a:pt x="0" y="75009"/>
                </a:lnTo>
                <a:cubicBezTo>
                  <a:pt x="0" y="107792"/>
                  <a:pt x="24545" y="134849"/>
                  <a:pt x="56257" y="138801"/>
                </a:cubicBezTo>
                <a:lnTo>
                  <a:pt x="56257" y="155377"/>
                </a:lnTo>
                <a:lnTo>
                  <a:pt x="40184" y="155377"/>
                </a:lnTo>
                <a:cubicBezTo>
                  <a:pt x="35730" y="155377"/>
                  <a:pt x="32147" y="158960"/>
                  <a:pt x="32147" y="163413"/>
                </a:cubicBezTo>
                <a:cubicBezTo>
                  <a:pt x="32147" y="167867"/>
                  <a:pt x="35730" y="171450"/>
                  <a:pt x="40184" y="171450"/>
                </a:cubicBezTo>
                <a:lnTo>
                  <a:pt x="88404" y="171450"/>
                </a:lnTo>
                <a:cubicBezTo>
                  <a:pt x="92858" y="171450"/>
                  <a:pt x="96441" y="167867"/>
                  <a:pt x="96441" y="163413"/>
                </a:cubicBezTo>
                <a:cubicBezTo>
                  <a:pt x="96441" y="158960"/>
                  <a:pt x="92858" y="155377"/>
                  <a:pt x="88404" y="155377"/>
                </a:cubicBezTo>
                <a:lnTo>
                  <a:pt x="72330" y="155377"/>
                </a:lnTo>
                <a:lnTo>
                  <a:pt x="72330" y="138801"/>
                </a:lnTo>
                <a:cubicBezTo>
                  <a:pt x="104042" y="134849"/>
                  <a:pt x="128588" y="107792"/>
                  <a:pt x="128588" y="75009"/>
                </a:cubicBezTo>
                <a:lnTo>
                  <a:pt x="128588" y="61615"/>
                </a:lnTo>
                <a:cubicBezTo>
                  <a:pt x="128588" y="57161"/>
                  <a:pt x="125004" y="53578"/>
                  <a:pt x="120551" y="53578"/>
                </a:cubicBezTo>
                <a:cubicBezTo>
                  <a:pt x="116097" y="53578"/>
                  <a:pt x="112514" y="57161"/>
                  <a:pt x="112514" y="61615"/>
                </a:cubicBezTo>
                <a:lnTo>
                  <a:pt x="112514" y="75009"/>
                </a:lnTo>
                <a:cubicBezTo>
                  <a:pt x="112514" y="101631"/>
                  <a:pt x="90915" y="123230"/>
                  <a:pt x="64294" y="123230"/>
                </a:cubicBezTo>
                <a:cubicBezTo>
                  <a:pt x="37672" y="123230"/>
                  <a:pt x="16073" y="101631"/>
                  <a:pt x="16073" y="75009"/>
                </a:cubicBezTo>
                <a:lnTo>
                  <a:pt x="16073" y="61615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44" name="Text 42"/>
          <p:cNvSpPr/>
          <p:nvPr/>
        </p:nvSpPr>
        <p:spPr>
          <a:xfrm>
            <a:off x="6759345" y="3924300"/>
            <a:ext cx="1873711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使用FABE介绍一款产品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354892" y="4019550"/>
            <a:ext cx="400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8分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62700" y="5022850"/>
            <a:ext cx="5295900" cy="6350"/>
          </a:xfrm>
          <a:custGeom>
            <a:avLst/>
            <a:gdLst/>
            <a:ahLst/>
            <a:cxnLst/>
            <a:rect l="l" t="t" r="r" b="b"/>
            <a:pathLst>
              <a:path w="5295900" h="6350">
                <a:moveTo>
                  <a:pt x="0" y="0"/>
                </a:moveTo>
                <a:lnTo>
                  <a:pt x="5295900" y="0"/>
                </a:lnTo>
                <a:lnTo>
                  <a:pt x="529590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A9A299">
              <a:alpha val="20000"/>
            </a:srgbClr>
          </a:solidFill>
        </p:spPr>
      </p:sp>
      <p:sp>
        <p:nvSpPr>
          <p:cNvPr id="47" name="Shape 45"/>
          <p:cNvSpPr/>
          <p:nvPr/>
        </p:nvSpPr>
        <p:spPr>
          <a:xfrm>
            <a:off x="6397228" y="476250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28588" y="32147"/>
                </a:moveTo>
                <a:lnTo>
                  <a:pt x="85725" y="32147"/>
                </a:lnTo>
                <a:lnTo>
                  <a:pt x="85725" y="75009"/>
                </a:lnTo>
                <a:lnTo>
                  <a:pt x="128588" y="75009"/>
                </a:lnTo>
                <a:lnTo>
                  <a:pt x="128588" y="32147"/>
                </a:lnTo>
                <a:close/>
                <a:moveTo>
                  <a:pt x="150019" y="75009"/>
                </a:moveTo>
                <a:lnTo>
                  <a:pt x="150019" y="139303"/>
                </a:lnTo>
                <a:cubicBezTo>
                  <a:pt x="150019" y="151124"/>
                  <a:pt x="140408" y="160734"/>
                  <a:pt x="128588" y="160734"/>
                </a:cubicBezTo>
                <a:lnTo>
                  <a:pt x="21431" y="160734"/>
                </a:lnTo>
                <a:cubicBezTo>
                  <a:pt x="9611" y="160734"/>
                  <a:pt x="0" y="151124"/>
                  <a:pt x="0" y="139303"/>
                </a:cubicBezTo>
                <a:lnTo>
                  <a:pt x="0" y="32147"/>
                </a:lnTo>
                <a:cubicBezTo>
                  <a:pt x="0" y="20326"/>
                  <a:pt x="9611" y="10716"/>
                  <a:pt x="21431" y="10716"/>
                </a:cubicBezTo>
                <a:lnTo>
                  <a:pt x="128588" y="10716"/>
                </a:lnTo>
                <a:cubicBezTo>
                  <a:pt x="140408" y="10716"/>
                  <a:pt x="150019" y="20326"/>
                  <a:pt x="150019" y="32147"/>
                </a:cubicBezTo>
                <a:lnTo>
                  <a:pt x="150019" y="75009"/>
                </a:lnTo>
                <a:close/>
                <a:moveTo>
                  <a:pt x="21431" y="96441"/>
                </a:moveTo>
                <a:lnTo>
                  <a:pt x="21431" y="139303"/>
                </a:lnTo>
                <a:lnTo>
                  <a:pt x="64294" y="139303"/>
                </a:lnTo>
                <a:lnTo>
                  <a:pt x="64294" y="96441"/>
                </a:lnTo>
                <a:lnTo>
                  <a:pt x="21431" y="96441"/>
                </a:lnTo>
                <a:close/>
                <a:moveTo>
                  <a:pt x="64294" y="75009"/>
                </a:moveTo>
                <a:lnTo>
                  <a:pt x="64294" y="32147"/>
                </a:lnTo>
                <a:lnTo>
                  <a:pt x="21431" y="32147"/>
                </a:lnTo>
                <a:lnTo>
                  <a:pt x="21431" y="75009"/>
                </a:lnTo>
                <a:lnTo>
                  <a:pt x="64294" y="75009"/>
                </a:lnTo>
                <a:close/>
                <a:moveTo>
                  <a:pt x="85725" y="96441"/>
                </a:moveTo>
                <a:lnTo>
                  <a:pt x="85725" y="139303"/>
                </a:lnTo>
                <a:lnTo>
                  <a:pt x="128588" y="139303"/>
                </a:lnTo>
                <a:lnTo>
                  <a:pt x="128588" y="96441"/>
                </a:lnTo>
                <a:lnTo>
                  <a:pt x="85725" y="96441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48" name="Text 46"/>
          <p:cNvSpPr/>
          <p:nvPr/>
        </p:nvSpPr>
        <p:spPr>
          <a:xfrm>
            <a:off x="6691313" y="4733925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板墙细节维护实操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1242080" y="4714875"/>
            <a:ext cx="5143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44分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86513" y="54578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77856" y="1741"/>
                </a:moveTo>
                <a:cubicBezTo>
                  <a:pt x="82845" y="-569"/>
                  <a:pt x="88605" y="-569"/>
                  <a:pt x="93594" y="1741"/>
                </a:cubicBezTo>
                <a:lnTo>
                  <a:pt x="166795" y="35562"/>
                </a:lnTo>
                <a:cubicBezTo>
                  <a:pt x="169642" y="36868"/>
                  <a:pt x="171450" y="39715"/>
                  <a:pt x="171450" y="42863"/>
                </a:cubicBezTo>
                <a:cubicBezTo>
                  <a:pt x="171450" y="46010"/>
                  <a:pt x="169642" y="48857"/>
                  <a:pt x="166795" y="50163"/>
                </a:cubicBezTo>
                <a:lnTo>
                  <a:pt x="93594" y="83984"/>
                </a:lnTo>
                <a:cubicBezTo>
                  <a:pt x="88605" y="86294"/>
                  <a:pt x="82845" y="86294"/>
                  <a:pt x="77856" y="83984"/>
                </a:cubicBezTo>
                <a:lnTo>
                  <a:pt x="4655" y="50163"/>
                </a:lnTo>
                <a:cubicBezTo>
                  <a:pt x="1808" y="48823"/>
                  <a:pt x="0" y="45977"/>
                  <a:pt x="0" y="42863"/>
                </a:cubicBezTo>
                <a:cubicBezTo>
                  <a:pt x="0" y="39748"/>
                  <a:pt x="1808" y="36868"/>
                  <a:pt x="4655" y="35562"/>
                </a:cubicBezTo>
                <a:lnTo>
                  <a:pt x="77856" y="1741"/>
                </a:lnTo>
                <a:close/>
                <a:moveTo>
                  <a:pt x="16107" y="73134"/>
                </a:moveTo>
                <a:lnTo>
                  <a:pt x="71125" y="98550"/>
                </a:lnTo>
                <a:cubicBezTo>
                  <a:pt x="80401" y="102837"/>
                  <a:pt x="91083" y="102837"/>
                  <a:pt x="100359" y="98550"/>
                </a:cubicBezTo>
                <a:lnTo>
                  <a:pt x="155377" y="73134"/>
                </a:lnTo>
                <a:lnTo>
                  <a:pt x="166795" y="78425"/>
                </a:lnTo>
                <a:cubicBezTo>
                  <a:pt x="169642" y="79731"/>
                  <a:pt x="171450" y="82577"/>
                  <a:pt x="171450" y="85725"/>
                </a:cubicBezTo>
                <a:cubicBezTo>
                  <a:pt x="171450" y="88873"/>
                  <a:pt x="169642" y="91719"/>
                  <a:pt x="166795" y="93025"/>
                </a:cubicBezTo>
                <a:lnTo>
                  <a:pt x="93594" y="126846"/>
                </a:lnTo>
                <a:cubicBezTo>
                  <a:pt x="88605" y="129157"/>
                  <a:pt x="82845" y="129157"/>
                  <a:pt x="77856" y="126846"/>
                </a:cubicBezTo>
                <a:lnTo>
                  <a:pt x="4655" y="93025"/>
                </a:lnTo>
                <a:cubicBezTo>
                  <a:pt x="1808" y="91686"/>
                  <a:pt x="0" y="88839"/>
                  <a:pt x="0" y="85725"/>
                </a:cubicBezTo>
                <a:cubicBezTo>
                  <a:pt x="0" y="82611"/>
                  <a:pt x="1808" y="79731"/>
                  <a:pt x="4655" y="78425"/>
                </a:cubicBezTo>
                <a:lnTo>
                  <a:pt x="16073" y="73134"/>
                </a:lnTo>
                <a:close/>
                <a:moveTo>
                  <a:pt x="4655" y="121287"/>
                </a:moveTo>
                <a:lnTo>
                  <a:pt x="16073" y="115997"/>
                </a:lnTo>
                <a:lnTo>
                  <a:pt x="71091" y="141413"/>
                </a:lnTo>
                <a:cubicBezTo>
                  <a:pt x="80367" y="145699"/>
                  <a:pt x="91049" y="145699"/>
                  <a:pt x="100325" y="141413"/>
                </a:cubicBezTo>
                <a:lnTo>
                  <a:pt x="155343" y="115997"/>
                </a:lnTo>
                <a:lnTo>
                  <a:pt x="166762" y="121287"/>
                </a:lnTo>
                <a:cubicBezTo>
                  <a:pt x="169608" y="122593"/>
                  <a:pt x="171417" y="125440"/>
                  <a:pt x="171417" y="128588"/>
                </a:cubicBezTo>
                <a:cubicBezTo>
                  <a:pt x="171417" y="131735"/>
                  <a:pt x="169608" y="134582"/>
                  <a:pt x="166762" y="135888"/>
                </a:cubicBezTo>
                <a:lnTo>
                  <a:pt x="93561" y="169709"/>
                </a:lnTo>
                <a:cubicBezTo>
                  <a:pt x="88571" y="172019"/>
                  <a:pt x="82812" y="172019"/>
                  <a:pt x="77822" y="169709"/>
                </a:cubicBezTo>
                <a:lnTo>
                  <a:pt x="4655" y="135888"/>
                </a:lnTo>
                <a:cubicBezTo>
                  <a:pt x="1808" y="134548"/>
                  <a:pt x="0" y="131702"/>
                  <a:pt x="0" y="128588"/>
                </a:cubicBezTo>
                <a:cubicBezTo>
                  <a:pt x="0" y="125473"/>
                  <a:pt x="1808" y="122593"/>
                  <a:pt x="4655" y="121287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51" name="Text 49"/>
          <p:cNvSpPr/>
          <p:nvPr/>
        </p:nvSpPr>
        <p:spPr>
          <a:xfrm>
            <a:off x="6691313" y="5429250"/>
            <a:ext cx="144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叠装整理及模特更换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1241881" y="5410200"/>
            <a:ext cx="5143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20分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210300" y="5867400"/>
            <a:ext cx="5600700" cy="609600"/>
          </a:xfrm>
          <a:custGeom>
            <a:avLst/>
            <a:gdLst/>
            <a:ahLst/>
            <a:cxnLst/>
            <a:rect l="l" t="t" r="r" b="b"/>
            <a:pathLst>
              <a:path w="5600700" h="609600">
                <a:moveTo>
                  <a:pt x="0" y="0"/>
                </a:moveTo>
                <a:lnTo>
                  <a:pt x="5600700" y="0"/>
                </a:lnTo>
                <a:lnTo>
                  <a:pt x="56007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C47A5A">
              <a:alpha val="10196"/>
            </a:srgbClr>
          </a:solidFill>
        </p:spPr>
      </p:sp>
      <p:sp>
        <p:nvSpPr>
          <p:cNvPr id="54" name="Text 52"/>
          <p:cNvSpPr/>
          <p:nvPr/>
        </p:nvSpPr>
        <p:spPr>
          <a:xfrm>
            <a:off x="6291263" y="5981700"/>
            <a:ext cx="54387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评分标准：</a:t>
            </a:r>
            <a:r>
              <a:rPr lang="en-US" sz="105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准确复述探寻需求步骤；解释BFE含义，列举四大原则和两大技巧；现场用BFE法介绍指定产品；检查并调整板墙陈列规范度；完成叠装标准整理及模特换装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yyasw4ib73lsu/day4_membership.jpg"/>
          <p:cNvPicPr>
            <a:picLocks noChangeAspect="1"/>
          </p:cNvPicPr>
          <p:nvPr/>
        </p:nvPicPr>
        <p:blipFill>
          <a:blip r:embed="rId1"/>
          <a:srcRect t="781" b="781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A4F41">
                  <a:alpha val="90000"/>
                </a:srgbClr>
              </a:gs>
              <a:gs pos="50000">
                <a:srgbClr val="3A4F41">
                  <a:alpha val="70000"/>
                </a:srgbClr>
              </a:gs>
              <a:gs pos="100000">
                <a:srgbClr val="3A4F41">
                  <a:alpha val="90000"/>
                </a:srgbClr>
              </a:gs>
            </a:gsLst>
            <a:lin ang="5400000" scaled="1"/>
          </a:gradFill>
        </p:spPr>
      </p:sp>
      <p:sp>
        <p:nvSpPr>
          <p:cNvPr id="4" name="Text 1"/>
          <p:cNvSpPr/>
          <p:nvPr/>
        </p:nvSpPr>
        <p:spPr>
          <a:xfrm>
            <a:off x="4772025" y="2190750"/>
            <a:ext cx="26479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kern="0" spc="360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04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638675" y="2647950"/>
            <a:ext cx="291465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F8F7F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第4天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0" y="356235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7" name="Text 4"/>
          <p:cNvSpPr/>
          <p:nvPr/>
        </p:nvSpPr>
        <p:spPr>
          <a:xfrm>
            <a:off x="4738688" y="3905250"/>
            <a:ext cx="27146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F8F7F5">
                    <a:alpha val="9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会员管理与客情服务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762500" y="4400550"/>
            <a:ext cx="26670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8F7F5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精通会员管理 · 提升客情服务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10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04 · OBJECTIVES &amp; CONTENT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教学目标与教学内容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9575" y="1219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5" name="Text 3"/>
          <p:cNvSpPr/>
          <p:nvPr/>
        </p:nvSpPr>
        <p:spPr>
          <a:xfrm>
            <a:off x="781050" y="1181100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教学目标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638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7" name="Text 5"/>
          <p:cNvSpPr/>
          <p:nvPr/>
        </p:nvSpPr>
        <p:spPr>
          <a:xfrm>
            <a:off x="338138" y="1638300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638300"/>
            <a:ext cx="38957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掌握会员卡级别及权益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1943100"/>
            <a:ext cx="38862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掌握会员卡级别、</a:t>
            </a:r>
            <a:r>
              <a:rPr lang="zh-CN" alt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会员备注标准、会员日常维护</a:t>
            </a: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、积分规则及各级别权益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1000" y="270986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11" name="Text 9"/>
          <p:cNvSpPr/>
          <p:nvPr/>
        </p:nvSpPr>
        <p:spPr>
          <a:xfrm>
            <a:off x="338138" y="2709863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2709863"/>
            <a:ext cx="2905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熟练操作VIP开卡流程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3014663"/>
            <a:ext cx="28956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熟练操作VIP开卡流程及积分奖品兑换流程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1000" y="37814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15" name="Text 13"/>
          <p:cNvSpPr/>
          <p:nvPr/>
        </p:nvSpPr>
        <p:spPr>
          <a:xfrm>
            <a:off x="338138" y="3781425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3781425"/>
            <a:ext cx="3286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了解客诉应对方法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4086225"/>
            <a:ext cx="32766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了解客诉应对基本方法及话术，知晓紧急处理人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1000" y="485298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19" name="Text 17"/>
          <p:cNvSpPr/>
          <p:nvPr/>
        </p:nvSpPr>
        <p:spPr>
          <a:xfrm>
            <a:off x="338138" y="4852988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4852988"/>
            <a:ext cx="22193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掌握退换货流程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" y="5157788"/>
            <a:ext cx="22098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掌握退换货流程及残次申报流程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1000" y="59245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23" name="Text 21"/>
          <p:cNvSpPr/>
          <p:nvPr/>
        </p:nvSpPr>
        <p:spPr>
          <a:xfrm>
            <a:off x="338138" y="5924550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400" y="5924550"/>
            <a:ext cx="23717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精通试衣服务环节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4400" y="6229350"/>
            <a:ext cx="23622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精通试衣服务环节重点及标准操作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38875" y="1219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63088"/>
                </a:moveTo>
                <a:lnTo>
                  <a:pt x="114300" y="201186"/>
                </a:lnTo>
                <a:lnTo>
                  <a:pt x="114523" y="201097"/>
                </a:lnTo>
                <a:cubicBezTo>
                  <a:pt x="138901" y="190961"/>
                  <a:pt x="165065" y="185738"/>
                  <a:pt x="191453" y="185738"/>
                </a:cubicBezTo>
                <a:lnTo>
                  <a:pt x="200025" y="185738"/>
                </a:lnTo>
                <a:lnTo>
                  <a:pt x="200025" y="42863"/>
                </a:lnTo>
                <a:lnTo>
                  <a:pt x="191453" y="42863"/>
                </a:lnTo>
                <a:cubicBezTo>
                  <a:pt x="172611" y="42863"/>
                  <a:pt x="153903" y="46613"/>
                  <a:pt x="136490" y="53846"/>
                </a:cubicBezTo>
                <a:cubicBezTo>
                  <a:pt x="128989" y="56971"/>
                  <a:pt x="121578" y="60052"/>
                  <a:pt x="114300" y="63088"/>
                </a:cubicBezTo>
                <a:close/>
                <a:moveTo>
                  <a:pt x="103093" y="27459"/>
                </a:moveTo>
                <a:lnTo>
                  <a:pt x="114300" y="32147"/>
                </a:lnTo>
                <a:lnTo>
                  <a:pt x="125507" y="27459"/>
                </a:lnTo>
                <a:cubicBezTo>
                  <a:pt x="146402" y="18752"/>
                  <a:pt x="168816" y="14288"/>
                  <a:pt x="191453" y="14288"/>
                </a:cubicBezTo>
                <a:lnTo>
                  <a:pt x="207169" y="14288"/>
                </a:lnTo>
                <a:cubicBezTo>
                  <a:pt x="219001" y="14288"/>
                  <a:pt x="228600" y="23887"/>
                  <a:pt x="228600" y="35719"/>
                </a:cubicBezTo>
                <a:lnTo>
                  <a:pt x="228600" y="192881"/>
                </a:lnTo>
                <a:cubicBezTo>
                  <a:pt x="228600" y="204713"/>
                  <a:pt x="219001" y="214313"/>
                  <a:pt x="207169" y="214313"/>
                </a:cubicBezTo>
                <a:lnTo>
                  <a:pt x="191453" y="214313"/>
                </a:lnTo>
                <a:cubicBezTo>
                  <a:pt x="168816" y="214313"/>
                  <a:pt x="146402" y="218777"/>
                  <a:pt x="125507" y="227484"/>
                </a:cubicBezTo>
                <a:lnTo>
                  <a:pt x="119792" y="229850"/>
                </a:lnTo>
                <a:cubicBezTo>
                  <a:pt x="116265" y="231324"/>
                  <a:pt x="112335" y="231324"/>
                  <a:pt x="108808" y="229850"/>
                </a:cubicBezTo>
                <a:lnTo>
                  <a:pt x="103093" y="227484"/>
                </a:lnTo>
                <a:cubicBezTo>
                  <a:pt x="82198" y="218777"/>
                  <a:pt x="59784" y="214313"/>
                  <a:pt x="37148" y="214313"/>
                </a:cubicBezTo>
                <a:lnTo>
                  <a:pt x="21431" y="214313"/>
                </a:lnTo>
                <a:cubicBezTo>
                  <a:pt x="9599" y="214313"/>
                  <a:pt x="0" y="204713"/>
                  <a:pt x="0" y="192881"/>
                </a:cubicBezTo>
                <a:lnTo>
                  <a:pt x="0" y="35719"/>
                </a:lnTo>
                <a:cubicBezTo>
                  <a:pt x="0" y="23887"/>
                  <a:pt x="9599" y="14288"/>
                  <a:pt x="21431" y="14288"/>
                </a:cubicBezTo>
                <a:lnTo>
                  <a:pt x="37148" y="14288"/>
                </a:lnTo>
                <a:cubicBezTo>
                  <a:pt x="59784" y="14288"/>
                  <a:pt x="82198" y="18752"/>
                  <a:pt x="103093" y="27459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27" name="Text 25"/>
          <p:cNvSpPr/>
          <p:nvPr/>
        </p:nvSpPr>
        <p:spPr>
          <a:xfrm>
            <a:off x="6610350" y="1181100"/>
            <a:ext cx="17145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分模块教学内容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575032" y="1219200"/>
            <a:ext cx="1314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总计时长：85分钟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10300" y="17145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30" name="Text 28"/>
          <p:cNvSpPr/>
          <p:nvPr/>
        </p:nvSpPr>
        <p:spPr>
          <a:xfrm>
            <a:off x="6400800" y="1638300"/>
            <a:ext cx="11144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会员基础信息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399044" y="1676400"/>
            <a:ext cx="476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15min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00800" y="1943100"/>
            <a:ext cx="54864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讲授会员卡级别、</a:t>
            </a:r>
            <a:r>
              <a:rPr lang="zh-CN" alt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会员备注标准、会员日常维护</a:t>
            </a: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、积分规则、各个级别会员卡权益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210300" y="2786063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34" name="Text 32"/>
          <p:cNvSpPr/>
          <p:nvPr/>
        </p:nvSpPr>
        <p:spPr>
          <a:xfrm>
            <a:off x="6400800" y="2709863"/>
            <a:ext cx="1047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VIP开卡流程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399044" y="2747963"/>
            <a:ext cx="476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20min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00800" y="3014663"/>
            <a:ext cx="54864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示范VIP的开卡流程以及积分奖品的兑换流程；熟记积分兑换条件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210300" y="38576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38" name="Text 36"/>
          <p:cNvSpPr/>
          <p:nvPr/>
        </p:nvSpPr>
        <p:spPr>
          <a:xfrm>
            <a:off x="6400800" y="3781425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客诉处理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399044" y="3819525"/>
            <a:ext cx="476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10min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00800" y="4086225"/>
            <a:ext cx="54864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告知客诉应对的基本方法及紧急处理人；应对客诉的基本话术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210300" y="492918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42" name="Text 40"/>
          <p:cNvSpPr/>
          <p:nvPr/>
        </p:nvSpPr>
        <p:spPr>
          <a:xfrm>
            <a:off x="6400800" y="4852988"/>
            <a:ext cx="9429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退换货流程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399044" y="4891088"/>
            <a:ext cx="476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10min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00800" y="5157788"/>
            <a:ext cx="54864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告知售后服务的标准、流程；示范残次的申报流程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210300" y="60007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46" name="Text 44"/>
          <p:cNvSpPr/>
          <p:nvPr/>
        </p:nvSpPr>
        <p:spPr>
          <a:xfrm>
            <a:off x="6400800" y="5924550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试衣服务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399044" y="5962650"/>
            <a:ext cx="476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30min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400800" y="6229350"/>
            <a:ext cx="54864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讲解试衣服务环节的重点及易错点；训后练习试衣环节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10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04 · PRACTICE &amp; ASSESSMENT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训后练习与阶段考核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9575" y="1257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9740" y="16207"/>
                </a:moveTo>
                <a:cubicBezTo>
                  <a:pt x="64606" y="19601"/>
                  <a:pt x="65767" y="26298"/>
                  <a:pt x="62374" y="31120"/>
                </a:cubicBezTo>
                <a:lnTo>
                  <a:pt x="37371" y="66839"/>
                </a:lnTo>
                <a:cubicBezTo>
                  <a:pt x="35540" y="69428"/>
                  <a:pt x="32683" y="71080"/>
                  <a:pt x="29513" y="71348"/>
                </a:cubicBezTo>
                <a:cubicBezTo>
                  <a:pt x="26343" y="71616"/>
                  <a:pt x="23217" y="70545"/>
                  <a:pt x="20985" y="68312"/>
                </a:cubicBezTo>
                <a:lnTo>
                  <a:pt x="3125" y="50453"/>
                </a:lnTo>
                <a:cubicBezTo>
                  <a:pt x="-1027" y="46256"/>
                  <a:pt x="-1027" y="39469"/>
                  <a:pt x="3125" y="35272"/>
                </a:cubicBezTo>
                <a:cubicBezTo>
                  <a:pt x="7278" y="31075"/>
                  <a:pt x="14109" y="31120"/>
                  <a:pt x="18306" y="35272"/>
                </a:cubicBezTo>
                <a:lnTo>
                  <a:pt x="27146" y="44113"/>
                </a:lnTo>
                <a:lnTo>
                  <a:pt x="44827" y="18842"/>
                </a:lnTo>
                <a:cubicBezTo>
                  <a:pt x="48220" y="13975"/>
                  <a:pt x="54918" y="12814"/>
                  <a:pt x="59740" y="16207"/>
                </a:cubicBezTo>
                <a:close/>
                <a:moveTo>
                  <a:pt x="59740" y="87645"/>
                </a:moveTo>
                <a:cubicBezTo>
                  <a:pt x="64606" y="91038"/>
                  <a:pt x="65767" y="97735"/>
                  <a:pt x="62374" y="102557"/>
                </a:cubicBezTo>
                <a:lnTo>
                  <a:pt x="37371" y="138276"/>
                </a:lnTo>
                <a:cubicBezTo>
                  <a:pt x="35540" y="140866"/>
                  <a:pt x="32683" y="142518"/>
                  <a:pt x="29513" y="142786"/>
                </a:cubicBezTo>
                <a:cubicBezTo>
                  <a:pt x="26343" y="143054"/>
                  <a:pt x="23217" y="141982"/>
                  <a:pt x="20985" y="139750"/>
                </a:cubicBezTo>
                <a:lnTo>
                  <a:pt x="3125" y="121890"/>
                </a:lnTo>
                <a:cubicBezTo>
                  <a:pt x="-1072" y="117693"/>
                  <a:pt x="-1072" y="110907"/>
                  <a:pt x="3125" y="106754"/>
                </a:cubicBezTo>
                <a:cubicBezTo>
                  <a:pt x="7322" y="102602"/>
                  <a:pt x="14109" y="102557"/>
                  <a:pt x="18261" y="106754"/>
                </a:cubicBezTo>
                <a:lnTo>
                  <a:pt x="27102" y="115595"/>
                </a:lnTo>
                <a:lnTo>
                  <a:pt x="44782" y="90324"/>
                </a:lnTo>
                <a:cubicBezTo>
                  <a:pt x="48176" y="85457"/>
                  <a:pt x="54873" y="84296"/>
                  <a:pt x="59695" y="87690"/>
                </a:cubicBezTo>
                <a:close/>
                <a:moveTo>
                  <a:pt x="100013" y="42863"/>
                </a:moveTo>
                <a:cubicBezTo>
                  <a:pt x="100013" y="34960"/>
                  <a:pt x="106397" y="28575"/>
                  <a:pt x="114300" y="28575"/>
                </a:cubicBezTo>
                <a:lnTo>
                  <a:pt x="214313" y="28575"/>
                </a:lnTo>
                <a:cubicBezTo>
                  <a:pt x="222215" y="28575"/>
                  <a:pt x="228600" y="34960"/>
                  <a:pt x="228600" y="42863"/>
                </a:cubicBezTo>
                <a:cubicBezTo>
                  <a:pt x="228600" y="50765"/>
                  <a:pt x="222215" y="57150"/>
                  <a:pt x="214313" y="57150"/>
                </a:cubicBezTo>
                <a:lnTo>
                  <a:pt x="114300" y="57150"/>
                </a:lnTo>
                <a:cubicBezTo>
                  <a:pt x="106397" y="57150"/>
                  <a:pt x="100013" y="50765"/>
                  <a:pt x="100013" y="42863"/>
                </a:cubicBezTo>
                <a:close/>
                <a:moveTo>
                  <a:pt x="100013" y="114300"/>
                </a:moveTo>
                <a:cubicBezTo>
                  <a:pt x="100013" y="106397"/>
                  <a:pt x="106397" y="100013"/>
                  <a:pt x="114300" y="100013"/>
                </a:cubicBezTo>
                <a:lnTo>
                  <a:pt x="214313" y="100013"/>
                </a:lnTo>
                <a:cubicBezTo>
                  <a:pt x="222215" y="100013"/>
                  <a:pt x="228600" y="106397"/>
                  <a:pt x="228600" y="114300"/>
                </a:cubicBezTo>
                <a:cubicBezTo>
                  <a:pt x="228600" y="122203"/>
                  <a:pt x="222215" y="128588"/>
                  <a:pt x="214313" y="128588"/>
                </a:cubicBezTo>
                <a:lnTo>
                  <a:pt x="114300" y="128588"/>
                </a:lnTo>
                <a:cubicBezTo>
                  <a:pt x="106397" y="128588"/>
                  <a:pt x="100013" y="122203"/>
                  <a:pt x="100013" y="114300"/>
                </a:cubicBezTo>
                <a:close/>
                <a:moveTo>
                  <a:pt x="71438" y="185738"/>
                </a:moveTo>
                <a:cubicBezTo>
                  <a:pt x="71438" y="177835"/>
                  <a:pt x="77822" y="171450"/>
                  <a:pt x="85725" y="171450"/>
                </a:cubicBezTo>
                <a:lnTo>
                  <a:pt x="214313" y="171450"/>
                </a:lnTo>
                <a:cubicBezTo>
                  <a:pt x="222215" y="171450"/>
                  <a:pt x="228600" y="177835"/>
                  <a:pt x="228600" y="185738"/>
                </a:cubicBezTo>
                <a:cubicBezTo>
                  <a:pt x="228600" y="193640"/>
                  <a:pt x="222215" y="200025"/>
                  <a:pt x="214313" y="200025"/>
                </a:cubicBezTo>
                <a:lnTo>
                  <a:pt x="85725" y="200025"/>
                </a:lnTo>
                <a:cubicBezTo>
                  <a:pt x="77822" y="200025"/>
                  <a:pt x="71438" y="193640"/>
                  <a:pt x="71438" y="185738"/>
                </a:cubicBezTo>
                <a:close/>
                <a:moveTo>
                  <a:pt x="28575" y="167878"/>
                </a:moveTo>
                <a:cubicBezTo>
                  <a:pt x="38432" y="167878"/>
                  <a:pt x="46434" y="175881"/>
                  <a:pt x="46434" y="185738"/>
                </a:cubicBezTo>
                <a:cubicBezTo>
                  <a:pt x="46434" y="195594"/>
                  <a:pt x="38432" y="203597"/>
                  <a:pt x="28575" y="203597"/>
                </a:cubicBezTo>
                <a:cubicBezTo>
                  <a:pt x="18718" y="203597"/>
                  <a:pt x="10716" y="195594"/>
                  <a:pt x="10716" y="185738"/>
                </a:cubicBezTo>
                <a:cubicBezTo>
                  <a:pt x="10716" y="175881"/>
                  <a:pt x="18718" y="167878"/>
                  <a:pt x="28575" y="167878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5" name="Text 3"/>
          <p:cNvSpPr/>
          <p:nvPr/>
        </p:nvSpPr>
        <p:spPr>
          <a:xfrm>
            <a:off x="781050" y="1219200"/>
            <a:ext cx="1485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训后落地练习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1676400"/>
            <a:ext cx="5581650" cy="1219200"/>
          </a:xfrm>
          <a:custGeom>
            <a:avLst/>
            <a:gdLst/>
            <a:ahLst/>
            <a:cxnLst/>
            <a:rect l="l" t="t" r="r" b="b"/>
            <a:pathLst>
              <a:path w="5581650" h="1219200">
                <a:moveTo>
                  <a:pt x="38100" y="0"/>
                </a:moveTo>
                <a:lnTo>
                  <a:pt x="5505450" y="0"/>
                </a:lnTo>
                <a:cubicBezTo>
                  <a:pt x="5547506" y="0"/>
                  <a:pt x="5581650" y="34144"/>
                  <a:pt x="5581650" y="76200"/>
                </a:cubicBezTo>
                <a:lnTo>
                  <a:pt x="5581650" y="1143000"/>
                </a:lnTo>
                <a:cubicBezTo>
                  <a:pt x="5581650" y="1185056"/>
                  <a:pt x="5547506" y="1219200"/>
                  <a:pt x="5505450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" name="Shape 5"/>
          <p:cNvSpPr/>
          <p:nvPr/>
        </p:nvSpPr>
        <p:spPr>
          <a:xfrm>
            <a:off x="400050" y="167640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8" name="Shape 6"/>
          <p:cNvSpPr/>
          <p:nvPr/>
        </p:nvSpPr>
        <p:spPr>
          <a:xfrm>
            <a:off x="609600" y="1866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9" name="Text 7"/>
          <p:cNvSpPr/>
          <p:nvPr/>
        </p:nvSpPr>
        <p:spPr>
          <a:xfrm>
            <a:off x="566738" y="1866900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1866900"/>
            <a:ext cx="47339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VIP开卡及积分兑换操作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2209800"/>
            <a:ext cx="47244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模拟完成一次完整的VIP开卡及积分兑换操作，熟练掌握系统操作流程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0050" y="3086100"/>
            <a:ext cx="5581650" cy="971550"/>
          </a:xfrm>
          <a:custGeom>
            <a:avLst/>
            <a:gdLst/>
            <a:ahLst/>
            <a:cxnLst/>
            <a:rect l="l" t="t" r="r" b="b"/>
            <a:pathLst>
              <a:path w="5581650" h="971550">
                <a:moveTo>
                  <a:pt x="38100" y="0"/>
                </a:moveTo>
                <a:lnTo>
                  <a:pt x="5505451" y="0"/>
                </a:lnTo>
                <a:cubicBezTo>
                  <a:pt x="5547535" y="0"/>
                  <a:pt x="5581650" y="34115"/>
                  <a:pt x="5581650" y="76199"/>
                </a:cubicBezTo>
                <a:lnTo>
                  <a:pt x="5581650" y="895351"/>
                </a:lnTo>
                <a:cubicBezTo>
                  <a:pt x="5581650" y="937435"/>
                  <a:pt x="5547535" y="971550"/>
                  <a:pt x="5505451" y="971550"/>
                </a:cubicBez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3" name="Shape 11"/>
          <p:cNvSpPr/>
          <p:nvPr/>
        </p:nvSpPr>
        <p:spPr>
          <a:xfrm>
            <a:off x="400050" y="3086100"/>
            <a:ext cx="38100" cy="971550"/>
          </a:xfrm>
          <a:custGeom>
            <a:avLst/>
            <a:gdLst/>
            <a:ahLst/>
            <a:cxnLst/>
            <a:rect l="l" t="t" r="r" b="b"/>
            <a:pathLst>
              <a:path w="38100" h="971550">
                <a:moveTo>
                  <a:pt x="38100" y="0"/>
                </a:moveTo>
                <a:lnTo>
                  <a:pt x="38100" y="0"/>
                </a:lnTo>
                <a:lnTo>
                  <a:pt x="38100" y="971550"/>
                </a:ln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14" name="Shape 12"/>
          <p:cNvSpPr/>
          <p:nvPr/>
        </p:nvSpPr>
        <p:spPr>
          <a:xfrm>
            <a:off x="609600" y="3276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15" name="Text 13"/>
          <p:cNvSpPr/>
          <p:nvPr/>
        </p:nvSpPr>
        <p:spPr>
          <a:xfrm>
            <a:off x="566738" y="3276600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3276600"/>
            <a:ext cx="42767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试衣服务全流程演练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3619500"/>
            <a:ext cx="42672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演练试衣服务全流程（邀请同事扮演顾客），掌握标准服务动作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1000" y="5219700"/>
            <a:ext cx="5600700" cy="1257300"/>
          </a:xfrm>
          <a:custGeom>
            <a:avLst/>
            <a:gdLst/>
            <a:ahLst/>
            <a:cxnLst/>
            <a:rect l="l" t="t" r="r" b="b"/>
            <a:pathLst>
              <a:path w="5600700" h="1257300">
                <a:moveTo>
                  <a:pt x="76205" y="0"/>
                </a:moveTo>
                <a:lnTo>
                  <a:pt x="5524495" y="0"/>
                </a:lnTo>
                <a:cubicBezTo>
                  <a:pt x="5566582" y="0"/>
                  <a:pt x="5600700" y="34118"/>
                  <a:pt x="5600700" y="76205"/>
                </a:cubicBezTo>
                <a:lnTo>
                  <a:pt x="5600700" y="1181095"/>
                </a:lnTo>
                <a:cubicBezTo>
                  <a:pt x="5600700" y="1223182"/>
                  <a:pt x="5566582" y="1257300"/>
                  <a:pt x="5524495" y="1257300"/>
                </a:cubicBezTo>
                <a:lnTo>
                  <a:pt x="76205" y="1257300"/>
                </a:lnTo>
                <a:cubicBezTo>
                  <a:pt x="34118" y="1257300"/>
                  <a:pt x="0" y="1223182"/>
                  <a:pt x="0" y="11810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3A4F41">
              <a:alpha val="5098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583406" y="54483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20" name="Text 18"/>
          <p:cNvSpPr/>
          <p:nvPr/>
        </p:nvSpPr>
        <p:spPr>
          <a:xfrm>
            <a:off x="923925" y="5410200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练习重点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1500" y="5791200"/>
            <a:ext cx="52959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通过模拟操作和角色扮演，将会员管理理论转化为实际操作能力，提升服务专业度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67450" y="12573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9035" y="14288"/>
                </a:moveTo>
                <a:lnTo>
                  <a:pt x="142875" y="14288"/>
                </a:lnTo>
                <a:cubicBezTo>
                  <a:pt x="158636" y="14288"/>
                  <a:pt x="171450" y="27102"/>
                  <a:pt x="171450" y="42863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42863"/>
                </a:lnTo>
                <a:cubicBezTo>
                  <a:pt x="0" y="27102"/>
                  <a:pt x="12814" y="14288"/>
                  <a:pt x="28575" y="14288"/>
                </a:cubicBezTo>
                <a:lnTo>
                  <a:pt x="32415" y="14288"/>
                </a:lnTo>
                <a:cubicBezTo>
                  <a:pt x="37326" y="5760"/>
                  <a:pt x="46568" y="0"/>
                  <a:pt x="57150" y="0"/>
                </a:cubicBezTo>
                <a:lnTo>
                  <a:pt x="114300" y="0"/>
                </a:lnTo>
                <a:cubicBezTo>
                  <a:pt x="124882" y="0"/>
                  <a:pt x="134124" y="5760"/>
                  <a:pt x="139035" y="14288"/>
                </a:cubicBezTo>
                <a:close/>
                <a:moveTo>
                  <a:pt x="110728" y="50006"/>
                </a:moveTo>
                <a:cubicBezTo>
                  <a:pt x="116666" y="50006"/>
                  <a:pt x="121444" y="45229"/>
                  <a:pt x="121444" y="39291"/>
                </a:cubicBezTo>
                <a:cubicBezTo>
                  <a:pt x="121444" y="33352"/>
                  <a:pt x="116666" y="28575"/>
                  <a:pt x="110728" y="28575"/>
                </a:cubicBezTo>
                <a:lnTo>
                  <a:pt x="60722" y="28575"/>
                </a:lnTo>
                <a:cubicBezTo>
                  <a:pt x="54784" y="28575"/>
                  <a:pt x="50006" y="33352"/>
                  <a:pt x="50006" y="39291"/>
                </a:cubicBezTo>
                <a:cubicBezTo>
                  <a:pt x="50006" y="45229"/>
                  <a:pt x="54784" y="50006"/>
                  <a:pt x="60722" y="50006"/>
                </a:cubicBezTo>
                <a:lnTo>
                  <a:pt x="110728" y="50006"/>
                </a:lnTo>
                <a:close/>
                <a:moveTo>
                  <a:pt x="57150" y="114300"/>
                </a:moveTo>
                <a:cubicBezTo>
                  <a:pt x="57150" y="106415"/>
                  <a:pt x="50748" y="100013"/>
                  <a:pt x="42863" y="100013"/>
                </a:cubicBezTo>
                <a:cubicBezTo>
                  <a:pt x="34977" y="100013"/>
                  <a:pt x="28575" y="106415"/>
                  <a:pt x="28575" y="114300"/>
                </a:cubicBezTo>
                <a:cubicBezTo>
                  <a:pt x="28575" y="122185"/>
                  <a:pt x="34977" y="128588"/>
                  <a:pt x="42863" y="128588"/>
                </a:cubicBezTo>
                <a:cubicBezTo>
                  <a:pt x="50748" y="128588"/>
                  <a:pt x="57150" y="122185"/>
                  <a:pt x="57150" y="114300"/>
                </a:cubicBezTo>
                <a:close/>
                <a:moveTo>
                  <a:pt x="71438" y="114300"/>
                </a:moveTo>
                <a:cubicBezTo>
                  <a:pt x="71438" y="120238"/>
                  <a:pt x="76215" y="125016"/>
                  <a:pt x="82153" y="125016"/>
                </a:cubicBezTo>
                <a:lnTo>
                  <a:pt x="132159" y="125016"/>
                </a:lnTo>
                <a:cubicBezTo>
                  <a:pt x="138098" y="125016"/>
                  <a:pt x="142875" y="120238"/>
                  <a:pt x="142875" y="114300"/>
                </a:cubicBezTo>
                <a:cubicBezTo>
                  <a:pt x="142875" y="108362"/>
                  <a:pt x="138098" y="103584"/>
                  <a:pt x="132159" y="103584"/>
                </a:cubicBezTo>
                <a:lnTo>
                  <a:pt x="82153" y="103584"/>
                </a:lnTo>
                <a:cubicBezTo>
                  <a:pt x="76215" y="103584"/>
                  <a:pt x="71438" y="108362"/>
                  <a:pt x="71438" y="114300"/>
                </a:cubicBezTo>
                <a:close/>
                <a:moveTo>
                  <a:pt x="71438" y="171450"/>
                </a:moveTo>
                <a:cubicBezTo>
                  <a:pt x="71438" y="177388"/>
                  <a:pt x="76215" y="182166"/>
                  <a:pt x="82153" y="182166"/>
                </a:cubicBezTo>
                <a:lnTo>
                  <a:pt x="132159" y="182166"/>
                </a:lnTo>
                <a:cubicBezTo>
                  <a:pt x="138098" y="182166"/>
                  <a:pt x="142875" y="177388"/>
                  <a:pt x="142875" y="171450"/>
                </a:cubicBezTo>
                <a:cubicBezTo>
                  <a:pt x="142875" y="165512"/>
                  <a:pt x="138098" y="160734"/>
                  <a:pt x="132159" y="160734"/>
                </a:cubicBezTo>
                <a:lnTo>
                  <a:pt x="82153" y="160734"/>
                </a:lnTo>
                <a:cubicBezTo>
                  <a:pt x="76215" y="160734"/>
                  <a:pt x="71438" y="165512"/>
                  <a:pt x="71438" y="171450"/>
                </a:cubicBezTo>
                <a:close/>
                <a:moveTo>
                  <a:pt x="42863" y="185738"/>
                </a:moveTo>
                <a:cubicBezTo>
                  <a:pt x="50748" y="185738"/>
                  <a:pt x="57150" y="179335"/>
                  <a:pt x="57150" y="171450"/>
                </a:cubicBezTo>
                <a:cubicBezTo>
                  <a:pt x="57150" y="163565"/>
                  <a:pt x="50748" y="157163"/>
                  <a:pt x="42863" y="157163"/>
                </a:cubicBezTo>
                <a:cubicBezTo>
                  <a:pt x="34977" y="157163"/>
                  <a:pt x="28575" y="163565"/>
                  <a:pt x="28575" y="171450"/>
                </a:cubicBezTo>
                <a:cubicBezTo>
                  <a:pt x="28575" y="179335"/>
                  <a:pt x="34977" y="185738"/>
                  <a:pt x="42863" y="185738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23" name="Text 21"/>
          <p:cNvSpPr/>
          <p:nvPr/>
        </p:nvSpPr>
        <p:spPr>
          <a:xfrm>
            <a:off x="6610350" y="1219200"/>
            <a:ext cx="1485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阶段考核说明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10300" y="1676400"/>
            <a:ext cx="5600700" cy="4800600"/>
          </a:xfrm>
          <a:custGeom>
            <a:avLst/>
            <a:gdLst/>
            <a:ahLst/>
            <a:cxnLst/>
            <a:rect l="l" t="t" r="r" b="b"/>
            <a:pathLst>
              <a:path w="5600700" h="4800600">
                <a:moveTo>
                  <a:pt x="76186" y="0"/>
                </a:moveTo>
                <a:lnTo>
                  <a:pt x="5524514" y="0"/>
                </a:lnTo>
                <a:cubicBezTo>
                  <a:pt x="5566591" y="0"/>
                  <a:pt x="5600700" y="34109"/>
                  <a:pt x="5600700" y="76186"/>
                </a:cubicBezTo>
                <a:lnTo>
                  <a:pt x="5600700" y="4724414"/>
                </a:lnTo>
                <a:cubicBezTo>
                  <a:pt x="5600700" y="4766491"/>
                  <a:pt x="5566591" y="4800600"/>
                  <a:pt x="5524514" y="4800600"/>
                </a:cubicBezTo>
                <a:lnTo>
                  <a:pt x="76186" y="4800600"/>
                </a:lnTo>
                <a:cubicBezTo>
                  <a:pt x="34109" y="4800600"/>
                  <a:pt x="0" y="4766491"/>
                  <a:pt x="0" y="4724414"/>
                </a:cubicBezTo>
                <a:lnTo>
                  <a:pt x="0" y="76186"/>
                </a:lnTo>
                <a:cubicBezTo>
                  <a:pt x="0" y="34138"/>
                  <a:pt x="34138" y="0"/>
                  <a:pt x="76186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5" name="Shape 23"/>
          <p:cNvSpPr/>
          <p:nvPr/>
        </p:nvSpPr>
        <p:spPr>
          <a:xfrm>
            <a:off x="6210300" y="1676400"/>
            <a:ext cx="5600700" cy="838200"/>
          </a:xfrm>
          <a:custGeom>
            <a:avLst/>
            <a:gdLst/>
            <a:ahLst/>
            <a:cxnLst/>
            <a:rect l="l" t="t" r="r" b="b"/>
            <a:pathLst>
              <a:path w="5600700" h="838200">
                <a:moveTo>
                  <a:pt x="0" y="0"/>
                </a:moveTo>
                <a:lnTo>
                  <a:pt x="5600700" y="0"/>
                </a:lnTo>
                <a:lnTo>
                  <a:pt x="56007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26" name="Text 24"/>
          <p:cNvSpPr/>
          <p:nvPr/>
        </p:nvSpPr>
        <p:spPr>
          <a:xfrm>
            <a:off x="6329363" y="1828800"/>
            <a:ext cx="5362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7F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第4-6天合并考核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05550" y="2057400"/>
            <a:ext cx="5410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8F7F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总分100分，80分及格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62700" y="3089275"/>
            <a:ext cx="5295900" cy="6350"/>
          </a:xfrm>
          <a:custGeom>
            <a:avLst/>
            <a:gdLst/>
            <a:ahLst/>
            <a:cxnLst/>
            <a:rect l="l" t="t" r="r" b="b"/>
            <a:pathLst>
              <a:path w="5295900" h="6350">
                <a:moveTo>
                  <a:pt x="0" y="0"/>
                </a:moveTo>
                <a:lnTo>
                  <a:pt x="5295900" y="0"/>
                </a:lnTo>
                <a:lnTo>
                  <a:pt x="529590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A9A299">
              <a:alpha val="20000"/>
            </a:srgbClr>
          </a:solidFill>
        </p:spPr>
      </p:sp>
      <p:sp>
        <p:nvSpPr>
          <p:cNvPr id="29" name="Shape 27"/>
          <p:cNvSpPr/>
          <p:nvPr/>
        </p:nvSpPr>
        <p:spPr>
          <a:xfrm>
            <a:off x="6375797" y="27908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0" y="32147"/>
                </a:moveTo>
                <a:cubicBezTo>
                  <a:pt x="0" y="20326"/>
                  <a:pt x="9611" y="10716"/>
                  <a:pt x="21431" y="10716"/>
                </a:cubicBezTo>
                <a:lnTo>
                  <a:pt x="171450" y="10716"/>
                </a:lnTo>
                <a:cubicBezTo>
                  <a:pt x="183271" y="10716"/>
                  <a:pt x="192881" y="20326"/>
                  <a:pt x="192881" y="32147"/>
                </a:cubicBezTo>
                <a:lnTo>
                  <a:pt x="0" y="32147"/>
                </a:lnTo>
                <a:close/>
                <a:moveTo>
                  <a:pt x="0" y="48220"/>
                </a:moveTo>
                <a:lnTo>
                  <a:pt x="192881" y="48220"/>
                </a:lnTo>
                <a:lnTo>
                  <a:pt x="192881" y="139303"/>
                </a:lnTo>
                <a:cubicBezTo>
                  <a:pt x="192881" y="151124"/>
                  <a:pt x="183271" y="160734"/>
                  <a:pt x="171450" y="160734"/>
                </a:cubicBezTo>
                <a:lnTo>
                  <a:pt x="21431" y="160734"/>
                </a:lnTo>
                <a:cubicBezTo>
                  <a:pt x="9611" y="160734"/>
                  <a:pt x="0" y="151124"/>
                  <a:pt x="0" y="139303"/>
                </a:cubicBezTo>
                <a:lnTo>
                  <a:pt x="0" y="48220"/>
                </a:lnTo>
                <a:close/>
                <a:moveTo>
                  <a:pt x="82812" y="139303"/>
                </a:moveTo>
                <a:cubicBezTo>
                  <a:pt x="89576" y="139303"/>
                  <a:pt x="94632" y="132807"/>
                  <a:pt x="90313" y="127583"/>
                </a:cubicBezTo>
                <a:cubicBezTo>
                  <a:pt x="85390" y="121656"/>
                  <a:pt x="77956" y="117872"/>
                  <a:pt x="69652" y="117872"/>
                </a:cubicBezTo>
                <a:lnTo>
                  <a:pt x="48220" y="117872"/>
                </a:lnTo>
                <a:cubicBezTo>
                  <a:pt x="39916" y="117872"/>
                  <a:pt x="32482" y="121656"/>
                  <a:pt x="27559" y="127583"/>
                </a:cubicBezTo>
                <a:cubicBezTo>
                  <a:pt x="23240" y="132807"/>
                  <a:pt x="28296" y="139303"/>
                  <a:pt x="35060" y="139303"/>
                </a:cubicBezTo>
                <a:lnTo>
                  <a:pt x="82778" y="139303"/>
                </a:lnTo>
                <a:close/>
                <a:moveTo>
                  <a:pt x="58936" y="104477"/>
                </a:moveTo>
                <a:cubicBezTo>
                  <a:pt x="69286" y="104477"/>
                  <a:pt x="77688" y="96075"/>
                  <a:pt x="77688" y="85725"/>
                </a:cubicBezTo>
                <a:cubicBezTo>
                  <a:pt x="77688" y="75375"/>
                  <a:pt x="69286" y="66973"/>
                  <a:pt x="58936" y="66973"/>
                </a:cubicBezTo>
                <a:cubicBezTo>
                  <a:pt x="48586" y="66973"/>
                  <a:pt x="40184" y="75375"/>
                  <a:pt x="40184" y="85725"/>
                </a:cubicBezTo>
                <a:cubicBezTo>
                  <a:pt x="40184" y="96075"/>
                  <a:pt x="48586" y="104477"/>
                  <a:pt x="58936" y="104477"/>
                </a:cubicBezTo>
                <a:close/>
                <a:moveTo>
                  <a:pt x="120551" y="69652"/>
                </a:moveTo>
                <a:cubicBezTo>
                  <a:pt x="116097" y="69652"/>
                  <a:pt x="112514" y="73235"/>
                  <a:pt x="112514" y="77688"/>
                </a:cubicBezTo>
                <a:cubicBezTo>
                  <a:pt x="112514" y="82142"/>
                  <a:pt x="116097" y="85725"/>
                  <a:pt x="120551" y="85725"/>
                </a:cubicBezTo>
                <a:lnTo>
                  <a:pt x="158055" y="85725"/>
                </a:lnTo>
                <a:cubicBezTo>
                  <a:pt x="162509" y="85725"/>
                  <a:pt x="166092" y="82142"/>
                  <a:pt x="166092" y="77688"/>
                </a:cubicBezTo>
                <a:cubicBezTo>
                  <a:pt x="166092" y="73235"/>
                  <a:pt x="162509" y="69652"/>
                  <a:pt x="158055" y="69652"/>
                </a:cubicBezTo>
                <a:lnTo>
                  <a:pt x="120551" y="69652"/>
                </a:lnTo>
                <a:close/>
                <a:moveTo>
                  <a:pt x="120551" y="101798"/>
                </a:moveTo>
                <a:cubicBezTo>
                  <a:pt x="116097" y="101798"/>
                  <a:pt x="112514" y="105381"/>
                  <a:pt x="112514" y="109835"/>
                </a:cubicBezTo>
                <a:cubicBezTo>
                  <a:pt x="112514" y="114289"/>
                  <a:pt x="116097" y="117872"/>
                  <a:pt x="120551" y="117872"/>
                </a:cubicBezTo>
                <a:lnTo>
                  <a:pt x="158055" y="117872"/>
                </a:lnTo>
                <a:cubicBezTo>
                  <a:pt x="162509" y="117872"/>
                  <a:pt x="166092" y="114289"/>
                  <a:pt x="166092" y="109835"/>
                </a:cubicBezTo>
                <a:cubicBezTo>
                  <a:pt x="166092" y="105381"/>
                  <a:pt x="162509" y="101798"/>
                  <a:pt x="158055" y="101798"/>
                </a:cubicBezTo>
                <a:lnTo>
                  <a:pt x="120551" y="101798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30" name="Text 28"/>
          <p:cNvSpPr/>
          <p:nvPr/>
        </p:nvSpPr>
        <p:spPr>
          <a:xfrm>
            <a:off x="6691630" y="2762250"/>
            <a:ext cx="4012565" cy="2006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会员卡级别、权益及</a:t>
            </a:r>
            <a:r>
              <a:rPr lang="zh-CN" alt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  <a:sym typeface="+mn-ea"/>
              </a:rPr>
              <a:t>会员备注、日常维护和</a:t>
            </a: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开卡流程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242080" y="2743200"/>
            <a:ext cx="5143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30分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62700" y="3746500"/>
            <a:ext cx="5295900" cy="6350"/>
          </a:xfrm>
          <a:custGeom>
            <a:avLst/>
            <a:gdLst/>
            <a:ahLst/>
            <a:cxnLst/>
            <a:rect l="l" t="t" r="r" b="b"/>
            <a:pathLst>
              <a:path w="5295900" h="6350">
                <a:moveTo>
                  <a:pt x="0" y="0"/>
                </a:moveTo>
                <a:lnTo>
                  <a:pt x="5295900" y="0"/>
                </a:lnTo>
                <a:lnTo>
                  <a:pt x="529590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A9A299">
              <a:alpha val="20000"/>
            </a:srgbClr>
          </a:solidFill>
        </p:spPr>
      </p:sp>
      <p:sp>
        <p:nvSpPr>
          <p:cNvPr id="33" name="Shape 31"/>
          <p:cNvSpPr/>
          <p:nvPr/>
        </p:nvSpPr>
        <p:spPr>
          <a:xfrm>
            <a:off x="6365081" y="3448050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07223" y="37505"/>
                </a:moveTo>
                <a:cubicBezTo>
                  <a:pt x="122024" y="37505"/>
                  <a:pt x="134012" y="25517"/>
                  <a:pt x="134012" y="10716"/>
                </a:cubicBezTo>
                <a:lnTo>
                  <a:pt x="151927" y="10716"/>
                </a:lnTo>
                <a:cubicBezTo>
                  <a:pt x="157620" y="10716"/>
                  <a:pt x="163078" y="12959"/>
                  <a:pt x="167097" y="16978"/>
                </a:cubicBezTo>
                <a:lnTo>
                  <a:pt x="206812" y="56726"/>
                </a:lnTo>
                <a:cubicBezTo>
                  <a:pt x="210997" y="60912"/>
                  <a:pt x="210997" y="67709"/>
                  <a:pt x="206812" y="71895"/>
                </a:cubicBezTo>
                <a:lnTo>
                  <a:pt x="189834" y="88873"/>
                </a:lnTo>
                <a:cubicBezTo>
                  <a:pt x="185648" y="93059"/>
                  <a:pt x="178850" y="93059"/>
                  <a:pt x="174665" y="88873"/>
                </a:cubicBezTo>
                <a:lnTo>
                  <a:pt x="160801" y="75009"/>
                </a:lnTo>
                <a:lnTo>
                  <a:pt x="160801" y="150019"/>
                </a:lnTo>
                <a:cubicBezTo>
                  <a:pt x="160801" y="161839"/>
                  <a:pt x="151191" y="171450"/>
                  <a:pt x="139370" y="171450"/>
                </a:cubicBezTo>
                <a:lnTo>
                  <a:pt x="75076" y="171450"/>
                </a:lnTo>
                <a:cubicBezTo>
                  <a:pt x="63256" y="171450"/>
                  <a:pt x="53645" y="161839"/>
                  <a:pt x="53645" y="150019"/>
                </a:cubicBezTo>
                <a:lnTo>
                  <a:pt x="53645" y="75009"/>
                </a:lnTo>
                <a:lnTo>
                  <a:pt x="39782" y="88873"/>
                </a:lnTo>
                <a:cubicBezTo>
                  <a:pt x="35596" y="93059"/>
                  <a:pt x="28798" y="93059"/>
                  <a:pt x="24612" y="88873"/>
                </a:cubicBezTo>
                <a:lnTo>
                  <a:pt x="7668" y="71862"/>
                </a:lnTo>
                <a:cubicBezTo>
                  <a:pt x="3483" y="67676"/>
                  <a:pt x="3483" y="60878"/>
                  <a:pt x="7668" y="56692"/>
                </a:cubicBezTo>
                <a:lnTo>
                  <a:pt x="47383" y="16978"/>
                </a:lnTo>
                <a:cubicBezTo>
                  <a:pt x="51402" y="12959"/>
                  <a:pt x="56860" y="10716"/>
                  <a:pt x="62552" y="10716"/>
                </a:cubicBezTo>
                <a:lnTo>
                  <a:pt x="80468" y="10716"/>
                </a:lnTo>
                <a:cubicBezTo>
                  <a:pt x="80468" y="25517"/>
                  <a:pt x="92456" y="37505"/>
                  <a:pt x="107257" y="37505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34" name="Text 32"/>
          <p:cNvSpPr/>
          <p:nvPr/>
        </p:nvSpPr>
        <p:spPr>
          <a:xfrm>
            <a:off x="6691313" y="3419475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试衣服务环节实操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241881" y="3400425"/>
            <a:ext cx="5143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20分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62700" y="4403725"/>
            <a:ext cx="5295900" cy="6350"/>
          </a:xfrm>
          <a:custGeom>
            <a:avLst/>
            <a:gdLst/>
            <a:ahLst/>
            <a:cxnLst/>
            <a:rect l="l" t="t" r="r" b="b"/>
            <a:pathLst>
              <a:path w="5295900" h="6350">
                <a:moveTo>
                  <a:pt x="0" y="0"/>
                </a:moveTo>
                <a:lnTo>
                  <a:pt x="5295900" y="0"/>
                </a:lnTo>
                <a:lnTo>
                  <a:pt x="529590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A9A299">
              <a:alpha val="20000"/>
            </a:srgbClr>
          </a:solidFill>
        </p:spPr>
      </p:sp>
      <p:sp>
        <p:nvSpPr>
          <p:cNvPr id="37" name="Shape 35"/>
          <p:cNvSpPr/>
          <p:nvPr/>
        </p:nvSpPr>
        <p:spPr>
          <a:xfrm>
            <a:off x="6386513" y="41052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32147" y="0"/>
                </a:moveTo>
                <a:cubicBezTo>
                  <a:pt x="20326" y="0"/>
                  <a:pt x="10716" y="9611"/>
                  <a:pt x="10716" y="21431"/>
                </a:cubicBezTo>
                <a:cubicBezTo>
                  <a:pt x="10716" y="33252"/>
                  <a:pt x="20326" y="42863"/>
                  <a:pt x="32147" y="42863"/>
                </a:cubicBezTo>
                <a:lnTo>
                  <a:pt x="48220" y="42863"/>
                </a:lnTo>
                <a:lnTo>
                  <a:pt x="48220" y="53578"/>
                </a:lnTo>
                <a:lnTo>
                  <a:pt x="29133" y="53578"/>
                </a:lnTo>
                <a:cubicBezTo>
                  <a:pt x="18551" y="53578"/>
                  <a:pt x="9544" y="61313"/>
                  <a:pt x="7936" y="71795"/>
                </a:cubicBezTo>
                <a:lnTo>
                  <a:pt x="368" y="121924"/>
                </a:lnTo>
                <a:cubicBezTo>
                  <a:pt x="134" y="123498"/>
                  <a:pt x="0" y="125105"/>
                  <a:pt x="0" y="126712"/>
                </a:cubicBezTo>
                <a:lnTo>
                  <a:pt x="0" y="150019"/>
                </a:lnTo>
                <a:cubicBezTo>
                  <a:pt x="0" y="161839"/>
                  <a:pt x="9611" y="171450"/>
                  <a:pt x="21431" y="171450"/>
                </a:cubicBezTo>
                <a:lnTo>
                  <a:pt x="150019" y="171450"/>
                </a:lnTo>
                <a:cubicBezTo>
                  <a:pt x="161839" y="171450"/>
                  <a:pt x="171450" y="161839"/>
                  <a:pt x="171450" y="150019"/>
                </a:cubicBezTo>
                <a:lnTo>
                  <a:pt x="171450" y="126712"/>
                </a:lnTo>
                <a:cubicBezTo>
                  <a:pt x="171450" y="125105"/>
                  <a:pt x="171316" y="123498"/>
                  <a:pt x="171082" y="121890"/>
                </a:cubicBezTo>
                <a:lnTo>
                  <a:pt x="163480" y="71795"/>
                </a:lnTo>
                <a:cubicBezTo>
                  <a:pt x="161906" y="61313"/>
                  <a:pt x="152899" y="53578"/>
                  <a:pt x="142317" y="53578"/>
                </a:cubicBezTo>
                <a:lnTo>
                  <a:pt x="69652" y="53578"/>
                </a:lnTo>
                <a:lnTo>
                  <a:pt x="69652" y="42863"/>
                </a:lnTo>
                <a:lnTo>
                  <a:pt x="85725" y="42863"/>
                </a:lnTo>
                <a:cubicBezTo>
                  <a:pt x="97546" y="42863"/>
                  <a:pt x="107156" y="33252"/>
                  <a:pt x="107156" y="21431"/>
                </a:cubicBezTo>
                <a:cubicBezTo>
                  <a:pt x="107156" y="9611"/>
                  <a:pt x="97546" y="0"/>
                  <a:pt x="85725" y="0"/>
                </a:cubicBezTo>
                <a:lnTo>
                  <a:pt x="32147" y="0"/>
                </a:lnTo>
                <a:close/>
                <a:moveTo>
                  <a:pt x="32147" y="16073"/>
                </a:moveTo>
                <a:lnTo>
                  <a:pt x="85725" y="16073"/>
                </a:lnTo>
                <a:cubicBezTo>
                  <a:pt x="88672" y="16073"/>
                  <a:pt x="91083" y="18484"/>
                  <a:pt x="91083" y="21431"/>
                </a:cubicBezTo>
                <a:cubicBezTo>
                  <a:pt x="91083" y="24378"/>
                  <a:pt x="88672" y="26789"/>
                  <a:pt x="85725" y="26789"/>
                </a:cubicBezTo>
                <a:lnTo>
                  <a:pt x="32147" y="26789"/>
                </a:lnTo>
                <a:cubicBezTo>
                  <a:pt x="29200" y="26789"/>
                  <a:pt x="26789" y="24378"/>
                  <a:pt x="26789" y="21431"/>
                </a:cubicBezTo>
                <a:cubicBezTo>
                  <a:pt x="26789" y="18484"/>
                  <a:pt x="29200" y="16073"/>
                  <a:pt x="32147" y="16073"/>
                </a:cubicBezTo>
                <a:close/>
                <a:moveTo>
                  <a:pt x="21431" y="141982"/>
                </a:moveTo>
                <a:cubicBezTo>
                  <a:pt x="21431" y="137528"/>
                  <a:pt x="25014" y="133945"/>
                  <a:pt x="29468" y="133945"/>
                </a:cubicBezTo>
                <a:lnTo>
                  <a:pt x="141982" y="133945"/>
                </a:lnTo>
                <a:cubicBezTo>
                  <a:pt x="146436" y="133945"/>
                  <a:pt x="150019" y="137528"/>
                  <a:pt x="150019" y="141982"/>
                </a:cubicBezTo>
                <a:cubicBezTo>
                  <a:pt x="150019" y="146436"/>
                  <a:pt x="146436" y="150019"/>
                  <a:pt x="141982" y="150019"/>
                </a:cubicBezTo>
                <a:lnTo>
                  <a:pt x="29468" y="150019"/>
                </a:lnTo>
                <a:cubicBezTo>
                  <a:pt x="25014" y="150019"/>
                  <a:pt x="21431" y="146436"/>
                  <a:pt x="21431" y="141982"/>
                </a:cubicBezTo>
                <a:close/>
                <a:moveTo>
                  <a:pt x="37505" y="88404"/>
                </a:moveTo>
                <a:cubicBezTo>
                  <a:pt x="33069" y="88404"/>
                  <a:pt x="29468" y="84803"/>
                  <a:pt x="29468" y="80367"/>
                </a:cubicBezTo>
                <a:cubicBezTo>
                  <a:pt x="29468" y="75932"/>
                  <a:pt x="33069" y="72330"/>
                  <a:pt x="37505" y="72330"/>
                </a:cubicBezTo>
                <a:cubicBezTo>
                  <a:pt x="41940" y="72330"/>
                  <a:pt x="45541" y="75932"/>
                  <a:pt x="45541" y="80367"/>
                </a:cubicBezTo>
                <a:cubicBezTo>
                  <a:pt x="45541" y="84803"/>
                  <a:pt x="41940" y="88404"/>
                  <a:pt x="37505" y="88404"/>
                </a:cubicBezTo>
                <a:close/>
                <a:moveTo>
                  <a:pt x="77688" y="80367"/>
                </a:moveTo>
                <a:cubicBezTo>
                  <a:pt x="77688" y="84803"/>
                  <a:pt x="74087" y="88404"/>
                  <a:pt x="69652" y="88404"/>
                </a:cubicBezTo>
                <a:cubicBezTo>
                  <a:pt x="65216" y="88404"/>
                  <a:pt x="61615" y="84803"/>
                  <a:pt x="61615" y="80367"/>
                </a:cubicBezTo>
                <a:cubicBezTo>
                  <a:pt x="61615" y="75932"/>
                  <a:pt x="65216" y="72330"/>
                  <a:pt x="69652" y="72330"/>
                </a:cubicBezTo>
                <a:cubicBezTo>
                  <a:pt x="74087" y="72330"/>
                  <a:pt x="77688" y="75932"/>
                  <a:pt x="77688" y="80367"/>
                </a:cubicBezTo>
                <a:close/>
                <a:moveTo>
                  <a:pt x="53578" y="115193"/>
                </a:moveTo>
                <a:cubicBezTo>
                  <a:pt x="49143" y="115193"/>
                  <a:pt x="45541" y="111592"/>
                  <a:pt x="45541" y="107156"/>
                </a:cubicBezTo>
                <a:cubicBezTo>
                  <a:pt x="45541" y="102721"/>
                  <a:pt x="49143" y="99120"/>
                  <a:pt x="53578" y="99120"/>
                </a:cubicBezTo>
                <a:cubicBezTo>
                  <a:pt x="58014" y="99120"/>
                  <a:pt x="61615" y="102721"/>
                  <a:pt x="61615" y="107156"/>
                </a:cubicBezTo>
                <a:cubicBezTo>
                  <a:pt x="61615" y="111592"/>
                  <a:pt x="58014" y="115193"/>
                  <a:pt x="53578" y="115193"/>
                </a:cubicBezTo>
                <a:close/>
                <a:moveTo>
                  <a:pt x="109835" y="80367"/>
                </a:moveTo>
                <a:cubicBezTo>
                  <a:pt x="109835" y="84803"/>
                  <a:pt x="106234" y="88404"/>
                  <a:pt x="101798" y="88404"/>
                </a:cubicBezTo>
                <a:cubicBezTo>
                  <a:pt x="97363" y="88404"/>
                  <a:pt x="93762" y="84803"/>
                  <a:pt x="93762" y="80367"/>
                </a:cubicBezTo>
                <a:cubicBezTo>
                  <a:pt x="93762" y="75932"/>
                  <a:pt x="97363" y="72330"/>
                  <a:pt x="101798" y="72330"/>
                </a:cubicBezTo>
                <a:cubicBezTo>
                  <a:pt x="106234" y="72330"/>
                  <a:pt x="109835" y="75932"/>
                  <a:pt x="109835" y="80367"/>
                </a:cubicBezTo>
                <a:close/>
                <a:moveTo>
                  <a:pt x="85725" y="115193"/>
                </a:moveTo>
                <a:cubicBezTo>
                  <a:pt x="81289" y="115193"/>
                  <a:pt x="77688" y="111592"/>
                  <a:pt x="77688" y="107156"/>
                </a:cubicBezTo>
                <a:cubicBezTo>
                  <a:pt x="77688" y="102721"/>
                  <a:pt x="81289" y="99120"/>
                  <a:pt x="85725" y="99120"/>
                </a:cubicBezTo>
                <a:cubicBezTo>
                  <a:pt x="90161" y="99120"/>
                  <a:pt x="93762" y="102721"/>
                  <a:pt x="93762" y="107156"/>
                </a:cubicBezTo>
                <a:cubicBezTo>
                  <a:pt x="93762" y="111592"/>
                  <a:pt x="90161" y="115193"/>
                  <a:pt x="85725" y="115193"/>
                </a:cubicBezTo>
                <a:close/>
                <a:moveTo>
                  <a:pt x="141982" y="80367"/>
                </a:moveTo>
                <a:cubicBezTo>
                  <a:pt x="141982" y="84803"/>
                  <a:pt x="138381" y="88404"/>
                  <a:pt x="133945" y="88404"/>
                </a:cubicBezTo>
                <a:cubicBezTo>
                  <a:pt x="129510" y="88404"/>
                  <a:pt x="125909" y="84803"/>
                  <a:pt x="125909" y="80367"/>
                </a:cubicBezTo>
                <a:cubicBezTo>
                  <a:pt x="125909" y="75932"/>
                  <a:pt x="129510" y="72330"/>
                  <a:pt x="133945" y="72330"/>
                </a:cubicBezTo>
                <a:cubicBezTo>
                  <a:pt x="138381" y="72330"/>
                  <a:pt x="141982" y="75932"/>
                  <a:pt x="141982" y="80367"/>
                </a:cubicBezTo>
                <a:close/>
                <a:moveTo>
                  <a:pt x="117872" y="115193"/>
                </a:moveTo>
                <a:cubicBezTo>
                  <a:pt x="113436" y="115193"/>
                  <a:pt x="109835" y="111592"/>
                  <a:pt x="109835" y="107156"/>
                </a:cubicBezTo>
                <a:cubicBezTo>
                  <a:pt x="109835" y="102721"/>
                  <a:pt x="113436" y="99120"/>
                  <a:pt x="117872" y="99120"/>
                </a:cubicBezTo>
                <a:cubicBezTo>
                  <a:pt x="122307" y="99120"/>
                  <a:pt x="125909" y="102721"/>
                  <a:pt x="125909" y="107156"/>
                </a:cubicBezTo>
                <a:cubicBezTo>
                  <a:pt x="125909" y="111592"/>
                  <a:pt x="122307" y="115193"/>
                  <a:pt x="117872" y="115193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38" name="Text 36"/>
          <p:cNvSpPr/>
          <p:nvPr/>
        </p:nvSpPr>
        <p:spPr>
          <a:xfrm>
            <a:off x="6691313" y="407670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收银服务环节实操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241881" y="4057650"/>
            <a:ext cx="5143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20分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62700" y="5060950"/>
            <a:ext cx="5295900" cy="6350"/>
          </a:xfrm>
          <a:custGeom>
            <a:avLst/>
            <a:gdLst/>
            <a:ahLst/>
            <a:cxnLst/>
            <a:rect l="l" t="t" r="r" b="b"/>
            <a:pathLst>
              <a:path w="5295900" h="6350">
                <a:moveTo>
                  <a:pt x="0" y="0"/>
                </a:moveTo>
                <a:lnTo>
                  <a:pt x="5295900" y="0"/>
                </a:lnTo>
                <a:lnTo>
                  <a:pt x="529590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A9A299">
              <a:alpha val="20000"/>
            </a:srgbClr>
          </a:solidFill>
        </p:spPr>
      </p:sp>
      <p:sp>
        <p:nvSpPr>
          <p:cNvPr id="41" name="Shape 39"/>
          <p:cNvSpPr/>
          <p:nvPr/>
        </p:nvSpPr>
        <p:spPr>
          <a:xfrm>
            <a:off x="6397228" y="476250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50019" y="68915"/>
                </a:moveTo>
                <a:cubicBezTo>
                  <a:pt x="145063" y="72197"/>
                  <a:pt x="139370" y="74842"/>
                  <a:pt x="133443" y="76952"/>
                </a:cubicBezTo>
                <a:cubicBezTo>
                  <a:pt x="117704" y="82577"/>
                  <a:pt x="97043" y="85725"/>
                  <a:pt x="75009" y="85725"/>
                </a:cubicBezTo>
                <a:cubicBezTo>
                  <a:pt x="52975" y="85725"/>
                  <a:pt x="32281" y="82544"/>
                  <a:pt x="16576" y="76952"/>
                </a:cubicBezTo>
                <a:cubicBezTo>
                  <a:pt x="10682" y="74842"/>
                  <a:pt x="4956" y="72197"/>
                  <a:pt x="0" y="68915"/>
                </a:cubicBezTo>
                <a:lnTo>
                  <a:pt x="0" y="96441"/>
                </a:lnTo>
                <a:cubicBezTo>
                  <a:pt x="0" y="111242"/>
                  <a:pt x="33587" y="123230"/>
                  <a:pt x="75009" y="123230"/>
                </a:cubicBezTo>
                <a:cubicBezTo>
                  <a:pt x="116432" y="123230"/>
                  <a:pt x="150019" y="111242"/>
                  <a:pt x="150019" y="96441"/>
                </a:cubicBezTo>
                <a:lnTo>
                  <a:pt x="150019" y="68915"/>
                </a:lnTo>
                <a:close/>
                <a:moveTo>
                  <a:pt x="150019" y="42863"/>
                </a:moveTo>
                <a:lnTo>
                  <a:pt x="150019" y="26789"/>
                </a:lnTo>
                <a:cubicBezTo>
                  <a:pt x="150019" y="11988"/>
                  <a:pt x="116432" y="0"/>
                  <a:pt x="75009" y="0"/>
                </a:cubicBezTo>
                <a:cubicBezTo>
                  <a:pt x="33587" y="0"/>
                  <a:pt x="0" y="11988"/>
                  <a:pt x="0" y="26789"/>
                </a:cubicBezTo>
                <a:lnTo>
                  <a:pt x="0" y="42863"/>
                </a:lnTo>
                <a:cubicBezTo>
                  <a:pt x="0" y="57663"/>
                  <a:pt x="33587" y="69652"/>
                  <a:pt x="75009" y="69652"/>
                </a:cubicBezTo>
                <a:cubicBezTo>
                  <a:pt x="116432" y="69652"/>
                  <a:pt x="150019" y="57663"/>
                  <a:pt x="150019" y="42863"/>
                </a:cubicBezTo>
                <a:close/>
                <a:moveTo>
                  <a:pt x="133443" y="130530"/>
                </a:moveTo>
                <a:cubicBezTo>
                  <a:pt x="117738" y="136122"/>
                  <a:pt x="97077" y="139303"/>
                  <a:pt x="75009" y="139303"/>
                </a:cubicBezTo>
                <a:cubicBezTo>
                  <a:pt x="52942" y="139303"/>
                  <a:pt x="32281" y="136122"/>
                  <a:pt x="16576" y="130530"/>
                </a:cubicBezTo>
                <a:cubicBezTo>
                  <a:pt x="10682" y="128420"/>
                  <a:pt x="4956" y="125775"/>
                  <a:pt x="0" y="122493"/>
                </a:cubicBezTo>
                <a:lnTo>
                  <a:pt x="0" y="144661"/>
                </a:lnTo>
                <a:cubicBezTo>
                  <a:pt x="0" y="159462"/>
                  <a:pt x="33587" y="171450"/>
                  <a:pt x="75009" y="171450"/>
                </a:cubicBezTo>
                <a:cubicBezTo>
                  <a:pt x="116432" y="171450"/>
                  <a:pt x="150019" y="159462"/>
                  <a:pt x="150019" y="144661"/>
                </a:cubicBezTo>
                <a:lnTo>
                  <a:pt x="150019" y="122493"/>
                </a:lnTo>
                <a:cubicBezTo>
                  <a:pt x="145063" y="125775"/>
                  <a:pt x="139370" y="128420"/>
                  <a:pt x="133443" y="13053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42" name="Text 40"/>
          <p:cNvSpPr/>
          <p:nvPr/>
        </p:nvSpPr>
        <p:spPr>
          <a:xfrm>
            <a:off x="6691313" y="4733925"/>
            <a:ext cx="144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系统查询及报表导出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266091" y="4714875"/>
            <a:ext cx="4857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15分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86513" y="54197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75009" y="0"/>
                </a:moveTo>
                <a:lnTo>
                  <a:pt x="75009" y="21431"/>
                </a:lnTo>
                <a:cubicBezTo>
                  <a:pt x="75009" y="24378"/>
                  <a:pt x="77420" y="26789"/>
                  <a:pt x="80367" y="26789"/>
                </a:cubicBezTo>
                <a:lnTo>
                  <a:pt x="91083" y="26789"/>
                </a:lnTo>
                <a:cubicBezTo>
                  <a:pt x="94030" y="26789"/>
                  <a:pt x="96441" y="24378"/>
                  <a:pt x="96441" y="21431"/>
                </a:cubicBezTo>
                <a:lnTo>
                  <a:pt x="96441" y="0"/>
                </a:lnTo>
                <a:lnTo>
                  <a:pt x="107156" y="0"/>
                </a:lnTo>
                <a:cubicBezTo>
                  <a:pt x="118977" y="0"/>
                  <a:pt x="128588" y="9611"/>
                  <a:pt x="128588" y="21431"/>
                </a:cubicBezTo>
                <a:lnTo>
                  <a:pt x="128588" y="64294"/>
                </a:lnTo>
                <a:cubicBezTo>
                  <a:pt x="128588" y="66135"/>
                  <a:pt x="128353" y="67944"/>
                  <a:pt x="127918" y="69652"/>
                </a:cubicBezTo>
                <a:lnTo>
                  <a:pt x="43532" y="69652"/>
                </a:lnTo>
                <a:cubicBezTo>
                  <a:pt x="43097" y="67944"/>
                  <a:pt x="42863" y="66135"/>
                  <a:pt x="42863" y="64294"/>
                </a:cubicBezTo>
                <a:lnTo>
                  <a:pt x="42863" y="21431"/>
                </a:lnTo>
                <a:cubicBezTo>
                  <a:pt x="42863" y="9611"/>
                  <a:pt x="52473" y="0"/>
                  <a:pt x="64294" y="0"/>
                </a:cubicBezTo>
                <a:lnTo>
                  <a:pt x="75009" y="0"/>
                </a:lnTo>
                <a:close/>
                <a:moveTo>
                  <a:pt x="107156" y="171450"/>
                </a:moveTo>
                <a:cubicBezTo>
                  <a:pt x="103406" y="171450"/>
                  <a:pt x="99856" y="170479"/>
                  <a:pt x="96775" y="168771"/>
                </a:cubicBezTo>
                <a:cubicBezTo>
                  <a:pt x="99957" y="163246"/>
                  <a:pt x="101798" y="156850"/>
                  <a:pt x="101798" y="150019"/>
                </a:cubicBezTo>
                <a:lnTo>
                  <a:pt x="101798" y="107156"/>
                </a:lnTo>
                <a:cubicBezTo>
                  <a:pt x="101798" y="100325"/>
                  <a:pt x="99957" y="93929"/>
                  <a:pt x="96775" y="88404"/>
                </a:cubicBezTo>
                <a:cubicBezTo>
                  <a:pt x="99856" y="86696"/>
                  <a:pt x="103372" y="85725"/>
                  <a:pt x="107156" y="85725"/>
                </a:cubicBezTo>
                <a:lnTo>
                  <a:pt x="117872" y="85725"/>
                </a:lnTo>
                <a:lnTo>
                  <a:pt x="117872" y="107156"/>
                </a:lnTo>
                <a:cubicBezTo>
                  <a:pt x="117872" y="110103"/>
                  <a:pt x="120283" y="112514"/>
                  <a:pt x="123230" y="112514"/>
                </a:cubicBezTo>
                <a:lnTo>
                  <a:pt x="133945" y="112514"/>
                </a:lnTo>
                <a:cubicBezTo>
                  <a:pt x="136892" y="112514"/>
                  <a:pt x="139303" y="110103"/>
                  <a:pt x="139303" y="107156"/>
                </a:cubicBezTo>
                <a:lnTo>
                  <a:pt x="139303" y="85725"/>
                </a:lnTo>
                <a:lnTo>
                  <a:pt x="150019" y="85725"/>
                </a:lnTo>
                <a:cubicBezTo>
                  <a:pt x="161839" y="85725"/>
                  <a:pt x="171450" y="95336"/>
                  <a:pt x="171450" y="107156"/>
                </a:cubicBezTo>
                <a:lnTo>
                  <a:pt x="171450" y="150019"/>
                </a:lnTo>
                <a:cubicBezTo>
                  <a:pt x="171450" y="161839"/>
                  <a:pt x="161839" y="171450"/>
                  <a:pt x="150019" y="171450"/>
                </a:cubicBezTo>
                <a:lnTo>
                  <a:pt x="107156" y="171450"/>
                </a:lnTo>
                <a:close/>
                <a:moveTo>
                  <a:pt x="0" y="107156"/>
                </a:moveTo>
                <a:cubicBezTo>
                  <a:pt x="0" y="95336"/>
                  <a:pt x="9611" y="85725"/>
                  <a:pt x="21431" y="85725"/>
                </a:cubicBezTo>
                <a:lnTo>
                  <a:pt x="32147" y="85725"/>
                </a:lnTo>
                <a:lnTo>
                  <a:pt x="32147" y="107156"/>
                </a:lnTo>
                <a:cubicBezTo>
                  <a:pt x="32147" y="110103"/>
                  <a:pt x="34558" y="112514"/>
                  <a:pt x="37505" y="112514"/>
                </a:cubicBezTo>
                <a:lnTo>
                  <a:pt x="48220" y="112514"/>
                </a:lnTo>
                <a:cubicBezTo>
                  <a:pt x="51167" y="112514"/>
                  <a:pt x="53578" y="110103"/>
                  <a:pt x="53578" y="107156"/>
                </a:cubicBezTo>
                <a:lnTo>
                  <a:pt x="53578" y="85725"/>
                </a:lnTo>
                <a:lnTo>
                  <a:pt x="64294" y="85725"/>
                </a:lnTo>
                <a:cubicBezTo>
                  <a:pt x="76114" y="85725"/>
                  <a:pt x="85725" y="95336"/>
                  <a:pt x="85725" y="107156"/>
                </a:cubicBezTo>
                <a:lnTo>
                  <a:pt x="85725" y="150019"/>
                </a:lnTo>
                <a:cubicBezTo>
                  <a:pt x="85725" y="161839"/>
                  <a:pt x="76114" y="171450"/>
                  <a:pt x="64294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107156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45" name="Text 43"/>
          <p:cNvSpPr/>
          <p:nvPr/>
        </p:nvSpPr>
        <p:spPr>
          <a:xfrm>
            <a:off x="6691313" y="5391150"/>
            <a:ext cx="1724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商品调拨/收货/盘点流程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1266091" y="5372100"/>
            <a:ext cx="4857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15分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210300" y="5867400"/>
            <a:ext cx="5600700" cy="609600"/>
          </a:xfrm>
          <a:custGeom>
            <a:avLst/>
            <a:gdLst/>
            <a:ahLst/>
            <a:cxnLst/>
            <a:rect l="l" t="t" r="r" b="b"/>
            <a:pathLst>
              <a:path w="5600700" h="609600">
                <a:moveTo>
                  <a:pt x="0" y="0"/>
                </a:moveTo>
                <a:lnTo>
                  <a:pt x="5600700" y="0"/>
                </a:lnTo>
                <a:lnTo>
                  <a:pt x="56007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C47A5A">
              <a:alpha val="10196"/>
            </a:srgbClr>
          </a:solidFill>
        </p:spPr>
      </p:sp>
      <p:sp>
        <p:nvSpPr>
          <p:cNvPr id="48" name="Text 46"/>
          <p:cNvSpPr/>
          <p:nvPr/>
        </p:nvSpPr>
        <p:spPr>
          <a:xfrm>
            <a:off x="6291263" y="5981700"/>
            <a:ext cx="54387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考核说明：</a:t>
            </a:r>
            <a:r>
              <a:rPr lang="en-US" sz="105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第4-6天为一个阶段，将在第6天结束时进行综合考核，评估学员对会员管理、试衣服务、收银操作、系统使用及商品管理的综合掌握程度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yyasw4ib73lsu/day5_system.jpg"/>
          <p:cNvPicPr>
            <a:picLocks noChangeAspect="1"/>
          </p:cNvPicPr>
          <p:nvPr/>
        </p:nvPicPr>
        <p:blipFill>
          <a:blip r:embed="rId1"/>
          <a:srcRect t="781" b="781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A4F41">
                  <a:alpha val="90000"/>
                </a:srgbClr>
              </a:gs>
              <a:gs pos="50000">
                <a:srgbClr val="3A4F41">
                  <a:alpha val="70000"/>
                </a:srgbClr>
              </a:gs>
              <a:gs pos="100000">
                <a:srgbClr val="3A4F41">
                  <a:alpha val="90000"/>
                </a:srgbClr>
              </a:gs>
            </a:gsLst>
            <a:lin ang="5400000" scaled="1"/>
          </a:gradFill>
        </p:spPr>
      </p:sp>
      <p:sp>
        <p:nvSpPr>
          <p:cNvPr id="4" name="Text 1"/>
          <p:cNvSpPr/>
          <p:nvPr/>
        </p:nvSpPr>
        <p:spPr>
          <a:xfrm>
            <a:off x="4772025" y="2190750"/>
            <a:ext cx="26479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kern="0" spc="360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05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638675" y="2647950"/>
            <a:ext cx="291465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F8F7F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第5天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0" y="356235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7" name="Text 4"/>
          <p:cNvSpPr/>
          <p:nvPr/>
        </p:nvSpPr>
        <p:spPr>
          <a:xfrm>
            <a:off x="4738688" y="3905250"/>
            <a:ext cx="27146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F8F7F5">
                    <a:alpha val="9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系统操作与收银服务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762500" y="4400550"/>
            <a:ext cx="26670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8F7F5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熟练系统操作 · 精通收银流程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10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05 · OBJECTIVES &amp; CONTENT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教学目标与教学内容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9575" y="1219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5" name="Text 3"/>
          <p:cNvSpPr/>
          <p:nvPr/>
        </p:nvSpPr>
        <p:spPr>
          <a:xfrm>
            <a:off x="781050" y="1181100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教学目标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638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7" name="Text 5"/>
          <p:cNvSpPr/>
          <p:nvPr/>
        </p:nvSpPr>
        <p:spPr>
          <a:xfrm>
            <a:off x="338138" y="1638300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638300"/>
            <a:ext cx="39433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熟练操作POS系统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1943100"/>
            <a:ext cx="3933825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熟练操作POS系统及移动POS，掌握微信/支付宝收款流程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1000" y="24955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11" name="Text 9"/>
          <p:cNvSpPr/>
          <p:nvPr/>
        </p:nvSpPr>
        <p:spPr>
          <a:xfrm>
            <a:off x="338138" y="2495550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2495550"/>
            <a:ext cx="37433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熟悉新零售系统后台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2800350"/>
            <a:ext cx="37338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熟悉新零售系统后台功能，能进行库存查询及数据查询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1000" y="33528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15" name="Text 13"/>
          <p:cNvSpPr/>
          <p:nvPr/>
        </p:nvSpPr>
        <p:spPr>
          <a:xfrm>
            <a:off x="338138" y="3352800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3352800"/>
            <a:ext cx="28289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掌握收银操作标准流程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3657600"/>
            <a:ext cx="28194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掌握收银操作标准流程及易错点解决方法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1000" y="42100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19" name="Text 17"/>
          <p:cNvSpPr/>
          <p:nvPr/>
        </p:nvSpPr>
        <p:spPr>
          <a:xfrm>
            <a:off x="338138" y="4210050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4210050"/>
            <a:ext cx="37433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了解财务管理规范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" y="4514850"/>
            <a:ext cx="37338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了解备用金清点、清机日结、资金管理及票据管理规范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1000" y="5067300"/>
            <a:ext cx="5600700" cy="1409700"/>
          </a:xfrm>
          <a:custGeom>
            <a:avLst/>
            <a:gdLst/>
            <a:ahLst/>
            <a:cxnLst/>
            <a:rect l="l" t="t" r="r" b="b"/>
            <a:pathLst>
              <a:path w="5600700" h="1409700">
                <a:moveTo>
                  <a:pt x="76194" y="0"/>
                </a:moveTo>
                <a:lnTo>
                  <a:pt x="5524506" y="0"/>
                </a:lnTo>
                <a:cubicBezTo>
                  <a:pt x="5566558" y="0"/>
                  <a:pt x="5600700" y="34142"/>
                  <a:pt x="5600700" y="76194"/>
                </a:cubicBezTo>
                <a:lnTo>
                  <a:pt x="5600700" y="1333506"/>
                </a:lnTo>
                <a:cubicBezTo>
                  <a:pt x="5600700" y="1375587"/>
                  <a:pt x="5566587" y="1409700"/>
                  <a:pt x="5524506" y="1409700"/>
                </a:cubicBezTo>
                <a:lnTo>
                  <a:pt x="76194" y="1409700"/>
                </a:lnTo>
                <a:cubicBezTo>
                  <a:pt x="34142" y="1409700"/>
                  <a:pt x="0" y="1375558"/>
                  <a:pt x="0" y="1333506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3A4F41">
              <a:alpha val="5098"/>
            </a:srgbClr>
          </a:solidFill>
        </p:spPr>
      </p:sp>
      <p:sp>
        <p:nvSpPr>
          <p:cNvPr id="23" name="Shape 21"/>
          <p:cNvSpPr/>
          <p:nvPr/>
        </p:nvSpPr>
        <p:spPr>
          <a:xfrm>
            <a:off x="546497" y="52673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75043" y="32515"/>
                </a:moveTo>
                <a:lnTo>
                  <a:pt x="75043" y="49124"/>
                </a:lnTo>
                <a:lnTo>
                  <a:pt x="75210" y="49292"/>
                </a:lnTo>
                <a:cubicBezTo>
                  <a:pt x="77387" y="21699"/>
                  <a:pt x="100459" y="0"/>
                  <a:pt x="128621" y="0"/>
                </a:cubicBezTo>
                <a:cubicBezTo>
                  <a:pt x="135352" y="0"/>
                  <a:pt x="141815" y="1239"/>
                  <a:pt x="147742" y="3516"/>
                </a:cubicBezTo>
                <a:cubicBezTo>
                  <a:pt x="151090" y="4789"/>
                  <a:pt x="151693" y="9041"/>
                  <a:pt x="149182" y="11586"/>
                </a:cubicBezTo>
                <a:lnTo>
                  <a:pt x="119479" y="41289"/>
                </a:lnTo>
                <a:cubicBezTo>
                  <a:pt x="118475" y="42293"/>
                  <a:pt x="117905" y="43666"/>
                  <a:pt x="117905" y="45073"/>
                </a:cubicBezTo>
                <a:lnTo>
                  <a:pt x="117905" y="58936"/>
                </a:lnTo>
                <a:cubicBezTo>
                  <a:pt x="117905" y="61883"/>
                  <a:pt x="120316" y="64294"/>
                  <a:pt x="123263" y="64294"/>
                </a:cubicBezTo>
                <a:lnTo>
                  <a:pt x="137127" y="64294"/>
                </a:lnTo>
                <a:cubicBezTo>
                  <a:pt x="138533" y="64294"/>
                  <a:pt x="139906" y="63724"/>
                  <a:pt x="140910" y="62720"/>
                </a:cubicBezTo>
                <a:lnTo>
                  <a:pt x="170613" y="33018"/>
                </a:lnTo>
                <a:cubicBezTo>
                  <a:pt x="173158" y="30473"/>
                  <a:pt x="177411" y="31109"/>
                  <a:pt x="178683" y="34457"/>
                </a:cubicBezTo>
                <a:cubicBezTo>
                  <a:pt x="180960" y="40385"/>
                  <a:pt x="182199" y="46847"/>
                  <a:pt x="182199" y="53578"/>
                </a:cubicBezTo>
                <a:cubicBezTo>
                  <a:pt x="182199" y="73871"/>
                  <a:pt x="170914" y="91552"/>
                  <a:pt x="154238" y="100626"/>
                </a:cubicBezTo>
                <a:lnTo>
                  <a:pt x="181529" y="127918"/>
                </a:lnTo>
                <a:cubicBezTo>
                  <a:pt x="187791" y="134180"/>
                  <a:pt x="187791" y="144360"/>
                  <a:pt x="181529" y="150655"/>
                </a:cubicBezTo>
                <a:lnTo>
                  <a:pt x="161404" y="170780"/>
                </a:lnTo>
                <a:cubicBezTo>
                  <a:pt x="155142" y="177042"/>
                  <a:pt x="144962" y="177042"/>
                  <a:pt x="138667" y="170780"/>
                </a:cubicBezTo>
                <a:lnTo>
                  <a:pt x="96474" y="128588"/>
                </a:lnTo>
                <a:cubicBezTo>
                  <a:pt x="87299" y="119412"/>
                  <a:pt x="85223" y="105850"/>
                  <a:pt x="90279" y="94666"/>
                </a:cubicBezTo>
                <a:lnTo>
                  <a:pt x="59907" y="64294"/>
                </a:lnTo>
                <a:lnTo>
                  <a:pt x="43298" y="64294"/>
                </a:lnTo>
                <a:cubicBezTo>
                  <a:pt x="39715" y="64294"/>
                  <a:pt x="36366" y="62519"/>
                  <a:pt x="34390" y="59539"/>
                </a:cubicBezTo>
                <a:lnTo>
                  <a:pt x="7836" y="19723"/>
                </a:lnTo>
                <a:cubicBezTo>
                  <a:pt x="6429" y="17614"/>
                  <a:pt x="6697" y="14767"/>
                  <a:pt x="8506" y="12959"/>
                </a:cubicBezTo>
                <a:lnTo>
                  <a:pt x="23708" y="-2244"/>
                </a:lnTo>
                <a:cubicBezTo>
                  <a:pt x="25517" y="-4052"/>
                  <a:pt x="28329" y="-4320"/>
                  <a:pt x="30473" y="-2913"/>
                </a:cubicBezTo>
                <a:lnTo>
                  <a:pt x="70288" y="23608"/>
                </a:lnTo>
                <a:cubicBezTo>
                  <a:pt x="73268" y="25584"/>
                  <a:pt x="75043" y="28932"/>
                  <a:pt x="75043" y="32515"/>
                </a:cubicBezTo>
                <a:close/>
                <a:moveTo>
                  <a:pt x="72197" y="99320"/>
                </a:moveTo>
                <a:cubicBezTo>
                  <a:pt x="70087" y="111710"/>
                  <a:pt x="73000" y="124804"/>
                  <a:pt x="81037" y="135285"/>
                </a:cubicBezTo>
                <a:lnTo>
                  <a:pt x="49225" y="167063"/>
                </a:lnTo>
                <a:cubicBezTo>
                  <a:pt x="39815" y="176473"/>
                  <a:pt x="24545" y="176473"/>
                  <a:pt x="15136" y="167063"/>
                </a:cubicBezTo>
                <a:cubicBezTo>
                  <a:pt x="5726" y="157654"/>
                  <a:pt x="5726" y="142384"/>
                  <a:pt x="15136" y="132974"/>
                </a:cubicBezTo>
                <a:lnTo>
                  <a:pt x="60476" y="87634"/>
                </a:lnTo>
                <a:lnTo>
                  <a:pt x="72197" y="99354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24" name="Text 22"/>
          <p:cNvSpPr/>
          <p:nvPr/>
        </p:nvSpPr>
        <p:spPr>
          <a:xfrm>
            <a:off x="862013" y="5219700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训前准备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3400" y="5562600"/>
            <a:ext cx="5372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确保POS机、移动POS设备可用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3400" y="5829300"/>
            <a:ext cx="5372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准备新零售系统演示账号或培训环境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3400" y="6096000"/>
            <a:ext cx="5372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准备备用金、票据样本等实物教具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38875" y="1219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63088"/>
                </a:moveTo>
                <a:lnTo>
                  <a:pt x="114300" y="201186"/>
                </a:lnTo>
                <a:lnTo>
                  <a:pt x="114523" y="201097"/>
                </a:lnTo>
                <a:cubicBezTo>
                  <a:pt x="138901" y="190961"/>
                  <a:pt x="165065" y="185738"/>
                  <a:pt x="191453" y="185738"/>
                </a:cubicBezTo>
                <a:lnTo>
                  <a:pt x="200025" y="185738"/>
                </a:lnTo>
                <a:lnTo>
                  <a:pt x="200025" y="42863"/>
                </a:lnTo>
                <a:lnTo>
                  <a:pt x="191453" y="42863"/>
                </a:lnTo>
                <a:cubicBezTo>
                  <a:pt x="172611" y="42863"/>
                  <a:pt x="153903" y="46613"/>
                  <a:pt x="136490" y="53846"/>
                </a:cubicBezTo>
                <a:cubicBezTo>
                  <a:pt x="128989" y="56971"/>
                  <a:pt x="121578" y="60052"/>
                  <a:pt x="114300" y="63088"/>
                </a:cubicBezTo>
                <a:close/>
                <a:moveTo>
                  <a:pt x="103093" y="27459"/>
                </a:moveTo>
                <a:lnTo>
                  <a:pt x="114300" y="32147"/>
                </a:lnTo>
                <a:lnTo>
                  <a:pt x="125507" y="27459"/>
                </a:lnTo>
                <a:cubicBezTo>
                  <a:pt x="146402" y="18752"/>
                  <a:pt x="168816" y="14288"/>
                  <a:pt x="191453" y="14288"/>
                </a:cubicBezTo>
                <a:lnTo>
                  <a:pt x="207169" y="14288"/>
                </a:lnTo>
                <a:cubicBezTo>
                  <a:pt x="219001" y="14288"/>
                  <a:pt x="228600" y="23887"/>
                  <a:pt x="228600" y="35719"/>
                </a:cubicBezTo>
                <a:lnTo>
                  <a:pt x="228600" y="192881"/>
                </a:lnTo>
                <a:cubicBezTo>
                  <a:pt x="228600" y="204713"/>
                  <a:pt x="219001" y="214313"/>
                  <a:pt x="207169" y="214313"/>
                </a:cubicBezTo>
                <a:lnTo>
                  <a:pt x="191453" y="214313"/>
                </a:lnTo>
                <a:cubicBezTo>
                  <a:pt x="168816" y="214313"/>
                  <a:pt x="146402" y="218777"/>
                  <a:pt x="125507" y="227484"/>
                </a:cubicBezTo>
                <a:lnTo>
                  <a:pt x="119792" y="229850"/>
                </a:lnTo>
                <a:cubicBezTo>
                  <a:pt x="116265" y="231324"/>
                  <a:pt x="112335" y="231324"/>
                  <a:pt x="108808" y="229850"/>
                </a:cubicBezTo>
                <a:lnTo>
                  <a:pt x="103093" y="227484"/>
                </a:lnTo>
                <a:cubicBezTo>
                  <a:pt x="82198" y="218777"/>
                  <a:pt x="59784" y="214313"/>
                  <a:pt x="37148" y="214313"/>
                </a:cubicBezTo>
                <a:lnTo>
                  <a:pt x="21431" y="214313"/>
                </a:lnTo>
                <a:cubicBezTo>
                  <a:pt x="9599" y="214313"/>
                  <a:pt x="0" y="204713"/>
                  <a:pt x="0" y="192881"/>
                </a:cubicBezTo>
                <a:lnTo>
                  <a:pt x="0" y="35719"/>
                </a:lnTo>
                <a:cubicBezTo>
                  <a:pt x="0" y="23887"/>
                  <a:pt x="9599" y="14288"/>
                  <a:pt x="21431" y="14288"/>
                </a:cubicBezTo>
                <a:lnTo>
                  <a:pt x="37148" y="14288"/>
                </a:lnTo>
                <a:cubicBezTo>
                  <a:pt x="59784" y="14288"/>
                  <a:pt x="82198" y="18752"/>
                  <a:pt x="103093" y="27459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29" name="Text 27"/>
          <p:cNvSpPr/>
          <p:nvPr/>
        </p:nvSpPr>
        <p:spPr>
          <a:xfrm>
            <a:off x="6610350" y="1181100"/>
            <a:ext cx="17145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分模块教学内容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490399" y="1219200"/>
            <a:ext cx="14001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总计时长：100分钟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10300" y="17145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32" name="Text 30"/>
          <p:cNvSpPr/>
          <p:nvPr/>
        </p:nvSpPr>
        <p:spPr>
          <a:xfrm>
            <a:off x="6400800" y="1638300"/>
            <a:ext cx="781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POS操作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399044" y="1676400"/>
            <a:ext cx="476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20min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00800" y="1943100"/>
            <a:ext cx="54864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介绍POS系统操作/移动POS操作/微信支付宝收款操作流程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10300" y="2786063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36" name="Text 34"/>
          <p:cNvSpPr/>
          <p:nvPr/>
        </p:nvSpPr>
        <p:spPr>
          <a:xfrm>
            <a:off x="6400800" y="2709863"/>
            <a:ext cx="9429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新零售系统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399044" y="2747963"/>
            <a:ext cx="476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30min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00800" y="3014663"/>
            <a:ext cx="54864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介绍零售系统后台的操作页面和各功能位置；查库存、数据查询等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210300" y="38576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40" name="Text 38"/>
          <p:cNvSpPr/>
          <p:nvPr/>
        </p:nvSpPr>
        <p:spPr>
          <a:xfrm>
            <a:off x="6400800" y="3781425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收银操作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1399044" y="3819525"/>
            <a:ext cx="476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20min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400800" y="4086225"/>
            <a:ext cx="54864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示范收银操作，介绍易错点和解决方式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210300" y="492918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44" name="Text 42"/>
          <p:cNvSpPr/>
          <p:nvPr/>
        </p:nvSpPr>
        <p:spPr>
          <a:xfrm>
            <a:off x="6400800" y="4852988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财务管理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399044" y="4891088"/>
            <a:ext cx="476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10min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400800" y="5157788"/>
            <a:ext cx="54864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备用金清点、清机与日结、资金管理、票据管理等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210300" y="60007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48" name="Text 46"/>
          <p:cNvSpPr/>
          <p:nvPr/>
        </p:nvSpPr>
        <p:spPr>
          <a:xfrm>
            <a:off x="6400800" y="5924550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收银服务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1399044" y="5962650"/>
            <a:ext cx="476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20min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400800" y="6229350"/>
            <a:ext cx="54864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讲解收银服务环节的重点及易错点；训后练习收银环节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10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05 · PRACTICE &amp; ASSESSMENT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训后练习与阶段考核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9575" y="1257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9740" y="16207"/>
                </a:moveTo>
                <a:cubicBezTo>
                  <a:pt x="64606" y="19601"/>
                  <a:pt x="65767" y="26298"/>
                  <a:pt x="62374" y="31120"/>
                </a:cubicBezTo>
                <a:lnTo>
                  <a:pt x="37371" y="66839"/>
                </a:lnTo>
                <a:cubicBezTo>
                  <a:pt x="35540" y="69428"/>
                  <a:pt x="32683" y="71080"/>
                  <a:pt x="29513" y="71348"/>
                </a:cubicBezTo>
                <a:cubicBezTo>
                  <a:pt x="26343" y="71616"/>
                  <a:pt x="23217" y="70545"/>
                  <a:pt x="20985" y="68312"/>
                </a:cubicBezTo>
                <a:lnTo>
                  <a:pt x="3125" y="50453"/>
                </a:lnTo>
                <a:cubicBezTo>
                  <a:pt x="-1027" y="46256"/>
                  <a:pt x="-1027" y="39469"/>
                  <a:pt x="3125" y="35272"/>
                </a:cubicBezTo>
                <a:cubicBezTo>
                  <a:pt x="7278" y="31075"/>
                  <a:pt x="14109" y="31120"/>
                  <a:pt x="18306" y="35272"/>
                </a:cubicBezTo>
                <a:lnTo>
                  <a:pt x="27146" y="44113"/>
                </a:lnTo>
                <a:lnTo>
                  <a:pt x="44827" y="18842"/>
                </a:lnTo>
                <a:cubicBezTo>
                  <a:pt x="48220" y="13975"/>
                  <a:pt x="54918" y="12814"/>
                  <a:pt x="59740" y="16207"/>
                </a:cubicBezTo>
                <a:close/>
                <a:moveTo>
                  <a:pt x="59740" y="87645"/>
                </a:moveTo>
                <a:cubicBezTo>
                  <a:pt x="64606" y="91038"/>
                  <a:pt x="65767" y="97735"/>
                  <a:pt x="62374" y="102557"/>
                </a:cubicBezTo>
                <a:lnTo>
                  <a:pt x="37371" y="138276"/>
                </a:lnTo>
                <a:cubicBezTo>
                  <a:pt x="35540" y="140866"/>
                  <a:pt x="32683" y="142518"/>
                  <a:pt x="29513" y="142786"/>
                </a:cubicBezTo>
                <a:cubicBezTo>
                  <a:pt x="26343" y="143054"/>
                  <a:pt x="23217" y="141982"/>
                  <a:pt x="20985" y="139750"/>
                </a:cubicBezTo>
                <a:lnTo>
                  <a:pt x="3125" y="121890"/>
                </a:lnTo>
                <a:cubicBezTo>
                  <a:pt x="-1072" y="117693"/>
                  <a:pt x="-1072" y="110907"/>
                  <a:pt x="3125" y="106754"/>
                </a:cubicBezTo>
                <a:cubicBezTo>
                  <a:pt x="7322" y="102602"/>
                  <a:pt x="14109" y="102557"/>
                  <a:pt x="18261" y="106754"/>
                </a:cubicBezTo>
                <a:lnTo>
                  <a:pt x="27102" y="115595"/>
                </a:lnTo>
                <a:lnTo>
                  <a:pt x="44782" y="90324"/>
                </a:lnTo>
                <a:cubicBezTo>
                  <a:pt x="48176" y="85457"/>
                  <a:pt x="54873" y="84296"/>
                  <a:pt x="59695" y="87690"/>
                </a:cubicBezTo>
                <a:close/>
                <a:moveTo>
                  <a:pt x="100013" y="42863"/>
                </a:moveTo>
                <a:cubicBezTo>
                  <a:pt x="100013" y="34960"/>
                  <a:pt x="106397" y="28575"/>
                  <a:pt x="114300" y="28575"/>
                </a:cubicBezTo>
                <a:lnTo>
                  <a:pt x="214313" y="28575"/>
                </a:lnTo>
                <a:cubicBezTo>
                  <a:pt x="222215" y="28575"/>
                  <a:pt x="228600" y="34960"/>
                  <a:pt x="228600" y="42863"/>
                </a:cubicBezTo>
                <a:cubicBezTo>
                  <a:pt x="228600" y="50765"/>
                  <a:pt x="222215" y="57150"/>
                  <a:pt x="214313" y="57150"/>
                </a:cubicBezTo>
                <a:lnTo>
                  <a:pt x="114300" y="57150"/>
                </a:lnTo>
                <a:cubicBezTo>
                  <a:pt x="106397" y="57150"/>
                  <a:pt x="100013" y="50765"/>
                  <a:pt x="100013" y="42863"/>
                </a:cubicBezTo>
                <a:close/>
                <a:moveTo>
                  <a:pt x="100013" y="114300"/>
                </a:moveTo>
                <a:cubicBezTo>
                  <a:pt x="100013" y="106397"/>
                  <a:pt x="106397" y="100013"/>
                  <a:pt x="114300" y="100013"/>
                </a:cubicBezTo>
                <a:lnTo>
                  <a:pt x="214313" y="100013"/>
                </a:lnTo>
                <a:cubicBezTo>
                  <a:pt x="222215" y="100013"/>
                  <a:pt x="228600" y="106397"/>
                  <a:pt x="228600" y="114300"/>
                </a:cubicBezTo>
                <a:cubicBezTo>
                  <a:pt x="228600" y="122203"/>
                  <a:pt x="222215" y="128588"/>
                  <a:pt x="214313" y="128588"/>
                </a:cubicBezTo>
                <a:lnTo>
                  <a:pt x="114300" y="128588"/>
                </a:lnTo>
                <a:cubicBezTo>
                  <a:pt x="106397" y="128588"/>
                  <a:pt x="100013" y="122203"/>
                  <a:pt x="100013" y="114300"/>
                </a:cubicBezTo>
                <a:close/>
                <a:moveTo>
                  <a:pt x="71438" y="185738"/>
                </a:moveTo>
                <a:cubicBezTo>
                  <a:pt x="71438" y="177835"/>
                  <a:pt x="77822" y="171450"/>
                  <a:pt x="85725" y="171450"/>
                </a:cubicBezTo>
                <a:lnTo>
                  <a:pt x="214313" y="171450"/>
                </a:lnTo>
                <a:cubicBezTo>
                  <a:pt x="222215" y="171450"/>
                  <a:pt x="228600" y="177835"/>
                  <a:pt x="228600" y="185738"/>
                </a:cubicBezTo>
                <a:cubicBezTo>
                  <a:pt x="228600" y="193640"/>
                  <a:pt x="222215" y="200025"/>
                  <a:pt x="214313" y="200025"/>
                </a:cubicBezTo>
                <a:lnTo>
                  <a:pt x="85725" y="200025"/>
                </a:lnTo>
                <a:cubicBezTo>
                  <a:pt x="77822" y="200025"/>
                  <a:pt x="71438" y="193640"/>
                  <a:pt x="71438" y="185738"/>
                </a:cubicBezTo>
                <a:close/>
                <a:moveTo>
                  <a:pt x="28575" y="167878"/>
                </a:moveTo>
                <a:cubicBezTo>
                  <a:pt x="38432" y="167878"/>
                  <a:pt x="46434" y="175881"/>
                  <a:pt x="46434" y="185738"/>
                </a:cubicBezTo>
                <a:cubicBezTo>
                  <a:pt x="46434" y="195594"/>
                  <a:pt x="38432" y="203597"/>
                  <a:pt x="28575" y="203597"/>
                </a:cubicBezTo>
                <a:cubicBezTo>
                  <a:pt x="18718" y="203597"/>
                  <a:pt x="10716" y="195594"/>
                  <a:pt x="10716" y="185738"/>
                </a:cubicBezTo>
                <a:cubicBezTo>
                  <a:pt x="10716" y="175881"/>
                  <a:pt x="18718" y="167878"/>
                  <a:pt x="28575" y="167878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5" name="Text 3"/>
          <p:cNvSpPr/>
          <p:nvPr/>
        </p:nvSpPr>
        <p:spPr>
          <a:xfrm>
            <a:off x="781050" y="1219200"/>
            <a:ext cx="1485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训后落地练习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1676400"/>
            <a:ext cx="5581650" cy="1219200"/>
          </a:xfrm>
          <a:custGeom>
            <a:avLst/>
            <a:gdLst/>
            <a:ahLst/>
            <a:cxnLst/>
            <a:rect l="l" t="t" r="r" b="b"/>
            <a:pathLst>
              <a:path w="5581650" h="1219200">
                <a:moveTo>
                  <a:pt x="38100" y="0"/>
                </a:moveTo>
                <a:lnTo>
                  <a:pt x="5505450" y="0"/>
                </a:lnTo>
                <a:cubicBezTo>
                  <a:pt x="5547506" y="0"/>
                  <a:pt x="5581650" y="34144"/>
                  <a:pt x="5581650" y="76200"/>
                </a:cubicBezTo>
                <a:lnTo>
                  <a:pt x="5581650" y="1143000"/>
                </a:lnTo>
                <a:cubicBezTo>
                  <a:pt x="5581650" y="1185056"/>
                  <a:pt x="5547506" y="1219200"/>
                  <a:pt x="5505450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" name="Shape 5"/>
          <p:cNvSpPr/>
          <p:nvPr/>
        </p:nvSpPr>
        <p:spPr>
          <a:xfrm>
            <a:off x="400050" y="167640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8" name="Shape 6"/>
          <p:cNvSpPr/>
          <p:nvPr/>
        </p:nvSpPr>
        <p:spPr>
          <a:xfrm>
            <a:off x="609600" y="1866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9" name="Text 7"/>
          <p:cNvSpPr/>
          <p:nvPr/>
        </p:nvSpPr>
        <p:spPr>
          <a:xfrm>
            <a:off x="566738" y="1866900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1866900"/>
            <a:ext cx="47339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模拟收银操作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2209800"/>
            <a:ext cx="47244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在带教老师监督下完成3次模拟收银操作（含现金、移动支付），熟练掌握各种支付方式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0050" y="3086100"/>
            <a:ext cx="5581650" cy="971550"/>
          </a:xfrm>
          <a:custGeom>
            <a:avLst/>
            <a:gdLst/>
            <a:ahLst/>
            <a:cxnLst/>
            <a:rect l="l" t="t" r="r" b="b"/>
            <a:pathLst>
              <a:path w="5581650" h="971550">
                <a:moveTo>
                  <a:pt x="38100" y="0"/>
                </a:moveTo>
                <a:lnTo>
                  <a:pt x="5505451" y="0"/>
                </a:lnTo>
                <a:cubicBezTo>
                  <a:pt x="5547535" y="0"/>
                  <a:pt x="5581650" y="34115"/>
                  <a:pt x="5581650" y="76199"/>
                </a:cubicBezTo>
                <a:lnTo>
                  <a:pt x="5581650" y="895351"/>
                </a:lnTo>
                <a:cubicBezTo>
                  <a:pt x="5581650" y="937435"/>
                  <a:pt x="5547535" y="971550"/>
                  <a:pt x="5505451" y="971550"/>
                </a:cubicBez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3" name="Shape 11"/>
          <p:cNvSpPr/>
          <p:nvPr/>
        </p:nvSpPr>
        <p:spPr>
          <a:xfrm>
            <a:off x="400050" y="3086100"/>
            <a:ext cx="38100" cy="971550"/>
          </a:xfrm>
          <a:custGeom>
            <a:avLst/>
            <a:gdLst/>
            <a:ahLst/>
            <a:cxnLst/>
            <a:rect l="l" t="t" r="r" b="b"/>
            <a:pathLst>
              <a:path w="38100" h="971550">
                <a:moveTo>
                  <a:pt x="38100" y="0"/>
                </a:moveTo>
                <a:lnTo>
                  <a:pt x="38100" y="0"/>
                </a:lnTo>
                <a:lnTo>
                  <a:pt x="38100" y="971550"/>
                </a:ln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14" name="Shape 12"/>
          <p:cNvSpPr/>
          <p:nvPr/>
        </p:nvSpPr>
        <p:spPr>
          <a:xfrm>
            <a:off x="609600" y="3276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15" name="Text 13"/>
          <p:cNvSpPr/>
          <p:nvPr/>
        </p:nvSpPr>
        <p:spPr>
          <a:xfrm>
            <a:off x="566738" y="3276600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3276600"/>
            <a:ext cx="43529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系统查询与报表导出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3619500"/>
            <a:ext cx="43434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练习查询指定款号库存及导出当日销售报表，熟悉后台数据操作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1000" y="5467350"/>
            <a:ext cx="5600700" cy="1009650"/>
          </a:xfrm>
          <a:custGeom>
            <a:avLst/>
            <a:gdLst/>
            <a:ahLst/>
            <a:cxnLst/>
            <a:rect l="l" t="t" r="r" b="b"/>
            <a:pathLst>
              <a:path w="5600700" h="1009650">
                <a:moveTo>
                  <a:pt x="76198" y="0"/>
                </a:moveTo>
                <a:lnTo>
                  <a:pt x="5524502" y="0"/>
                </a:lnTo>
                <a:cubicBezTo>
                  <a:pt x="5566585" y="0"/>
                  <a:pt x="5600700" y="34115"/>
                  <a:pt x="5600700" y="76198"/>
                </a:cubicBezTo>
                <a:lnTo>
                  <a:pt x="5600700" y="933452"/>
                </a:lnTo>
                <a:cubicBezTo>
                  <a:pt x="5600700" y="975535"/>
                  <a:pt x="5566585" y="1009650"/>
                  <a:pt x="5524502" y="1009650"/>
                </a:cubicBezTo>
                <a:lnTo>
                  <a:pt x="76198" y="1009650"/>
                </a:lnTo>
                <a:cubicBezTo>
                  <a:pt x="34115" y="1009650"/>
                  <a:pt x="0" y="975535"/>
                  <a:pt x="0" y="93345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3A4F41">
              <a:alpha val="5098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595313" y="56959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20" name="Text 18"/>
          <p:cNvSpPr/>
          <p:nvPr/>
        </p:nvSpPr>
        <p:spPr>
          <a:xfrm>
            <a:off x="923925" y="5657850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操作要点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1500" y="6038850"/>
            <a:ext cx="52959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收银操作要求准确无误，系统查询要快速高效，注意保护顾客隐私和数据安全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67450" y="12573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9035" y="14288"/>
                </a:moveTo>
                <a:lnTo>
                  <a:pt x="142875" y="14288"/>
                </a:lnTo>
                <a:cubicBezTo>
                  <a:pt x="158636" y="14288"/>
                  <a:pt x="171450" y="27102"/>
                  <a:pt x="171450" y="42863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42863"/>
                </a:lnTo>
                <a:cubicBezTo>
                  <a:pt x="0" y="27102"/>
                  <a:pt x="12814" y="14288"/>
                  <a:pt x="28575" y="14288"/>
                </a:cubicBezTo>
                <a:lnTo>
                  <a:pt x="32415" y="14288"/>
                </a:lnTo>
                <a:cubicBezTo>
                  <a:pt x="37326" y="5760"/>
                  <a:pt x="46568" y="0"/>
                  <a:pt x="57150" y="0"/>
                </a:cubicBezTo>
                <a:lnTo>
                  <a:pt x="114300" y="0"/>
                </a:lnTo>
                <a:cubicBezTo>
                  <a:pt x="124882" y="0"/>
                  <a:pt x="134124" y="5760"/>
                  <a:pt x="139035" y="14288"/>
                </a:cubicBezTo>
                <a:close/>
                <a:moveTo>
                  <a:pt x="110728" y="50006"/>
                </a:moveTo>
                <a:cubicBezTo>
                  <a:pt x="116666" y="50006"/>
                  <a:pt x="121444" y="45229"/>
                  <a:pt x="121444" y="39291"/>
                </a:cubicBezTo>
                <a:cubicBezTo>
                  <a:pt x="121444" y="33352"/>
                  <a:pt x="116666" y="28575"/>
                  <a:pt x="110728" y="28575"/>
                </a:cubicBezTo>
                <a:lnTo>
                  <a:pt x="60722" y="28575"/>
                </a:lnTo>
                <a:cubicBezTo>
                  <a:pt x="54784" y="28575"/>
                  <a:pt x="50006" y="33352"/>
                  <a:pt x="50006" y="39291"/>
                </a:cubicBezTo>
                <a:cubicBezTo>
                  <a:pt x="50006" y="45229"/>
                  <a:pt x="54784" y="50006"/>
                  <a:pt x="60722" y="50006"/>
                </a:cubicBezTo>
                <a:lnTo>
                  <a:pt x="110728" y="50006"/>
                </a:lnTo>
                <a:close/>
                <a:moveTo>
                  <a:pt x="57150" y="114300"/>
                </a:moveTo>
                <a:cubicBezTo>
                  <a:pt x="57150" y="106415"/>
                  <a:pt x="50748" y="100013"/>
                  <a:pt x="42863" y="100013"/>
                </a:cubicBezTo>
                <a:cubicBezTo>
                  <a:pt x="34977" y="100013"/>
                  <a:pt x="28575" y="106415"/>
                  <a:pt x="28575" y="114300"/>
                </a:cubicBezTo>
                <a:cubicBezTo>
                  <a:pt x="28575" y="122185"/>
                  <a:pt x="34977" y="128588"/>
                  <a:pt x="42863" y="128588"/>
                </a:cubicBezTo>
                <a:cubicBezTo>
                  <a:pt x="50748" y="128588"/>
                  <a:pt x="57150" y="122185"/>
                  <a:pt x="57150" y="114300"/>
                </a:cubicBezTo>
                <a:close/>
                <a:moveTo>
                  <a:pt x="71438" y="114300"/>
                </a:moveTo>
                <a:cubicBezTo>
                  <a:pt x="71438" y="120238"/>
                  <a:pt x="76215" y="125016"/>
                  <a:pt x="82153" y="125016"/>
                </a:cubicBezTo>
                <a:lnTo>
                  <a:pt x="132159" y="125016"/>
                </a:lnTo>
                <a:cubicBezTo>
                  <a:pt x="138098" y="125016"/>
                  <a:pt x="142875" y="120238"/>
                  <a:pt x="142875" y="114300"/>
                </a:cubicBezTo>
                <a:cubicBezTo>
                  <a:pt x="142875" y="108362"/>
                  <a:pt x="138098" y="103584"/>
                  <a:pt x="132159" y="103584"/>
                </a:cubicBezTo>
                <a:lnTo>
                  <a:pt x="82153" y="103584"/>
                </a:lnTo>
                <a:cubicBezTo>
                  <a:pt x="76215" y="103584"/>
                  <a:pt x="71438" y="108362"/>
                  <a:pt x="71438" y="114300"/>
                </a:cubicBezTo>
                <a:close/>
                <a:moveTo>
                  <a:pt x="71438" y="171450"/>
                </a:moveTo>
                <a:cubicBezTo>
                  <a:pt x="71438" y="177388"/>
                  <a:pt x="76215" y="182166"/>
                  <a:pt x="82153" y="182166"/>
                </a:cubicBezTo>
                <a:lnTo>
                  <a:pt x="132159" y="182166"/>
                </a:lnTo>
                <a:cubicBezTo>
                  <a:pt x="138098" y="182166"/>
                  <a:pt x="142875" y="177388"/>
                  <a:pt x="142875" y="171450"/>
                </a:cubicBezTo>
                <a:cubicBezTo>
                  <a:pt x="142875" y="165512"/>
                  <a:pt x="138098" y="160734"/>
                  <a:pt x="132159" y="160734"/>
                </a:cubicBezTo>
                <a:lnTo>
                  <a:pt x="82153" y="160734"/>
                </a:lnTo>
                <a:cubicBezTo>
                  <a:pt x="76215" y="160734"/>
                  <a:pt x="71438" y="165512"/>
                  <a:pt x="71438" y="171450"/>
                </a:cubicBezTo>
                <a:close/>
                <a:moveTo>
                  <a:pt x="42863" y="185738"/>
                </a:moveTo>
                <a:cubicBezTo>
                  <a:pt x="50748" y="185738"/>
                  <a:pt x="57150" y="179335"/>
                  <a:pt x="57150" y="171450"/>
                </a:cubicBezTo>
                <a:cubicBezTo>
                  <a:pt x="57150" y="163565"/>
                  <a:pt x="50748" y="157163"/>
                  <a:pt x="42863" y="157163"/>
                </a:cubicBezTo>
                <a:cubicBezTo>
                  <a:pt x="34977" y="157163"/>
                  <a:pt x="28575" y="163565"/>
                  <a:pt x="28575" y="171450"/>
                </a:cubicBezTo>
                <a:cubicBezTo>
                  <a:pt x="28575" y="179335"/>
                  <a:pt x="34977" y="185738"/>
                  <a:pt x="42863" y="185738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23" name="Text 21"/>
          <p:cNvSpPr/>
          <p:nvPr/>
        </p:nvSpPr>
        <p:spPr>
          <a:xfrm>
            <a:off x="6610350" y="1219200"/>
            <a:ext cx="1485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阶段考核标准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10300" y="1676400"/>
            <a:ext cx="5600700" cy="4800600"/>
          </a:xfrm>
          <a:custGeom>
            <a:avLst/>
            <a:gdLst/>
            <a:ahLst/>
            <a:cxnLst/>
            <a:rect l="l" t="t" r="r" b="b"/>
            <a:pathLst>
              <a:path w="5600700" h="4800600">
                <a:moveTo>
                  <a:pt x="76186" y="0"/>
                </a:moveTo>
                <a:lnTo>
                  <a:pt x="5524514" y="0"/>
                </a:lnTo>
                <a:cubicBezTo>
                  <a:pt x="5566591" y="0"/>
                  <a:pt x="5600700" y="34109"/>
                  <a:pt x="5600700" y="76186"/>
                </a:cubicBezTo>
                <a:lnTo>
                  <a:pt x="5600700" y="4724414"/>
                </a:lnTo>
                <a:cubicBezTo>
                  <a:pt x="5600700" y="4766491"/>
                  <a:pt x="5566591" y="4800600"/>
                  <a:pt x="5524514" y="4800600"/>
                </a:cubicBezTo>
                <a:lnTo>
                  <a:pt x="76186" y="4800600"/>
                </a:lnTo>
                <a:cubicBezTo>
                  <a:pt x="34109" y="4800600"/>
                  <a:pt x="0" y="4766491"/>
                  <a:pt x="0" y="4724414"/>
                </a:cubicBezTo>
                <a:lnTo>
                  <a:pt x="0" y="76186"/>
                </a:lnTo>
                <a:cubicBezTo>
                  <a:pt x="0" y="34138"/>
                  <a:pt x="34138" y="0"/>
                  <a:pt x="76186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5" name="Shape 23"/>
          <p:cNvSpPr/>
          <p:nvPr/>
        </p:nvSpPr>
        <p:spPr>
          <a:xfrm>
            <a:off x="6210300" y="1676400"/>
            <a:ext cx="5600700" cy="838200"/>
          </a:xfrm>
          <a:custGeom>
            <a:avLst/>
            <a:gdLst/>
            <a:ahLst/>
            <a:cxnLst/>
            <a:rect l="l" t="t" r="r" b="b"/>
            <a:pathLst>
              <a:path w="5600700" h="838200">
                <a:moveTo>
                  <a:pt x="0" y="0"/>
                </a:moveTo>
                <a:lnTo>
                  <a:pt x="5600700" y="0"/>
                </a:lnTo>
                <a:lnTo>
                  <a:pt x="56007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26" name="Text 24"/>
          <p:cNvSpPr/>
          <p:nvPr/>
        </p:nvSpPr>
        <p:spPr>
          <a:xfrm>
            <a:off x="6329363" y="1828800"/>
            <a:ext cx="5362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7F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第4-6天合并考核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05550" y="2057400"/>
            <a:ext cx="5410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8F7F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收银服务环节评分标准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00800" y="2857500"/>
            <a:ext cx="5219700" cy="1828800"/>
          </a:xfrm>
          <a:custGeom>
            <a:avLst/>
            <a:gdLst/>
            <a:ahLst/>
            <a:cxnLst/>
            <a:rect l="l" t="t" r="r" b="b"/>
            <a:pathLst>
              <a:path w="5219700" h="1828800">
                <a:moveTo>
                  <a:pt x="76206" y="0"/>
                </a:moveTo>
                <a:lnTo>
                  <a:pt x="5143494" y="0"/>
                </a:lnTo>
                <a:cubicBezTo>
                  <a:pt x="5185581" y="0"/>
                  <a:pt x="5219700" y="34119"/>
                  <a:pt x="5219700" y="76206"/>
                </a:cubicBezTo>
                <a:lnTo>
                  <a:pt x="5219700" y="1752594"/>
                </a:lnTo>
                <a:cubicBezTo>
                  <a:pt x="5219700" y="1794681"/>
                  <a:pt x="5185581" y="1828800"/>
                  <a:pt x="5143494" y="1828800"/>
                </a:cubicBezTo>
                <a:lnTo>
                  <a:pt x="76206" y="1828800"/>
                </a:lnTo>
                <a:cubicBezTo>
                  <a:pt x="34119" y="1828800"/>
                  <a:pt x="0" y="1794681"/>
                  <a:pt x="0" y="175259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C47A5A">
              <a:alpha val="10196"/>
            </a:srgbClr>
          </a:solidFill>
        </p:spPr>
      </p:sp>
      <p:sp>
        <p:nvSpPr>
          <p:cNvPr id="29" name="Shape 27"/>
          <p:cNvSpPr/>
          <p:nvPr/>
        </p:nvSpPr>
        <p:spPr>
          <a:xfrm>
            <a:off x="6577013" y="30480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35719" y="0"/>
                </a:moveTo>
                <a:cubicBezTo>
                  <a:pt x="22585" y="0"/>
                  <a:pt x="11906" y="10678"/>
                  <a:pt x="11906" y="23812"/>
                </a:cubicBezTo>
                <a:cubicBezTo>
                  <a:pt x="11906" y="36947"/>
                  <a:pt x="22585" y="47625"/>
                  <a:pt x="35719" y="47625"/>
                </a:cubicBezTo>
                <a:lnTo>
                  <a:pt x="53578" y="47625"/>
                </a:lnTo>
                <a:lnTo>
                  <a:pt x="53578" y="59531"/>
                </a:lnTo>
                <a:lnTo>
                  <a:pt x="32370" y="59531"/>
                </a:lnTo>
                <a:cubicBezTo>
                  <a:pt x="20613" y="59531"/>
                  <a:pt x="10604" y="68126"/>
                  <a:pt x="8818" y="79772"/>
                </a:cubicBezTo>
                <a:lnTo>
                  <a:pt x="409" y="135471"/>
                </a:lnTo>
                <a:cubicBezTo>
                  <a:pt x="149" y="137220"/>
                  <a:pt x="0" y="139005"/>
                  <a:pt x="0" y="140791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66688" y="190500"/>
                </a:lnTo>
                <a:cubicBezTo>
                  <a:pt x="179822" y="190500"/>
                  <a:pt x="190500" y="179822"/>
                  <a:pt x="190500" y="166688"/>
                </a:cubicBezTo>
                <a:lnTo>
                  <a:pt x="190500" y="140791"/>
                </a:lnTo>
                <a:cubicBezTo>
                  <a:pt x="190500" y="139005"/>
                  <a:pt x="190351" y="137220"/>
                  <a:pt x="190091" y="135434"/>
                </a:cubicBezTo>
                <a:lnTo>
                  <a:pt x="181645" y="79772"/>
                </a:lnTo>
                <a:cubicBezTo>
                  <a:pt x="179896" y="68126"/>
                  <a:pt x="169887" y="59531"/>
                  <a:pt x="158130" y="59531"/>
                </a:cubicBezTo>
                <a:lnTo>
                  <a:pt x="77391" y="59531"/>
                </a:lnTo>
                <a:lnTo>
                  <a:pt x="77391" y="47625"/>
                </a:lnTo>
                <a:lnTo>
                  <a:pt x="95250" y="47625"/>
                </a:lnTo>
                <a:cubicBezTo>
                  <a:pt x="108384" y="47625"/>
                  <a:pt x="119063" y="36947"/>
                  <a:pt x="119063" y="23812"/>
                </a:cubicBezTo>
                <a:cubicBezTo>
                  <a:pt x="119063" y="10678"/>
                  <a:pt x="108384" y="0"/>
                  <a:pt x="95250" y="0"/>
                </a:cubicBezTo>
                <a:lnTo>
                  <a:pt x="35719" y="0"/>
                </a:lnTo>
                <a:close/>
                <a:moveTo>
                  <a:pt x="35719" y="17859"/>
                </a:moveTo>
                <a:lnTo>
                  <a:pt x="95250" y="17859"/>
                </a:lnTo>
                <a:cubicBezTo>
                  <a:pt x="98524" y="17859"/>
                  <a:pt x="101203" y="20538"/>
                  <a:pt x="101203" y="23812"/>
                </a:cubicBezTo>
                <a:cubicBezTo>
                  <a:pt x="101203" y="27087"/>
                  <a:pt x="98524" y="29766"/>
                  <a:pt x="95250" y="29766"/>
                </a:cubicBezTo>
                <a:lnTo>
                  <a:pt x="35719" y="29766"/>
                </a:lnTo>
                <a:cubicBezTo>
                  <a:pt x="32445" y="29766"/>
                  <a:pt x="29766" y="27087"/>
                  <a:pt x="29766" y="23812"/>
                </a:cubicBezTo>
                <a:cubicBezTo>
                  <a:pt x="29766" y="20538"/>
                  <a:pt x="32445" y="17859"/>
                  <a:pt x="35719" y="17859"/>
                </a:cubicBezTo>
                <a:close/>
                <a:moveTo>
                  <a:pt x="23812" y="157758"/>
                </a:moveTo>
                <a:cubicBezTo>
                  <a:pt x="23812" y="152809"/>
                  <a:pt x="27794" y="148828"/>
                  <a:pt x="32742" y="148828"/>
                </a:cubicBezTo>
                <a:lnTo>
                  <a:pt x="157758" y="148828"/>
                </a:lnTo>
                <a:cubicBezTo>
                  <a:pt x="162706" y="148828"/>
                  <a:pt x="166688" y="152809"/>
                  <a:pt x="166688" y="157758"/>
                </a:cubicBezTo>
                <a:cubicBezTo>
                  <a:pt x="166688" y="162706"/>
                  <a:pt x="162706" y="166688"/>
                  <a:pt x="157758" y="166688"/>
                </a:cubicBezTo>
                <a:lnTo>
                  <a:pt x="32742" y="166688"/>
                </a:lnTo>
                <a:cubicBezTo>
                  <a:pt x="27794" y="166688"/>
                  <a:pt x="23812" y="162706"/>
                  <a:pt x="23812" y="157758"/>
                </a:cubicBezTo>
                <a:close/>
                <a:moveTo>
                  <a:pt x="41672" y="98227"/>
                </a:moveTo>
                <a:cubicBezTo>
                  <a:pt x="36743" y="98227"/>
                  <a:pt x="32742" y="94225"/>
                  <a:pt x="32742" y="89297"/>
                </a:cubicBezTo>
                <a:cubicBezTo>
                  <a:pt x="32742" y="84368"/>
                  <a:pt x="36743" y="80367"/>
                  <a:pt x="41672" y="80367"/>
                </a:cubicBezTo>
                <a:cubicBezTo>
                  <a:pt x="46600" y="80367"/>
                  <a:pt x="50602" y="84368"/>
                  <a:pt x="50602" y="89297"/>
                </a:cubicBezTo>
                <a:cubicBezTo>
                  <a:pt x="50602" y="94225"/>
                  <a:pt x="46600" y="98227"/>
                  <a:pt x="41672" y="98227"/>
                </a:cubicBezTo>
                <a:close/>
                <a:moveTo>
                  <a:pt x="86320" y="89297"/>
                </a:moveTo>
                <a:cubicBezTo>
                  <a:pt x="86320" y="94225"/>
                  <a:pt x="82319" y="98227"/>
                  <a:pt x="77391" y="98227"/>
                </a:cubicBezTo>
                <a:cubicBezTo>
                  <a:pt x="72462" y="98227"/>
                  <a:pt x="68461" y="94225"/>
                  <a:pt x="68461" y="89297"/>
                </a:cubicBezTo>
                <a:cubicBezTo>
                  <a:pt x="68461" y="84368"/>
                  <a:pt x="72462" y="80367"/>
                  <a:pt x="77391" y="80367"/>
                </a:cubicBezTo>
                <a:cubicBezTo>
                  <a:pt x="82319" y="80367"/>
                  <a:pt x="86320" y="84368"/>
                  <a:pt x="86320" y="89297"/>
                </a:cubicBezTo>
                <a:close/>
                <a:moveTo>
                  <a:pt x="59531" y="127992"/>
                </a:moveTo>
                <a:cubicBezTo>
                  <a:pt x="54603" y="127992"/>
                  <a:pt x="50602" y="123991"/>
                  <a:pt x="50602" y="119063"/>
                </a:cubicBezTo>
                <a:cubicBezTo>
                  <a:pt x="50602" y="114134"/>
                  <a:pt x="54603" y="110133"/>
                  <a:pt x="59531" y="110133"/>
                </a:cubicBezTo>
                <a:cubicBezTo>
                  <a:pt x="64460" y="110133"/>
                  <a:pt x="68461" y="114134"/>
                  <a:pt x="68461" y="119063"/>
                </a:cubicBezTo>
                <a:cubicBezTo>
                  <a:pt x="68461" y="123991"/>
                  <a:pt x="64460" y="127992"/>
                  <a:pt x="59531" y="127992"/>
                </a:cubicBezTo>
                <a:close/>
                <a:moveTo>
                  <a:pt x="122039" y="89297"/>
                </a:moveTo>
                <a:cubicBezTo>
                  <a:pt x="122039" y="94225"/>
                  <a:pt x="118038" y="98227"/>
                  <a:pt x="113109" y="98227"/>
                </a:cubicBezTo>
                <a:cubicBezTo>
                  <a:pt x="108181" y="98227"/>
                  <a:pt x="104180" y="94225"/>
                  <a:pt x="104180" y="89297"/>
                </a:cubicBezTo>
                <a:cubicBezTo>
                  <a:pt x="104180" y="84368"/>
                  <a:pt x="108181" y="80367"/>
                  <a:pt x="113109" y="80367"/>
                </a:cubicBezTo>
                <a:cubicBezTo>
                  <a:pt x="118038" y="80367"/>
                  <a:pt x="122039" y="84368"/>
                  <a:pt x="122039" y="89297"/>
                </a:cubicBezTo>
                <a:close/>
                <a:moveTo>
                  <a:pt x="95250" y="127992"/>
                </a:moveTo>
                <a:cubicBezTo>
                  <a:pt x="90322" y="127992"/>
                  <a:pt x="86320" y="123991"/>
                  <a:pt x="86320" y="119063"/>
                </a:cubicBezTo>
                <a:cubicBezTo>
                  <a:pt x="86320" y="114134"/>
                  <a:pt x="90322" y="110133"/>
                  <a:pt x="95250" y="110133"/>
                </a:cubicBezTo>
                <a:cubicBezTo>
                  <a:pt x="100178" y="110133"/>
                  <a:pt x="104180" y="114134"/>
                  <a:pt x="104180" y="119063"/>
                </a:cubicBezTo>
                <a:cubicBezTo>
                  <a:pt x="104180" y="123991"/>
                  <a:pt x="100178" y="127992"/>
                  <a:pt x="95250" y="127992"/>
                </a:cubicBezTo>
                <a:close/>
                <a:moveTo>
                  <a:pt x="157758" y="89297"/>
                </a:moveTo>
                <a:cubicBezTo>
                  <a:pt x="157758" y="94225"/>
                  <a:pt x="153757" y="98227"/>
                  <a:pt x="148828" y="98227"/>
                </a:cubicBezTo>
                <a:cubicBezTo>
                  <a:pt x="143900" y="98227"/>
                  <a:pt x="139898" y="94225"/>
                  <a:pt x="139898" y="89297"/>
                </a:cubicBezTo>
                <a:cubicBezTo>
                  <a:pt x="139898" y="84368"/>
                  <a:pt x="143900" y="80367"/>
                  <a:pt x="148828" y="80367"/>
                </a:cubicBezTo>
                <a:cubicBezTo>
                  <a:pt x="153757" y="80367"/>
                  <a:pt x="157758" y="84368"/>
                  <a:pt x="157758" y="89297"/>
                </a:cubicBezTo>
                <a:close/>
                <a:moveTo>
                  <a:pt x="130969" y="127992"/>
                </a:moveTo>
                <a:cubicBezTo>
                  <a:pt x="126040" y="127992"/>
                  <a:pt x="122039" y="123991"/>
                  <a:pt x="122039" y="119063"/>
                </a:cubicBezTo>
                <a:cubicBezTo>
                  <a:pt x="122039" y="114134"/>
                  <a:pt x="126040" y="110133"/>
                  <a:pt x="130969" y="110133"/>
                </a:cubicBezTo>
                <a:cubicBezTo>
                  <a:pt x="135897" y="110133"/>
                  <a:pt x="139898" y="114134"/>
                  <a:pt x="139898" y="119063"/>
                </a:cubicBezTo>
                <a:cubicBezTo>
                  <a:pt x="139898" y="123991"/>
                  <a:pt x="135897" y="127992"/>
                  <a:pt x="130969" y="127992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30" name="Text 28"/>
          <p:cNvSpPr/>
          <p:nvPr/>
        </p:nvSpPr>
        <p:spPr>
          <a:xfrm>
            <a:off x="6905625" y="3009900"/>
            <a:ext cx="21717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收银服务环节实操（20分）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580584" y="34290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32" name="Text 30"/>
          <p:cNvSpPr/>
          <p:nvPr/>
        </p:nvSpPr>
        <p:spPr>
          <a:xfrm>
            <a:off x="6796088" y="3390900"/>
            <a:ext cx="1752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准确快速完成收银全流程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580584" y="37338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34" name="Text 32"/>
          <p:cNvSpPr/>
          <p:nvPr/>
        </p:nvSpPr>
        <p:spPr>
          <a:xfrm>
            <a:off x="6796088" y="3695700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无操作失误，包括金额输入、找零等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580584" y="40386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36" name="Text 34"/>
          <p:cNvSpPr/>
          <p:nvPr/>
        </p:nvSpPr>
        <p:spPr>
          <a:xfrm>
            <a:off x="6796088" y="4000500"/>
            <a:ext cx="3124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熟练掌握现金、微信、支付宝等多种支付方式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580584" y="43434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38" name="Text 36"/>
          <p:cNvSpPr/>
          <p:nvPr/>
        </p:nvSpPr>
        <p:spPr>
          <a:xfrm>
            <a:off x="6796088" y="4305300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正确处理退换货和异常情况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00800" y="4914900"/>
            <a:ext cx="5219700" cy="1219200"/>
          </a:xfrm>
          <a:custGeom>
            <a:avLst/>
            <a:gdLst/>
            <a:ahLst/>
            <a:cxnLst/>
            <a:rect l="l" t="t" r="r" b="b"/>
            <a:pathLst>
              <a:path w="5219700" h="1219200">
                <a:moveTo>
                  <a:pt x="76200" y="0"/>
                </a:moveTo>
                <a:lnTo>
                  <a:pt x="5143500" y="0"/>
                </a:lnTo>
                <a:cubicBezTo>
                  <a:pt x="5185556" y="0"/>
                  <a:pt x="5219700" y="34144"/>
                  <a:pt x="5219700" y="76200"/>
                </a:cubicBezTo>
                <a:lnTo>
                  <a:pt x="5219700" y="1143000"/>
                </a:lnTo>
                <a:cubicBezTo>
                  <a:pt x="5219700" y="1185056"/>
                  <a:pt x="5185556" y="1219200"/>
                  <a:pt x="5143500" y="1219200"/>
                </a:cubicBezTo>
                <a:lnTo>
                  <a:pt x="76200" y="1219200"/>
                </a:lnTo>
                <a:cubicBezTo>
                  <a:pt x="34144" y="1219200"/>
                  <a:pt x="0" y="1185056"/>
                  <a:pt x="0" y="11430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A4F41">
              <a:alpha val="5098"/>
            </a:srgbClr>
          </a:solidFill>
        </p:spPr>
      </p:sp>
      <p:sp>
        <p:nvSpPr>
          <p:cNvPr id="40" name="Shape 38"/>
          <p:cNvSpPr/>
          <p:nvPr/>
        </p:nvSpPr>
        <p:spPr>
          <a:xfrm>
            <a:off x="6588919" y="51054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41" name="Text 39"/>
          <p:cNvSpPr/>
          <p:nvPr/>
        </p:nvSpPr>
        <p:spPr>
          <a:xfrm>
            <a:off x="6905625" y="5067300"/>
            <a:ext cx="23431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系统查询及报表导出（15分）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580584" y="54864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43" name="Text 41"/>
          <p:cNvSpPr/>
          <p:nvPr/>
        </p:nvSpPr>
        <p:spPr>
          <a:xfrm>
            <a:off x="6796088" y="5448300"/>
            <a:ext cx="2667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独立查询库存并导出指定日期销售报表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580584" y="57912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45" name="Text 43"/>
          <p:cNvSpPr/>
          <p:nvPr/>
        </p:nvSpPr>
        <p:spPr>
          <a:xfrm>
            <a:off x="6796088" y="5753100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准确理解报表数据含义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yyasw4ib73lsu/day6_inventory.jpg"/>
          <p:cNvPicPr>
            <a:picLocks noChangeAspect="1"/>
          </p:cNvPicPr>
          <p:nvPr/>
        </p:nvPicPr>
        <p:blipFill>
          <a:blip r:embed="rId1"/>
          <a:srcRect t="781" b="781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A4F41">
                  <a:alpha val="90000"/>
                </a:srgbClr>
              </a:gs>
              <a:gs pos="50000">
                <a:srgbClr val="3A4F41">
                  <a:alpha val="70000"/>
                </a:srgbClr>
              </a:gs>
              <a:gs pos="100000">
                <a:srgbClr val="3A4F41">
                  <a:alpha val="90000"/>
                </a:srgbClr>
              </a:gs>
            </a:gsLst>
            <a:lin ang="5400000" scaled="1"/>
          </a:gradFill>
        </p:spPr>
      </p:sp>
      <p:sp>
        <p:nvSpPr>
          <p:cNvPr id="4" name="Text 1"/>
          <p:cNvSpPr/>
          <p:nvPr/>
        </p:nvSpPr>
        <p:spPr>
          <a:xfrm>
            <a:off x="4772025" y="2190750"/>
            <a:ext cx="26479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kern="0" spc="360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06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638675" y="2647950"/>
            <a:ext cx="291465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F8F7F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第6天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0" y="356235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7" name="Text 4"/>
          <p:cNvSpPr/>
          <p:nvPr/>
        </p:nvSpPr>
        <p:spPr>
          <a:xfrm>
            <a:off x="4738688" y="3905250"/>
            <a:ext cx="27146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F8F7F5">
                    <a:alpha val="9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商品管理与促成交易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762500" y="4400550"/>
            <a:ext cx="26670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8F7F5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规范商品管理 · 精通成交技巧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10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06 · OBJECTIVES &amp; CONTENT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教学目标与教学内容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9575" y="1219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5" name="Text 3"/>
          <p:cNvSpPr/>
          <p:nvPr/>
        </p:nvSpPr>
        <p:spPr>
          <a:xfrm>
            <a:off x="781050" y="1181100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教学目标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638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7" name="Text 5"/>
          <p:cNvSpPr/>
          <p:nvPr/>
        </p:nvSpPr>
        <p:spPr>
          <a:xfrm>
            <a:off x="338138" y="1638300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638300"/>
            <a:ext cx="23717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掌握店铺来货处理方法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1943100"/>
            <a:ext cx="23622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掌握店铺来货处理方法及标准流程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1000" y="24288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11" name="Text 9"/>
          <p:cNvSpPr/>
          <p:nvPr/>
        </p:nvSpPr>
        <p:spPr>
          <a:xfrm>
            <a:off x="338138" y="2428875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2428875"/>
            <a:ext cx="25812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熟悉调拨/退仓流程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2733675"/>
            <a:ext cx="257175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熟悉店铺调拨/退仓流程及易错注意点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1000" y="32194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15" name="Text 13"/>
          <p:cNvSpPr/>
          <p:nvPr/>
        </p:nvSpPr>
        <p:spPr>
          <a:xfrm>
            <a:off x="338138" y="3219450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3219450"/>
            <a:ext cx="2676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掌握库房盘点方法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3524250"/>
            <a:ext cx="26670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掌握库房盘点方法、流程及盘点器使用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1000" y="40100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19" name="Text 17"/>
          <p:cNvSpPr/>
          <p:nvPr/>
        </p:nvSpPr>
        <p:spPr>
          <a:xfrm>
            <a:off x="338138" y="4010025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4010025"/>
            <a:ext cx="23717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精通促成交易环节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" y="4314825"/>
            <a:ext cx="23622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精通促成交易环节重点及标准话术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1000" y="4800600"/>
            <a:ext cx="5600700" cy="1676400"/>
          </a:xfrm>
          <a:custGeom>
            <a:avLst/>
            <a:gdLst/>
            <a:ahLst/>
            <a:cxnLst/>
            <a:rect l="l" t="t" r="r" b="b"/>
            <a:pathLst>
              <a:path w="5600700" h="1676400">
                <a:moveTo>
                  <a:pt x="76192" y="0"/>
                </a:moveTo>
                <a:lnTo>
                  <a:pt x="5524508" y="0"/>
                </a:lnTo>
                <a:cubicBezTo>
                  <a:pt x="5566588" y="0"/>
                  <a:pt x="5600700" y="34112"/>
                  <a:pt x="5600700" y="76192"/>
                </a:cubicBezTo>
                <a:lnTo>
                  <a:pt x="5600700" y="1600208"/>
                </a:lnTo>
                <a:cubicBezTo>
                  <a:pt x="5600700" y="1642288"/>
                  <a:pt x="5566588" y="1676400"/>
                  <a:pt x="5524508" y="1676400"/>
                </a:cubicBezTo>
                <a:lnTo>
                  <a:pt x="76192" y="1676400"/>
                </a:lnTo>
                <a:cubicBezTo>
                  <a:pt x="34112" y="1676400"/>
                  <a:pt x="0" y="1642288"/>
                  <a:pt x="0" y="160020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3A4F41">
              <a:alpha val="5098"/>
            </a:srgbClr>
          </a:solidFill>
        </p:spPr>
      </p:sp>
      <p:sp>
        <p:nvSpPr>
          <p:cNvPr id="23" name="Shape 21"/>
          <p:cNvSpPr/>
          <p:nvPr/>
        </p:nvSpPr>
        <p:spPr>
          <a:xfrm>
            <a:off x="546497" y="50006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75043" y="32515"/>
                </a:moveTo>
                <a:lnTo>
                  <a:pt x="75043" y="49124"/>
                </a:lnTo>
                <a:lnTo>
                  <a:pt x="75210" y="49292"/>
                </a:lnTo>
                <a:cubicBezTo>
                  <a:pt x="77387" y="21699"/>
                  <a:pt x="100459" y="0"/>
                  <a:pt x="128621" y="0"/>
                </a:cubicBezTo>
                <a:cubicBezTo>
                  <a:pt x="135352" y="0"/>
                  <a:pt x="141815" y="1239"/>
                  <a:pt x="147742" y="3516"/>
                </a:cubicBezTo>
                <a:cubicBezTo>
                  <a:pt x="151090" y="4789"/>
                  <a:pt x="151693" y="9041"/>
                  <a:pt x="149182" y="11586"/>
                </a:cubicBezTo>
                <a:lnTo>
                  <a:pt x="119479" y="41289"/>
                </a:lnTo>
                <a:cubicBezTo>
                  <a:pt x="118475" y="42293"/>
                  <a:pt x="117905" y="43666"/>
                  <a:pt x="117905" y="45073"/>
                </a:cubicBezTo>
                <a:lnTo>
                  <a:pt x="117905" y="58936"/>
                </a:lnTo>
                <a:cubicBezTo>
                  <a:pt x="117905" y="61883"/>
                  <a:pt x="120316" y="64294"/>
                  <a:pt x="123263" y="64294"/>
                </a:cubicBezTo>
                <a:lnTo>
                  <a:pt x="137127" y="64294"/>
                </a:lnTo>
                <a:cubicBezTo>
                  <a:pt x="138533" y="64294"/>
                  <a:pt x="139906" y="63724"/>
                  <a:pt x="140910" y="62720"/>
                </a:cubicBezTo>
                <a:lnTo>
                  <a:pt x="170613" y="33018"/>
                </a:lnTo>
                <a:cubicBezTo>
                  <a:pt x="173158" y="30473"/>
                  <a:pt x="177411" y="31109"/>
                  <a:pt x="178683" y="34457"/>
                </a:cubicBezTo>
                <a:cubicBezTo>
                  <a:pt x="180960" y="40385"/>
                  <a:pt x="182199" y="46847"/>
                  <a:pt x="182199" y="53578"/>
                </a:cubicBezTo>
                <a:cubicBezTo>
                  <a:pt x="182199" y="73871"/>
                  <a:pt x="170914" y="91552"/>
                  <a:pt x="154238" y="100626"/>
                </a:cubicBezTo>
                <a:lnTo>
                  <a:pt x="181529" y="127918"/>
                </a:lnTo>
                <a:cubicBezTo>
                  <a:pt x="187791" y="134180"/>
                  <a:pt x="187791" y="144360"/>
                  <a:pt x="181529" y="150655"/>
                </a:cubicBezTo>
                <a:lnTo>
                  <a:pt x="161404" y="170780"/>
                </a:lnTo>
                <a:cubicBezTo>
                  <a:pt x="155142" y="177042"/>
                  <a:pt x="144962" y="177042"/>
                  <a:pt x="138667" y="170780"/>
                </a:cubicBezTo>
                <a:lnTo>
                  <a:pt x="96474" y="128588"/>
                </a:lnTo>
                <a:cubicBezTo>
                  <a:pt x="87299" y="119412"/>
                  <a:pt x="85223" y="105850"/>
                  <a:pt x="90279" y="94666"/>
                </a:cubicBezTo>
                <a:lnTo>
                  <a:pt x="59907" y="64294"/>
                </a:lnTo>
                <a:lnTo>
                  <a:pt x="43298" y="64294"/>
                </a:lnTo>
                <a:cubicBezTo>
                  <a:pt x="39715" y="64294"/>
                  <a:pt x="36366" y="62519"/>
                  <a:pt x="34390" y="59539"/>
                </a:cubicBezTo>
                <a:lnTo>
                  <a:pt x="7836" y="19723"/>
                </a:lnTo>
                <a:cubicBezTo>
                  <a:pt x="6429" y="17614"/>
                  <a:pt x="6697" y="14767"/>
                  <a:pt x="8506" y="12959"/>
                </a:cubicBezTo>
                <a:lnTo>
                  <a:pt x="23708" y="-2244"/>
                </a:lnTo>
                <a:cubicBezTo>
                  <a:pt x="25517" y="-4052"/>
                  <a:pt x="28329" y="-4320"/>
                  <a:pt x="30473" y="-2913"/>
                </a:cubicBezTo>
                <a:lnTo>
                  <a:pt x="70288" y="23608"/>
                </a:lnTo>
                <a:cubicBezTo>
                  <a:pt x="73268" y="25584"/>
                  <a:pt x="75043" y="28932"/>
                  <a:pt x="75043" y="32515"/>
                </a:cubicBezTo>
                <a:close/>
                <a:moveTo>
                  <a:pt x="72197" y="99320"/>
                </a:moveTo>
                <a:cubicBezTo>
                  <a:pt x="70087" y="111710"/>
                  <a:pt x="73000" y="124804"/>
                  <a:pt x="81037" y="135285"/>
                </a:cubicBezTo>
                <a:lnTo>
                  <a:pt x="49225" y="167063"/>
                </a:lnTo>
                <a:cubicBezTo>
                  <a:pt x="39815" y="176473"/>
                  <a:pt x="24545" y="176473"/>
                  <a:pt x="15136" y="167063"/>
                </a:cubicBezTo>
                <a:cubicBezTo>
                  <a:pt x="5726" y="157654"/>
                  <a:pt x="5726" y="142384"/>
                  <a:pt x="15136" y="132974"/>
                </a:cubicBezTo>
                <a:lnTo>
                  <a:pt x="60476" y="87634"/>
                </a:lnTo>
                <a:lnTo>
                  <a:pt x="72197" y="99354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24" name="Text 22"/>
          <p:cNvSpPr/>
          <p:nvPr/>
        </p:nvSpPr>
        <p:spPr>
          <a:xfrm>
            <a:off x="862013" y="4953000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训前准备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3400" y="5295900"/>
            <a:ext cx="5372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准备来货包裹样本（或照片）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3400" y="5562600"/>
            <a:ext cx="5372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准备调拨单、退仓单模板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3400" y="5829300"/>
            <a:ext cx="5372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准备盘点器设备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3400" y="6096000"/>
            <a:ext cx="5372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准备促成交易话术卡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38875" y="1219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63088"/>
                </a:moveTo>
                <a:lnTo>
                  <a:pt x="114300" y="201186"/>
                </a:lnTo>
                <a:lnTo>
                  <a:pt x="114523" y="201097"/>
                </a:lnTo>
                <a:cubicBezTo>
                  <a:pt x="138901" y="190961"/>
                  <a:pt x="165065" y="185738"/>
                  <a:pt x="191453" y="185738"/>
                </a:cubicBezTo>
                <a:lnTo>
                  <a:pt x="200025" y="185738"/>
                </a:lnTo>
                <a:lnTo>
                  <a:pt x="200025" y="42863"/>
                </a:lnTo>
                <a:lnTo>
                  <a:pt x="191453" y="42863"/>
                </a:lnTo>
                <a:cubicBezTo>
                  <a:pt x="172611" y="42863"/>
                  <a:pt x="153903" y="46613"/>
                  <a:pt x="136490" y="53846"/>
                </a:cubicBezTo>
                <a:cubicBezTo>
                  <a:pt x="128989" y="56971"/>
                  <a:pt x="121578" y="60052"/>
                  <a:pt x="114300" y="63088"/>
                </a:cubicBezTo>
                <a:close/>
                <a:moveTo>
                  <a:pt x="103093" y="27459"/>
                </a:moveTo>
                <a:lnTo>
                  <a:pt x="114300" y="32147"/>
                </a:lnTo>
                <a:lnTo>
                  <a:pt x="125507" y="27459"/>
                </a:lnTo>
                <a:cubicBezTo>
                  <a:pt x="146402" y="18752"/>
                  <a:pt x="168816" y="14288"/>
                  <a:pt x="191453" y="14288"/>
                </a:cubicBezTo>
                <a:lnTo>
                  <a:pt x="207169" y="14288"/>
                </a:lnTo>
                <a:cubicBezTo>
                  <a:pt x="219001" y="14288"/>
                  <a:pt x="228600" y="23887"/>
                  <a:pt x="228600" y="35719"/>
                </a:cubicBezTo>
                <a:lnTo>
                  <a:pt x="228600" y="192881"/>
                </a:lnTo>
                <a:cubicBezTo>
                  <a:pt x="228600" y="204713"/>
                  <a:pt x="219001" y="214313"/>
                  <a:pt x="207169" y="214313"/>
                </a:cubicBezTo>
                <a:lnTo>
                  <a:pt x="191453" y="214313"/>
                </a:lnTo>
                <a:cubicBezTo>
                  <a:pt x="168816" y="214313"/>
                  <a:pt x="146402" y="218777"/>
                  <a:pt x="125507" y="227484"/>
                </a:cubicBezTo>
                <a:lnTo>
                  <a:pt x="119792" y="229850"/>
                </a:lnTo>
                <a:cubicBezTo>
                  <a:pt x="116265" y="231324"/>
                  <a:pt x="112335" y="231324"/>
                  <a:pt x="108808" y="229850"/>
                </a:cubicBezTo>
                <a:lnTo>
                  <a:pt x="103093" y="227484"/>
                </a:lnTo>
                <a:cubicBezTo>
                  <a:pt x="82198" y="218777"/>
                  <a:pt x="59784" y="214313"/>
                  <a:pt x="37148" y="214313"/>
                </a:cubicBezTo>
                <a:lnTo>
                  <a:pt x="21431" y="214313"/>
                </a:lnTo>
                <a:cubicBezTo>
                  <a:pt x="9599" y="214313"/>
                  <a:pt x="0" y="204713"/>
                  <a:pt x="0" y="192881"/>
                </a:cubicBezTo>
                <a:lnTo>
                  <a:pt x="0" y="35719"/>
                </a:lnTo>
                <a:cubicBezTo>
                  <a:pt x="0" y="23887"/>
                  <a:pt x="9599" y="14288"/>
                  <a:pt x="21431" y="14288"/>
                </a:cubicBezTo>
                <a:lnTo>
                  <a:pt x="37148" y="14288"/>
                </a:lnTo>
                <a:cubicBezTo>
                  <a:pt x="59784" y="14288"/>
                  <a:pt x="82198" y="18752"/>
                  <a:pt x="103093" y="27459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30" name="Text 28"/>
          <p:cNvSpPr/>
          <p:nvPr/>
        </p:nvSpPr>
        <p:spPr>
          <a:xfrm>
            <a:off x="6610350" y="1181100"/>
            <a:ext cx="17145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分模块教学内容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575032" y="1219200"/>
            <a:ext cx="1314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总计时长：80分钟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10300" y="17145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33" name="Text 31"/>
          <p:cNvSpPr/>
          <p:nvPr/>
        </p:nvSpPr>
        <p:spPr>
          <a:xfrm>
            <a:off x="6400800" y="1638300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收货管理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399044" y="1676400"/>
            <a:ext cx="476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15min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00800" y="1943100"/>
            <a:ext cx="54864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掌握店铺来货处理方法及流程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210300" y="26670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37" name="Text 35"/>
          <p:cNvSpPr/>
          <p:nvPr/>
        </p:nvSpPr>
        <p:spPr>
          <a:xfrm>
            <a:off x="6400800" y="2590800"/>
            <a:ext cx="8382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调拨/退仓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399044" y="2628900"/>
            <a:ext cx="476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20min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00800" y="2895600"/>
            <a:ext cx="54864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介绍店铺基本调拨/退仓流程以及易错注意点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210300" y="36195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41" name="Text 39"/>
          <p:cNvSpPr/>
          <p:nvPr/>
        </p:nvSpPr>
        <p:spPr>
          <a:xfrm>
            <a:off x="6400800" y="3543300"/>
            <a:ext cx="4286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盘点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1399044" y="3581400"/>
            <a:ext cx="476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15min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00800" y="3848100"/>
            <a:ext cx="54864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熟悉库房盘点方法及流程，盘点器的使用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210300" y="45720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45" name="Text 43"/>
          <p:cNvSpPr/>
          <p:nvPr/>
        </p:nvSpPr>
        <p:spPr>
          <a:xfrm>
            <a:off x="6400800" y="4495800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促成交易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1399044" y="4533900"/>
            <a:ext cx="476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30min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400800" y="4800600"/>
            <a:ext cx="54864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讲解促成交易环节的重点及易错点；训后练习促成交易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210300" y="5600700"/>
            <a:ext cx="5600700" cy="876300"/>
          </a:xfrm>
          <a:custGeom>
            <a:avLst/>
            <a:gdLst/>
            <a:ahLst/>
            <a:cxnLst/>
            <a:rect l="l" t="t" r="r" b="b"/>
            <a:pathLst>
              <a:path w="5600700" h="876300">
                <a:moveTo>
                  <a:pt x="76203" y="0"/>
                </a:moveTo>
                <a:lnTo>
                  <a:pt x="5524497" y="0"/>
                </a:lnTo>
                <a:cubicBezTo>
                  <a:pt x="5566583" y="0"/>
                  <a:pt x="5600700" y="34117"/>
                  <a:pt x="5600700" y="76203"/>
                </a:cubicBezTo>
                <a:lnTo>
                  <a:pt x="5600700" y="800097"/>
                </a:lnTo>
                <a:cubicBezTo>
                  <a:pt x="5600700" y="842183"/>
                  <a:pt x="5566583" y="876300"/>
                  <a:pt x="5524497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C47A5A">
              <a:alpha val="10196"/>
            </a:srgbClr>
          </a:solidFill>
        </p:spPr>
      </p:sp>
      <p:sp>
        <p:nvSpPr>
          <p:cNvPr id="49" name="Shape 47"/>
          <p:cNvSpPr/>
          <p:nvPr/>
        </p:nvSpPr>
        <p:spPr>
          <a:xfrm>
            <a:off x="6386513" y="58007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75009" y="53578"/>
                </a:moveTo>
                <a:cubicBezTo>
                  <a:pt x="75009" y="47664"/>
                  <a:pt x="79811" y="42863"/>
                  <a:pt x="85725" y="42863"/>
                </a:cubicBezTo>
                <a:cubicBezTo>
                  <a:pt x="91639" y="42863"/>
                  <a:pt x="96441" y="47664"/>
                  <a:pt x="96441" y="53578"/>
                </a:cubicBezTo>
                <a:cubicBezTo>
                  <a:pt x="96441" y="59492"/>
                  <a:pt x="91639" y="64294"/>
                  <a:pt x="85725" y="64294"/>
                </a:cubicBezTo>
                <a:cubicBezTo>
                  <a:pt x="79811" y="64294"/>
                  <a:pt x="75009" y="59492"/>
                  <a:pt x="75009" y="53578"/>
                </a:cubicBezTo>
                <a:close/>
                <a:moveTo>
                  <a:pt x="72330" y="75009"/>
                </a:moveTo>
                <a:lnTo>
                  <a:pt x="88404" y="75009"/>
                </a:lnTo>
                <a:cubicBezTo>
                  <a:pt x="92858" y="75009"/>
                  <a:pt x="96441" y="78592"/>
                  <a:pt x="96441" y="83046"/>
                </a:cubicBezTo>
                <a:lnTo>
                  <a:pt x="96441" y="112514"/>
                </a:lnTo>
                <a:lnTo>
                  <a:pt x="99120" y="112514"/>
                </a:lnTo>
                <a:cubicBezTo>
                  <a:pt x="103573" y="112514"/>
                  <a:pt x="107156" y="116097"/>
                  <a:pt x="107156" y="120551"/>
                </a:cubicBezTo>
                <a:cubicBezTo>
                  <a:pt x="107156" y="125004"/>
                  <a:pt x="103573" y="128588"/>
                  <a:pt x="99120" y="128588"/>
                </a:cubicBezTo>
                <a:lnTo>
                  <a:pt x="72330" y="128588"/>
                </a:lnTo>
                <a:cubicBezTo>
                  <a:pt x="67877" y="128588"/>
                  <a:pt x="64294" y="125004"/>
                  <a:pt x="64294" y="120551"/>
                </a:cubicBezTo>
                <a:cubicBezTo>
                  <a:pt x="64294" y="116097"/>
                  <a:pt x="67877" y="112514"/>
                  <a:pt x="72330" y="112514"/>
                </a:cubicBezTo>
                <a:lnTo>
                  <a:pt x="80367" y="112514"/>
                </a:lnTo>
                <a:lnTo>
                  <a:pt x="80367" y="91083"/>
                </a:lnTo>
                <a:lnTo>
                  <a:pt x="72330" y="91083"/>
                </a:lnTo>
                <a:cubicBezTo>
                  <a:pt x="67877" y="91083"/>
                  <a:pt x="64294" y="87500"/>
                  <a:pt x="64294" y="83046"/>
                </a:cubicBezTo>
                <a:cubicBezTo>
                  <a:pt x="64294" y="78592"/>
                  <a:pt x="67877" y="75009"/>
                  <a:pt x="72330" y="75009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50" name="Text 48"/>
          <p:cNvSpPr/>
          <p:nvPr/>
        </p:nvSpPr>
        <p:spPr>
          <a:xfrm>
            <a:off x="6691313" y="5753100"/>
            <a:ext cx="11144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阶段考核提醒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362700" y="6096000"/>
            <a:ext cx="5372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第4-6天为一个阶段，今天将进行综合考核，请做好准备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10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06 · PRACTICE &amp; ASSESSMENT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训后练习与阶段考核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9575" y="1257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9740" y="16207"/>
                </a:moveTo>
                <a:cubicBezTo>
                  <a:pt x="64606" y="19601"/>
                  <a:pt x="65767" y="26298"/>
                  <a:pt x="62374" y="31120"/>
                </a:cubicBezTo>
                <a:lnTo>
                  <a:pt x="37371" y="66839"/>
                </a:lnTo>
                <a:cubicBezTo>
                  <a:pt x="35540" y="69428"/>
                  <a:pt x="32683" y="71080"/>
                  <a:pt x="29513" y="71348"/>
                </a:cubicBezTo>
                <a:cubicBezTo>
                  <a:pt x="26343" y="71616"/>
                  <a:pt x="23217" y="70545"/>
                  <a:pt x="20985" y="68312"/>
                </a:cubicBezTo>
                <a:lnTo>
                  <a:pt x="3125" y="50453"/>
                </a:lnTo>
                <a:cubicBezTo>
                  <a:pt x="-1027" y="46256"/>
                  <a:pt x="-1027" y="39469"/>
                  <a:pt x="3125" y="35272"/>
                </a:cubicBezTo>
                <a:cubicBezTo>
                  <a:pt x="7278" y="31075"/>
                  <a:pt x="14109" y="31120"/>
                  <a:pt x="18306" y="35272"/>
                </a:cubicBezTo>
                <a:lnTo>
                  <a:pt x="27146" y="44113"/>
                </a:lnTo>
                <a:lnTo>
                  <a:pt x="44827" y="18842"/>
                </a:lnTo>
                <a:cubicBezTo>
                  <a:pt x="48220" y="13975"/>
                  <a:pt x="54918" y="12814"/>
                  <a:pt x="59740" y="16207"/>
                </a:cubicBezTo>
                <a:close/>
                <a:moveTo>
                  <a:pt x="59740" y="87645"/>
                </a:moveTo>
                <a:cubicBezTo>
                  <a:pt x="64606" y="91038"/>
                  <a:pt x="65767" y="97735"/>
                  <a:pt x="62374" y="102557"/>
                </a:cubicBezTo>
                <a:lnTo>
                  <a:pt x="37371" y="138276"/>
                </a:lnTo>
                <a:cubicBezTo>
                  <a:pt x="35540" y="140866"/>
                  <a:pt x="32683" y="142518"/>
                  <a:pt x="29513" y="142786"/>
                </a:cubicBezTo>
                <a:cubicBezTo>
                  <a:pt x="26343" y="143054"/>
                  <a:pt x="23217" y="141982"/>
                  <a:pt x="20985" y="139750"/>
                </a:cubicBezTo>
                <a:lnTo>
                  <a:pt x="3125" y="121890"/>
                </a:lnTo>
                <a:cubicBezTo>
                  <a:pt x="-1072" y="117693"/>
                  <a:pt x="-1072" y="110907"/>
                  <a:pt x="3125" y="106754"/>
                </a:cubicBezTo>
                <a:cubicBezTo>
                  <a:pt x="7322" y="102602"/>
                  <a:pt x="14109" y="102557"/>
                  <a:pt x="18261" y="106754"/>
                </a:cubicBezTo>
                <a:lnTo>
                  <a:pt x="27102" y="115595"/>
                </a:lnTo>
                <a:lnTo>
                  <a:pt x="44782" y="90324"/>
                </a:lnTo>
                <a:cubicBezTo>
                  <a:pt x="48176" y="85457"/>
                  <a:pt x="54873" y="84296"/>
                  <a:pt x="59695" y="87690"/>
                </a:cubicBezTo>
                <a:close/>
                <a:moveTo>
                  <a:pt x="100013" y="42863"/>
                </a:moveTo>
                <a:cubicBezTo>
                  <a:pt x="100013" y="34960"/>
                  <a:pt x="106397" y="28575"/>
                  <a:pt x="114300" y="28575"/>
                </a:cubicBezTo>
                <a:lnTo>
                  <a:pt x="214313" y="28575"/>
                </a:lnTo>
                <a:cubicBezTo>
                  <a:pt x="222215" y="28575"/>
                  <a:pt x="228600" y="34960"/>
                  <a:pt x="228600" y="42863"/>
                </a:cubicBezTo>
                <a:cubicBezTo>
                  <a:pt x="228600" y="50765"/>
                  <a:pt x="222215" y="57150"/>
                  <a:pt x="214313" y="57150"/>
                </a:cubicBezTo>
                <a:lnTo>
                  <a:pt x="114300" y="57150"/>
                </a:lnTo>
                <a:cubicBezTo>
                  <a:pt x="106397" y="57150"/>
                  <a:pt x="100013" y="50765"/>
                  <a:pt x="100013" y="42863"/>
                </a:cubicBezTo>
                <a:close/>
                <a:moveTo>
                  <a:pt x="100013" y="114300"/>
                </a:moveTo>
                <a:cubicBezTo>
                  <a:pt x="100013" y="106397"/>
                  <a:pt x="106397" y="100013"/>
                  <a:pt x="114300" y="100013"/>
                </a:cubicBezTo>
                <a:lnTo>
                  <a:pt x="214313" y="100013"/>
                </a:lnTo>
                <a:cubicBezTo>
                  <a:pt x="222215" y="100013"/>
                  <a:pt x="228600" y="106397"/>
                  <a:pt x="228600" y="114300"/>
                </a:cubicBezTo>
                <a:cubicBezTo>
                  <a:pt x="228600" y="122203"/>
                  <a:pt x="222215" y="128588"/>
                  <a:pt x="214313" y="128588"/>
                </a:cubicBezTo>
                <a:lnTo>
                  <a:pt x="114300" y="128588"/>
                </a:lnTo>
                <a:cubicBezTo>
                  <a:pt x="106397" y="128588"/>
                  <a:pt x="100013" y="122203"/>
                  <a:pt x="100013" y="114300"/>
                </a:cubicBezTo>
                <a:close/>
                <a:moveTo>
                  <a:pt x="71438" y="185738"/>
                </a:moveTo>
                <a:cubicBezTo>
                  <a:pt x="71438" y="177835"/>
                  <a:pt x="77822" y="171450"/>
                  <a:pt x="85725" y="171450"/>
                </a:cubicBezTo>
                <a:lnTo>
                  <a:pt x="214313" y="171450"/>
                </a:lnTo>
                <a:cubicBezTo>
                  <a:pt x="222215" y="171450"/>
                  <a:pt x="228600" y="177835"/>
                  <a:pt x="228600" y="185738"/>
                </a:cubicBezTo>
                <a:cubicBezTo>
                  <a:pt x="228600" y="193640"/>
                  <a:pt x="222215" y="200025"/>
                  <a:pt x="214313" y="200025"/>
                </a:cubicBezTo>
                <a:lnTo>
                  <a:pt x="85725" y="200025"/>
                </a:lnTo>
                <a:cubicBezTo>
                  <a:pt x="77822" y="200025"/>
                  <a:pt x="71438" y="193640"/>
                  <a:pt x="71438" y="185738"/>
                </a:cubicBezTo>
                <a:close/>
                <a:moveTo>
                  <a:pt x="28575" y="167878"/>
                </a:moveTo>
                <a:cubicBezTo>
                  <a:pt x="38432" y="167878"/>
                  <a:pt x="46434" y="175881"/>
                  <a:pt x="46434" y="185738"/>
                </a:cubicBezTo>
                <a:cubicBezTo>
                  <a:pt x="46434" y="195594"/>
                  <a:pt x="38432" y="203597"/>
                  <a:pt x="28575" y="203597"/>
                </a:cubicBezTo>
                <a:cubicBezTo>
                  <a:pt x="18718" y="203597"/>
                  <a:pt x="10716" y="195594"/>
                  <a:pt x="10716" y="185738"/>
                </a:cubicBezTo>
                <a:cubicBezTo>
                  <a:pt x="10716" y="175881"/>
                  <a:pt x="18718" y="167878"/>
                  <a:pt x="28575" y="167878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5" name="Text 3"/>
          <p:cNvSpPr/>
          <p:nvPr/>
        </p:nvSpPr>
        <p:spPr>
          <a:xfrm>
            <a:off x="781050" y="1219200"/>
            <a:ext cx="1485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训后落地练习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1676400"/>
            <a:ext cx="5581650" cy="971550"/>
          </a:xfrm>
          <a:custGeom>
            <a:avLst/>
            <a:gdLst/>
            <a:ahLst/>
            <a:cxnLst/>
            <a:rect l="l" t="t" r="r" b="b"/>
            <a:pathLst>
              <a:path w="5581650" h="971550">
                <a:moveTo>
                  <a:pt x="38100" y="0"/>
                </a:moveTo>
                <a:lnTo>
                  <a:pt x="5505451" y="0"/>
                </a:lnTo>
                <a:cubicBezTo>
                  <a:pt x="5547535" y="0"/>
                  <a:pt x="5581650" y="34115"/>
                  <a:pt x="5581650" y="76199"/>
                </a:cubicBezTo>
                <a:lnTo>
                  <a:pt x="5581650" y="895351"/>
                </a:lnTo>
                <a:cubicBezTo>
                  <a:pt x="5581650" y="937435"/>
                  <a:pt x="5547535" y="971550"/>
                  <a:pt x="5505451" y="971550"/>
                </a:cubicBez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" name="Shape 5"/>
          <p:cNvSpPr/>
          <p:nvPr/>
        </p:nvSpPr>
        <p:spPr>
          <a:xfrm>
            <a:off x="400050" y="1676400"/>
            <a:ext cx="38100" cy="971550"/>
          </a:xfrm>
          <a:custGeom>
            <a:avLst/>
            <a:gdLst/>
            <a:ahLst/>
            <a:cxnLst/>
            <a:rect l="l" t="t" r="r" b="b"/>
            <a:pathLst>
              <a:path w="38100" h="971550">
                <a:moveTo>
                  <a:pt x="38100" y="0"/>
                </a:moveTo>
                <a:lnTo>
                  <a:pt x="38100" y="0"/>
                </a:lnTo>
                <a:lnTo>
                  <a:pt x="38100" y="971550"/>
                </a:ln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8" name="Shape 6"/>
          <p:cNvSpPr/>
          <p:nvPr/>
        </p:nvSpPr>
        <p:spPr>
          <a:xfrm>
            <a:off x="609600" y="1866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9" name="Text 7"/>
          <p:cNvSpPr/>
          <p:nvPr/>
        </p:nvSpPr>
        <p:spPr>
          <a:xfrm>
            <a:off x="566738" y="1866900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1866900"/>
            <a:ext cx="37433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来货验收及系统入库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2209800"/>
            <a:ext cx="37338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模拟完成一次来货验收及系统入库操作，熟悉收货流程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0050" y="2838450"/>
            <a:ext cx="5581650" cy="971550"/>
          </a:xfrm>
          <a:custGeom>
            <a:avLst/>
            <a:gdLst/>
            <a:ahLst/>
            <a:cxnLst/>
            <a:rect l="l" t="t" r="r" b="b"/>
            <a:pathLst>
              <a:path w="5581650" h="971550">
                <a:moveTo>
                  <a:pt x="38100" y="0"/>
                </a:moveTo>
                <a:lnTo>
                  <a:pt x="5505451" y="0"/>
                </a:lnTo>
                <a:cubicBezTo>
                  <a:pt x="5547535" y="0"/>
                  <a:pt x="5581650" y="34115"/>
                  <a:pt x="5581650" y="76199"/>
                </a:cubicBezTo>
                <a:lnTo>
                  <a:pt x="5581650" y="895351"/>
                </a:lnTo>
                <a:cubicBezTo>
                  <a:pt x="5581650" y="937435"/>
                  <a:pt x="5547535" y="971550"/>
                  <a:pt x="5505451" y="971550"/>
                </a:cubicBez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3" name="Shape 11"/>
          <p:cNvSpPr/>
          <p:nvPr/>
        </p:nvSpPr>
        <p:spPr>
          <a:xfrm>
            <a:off x="400050" y="2838450"/>
            <a:ext cx="38100" cy="971550"/>
          </a:xfrm>
          <a:custGeom>
            <a:avLst/>
            <a:gdLst/>
            <a:ahLst/>
            <a:cxnLst/>
            <a:rect l="l" t="t" r="r" b="b"/>
            <a:pathLst>
              <a:path w="38100" h="971550">
                <a:moveTo>
                  <a:pt x="38100" y="0"/>
                </a:moveTo>
                <a:lnTo>
                  <a:pt x="38100" y="0"/>
                </a:lnTo>
                <a:lnTo>
                  <a:pt x="38100" y="971550"/>
                </a:ln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14" name="Shape 12"/>
          <p:cNvSpPr/>
          <p:nvPr/>
        </p:nvSpPr>
        <p:spPr>
          <a:xfrm>
            <a:off x="609600" y="30289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15" name="Text 13"/>
          <p:cNvSpPr/>
          <p:nvPr/>
        </p:nvSpPr>
        <p:spPr>
          <a:xfrm>
            <a:off x="566738" y="3028950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3028950"/>
            <a:ext cx="4286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促成交易话术演练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3371850"/>
            <a:ext cx="4276725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与带教老师演练3种不同场景下的促成交易话术，提升成交能力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1000" y="5467350"/>
            <a:ext cx="5600700" cy="1009650"/>
          </a:xfrm>
          <a:custGeom>
            <a:avLst/>
            <a:gdLst/>
            <a:ahLst/>
            <a:cxnLst/>
            <a:rect l="l" t="t" r="r" b="b"/>
            <a:pathLst>
              <a:path w="5600700" h="1009650">
                <a:moveTo>
                  <a:pt x="76198" y="0"/>
                </a:moveTo>
                <a:lnTo>
                  <a:pt x="5524502" y="0"/>
                </a:lnTo>
                <a:cubicBezTo>
                  <a:pt x="5566585" y="0"/>
                  <a:pt x="5600700" y="34115"/>
                  <a:pt x="5600700" y="76198"/>
                </a:cubicBezTo>
                <a:lnTo>
                  <a:pt x="5600700" y="933452"/>
                </a:lnTo>
                <a:cubicBezTo>
                  <a:pt x="5600700" y="975535"/>
                  <a:pt x="5566585" y="1009650"/>
                  <a:pt x="5524502" y="1009650"/>
                </a:cubicBezTo>
                <a:lnTo>
                  <a:pt x="76198" y="1009650"/>
                </a:lnTo>
                <a:cubicBezTo>
                  <a:pt x="34115" y="1009650"/>
                  <a:pt x="0" y="975535"/>
                  <a:pt x="0" y="93345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3A4F41">
              <a:alpha val="5098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583406" y="56959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0050" y="31700"/>
                </a:moveTo>
                <a:lnTo>
                  <a:pt x="56666" y="79921"/>
                </a:lnTo>
                <a:cubicBezTo>
                  <a:pt x="54955" y="81818"/>
                  <a:pt x="55029" y="84758"/>
                  <a:pt x="56852" y="86581"/>
                </a:cubicBezTo>
                <a:cubicBezTo>
                  <a:pt x="68200" y="97929"/>
                  <a:pt x="86618" y="97929"/>
                  <a:pt x="97966" y="86581"/>
                </a:cubicBezTo>
                <a:lnTo>
                  <a:pt x="109798" y="74749"/>
                </a:lnTo>
                <a:cubicBezTo>
                  <a:pt x="111361" y="73186"/>
                  <a:pt x="113333" y="72330"/>
                  <a:pt x="115342" y="72182"/>
                </a:cubicBezTo>
                <a:cubicBezTo>
                  <a:pt x="117872" y="71958"/>
                  <a:pt x="120476" y="72814"/>
                  <a:pt x="122411" y="74749"/>
                </a:cubicBezTo>
                <a:lnTo>
                  <a:pt x="188119" y="139898"/>
                </a:lnTo>
                <a:lnTo>
                  <a:pt x="214313" y="119063"/>
                </a:lnTo>
                <a:lnTo>
                  <a:pt x="214313" y="11906"/>
                </a:lnTo>
                <a:lnTo>
                  <a:pt x="172641" y="35719"/>
                </a:lnTo>
                <a:lnTo>
                  <a:pt x="163785" y="29803"/>
                </a:lnTo>
                <a:cubicBezTo>
                  <a:pt x="157907" y="25896"/>
                  <a:pt x="151023" y="23812"/>
                  <a:pt x="143954" y="23812"/>
                </a:cubicBezTo>
                <a:lnTo>
                  <a:pt x="117760" y="23812"/>
                </a:lnTo>
                <a:cubicBezTo>
                  <a:pt x="117351" y="23812"/>
                  <a:pt x="116904" y="23812"/>
                  <a:pt x="116495" y="23850"/>
                </a:cubicBezTo>
                <a:cubicBezTo>
                  <a:pt x="110207" y="24185"/>
                  <a:pt x="104291" y="27012"/>
                  <a:pt x="100050" y="31700"/>
                </a:cubicBezTo>
                <a:close/>
                <a:moveTo>
                  <a:pt x="43383" y="67977"/>
                </a:moveTo>
                <a:lnTo>
                  <a:pt x="83121" y="23812"/>
                </a:lnTo>
                <a:lnTo>
                  <a:pt x="68387" y="23812"/>
                </a:lnTo>
                <a:cubicBezTo>
                  <a:pt x="58899" y="23812"/>
                  <a:pt x="49820" y="27570"/>
                  <a:pt x="43123" y="34268"/>
                </a:cubicBezTo>
                <a:lnTo>
                  <a:pt x="41672" y="35719"/>
                </a:lnTo>
                <a:lnTo>
                  <a:pt x="0" y="11906"/>
                </a:lnTo>
                <a:lnTo>
                  <a:pt x="0" y="119063"/>
                </a:lnTo>
                <a:lnTo>
                  <a:pt x="58192" y="167543"/>
                </a:lnTo>
                <a:cubicBezTo>
                  <a:pt x="66749" y="174687"/>
                  <a:pt x="77539" y="178594"/>
                  <a:pt x="88664" y="178594"/>
                </a:cubicBezTo>
                <a:lnTo>
                  <a:pt x="94506" y="178594"/>
                </a:lnTo>
                <a:lnTo>
                  <a:pt x="91901" y="175989"/>
                </a:lnTo>
                <a:cubicBezTo>
                  <a:pt x="88404" y="172492"/>
                  <a:pt x="88404" y="166836"/>
                  <a:pt x="91901" y="163376"/>
                </a:cubicBezTo>
                <a:cubicBezTo>
                  <a:pt x="95399" y="159916"/>
                  <a:pt x="101054" y="159879"/>
                  <a:pt x="104515" y="163376"/>
                </a:cubicBezTo>
                <a:lnTo>
                  <a:pt x="119769" y="178631"/>
                </a:lnTo>
                <a:lnTo>
                  <a:pt x="123118" y="178631"/>
                </a:lnTo>
                <a:cubicBezTo>
                  <a:pt x="130225" y="178631"/>
                  <a:pt x="137182" y="177031"/>
                  <a:pt x="143508" y="174054"/>
                </a:cubicBezTo>
                <a:lnTo>
                  <a:pt x="133573" y="164083"/>
                </a:lnTo>
                <a:cubicBezTo>
                  <a:pt x="130076" y="160586"/>
                  <a:pt x="130076" y="154930"/>
                  <a:pt x="133573" y="151470"/>
                </a:cubicBezTo>
                <a:cubicBezTo>
                  <a:pt x="137071" y="148010"/>
                  <a:pt x="142726" y="147972"/>
                  <a:pt x="146186" y="151470"/>
                </a:cubicBezTo>
                <a:lnTo>
                  <a:pt x="158093" y="163376"/>
                </a:lnTo>
                <a:lnTo>
                  <a:pt x="164604" y="156865"/>
                </a:lnTo>
                <a:cubicBezTo>
                  <a:pt x="167915" y="153553"/>
                  <a:pt x="168883" y="148754"/>
                  <a:pt x="167432" y="144549"/>
                </a:cubicBezTo>
                <a:lnTo>
                  <a:pt x="116123" y="93650"/>
                </a:lnTo>
                <a:lnTo>
                  <a:pt x="110579" y="99194"/>
                </a:lnTo>
                <a:cubicBezTo>
                  <a:pt x="92236" y="117537"/>
                  <a:pt x="62545" y="117537"/>
                  <a:pt x="44202" y="99194"/>
                </a:cubicBezTo>
                <a:cubicBezTo>
                  <a:pt x="35644" y="90636"/>
                  <a:pt x="35309" y="76907"/>
                  <a:pt x="43383" y="6794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20" name="Text 18"/>
          <p:cNvSpPr/>
          <p:nvPr/>
        </p:nvSpPr>
        <p:spPr>
          <a:xfrm>
            <a:off x="923925" y="5657850"/>
            <a:ext cx="11144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成交技巧要点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1500" y="6038850"/>
            <a:ext cx="52959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识别成交信号，把握附加销售时机，处理价格异议，消除顾客犹豫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67450" y="12573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9035" y="14288"/>
                </a:moveTo>
                <a:lnTo>
                  <a:pt x="142875" y="14288"/>
                </a:lnTo>
                <a:cubicBezTo>
                  <a:pt x="158636" y="14288"/>
                  <a:pt x="171450" y="27102"/>
                  <a:pt x="171450" y="42863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42863"/>
                </a:lnTo>
                <a:cubicBezTo>
                  <a:pt x="0" y="27102"/>
                  <a:pt x="12814" y="14288"/>
                  <a:pt x="28575" y="14288"/>
                </a:cubicBezTo>
                <a:lnTo>
                  <a:pt x="32415" y="14288"/>
                </a:lnTo>
                <a:cubicBezTo>
                  <a:pt x="37326" y="5760"/>
                  <a:pt x="46568" y="0"/>
                  <a:pt x="57150" y="0"/>
                </a:cubicBezTo>
                <a:lnTo>
                  <a:pt x="114300" y="0"/>
                </a:lnTo>
                <a:cubicBezTo>
                  <a:pt x="124882" y="0"/>
                  <a:pt x="134124" y="5760"/>
                  <a:pt x="139035" y="14288"/>
                </a:cubicBezTo>
                <a:close/>
                <a:moveTo>
                  <a:pt x="110728" y="50006"/>
                </a:moveTo>
                <a:cubicBezTo>
                  <a:pt x="116666" y="50006"/>
                  <a:pt x="121444" y="45229"/>
                  <a:pt x="121444" y="39291"/>
                </a:cubicBezTo>
                <a:cubicBezTo>
                  <a:pt x="121444" y="33352"/>
                  <a:pt x="116666" y="28575"/>
                  <a:pt x="110728" y="28575"/>
                </a:cubicBezTo>
                <a:lnTo>
                  <a:pt x="60722" y="28575"/>
                </a:lnTo>
                <a:cubicBezTo>
                  <a:pt x="54784" y="28575"/>
                  <a:pt x="50006" y="33352"/>
                  <a:pt x="50006" y="39291"/>
                </a:cubicBezTo>
                <a:cubicBezTo>
                  <a:pt x="50006" y="45229"/>
                  <a:pt x="54784" y="50006"/>
                  <a:pt x="60722" y="50006"/>
                </a:cubicBezTo>
                <a:lnTo>
                  <a:pt x="110728" y="50006"/>
                </a:lnTo>
                <a:close/>
                <a:moveTo>
                  <a:pt x="57150" y="114300"/>
                </a:moveTo>
                <a:cubicBezTo>
                  <a:pt x="57150" y="106415"/>
                  <a:pt x="50748" y="100013"/>
                  <a:pt x="42863" y="100013"/>
                </a:cubicBezTo>
                <a:cubicBezTo>
                  <a:pt x="34977" y="100013"/>
                  <a:pt x="28575" y="106415"/>
                  <a:pt x="28575" y="114300"/>
                </a:cubicBezTo>
                <a:cubicBezTo>
                  <a:pt x="28575" y="122185"/>
                  <a:pt x="34977" y="128588"/>
                  <a:pt x="42863" y="128588"/>
                </a:cubicBezTo>
                <a:cubicBezTo>
                  <a:pt x="50748" y="128588"/>
                  <a:pt x="57150" y="122185"/>
                  <a:pt x="57150" y="114300"/>
                </a:cubicBezTo>
                <a:close/>
                <a:moveTo>
                  <a:pt x="71438" y="114300"/>
                </a:moveTo>
                <a:cubicBezTo>
                  <a:pt x="71438" y="120238"/>
                  <a:pt x="76215" y="125016"/>
                  <a:pt x="82153" y="125016"/>
                </a:cubicBezTo>
                <a:lnTo>
                  <a:pt x="132159" y="125016"/>
                </a:lnTo>
                <a:cubicBezTo>
                  <a:pt x="138098" y="125016"/>
                  <a:pt x="142875" y="120238"/>
                  <a:pt x="142875" y="114300"/>
                </a:cubicBezTo>
                <a:cubicBezTo>
                  <a:pt x="142875" y="108362"/>
                  <a:pt x="138098" y="103584"/>
                  <a:pt x="132159" y="103584"/>
                </a:cubicBezTo>
                <a:lnTo>
                  <a:pt x="82153" y="103584"/>
                </a:lnTo>
                <a:cubicBezTo>
                  <a:pt x="76215" y="103584"/>
                  <a:pt x="71438" y="108362"/>
                  <a:pt x="71438" y="114300"/>
                </a:cubicBezTo>
                <a:close/>
                <a:moveTo>
                  <a:pt x="71438" y="171450"/>
                </a:moveTo>
                <a:cubicBezTo>
                  <a:pt x="71438" y="177388"/>
                  <a:pt x="76215" y="182166"/>
                  <a:pt x="82153" y="182166"/>
                </a:cubicBezTo>
                <a:lnTo>
                  <a:pt x="132159" y="182166"/>
                </a:lnTo>
                <a:cubicBezTo>
                  <a:pt x="138098" y="182166"/>
                  <a:pt x="142875" y="177388"/>
                  <a:pt x="142875" y="171450"/>
                </a:cubicBezTo>
                <a:cubicBezTo>
                  <a:pt x="142875" y="165512"/>
                  <a:pt x="138098" y="160734"/>
                  <a:pt x="132159" y="160734"/>
                </a:cubicBezTo>
                <a:lnTo>
                  <a:pt x="82153" y="160734"/>
                </a:lnTo>
                <a:cubicBezTo>
                  <a:pt x="76215" y="160734"/>
                  <a:pt x="71438" y="165512"/>
                  <a:pt x="71438" y="171450"/>
                </a:cubicBezTo>
                <a:close/>
                <a:moveTo>
                  <a:pt x="42863" y="185738"/>
                </a:moveTo>
                <a:cubicBezTo>
                  <a:pt x="50748" y="185738"/>
                  <a:pt x="57150" y="179335"/>
                  <a:pt x="57150" y="171450"/>
                </a:cubicBezTo>
                <a:cubicBezTo>
                  <a:pt x="57150" y="163565"/>
                  <a:pt x="50748" y="157163"/>
                  <a:pt x="42863" y="157163"/>
                </a:cubicBezTo>
                <a:cubicBezTo>
                  <a:pt x="34977" y="157163"/>
                  <a:pt x="28575" y="163565"/>
                  <a:pt x="28575" y="171450"/>
                </a:cubicBezTo>
                <a:cubicBezTo>
                  <a:pt x="28575" y="179335"/>
                  <a:pt x="34977" y="185738"/>
                  <a:pt x="42863" y="185738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23" name="Text 21"/>
          <p:cNvSpPr/>
          <p:nvPr/>
        </p:nvSpPr>
        <p:spPr>
          <a:xfrm>
            <a:off x="6610350" y="1219200"/>
            <a:ext cx="18383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第4-6天综合考核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10300" y="1676400"/>
            <a:ext cx="5600700" cy="4800600"/>
          </a:xfrm>
          <a:custGeom>
            <a:avLst/>
            <a:gdLst/>
            <a:ahLst/>
            <a:cxnLst/>
            <a:rect l="l" t="t" r="r" b="b"/>
            <a:pathLst>
              <a:path w="5600700" h="4800600">
                <a:moveTo>
                  <a:pt x="76186" y="0"/>
                </a:moveTo>
                <a:lnTo>
                  <a:pt x="5524514" y="0"/>
                </a:lnTo>
                <a:cubicBezTo>
                  <a:pt x="5566591" y="0"/>
                  <a:pt x="5600700" y="34109"/>
                  <a:pt x="5600700" y="76186"/>
                </a:cubicBezTo>
                <a:lnTo>
                  <a:pt x="5600700" y="4724414"/>
                </a:lnTo>
                <a:cubicBezTo>
                  <a:pt x="5600700" y="4766491"/>
                  <a:pt x="5566591" y="4800600"/>
                  <a:pt x="5524514" y="4800600"/>
                </a:cubicBezTo>
                <a:lnTo>
                  <a:pt x="76186" y="4800600"/>
                </a:lnTo>
                <a:cubicBezTo>
                  <a:pt x="34109" y="4800600"/>
                  <a:pt x="0" y="4766491"/>
                  <a:pt x="0" y="4724414"/>
                </a:cubicBezTo>
                <a:lnTo>
                  <a:pt x="0" y="76186"/>
                </a:lnTo>
                <a:cubicBezTo>
                  <a:pt x="0" y="34138"/>
                  <a:pt x="34138" y="0"/>
                  <a:pt x="76186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5" name="Shape 23"/>
          <p:cNvSpPr/>
          <p:nvPr/>
        </p:nvSpPr>
        <p:spPr>
          <a:xfrm>
            <a:off x="6210300" y="1676400"/>
            <a:ext cx="5600700" cy="762000"/>
          </a:xfrm>
          <a:custGeom>
            <a:avLst/>
            <a:gdLst/>
            <a:ahLst/>
            <a:cxnLst/>
            <a:rect l="l" t="t" r="r" b="b"/>
            <a:pathLst>
              <a:path w="5600700" h="762000">
                <a:moveTo>
                  <a:pt x="0" y="0"/>
                </a:moveTo>
                <a:lnTo>
                  <a:pt x="5600700" y="0"/>
                </a:lnTo>
                <a:lnTo>
                  <a:pt x="56007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26" name="Text 24"/>
          <p:cNvSpPr/>
          <p:nvPr/>
        </p:nvSpPr>
        <p:spPr>
          <a:xfrm>
            <a:off x="6291263" y="1790700"/>
            <a:ext cx="5438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7F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总分100分，80分及格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67450" y="2019300"/>
            <a:ext cx="5486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8F7F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阶段考核评分标准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62700" y="2936875"/>
            <a:ext cx="5295900" cy="6350"/>
          </a:xfrm>
          <a:custGeom>
            <a:avLst/>
            <a:gdLst/>
            <a:ahLst/>
            <a:cxnLst/>
            <a:rect l="l" t="t" r="r" b="b"/>
            <a:pathLst>
              <a:path w="5295900" h="6350">
                <a:moveTo>
                  <a:pt x="0" y="0"/>
                </a:moveTo>
                <a:lnTo>
                  <a:pt x="5295900" y="0"/>
                </a:lnTo>
                <a:lnTo>
                  <a:pt x="529590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A9A299">
              <a:alpha val="20000"/>
            </a:srgbClr>
          </a:solidFill>
        </p:spPr>
      </p:sp>
      <p:sp>
        <p:nvSpPr>
          <p:cNvPr id="29" name="Shape 27"/>
          <p:cNvSpPr/>
          <p:nvPr/>
        </p:nvSpPr>
        <p:spPr>
          <a:xfrm>
            <a:off x="6375797" y="26765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0" y="32147"/>
                </a:moveTo>
                <a:cubicBezTo>
                  <a:pt x="0" y="20326"/>
                  <a:pt x="9611" y="10716"/>
                  <a:pt x="21431" y="10716"/>
                </a:cubicBezTo>
                <a:lnTo>
                  <a:pt x="171450" y="10716"/>
                </a:lnTo>
                <a:cubicBezTo>
                  <a:pt x="183271" y="10716"/>
                  <a:pt x="192881" y="20326"/>
                  <a:pt x="192881" y="32147"/>
                </a:cubicBezTo>
                <a:lnTo>
                  <a:pt x="0" y="32147"/>
                </a:lnTo>
                <a:close/>
                <a:moveTo>
                  <a:pt x="0" y="48220"/>
                </a:moveTo>
                <a:lnTo>
                  <a:pt x="192881" y="48220"/>
                </a:lnTo>
                <a:lnTo>
                  <a:pt x="192881" y="139303"/>
                </a:lnTo>
                <a:cubicBezTo>
                  <a:pt x="192881" y="151124"/>
                  <a:pt x="183271" y="160734"/>
                  <a:pt x="171450" y="160734"/>
                </a:cubicBezTo>
                <a:lnTo>
                  <a:pt x="21431" y="160734"/>
                </a:lnTo>
                <a:cubicBezTo>
                  <a:pt x="9611" y="160734"/>
                  <a:pt x="0" y="151124"/>
                  <a:pt x="0" y="139303"/>
                </a:cubicBezTo>
                <a:lnTo>
                  <a:pt x="0" y="48220"/>
                </a:lnTo>
                <a:close/>
                <a:moveTo>
                  <a:pt x="82812" y="139303"/>
                </a:moveTo>
                <a:cubicBezTo>
                  <a:pt x="89576" y="139303"/>
                  <a:pt x="94632" y="132807"/>
                  <a:pt x="90313" y="127583"/>
                </a:cubicBezTo>
                <a:cubicBezTo>
                  <a:pt x="85390" y="121656"/>
                  <a:pt x="77956" y="117872"/>
                  <a:pt x="69652" y="117872"/>
                </a:cubicBezTo>
                <a:lnTo>
                  <a:pt x="48220" y="117872"/>
                </a:lnTo>
                <a:cubicBezTo>
                  <a:pt x="39916" y="117872"/>
                  <a:pt x="32482" y="121656"/>
                  <a:pt x="27559" y="127583"/>
                </a:cubicBezTo>
                <a:cubicBezTo>
                  <a:pt x="23240" y="132807"/>
                  <a:pt x="28296" y="139303"/>
                  <a:pt x="35060" y="139303"/>
                </a:cubicBezTo>
                <a:lnTo>
                  <a:pt x="82778" y="139303"/>
                </a:lnTo>
                <a:close/>
                <a:moveTo>
                  <a:pt x="58936" y="104477"/>
                </a:moveTo>
                <a:cubicBezTo>
                  <a:pt x="69286" y="104477"/>
                  <a:pt x="77688" y="96075"/>
                  <a:pt x="77688" y="85725"/>
                </a:cubicBezTo>
                <a:cubicBezTo>
                  <a:pt x="77688" y="75375"/>
                  <a:pt x="69286" y="66973"/>
                  <a:pt x="58936" y="66973"/>
                </a:cubicBezTo>
                <a:cubicBezTo>
                  <a:pt x="48586" y="66973"/>
                  <a:pt x="40184" y="75375"/>
                  <a:pt x="40184" y="85725"/>
                </a:cubicBezTo>
                <a:cubicBezTo>
                  <a:pt x="40184" y="96075"/>
                  <a:pt x="48586" y="104477"/>
                  <a:pt x="58936" y="104477"/>
                </a:cubicBezTo>
                <a:close/>
                <a:moveTo>
                  <a:pt x="120551" y="69652"/>
                </a:moveTo>
                <a:cubicBezTo>
                  <a:pt x="116097" y="69652"/>
                  <a:pt x="112514" y="73235"/>
                  <a:pt x="112514" y="77688"/>
                </a:cubicBezTo>
                <a:cubicBezTo>
                  <a:pt x="112514" y="82142"/>
                  <a:pt x="116097" y="85725"/>
                  <a:pt x="120551" y="85725"/>
                </a:cubicBezTo>
                <a:lnTo>
                  <a:pt x="158055" y="85725"/>
                </a:lnTo>
                <a:cubicBezTo>
                  <a:pt x="162509" y="85725"/>
                  <a:pt x="166092" y="82142"/>
                  <a:pt x="166092" y="77688"/>
                </a:cubicBezTo>
                <a:cubicBezTo>
                  <a:pt x="166092" y="73235"/>
                  <a:pt x="162509" y="69652"/>
                  <a:pt x="158055" y="69652"/>
                </a:cubicBezTo>
                <a:lnTo>
                  <a:pt x="120551" y="69652"/>
                </a:lnTo>
                <a:close/>
                <a:moveTo>
                  <a:pt x="120551" y="101798"/>
                </a:moveTo>
                <a:cubicBezTo>
                  <a:pt x="116097" y="101798"/>
                  <a:pt x="112514" y="105381"/>
                  <a:pt x="112514" y="109835"/>
                </a:cubicBezTo>
                <a:cubicBezTo>
                  <a:pt x="112514" y="114289"/>
                  <a:pt x="116097" y="117872"/>
                  <a:pt x="120551" y="117872"/>
                </a:cubicBezTo>
                <a:lnTo>
                  <a:pt x="158055" y="117872"/>
                </a:lnTo>
                <a:cubicBezTo>
                  <a:pt x="162509" y="117872"/>
                  <a:pt x="166092" y="114289"/>
                  <a:pt x="166092" y="109835"/>
                </a:cubicBezTo>
                <a:cubicBezTo>
                  <a:pt x="166092" y="105381"/>
                  <a:pt x="162509" y="101798"/>
                  <a:pt x="158055" y="101798"/>
                </a:cubicBezTo>
                <a:lnTo>
                  <a:pt x="120551" y="101798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30" name="Text 28"/>
          <p:cNvSpPr/>
          <p:nvPr/>
        </p:nvSpPr>
        <p:spPr>
          <a:xfrm>
            <a:off x="6691630" y="2647950"/>
            <a:ext cx="3702050" cy="241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会员卡级别、权益及</a:t>
            </a:r>
            <a:r>
              <a:rPr lang="zh-CN" alt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会员备注日常维护、</a:t>
            </a: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开卡流程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242080" y="2628900"/>
            <a:ext cx="5143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30分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62700" y="3584575"/>
            <a:ext cx="5295900" cy="6350"/>
          </a:xfrm>
          <a:custGeom>
            <a:avLst/>
            <a:gdLst/>
            <a:ahLst/>
            <a:cxnLst/>
            <a:rect l="l" t="t" r="r" b="b"/>
            <a:pathLst>
              <a:path w="5295900" h="6350">
                <a:moveTo>
                  <a:pt x="0" y="0"/>
                </a:moveTo>
                <a:lnTo>
                  <a:pt x="5295900" y="0"/>
                </a:lnTo>
                <a:lnTo>
                  <a:pt x="529590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A9A299">
              <a:alpha val="20000"/>
            </a:srgbClr>
          </a:solidFill>
        </p:spPr>
      </p:sp>
      <p:sp>
        <p:nvSpPr>
          <p:cNvPr id="33" name="Shape 31"/>
          <p:cNvSpPr/>
          <p:nvPr/>
        </p:nvSpPr>
        <p:spPr>
          <a:xfrm>
            <a:off x="6365081" y="332422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07223" y="37505"/>
                </a:moveTo>
                <a:cubicBezTo>
                  <a:pt x="122024" y="37505"/>
                  <a:pt x="134012" y="25517"/>
                  <a:pt x="134012" y="10716"/>
                </a:cubicBezTo>
                <a:lnTo>
                  <a:pt x="151927" y="10716"/>
                </a:lnTo>
                <a:cubicBezTo>
                  <a:pt x="157620" y="10716"/>
                  <a:pt x="163078" y="12959"/>
                  <a:pt x="167097" y="16978"/>
                </a:cubicBezTo>
                <a:lnTo>
                  <a:pt x="206812" y="56726"/>
                </a:lnTo>
                <a:cubicBezTo>
                  <a:pt x="210997" y="60912"/>
                  <a:pt x="210997" y="67709"/>
                  <a:pt x="206812" y="71895"/>
                </a:cubicBezTo>
                <a:lnTo>
                  <a:pt x="189834" y="88873"/>
                </a:lnTo>
                <a:cubicBezTo>
                  <a:pt x="185648" y="93059"/>
                  <a:pt x="178850" y="93059"/>
                  <a:pt x="174665" y="88873"/>
                </a:cubicBezTo>
                <a:lnTo>
                  <a:pt x="160801" y="75009"/>
                </a:lnTo>
                <a:lnTo>
                  <a:pt x="160801" y="150019"/>
                </a:lnTo>
                <a:cubicBezTo>
                  <a:pt x="160801" y="161839"/>
                  <a:pt x="151191" y="171450"/>
                  <a:pt x="139370" y="171450"/>
                </a:cubicBezTo>
                <a:lnTo>
                  <a:pt x="75076" y="171450"/>
                </a:lnTo>
                <a:cubicBezTo>
                  <a:pt x="63256" y="171450"/>
                  <a:pt x="53645" y="161839"/>
                  <a:pt x="53645" y="150019"/>
                </a:cubicBezTo>
                <a:lnTo>
                  <a:pt x="53645" y="75009"/>
                </a:lnTo>
                <a:lnTo>
                  <a:pt x="39782" y="88873"/>
                </a:lnTo>
                <a:cubicBezTo>
                  <a:pt x="35596" y="93059"/>
                  <a:pt x="28798" y="93059"/>
                  <a:pt x="24612" y="88873"/>
                </a:cubicBezTo>
                <a:lnTo>
                  <a:pt x="7668" y="71862"/>
                </a:lnTo>
                <a:cubicBezTo>
                  <a:pt x="3483" y="67676"/>
                  <a:pt x="3483" y="60878"/>
                  <a:pt x="7668" y="56692"/>
                </a:cubicBezTo>
                <a:lnTo>
                  <a:pt x="47383" y="16978"/>
                </a:lnTo>
                <a:cubicBezTo>
                  <a:pt x="51402" y="12959"/>
                  <a:pt x="56860" y="10716"/>
                  <a:pt x="62552" y="10716"/>
                </a:cubicBezTo>
                <a:lnTo>
                  <a:pt x="80468" y="10716"/>
                </a:lnTo>
                <a:cubicBezTo>
                  <a:pt x="80468" y="25517"/>
                  <a:pt x="92456" y="37505"/>
                  <a:pt x="107257" y="37505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34" name="Text 32"/>
          <p:cNvSpPr/>
          <p:nvPr/>
        </p:nvSpPr>
        <p:spPr>
          <a:xfrm>
            <a:off x="6691313" y="329565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试衣服务环节实操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241881" y="3276600"/>
            <a:ext cx="5143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20分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62700" y="4232275"/>
            <a:ext cx="5295900" cy="6350"/>
          </a:xfrm>
          <a:custGeom>
            <a:avLst/>
            <a:gdLst/>
            <a:ahLst/>
            <a:cxnLst/>
            <a:rect l="l" t="t" r="r" b="b"/>
            <a:pathLst>
              <a:path w="5295900" h="6350">
                <a:moveTo>
                  <a:pt x="0" y="0"/>
                </a:moveTo>
                <a:lnTo>
                  <a:pt x="5295900" y="0"/>
                </a:lnTo>
                <a:lnTo>
                  <a:pt x="529590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A9A299">
              <a:alpha val="20000"/>
            </a:srgbClr>
          </a:solidFill>
        </p:spPr>
      </p:sp>
      <p:sp>
        <p:nvSpPr>
          <p:cNvPr id="37" name="Shape 35"/>
          <p:cNvSpPr/>
          <p:nvPr/>
        </p:nvSpPr>
        <p:spPr>
          <a:xfrm>
            <a:off x="6386513" y="39719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32147" y="0"/>
                </a:moveTo>
                <a:cubicBezTo>
                  <a:pt x="20326" y="0"/>
                  <a:pt x="10716" y="9611"/>
                  <a:pt x="10716" y="21431"/>
                </a:cubicBezTo>
                <a:cubicBezTo>
                  <a:pt x="10716" y="33252"/>
                  <a:pt x="20326" y="42863"/>
                  <a:pt x="32147" y="42863"/>
                </a:cubicBezTo>
                <a:lnTo>
                  <a:pt x="48220" y="42863"/>
                </a:lnTo>
                <a:lnTo>
                  <a:pt x="48220" y="53578"/>
                </a:lnTo>
                <a:lnTo>
                  <a:pt x="29133" y="53578"/>
                </a:lnTo>
                <a:cubicBezTo>
                  <a:pt x="18551" y="53578"/>
                  <a:pt x="9544" y="61313"/>
                  <a:pt x="7936" y="71795"/>
                </a:cubicBezTo>
                <a:lnTo>
                  <a:pt x="368" y="121924"/>
                </a:lnTo>
                <a:cubicBezTo>
                  <a:pt x="134" y="123498"/>
                  <a:pt x="0" y="125105"/>
                  <a:pt x="0" y="126712"/>
                </a:cubicBezTo>
                <a:lnTo>
                  <a:pt x="0" y="150019"/>
                </a:lnTo>
                <a:cubicBezTo>
                  <a:pt x="0" y="161839"/>
                  <a:pt x="9611" y="171450"/>
                  <a:pt x="21431" y="171450"/>
                </a:cubicBezTo>
                <a:lnTo>
                  <a:pt x="150019" y="171450"/>
                </a:lnTo>
                <a:cubicBezTo>
                  <a:pt x="161839" y="171450"/>
                  <a:pt x="171450" y="161839"/>
                  <a:pt x="171450" y="150019"/>
                </a:cubicBezTo>
                <a:lnTo>
                  <a:pt x="171450" y="126712"/>
                </a:lnTo>
                <a:cubicBezTo>
                  <a:pt x="171450" y="125105"/>
                  <a:pt x="171316" y="123498"/>
                  <a:pt x="171082" y="121890"/>
                </a:cubicBezTo>
                <a:lnTo>
                  <a:pt x="163480" y="71795"/>
                </a:lnTo>
                <a:cubicBezTo>
                  <a:pt x="161906" y="61313"/>
                  <a:pt x="152899" y="53578"/>
                  <a:pt x="142317" y="53578"/>
                </a:cubicBezTo>
                <a:lnTo>
                  <a:pt x="69652" y="53578"/>
                </a:lnTo>
                <a:lnTo>
                  <a:pt x="69652" y="42863"/>
                </a:lnTo>
                <a:lnTo>
                  <a:pt x="85725" y="42863"/>
                </a:lnTo>
                <a:cubicBezTo>
                  <a:pt x="97546" y="42863"/>
                  <a:pt x="107156" y="33252"/>
                  <a:pt x="107156" y="21431"/>
                </a:cubicBezTo>
                <a:cubicBezTo>
                  <a:pt x="107156" y="9611"/>
                  <a:pt x="97546" y="0"/>
                  <a:pt x="85725" y="0"/>
                </a:cubicBezTo>
                <a:lnTo>
                  <a:pt x="32147" y="0"/>
                </a:lnTo>
                <a:close/>
                <a:moveTo>
                  <a:pt x="32147" y="16073"/>
                </a:moveTo>
                <a:lnTo>
                  <a:pt x="85725" y="16073"/>
                </a:lnTo>
                <a:cubicBezTo>
                  <a:pt x="88672" y="16073"/>
                  <a:pt x="91083" y="18484"/>
                  <a:pt x="91083" y="21431"/>
                </a:cubicBezTo>
                <a:cubicBezTo>
                  <a:pt x="91083" y="24378"/>
                  <a:pt x="88672" y="26789"/>
                  <a:pt x="85725" y="26789"/>
                </a:cubicBezTo>
                <a:lnTo>
                  <a:pt x="32147" y="26789"/>
                </a:lnTo>
                <a:cubicBezTo>
                  <a:pt x="29200" y="26789"/>
                  <a:pt x="26789" y="24378"/>
                  <a:pt x="26789" y="21431"/>
                </a:cubicBezTo>
                <a:cubicBezTo>
                  <a:pt x="26789" y="18484"/>
                  <a:pt x="29200" y="16073"/>
                  <a:pt x="32147" y="16073"/>
                </a:cubicBezTo>
                <a:close/>
                <a:moveTo>
                  <a:pt x="21431" y="141982"/>
                </a:moveTo>
                <a:cubicBezTo>
                  <a:pt x="21431" y="137528"/>
                  <a:pt x="25014" y="133945"/>
                  <a:pt x="29468" y="133945"/>
                </a:cubicBezTo>
                <a:lnTo>
                  <a:pt x="141982" y="133945"/>
                </a:lnTo>
                <a:cubicBezTo>
                  <a:pt x="146436" y="133945"/>
                  <a:pt x="150019" y="137528"/>
                  <a:pt x="150019" y="141982"/>
                </a:cubicBezTo>
                <a:cubicBezTo>
                  <a:pt x="150019" y="146436"/>
                  <a:pt x="146436" y="150019"/>
                  <a:pt x="141982" y="150019"/>
                </a:cubicBezTo>
                <a:lnTo>
                  <a:pt x="29468" y="150019"/>
                </a:lnTo>
                <a:cubicBezTo>
                  <a:pt x="25014" y="150019"/>
                  <a:pt x="21431" y="146436"/>
                  <a:pt x="21431" y="141982"/>
                </a:cubicBezTo>
                <a:close/>
                <a:moveTo>
                  <a:pt x="37505" y="88404"/>
                </a:moveTo>
                <a:cubicBezTo>
                  <a:pt x="33069" y="88404"/>
                  <a:pt x="29468" y="84803"/>
                  <a:pt x="29468" y="80367"/>
                </a:cubicBezTo>
                <a:cubicBezTo>
                  <a:pt x="29468" y="75932"/>
                  <a:pt x="33069" y="72330"/>
                  <a:pt x="37505" y="72330"/>
                </a:cubicBezTo>
                <a:cubicBezTo>
                  <a:pt x="41940" y="72330"/>
                  <a:pt x="45541" y="75932"/>
                  <a:pt x="45541" y="80367"/>
                </a:cubicBezTo>
                <a:cubicBezTo>
                  <a:pt x="45541" y="84803"/>
                  <a:pt x="41940" y="88404"/>
                  <a:pt x="37505" y="88404"/>
                </a:cubicBezTo>
                <a:close/>
                <a:moveTo>
                  <a:pt x="77688" y="80367"/>
                </a:moveTo>
                <a:cubicBezTo>
                  <a:pt x="77688" y="84803"/>
                  <a:pt x="74087" y="88404"/>
                  <a:pt x="69652" y="88404"/>
                </a:cubicBezTo>
                <a:cubicBezTo>
                  <a:pt x="65216" y="88404"/>
                  <a:pt x="61615" y="84803"/>
                  <a:pt x="61615" y="80367"/>
                </a:cubicBezTo>
                <a:cubicBezTo>
                  <a:pt x="61615" y="75932"/>
                  <a:pt x="65216" y="72330"/>
                  <a:pt x="69652" y="72330"/>
                </a:cubicBezTo>
                <a:cubicBezTo>
                  <a:pt x="74087" y="72330"/>
                  <a:pt x="77688" y="75932"/>
                  <a:pt x="77688" y="80367"/>
                </a:cubicBezTo>
                <a:close/>
                <a:moveTo>
                  <a:pt x="53578" y="115193"/>
                </a:moveTo>
                <a:cubicBezTo>
                  <a:pt x="49143" y="115193"/>
                  <a:pt x="45541" y="111592"/>
                  <a:pt x="45541" y="107156"/>
                </a:cubicBezTo>
                <a:cubicBezTo>
                  <a:pt x="45541" y="102721"/>
                  <a:pt x="49143" y="99120"/>
                  <a:pt x="53578" y="99120"/>
                </a:cubicBezTo>
                <a:cubicBezTo>
                  <a:pt x="58014" y="99120"/>
                  <a:pt x="61615" y="102721"/>
                  <a:pt x="61615" y="107156"/>
                </a:cubicBezTo>
                <a:cubicBezTo>
                  <a:pt x="61615" y="111592"/>
                  <a:pt x="58014" y="115193"/>
                  <a:pt x="53578" y="115193"/>
                </a:cubicBezTo>
                <a:close/>
                <a:moveTo>
                  <a:pt x="109835" y="80367"/>
                </a:moveTo>
                <a:cubicBezTo>
                  <a:pt x="109835" y="84803"/>
                  <a:pt x="106234" y="88404"/>
                  <a:pt x="101798" y="88404"/>
                </a:cubicBezTo>
                <a:cubicBezTo>
                  <a:pt x="97363" y="88404"/>
                  <a:pt x="93762" y="84803"/>
                  <a:pt x="93762" y="80367"/>
                </a:cubicBezTo>
                <a:cubicBezTo>
                  <a:pt x="93762" y="75932"/>
                  <a:pt x="97363" y="72330"/>
                  <a:pt x="101798" y="72330"/>
                </a:cubicBezTo>
                <a:cubicBezTo>
                  <a:pt x="106234" y="72330"/>
                  <a:pt x="109835" y="75932"/>
                  <a:pt x="109835" y="80367"/>
                </a:cubicBezTo>
                <a:close/>
                <a:moveTo>
                  <a:pt x="85725" y="115193"/>
                </a:moveTo>
                <a:cubicBezTo>
                  <a:pt x="81289" y="115193"/>
                  <a:pt x="77688" y="111592"/>
                  <a:pt x="77688" y="107156"/>
                </a:cubicBezTo>
                <a:cubicBezTo>
                  <a:pt x="77688" y="102721"/>
                  <a:pt x="81289" y="99120"/>
                  <a:pt x="85725" y="99120"/>
                </a:cubicBezTo>
                <a:cubicBezTo>
                  <a:pt x="90161" y="99120"/>
                  <a:pt x="93762" y="102721"/>
                  <a:pt x="93762" y="107156"/>
                </a:cubicBezTo>
                <a:cubicBezTo>
                  <a:pt x="93762" y="111592"/>
                  <a:pt x="90161" y="115193"/>
                  <a:pt x="85725" y="115193"/>
                </a:cubicBezTo>
                <a:close/>
                <a:moveTo>
                  <a:pt x="141982" y="80367"/>
                </a:moveTo>
                <a:cubicBezTo>
                  <a:pt x="141982" y="84803"/>
                  <a:pt x="138381" y="88404"/>
                  <a:pt x="133945" y="88404"/>
                </a:cubicBezTo>
                <a:cubicBezTo>
                  <a:pt x="129510" y="88404"/>
                  <a:pt x="125909" y="84803"/>
                  <a:pt x="125909" y="80367"/>
                </a:cubicBezTo>
                <a:cubicBezTo>
                  <a:pt x="125909" y="75932"/>
                  <a:pt x="129510" y="72330"/>
                  <a:pt x="133945" y="72330"/>
                </a:cubicBezTo>
                <a:cubicBezTo>
                  <a:pt x="138381" y="72330"/>
                  <a:pt x="141982" y="75932"/>
                  <a:pt x="141982" y="80367"/>
                </a:cubicBezTo>
                <a:close/>
                <a:moveTo>
                  <a:pt x="117872" y="115193"/>
                </a:moveTo>
                <a:cubicBezTo>
                  <a:pt x="113436" y="115193"/>
                  <a:pt x="109835" y="111592"/>
                  <a:pt x="109835" y="107156"/>
                </a:cubicBezTo>
                <a:cubicBezTo>
                  <a:pt x="109835" y="102721"/>
                  <a:pt x="113436" y="99120"/>
                  <a:pt x="117872" y="99120"/>
                </a:cubicBezTo>
                <a:cubicBezTo>
                  <a:pt x="122307" y="99120"/>
                  <a:pt x="125909" y="102721"/>
                  <a:pt x="125909" y="107156"/>
                </a:cubicBezTo>
                <a:cubicBezTo>
                  <a:pt x="125909" y="111592"/>
                  <a:pt x="122307" y="115193"/>
                  <a:pt x="117872" y="115193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38" name="Text 36"/>
          <p:cNvSpPr/>
          <p:nvPr/>
        </p:nvSpPr>
        <p:spPr>
          <a:xfrm>
            <a:off x="6691313" y="394335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收银服务环节实操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241881" y="3924300"/>
            <a:ext cx="5143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20分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62700" y="4879975"/>
            <a:ext cx="5295900" cy="6350"/>
          </a:xfrm>
          <a:custGeom>
            <a:avLst/>
            <a:gdLst/>
            <a:ahLst/>
            <a:cxnLst/>
            <a:rect l="l" t="t" r="r" b="b"/>
            <a:pathLst>
              <a:path w="5295900" h="6350">
                <a:moveTo>
                  <a:pt x="0" y="0"/>
                </a:moveTo>
                <a:lnTo>
                  <a:pt x="5295900" y="0"/>
                </a:lnTo>
                <a:lnTo>
                  <a:pt x="529590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A9A299">
              <a:alpha val="20000"/>
            </a:srgbClr>
          </a:solidFill>
        </p:spPr>
      </p:sp>
      <p:sp>
        <p:nvSpPr>
          <p:cNvPr id="41" name="Shape 39"/>
          <p:cNvSpPr/>
          <p:nvPr/>
        </p:nvSpPr>
        <p:spPr>
          <a:xfrm>
            <a:off x="6397228" y="46196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50019" y="68915"/>
                </a:moveTo>
                <a:cubicBezTo>
                  <a:pt x="145063" y="72197"/>
                  <a:pt x="139370" y="74842"/>
                  <a:pt x="133443" y="76952"/>
                </a:cubicBezTo>
                <a:cubicBezTo>
                  <a:pt x="117704" y="82577"/>
                  <a:pt x="97043" y="85725"/>
                  <a:pt x="75009" y="85725"/>
                </a:cubicBezTo>
                <a:cubicBezTo>
                  <a:pt x="52975" y="85725"/>
                  <a:pt x="32281" y="82544"/>
                  <a:pt x="16576" y="76952"/>
                </a:cubicBezTo>
                <a:cubicBezTo>
                  <a:pt x="10682" y="74842"/>
                  <a:pt x="4956" y="72197"/>
                  <a:pt x="0" y="68915"/>
                </a:cubicBezTo>
                <a:lnTo>
                  <a:pt x="0" y="96441"/>
                </a:lnTo>
                <a:cubicBezTo>
                  <a:pt x="0" y="111242"/>
                  <a:pt x="33587" y="123230"/>
                  <a:pt x="75009" y="123230"/>
                </a:cubicBezTo>
                <a:cubicBezTo>
                  <a:pt x="116432" y="123230"/>
                  <a:pt x="150019" y="111242"/>
                  <a:pt x="150019" y="96441"/>
                </a:cubicBezTo>
                <a:lnTo>
                  <a:pt x="150019" y="68915"/>
                </a:lnTo>
                <a:close/>
                <a:moveTo>
                  <a:pt x="150019" y="42863"/>
                </a:moveTo>
                <a:lnTo>
                  <a:pt x="150019" y="26789"/>
                </a:lnTo>
                <a:cubicBezTo>
                  <a:pt x="150019" y="11988"/>
                  <a:pt x="116432" y="0"/>
                  <a:pt x="75009" y="0"/>
                </a:cubicBezTo>
                <a:cubicBezTo>
                  <a:pt x="33587" y="0"/>
                  <a:pt x="0" y="11988"/>
                  <a:pt x="0" y="26789"/>
                </a:cubicBezTo>
                <a:lnTo>
                  <a:pt x="0" y="42863"/>
                </a:lnTo>
                <a:cubicBezTo>
                  <a:pt x="0" y="57663"/>
                  <a:pt x="33587" y="69652"/>
                  <a:pt x="75009" y="69652"/>
                </a:cubicBezTo>
                <a:cubicBezTo>
                  <a:pt x="116432" y="69652"/>
                  <a:pt x="150019" y="57663"/>
                  <a:pt x="150019" y="42863"/>
                </a:cubicBezTo>
                <a:close/>
                <a:moveTo>
                  <a:pt x="133443" y="130530"/>
                </a:moveTo>
                <a:cubicBezTo>
                  <a:pt x="117738" y="136122"/>
                  <a:pt x="97077" y="139303"/>
                  <a:pt x="75009" y="139303"/>
                </a:cubicBezTo>
                <a:cubicBezTo>
                  <a:pt x="52942" y="139303"/>
                  <a:pt x="32281" y="136122"/>
                  <a:pt x="16576" y="130530"/>
                </a:cubicBezTo>
                <a:cubicBezTo>
                  <a:pt x="10682" y="128420"/>
                  <a:pt x="4956" y="125775"/>
                  <a:pt x="0" y="122493"/>
                </a:cubicBezTo>
                <a:lnTo>
                  <a:pt x="0" y="144661"/>
                </a:lnTo>
                <a:cubicBezTo>
                  <a:pt x="0" y="159462"/>
                  <a:pt x="33587" y="171450"/>
                  <a:pt x="75009" y="171450"/>
                </a:cubicBezTo>
                <a:cubicBezTo>
                  <a:pt x="116432" y="171450"/>
                  <a:pt x="150019" y="159462"/>
                  <a:pt x="150019" y="144661"/>
                </a:cubicBezTo>
                <a:lnTo>
                  <a:pt x="150019" y="122493"/>
                </a:lnTo>
                <a:cubicBezTo>
                  <a:pt x="145063" y="125775"/>
                  <a:pt x="139370" y="128420"/>
                  <a:pt x="133443" y="13053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42" name="Text 40"/>
          <p:cNvSpPr/>
          <p:nvPr/>
        </p:nvSpPr>
        <p:spPr>
          <a:xfrm>
            <a:off x="6691313" y="4591050"/>
            <a:ext cx="144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系统查询及报表导出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266091" y="4572000"/>
            <a:ext cx="4857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15分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86513" y="52673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75009" y="0"/>
                </a:moveTo>
                <a:lnTo>
                  <a:pt x="75009" y="21431"/>
                </a:lnTo>
                <a:cubicBezTo>
                  <a:pt x="75009" y="24378"/>
                  <a:pt x="77420" y="26789"/>
                  <a:pt x="80367" y="26789"/>
                </a:cubicBezTo>
                <a:lnTo>
                  <a:pt x="91083" y="26789"/>
                </a:lnTo>
                <a:cubicBezTo>
                  <a:pt x="94030" y="26789"/>
                  <a:pt x="96441" y="24378"/>
                  <a:pt x="96441" y="21431"/>
                </a:cubicBezTo>
                <a:lnTo>
                  <a:pt x="96441" y="0"/>
                </a:lnTo>
                <a:lnTo>
                  <a:pt x="107156" y="0"/>
                </a:lnTo>
                <a:cubicBezTo>
                  <a:pt x="118977" y="0"/>
                  <a:pt x="128588" y="9611"/>
                  <a:pt x="128588" y="21431"/>
                </a:cubicBezTo>
                <a:lnTo>
                  <a:pt x="128588" y="64294"/>
                </a:lnTo>
                <a:cubicBezTo>
                  <a:pt x="128588" y="66135"/>
                  <a:pt x="128353" y="67944"/>
                  <a:pt x="127918" y="69652"/>
                </a:cubicBezTo>
                <a:lnTo>
                  <a:pt x="43532" y="69652"/>
                </a:lnTo>
                <a:cubicBezTo>
                  <a:pt x="43097" y="67944"/>
                  <a:pt x="42863" y="66135"/>
                  <a:pt x="42863" y="64294"/>
                </a:cubicBezTo>
                <a:lnTo>
                  <a:pt x="42863" y="21431"/>
                </a:lnTo>
                <a:cubicBezTo>
                  <a:pt x="42863" y="9611"/>
                  <a:pt x="52473" y="0"/>
                  <a:pt x="64294" y="0"/>
                </a:cubicBezTo>
                <a:lnTo>
                  <a:pt x="75009" y="0"/>
                </a:lnTo>
                <a:close/>
                <a:moveTo>
                  <a:pt x="107156" y="171450"/>
                </a:moveTo>
                <a:cubicBezTo>
                  <a:pt x="103406" y="171450"/>
                  <a:pt x="99856" y="170479"/>
                  <a:pt x="96775" y="168771"/>
                </a:cubicBezTo>
                <a:cubicBezTo>
                  <a:pt x="99957" y="163246"/>
                  <a:pt x="101798" y="156850"/>
                  <a:pt x="101798" y="150019"/>
                </a:cubicBezTo>
                <a:lnTo>
                  <a:pt x="101798" y="107156"/>
                </a:lnTo>
                <a:cubicBezTo>
                  <a:pt x="101798" y="100325"/>
                  <a:pt x="99957" y="93929"/>
                  <a:pt x="96775" y="88404"/>
                </a:cubicBezTo>
                <a:cubicBezTo>
                  <a:pt x="99856" y="86696"/>
                  <a:pt x="103372" y="85725"/>
                  <a:pt x="107156" y="85725"/>
                </a:cubicBezTo>
                <a:lnTo>
                  <a:pt x="117872" y="85725"/>
                </a:lnTo>
                <a:lnTo>
                  <a:pt x="117872" y="107156"/>
                </a:lnTo>
                <a:cubicBezTo>
                  <a:pt x="117872" y="110103"/>
                  <a:pt x="120283" y="112514"/>
                  <a:pt x="123230" y="112514"/>
                </a:cubicBezTo>
                <a:lnTo>
                  <a:pt x="133945" y="112514"/>
                </a:lnTo>
                <a:cubicBezTo>
                  <a:pt x="136892" y="112514"/>
                  <a:pt x="139303" y="110103"/>
                  <a:pt x="139303" y="107156"/>
                </a:cubicBezTo>
                <a:lnTo>
                  <a:pt x="139303" y="85725"/>
                </a:lnTo>
                <a:lnTo>
                  <a:pt x="150019" y="85725"/>
                </a:lnTo>
                <a:cubicBezTo>
                  <a:pt x="161839" y="85725"/>
                  <a:pt x="171450" y="95336"/>
                  <a:pt x="171450" y="107156"/>
                </a:cubicBezTo>
                <a:lnTo>
                  <a:pt x="171450" y="150019"/>
                </a:lnTo>
                <a:cubicBezTo>
                  <a:pt x="171450" y="161839"/>
                  <a:pt x="161839" y="171450"/>
                  <a:pt x="150019" y="171450"/>
                </a:cubicBezTo>
                <a:lnTo>
                  <a:pt x="107156" y="171450"/>
                </a:lnTo>
                <a:close/>
                <a:moveTo>
                  <a:pt x="0" y="107156"/>
                </a:moveTo>
                <a:cubicBezTo>
                  <a:pt x="0" y="95336"/>
                  <a:pt x="9611" y="85725"/>
                  <a:pt x="21431" y="85725"/>
                </a:cubicBezTo>
                <a:lnTo>
                  <a:pt x="32147" y="85725"/>
                </a:lnTo>
                <a:lnTo>
                  <a:pt x="32147" y="107156"/>
                </a:lnTo>
                <a:cubicBezTo>
                  <a:pt x="32147" y="110103"/>
                  <a:pt x="34558" y="112514"/>
                  <a:pt x="37505" y="112514"/>
                </a:cubicBezTo>
                <a:lnTo>
                  <a:pt x="48220" y="112514"/>
                </a:lnTo>
                <a:cubicBezTo>
                  <a:pt x="51167" y="112514"/>
                  <a:pt x="53578" y="110103"/>
                  <a:pt x="53578" y="107156"/>
                </a:cubicBezTo>
                <a:lnTo>
                  <a:pt x="53578" y="85725"/>
                </a:lnTo>
                <a:lnTo>
                  <a:pt x="64294" y="85725"/>
                </a:lnTo>
                <a:cubicBezTo>
                  <a:pt x="76114" y="85725"/>
                  <a:pt x="85725" y="95336"/>
                  <a:pt x="85725" y="107156"/>
                </a:cubicBezTo>
                <a:lnTo>
                  <a:pt x="85725" y="150019"/>
                </a:lnTo>
                <a:cubicBezTo>
                  <a:pt x="85725" y="161839"/>
                  <a:pt x="76114" y="171450"/>
                  <a:pt x="64294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107156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45" name="Text 43"/>
          <p:cNvSpPr/>
          <p:nvPr/>
        </p:nvSpPr>
        <p:spPr>
          <a:xfrm>
            <a:off x="6691313" y="5238750"/>
            <a:ext cx="1724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商品调拨/收货/盘点流程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1266091" y="5219700"/>
            <a:ext cx="4857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15分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210300" y="5676900"/>
            <a:ext cx="5600700" cy="800100"/>
          </a:xfrm>
          <a:custGeom>
            <a:avLst/>
            <a:gdLst/>
            <a:ahLst/>
            <a:cxnLst/>
            <a:rect l="l" t="t" r="r" b="b"/>
            <a:pathLst>
              <a:path w="5600700" h="800100">
                <a:moveTo>
                  <a:pt x="0" y="0"/>
                </a:moveTo>
                <a:lnTo>
                  <a:pt x="5600700" y="0"/>
                </a:lnTo>
                <a:lnTo>
                  <a:pt x="560070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C47A5A">
              <a:alpha val="10196"/>
            </a:srgbClr>
          </a:solidFill>
        </p:spPr>
      </p:sp>
      <p:sp>
        <p:nvSpPr>
          <p:cNvPr id="48" name="Text 46"/>
          <p:cNvSpPr/>
          <p:nvPr/>
        </p:nvSpPr>
        <p:spPr>
          <a:xfrm>
            <a:off x="6291263" y="5791200"/>
            <a:ext cx="5438775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评分标准：</a:t>
            </a:r>
            <a:r>
              <a:rPr lang="en-US" sz="105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准确说明三级会员权益差异，流畅完成开卡演示；按标准完成试衣间准备、备款推荐、体验营造；准确快速完成收银全流程，无操作失误；独立查询库存并导出指定日期销售报表；正确填写调拨单，规范操作盘点器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yyasw4ib73lsu/day7_data.jpg"/>
          <p:cNvPicPr>
            <a:picLocks noChangeAspect="1"/>
          </p:cNvPicPr>
          <p:nvPr/>
        </p:nvPicPr>
        <p:blipFill>
          <a:blip r:embed="rId1"/>
          <a:srcRect t="781" b="781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A4F41">
                  <a:alpha val="90000"/>
                </a:srgbClr>
              </a:gs>
              <a:gs pos="50000">
                <a:srgbClr val="3A4F41">
                  <a:alpha val="70000"/>
                </a:srgbClr>
              </a:gs>
              <a:gs pos="100000">
                <a:srgbClr val="3A4F41">
                  <a:alpha val="90000"/>
                </a:srgbClr>
              </a:gs>
            </a:gsLst>
            <a:lin ang="5400000" scaled="1"/>
          </a:gradFill>
        </p:spPr>
      </p:sp>
      <p:sp>
        <p:nvSpPr>
          <p:cNvPr id="4" name="Text 1"/>
          <p:cNvSpPr/>
          <p:nvPr/>
        </p:nvSpPr>
        <p:spPr>
          <a:xfrm>
            <a:off x="4486275" y="2190750"/>
            <a:ext cx="3219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kern="0" spc="360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07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352925" y="2647950"/>
            <a:ext cx="348615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F8F7F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第7天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0" y="356235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7" name="Text 4"/>
          <p:cNvSpPr/>
          <p:nvPr/>
        </p:nvSpPr>
        <p:spPr>
          <a:xfrm>
            <a:off x="4452938" y="3905250"/>
            <a:ext cx="32861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F8F7F5">
                    <a:alpha val="9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销售数据分析与客情维系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476750" y="4400550"/>
            <a:ext cx="32385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8F7F5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掌握数据分析 · 深化客情维系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10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07 · OBJECTIVES &amp; CONTENT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教学目标与教学内容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9575" y="1219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5" name="Text 3"/>
          <p:cNvSpPr/>
          <p:nvPr/>
        </p:nvSpPr>
        <p:spPr>
          <a:xfrm>
            <a:off x="781050" y="1181100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教学目标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638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7" name="Text 5"/>
          <p:cNvSpPr/>
          <p:nvPr/>
        </p:nvSpPr>
        <p:spPr>
          <a:xfrm>
            <a:off x="338138" y="1638300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638300"/>
            <a:ext cx="31337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掌握客单价客单量算法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1943100"/>
            <a:ext cx="31242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掌握客单价、客单量算法及基本业绩构成公式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1000" y="24955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11" name="Text 9"/>
          <p:cNvSpPr/>
          <p:nvPr/>
        </p:nvSpPr>
        <p:spPr>
          <a:xfrm>
            <a:off x="338138" y="2495550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2495550"/>
            <a:ext cx="2524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能够导出店铺数据并分析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2800350"/>
            <a:ext cx="25146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能够导出店铺店员数据并分析提升点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1000" y="33528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15" name="Text 13"/>
          <p:cNvSpPr/>
          <p:nvPr/>
        </p:nvSpPr>
        <p:spPr>
          <a:xfrm>
            <a:off x="338138" y="3352800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3352800"/>
            <a:ext cx="29813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理解客情维系目的及技巧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3657600"/>
            <a:ext cx="29718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理解客情维系目的及重要性，掌握实操技巧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1000" y="42100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19" name="Text 17"/>
          <p:cNvSpPr/>
          <p:nvPr/>
        </p:nvSpPr>
        <p:spPr>
          <a:xfrm>
            <a:off x="338138" y="4210050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4210050"/>
            <a:ext cx="31337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了解服装核心面料工艺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" y="4514850"/>
            <a:ext cx="31242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了解凯施迪服装核心面料、工艺及主要优缺点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1000" y="5067300"/>
            <a:ext cx="5600700" cy="1409700"/>
          </a:xfrm>
          <a:custGeom>
            <a:avLst/>
            <a:gdLst/>
            <a:ahLst/>
            <a:cxnLst/>
            <a:rect l="l" t="t" r="r" b="b"/>
            <a:pathLst>
              <a:path w="5600700" h="1409700">
                <a:moveTo>
                  <a:pt x="76194" y="0"/>
                </a:moveTo>
                <a:lnTo>
                  <a:pt x="5524506" y="0"/>
                </a:lnTo>
                <a:cubicBezTo>
                  <a:pt x="5566558" y="0"/>
                  <a:pt x="5600700" y="34142"/>
                  <a:pt x="5600700" y="76194"/>
                </a:cubicBezTo>
                <a:lnTo>
                  <a:pt x="5600700" y="1333506"/>
                </a:lnTo>
                <a:cubicBezTo>
                  <a:pt x="5600700" y="1375587"/>
                  <a:pt x="5566587" y="1409700"/>
                  <a:pt x="5524506" y="1409700"/>
                </a:cubicBezTo>
                <a:lnTo>
                  <a:pt x="76194" y="1409700"/>
                </a:lnTo>
                <a:cubicBezTo>
                  <a:pt x="34142" y="1409700"/>
                  <a:pt x="0" y="1375558"/>
                  <a:pt x="0" y="1333506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3A4F41">
              <a:alpha val="5098"/>
            </a:srgbClr>
          </a:solidFill>
        </p:spPr>
      </p:sp>
      <p:sp>
        <p:nvSpPr>
          <p:cNvPr id="23" name="Shape 21"/>
          <p:cNvSpPr/>
          <p:nvPr/>
        </p:nvSpPr>
        <p:spPr>
          <a:xfrm>
            <a:off x="546497" y="52673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75043" y="32515"/>
                </a:moveTo>
                <a:lnTo>
                  <a:pt x="75043" y="49124"/>
                </a:lnTo>
                <a:lnTo>
                  <a:pt x="75210" y="49292"/>
                </a:lnTo>
                <a:cubicBezTo>
                  <a:pt x="77387" y="21699"/>
                  <a:pt x="100459" y="0"/>
                  <a:pt x="128621" y="0"/>
                </a:cubicBezTo>
                <a:cubicBezTo>
                  <a:pt x="135352" y="0"/>
                  <a:pt x="141815" y="1239"/>
                  <a:pt x="147742" y="3516"/>
                </a:cubicBezTo>
                <a:cubicBezTo>
                  <a:pt x="151090" y="4789"/>
                  <a:pt x="151693" y="9041"/>
                  <a:pt x="149182" y="11586"/>
                </a:cubicBezTo>
                <a:lnTo>
                  <a:pt x="119479" y="41289"/>
                </a:lnTo>
                <a:cubicBezTo>
                  <a:pt x="118475" y="42293"/>
                  <a:pt x="117905" y="43666"/>
                  <a:pt x="117905" y="45073"/>
                </a:cubicBezTo>
                <a:lnTo>
                  <a:pt x="117905" y="58936"/>
                </a:lnTo>
                <a:cubicBezTo>
                  <a:pt x="117905" y="61883"/>
                  <a:pt x="120316" y="64294"/>
                  <a:pt x="123263" y="64294"/>
                </a:cubicBezTo>
                <a:lnTo>
                  <a:pt x="137127" y="64294"/>
                </a:lnTo>
                <a:cubicBezTo>
                  <a:pt x="138533" y="64294"/>
                  <a:pt x="139906" y="63724"/>
                  <a:pt x="140910" y="62720"/>
                </a:cubicBezTo>
                <a:lnTo>
                  <a:pt x="170613" y="33018"/>
                </a:lnTo>
                <a:cubicBezTo>
                  <a:pt x="173158" y="30473"/>
                  <a:pt x="177411" y="31109"/>
                  <a:pt x="178683" y="34457"/>
                </a:cubicBezTo>
                <a:cubicBezTo>
                  <a:pt x="180960" y="40385"/>
                  <a:pt x="182199" y="46847"/>
                  <a:pt x="182199" y="53578"/>
                </a:cubicBezTo>
                <a:cubicBezTo>
                  <a:pt x="182199" y="73871"/>
                  <a:pt x="170914" y="91552"/>
                  <a:pt x="154238" y="100626"/>
                </a:cubicBezTo>
                <a:lnTo>
                  <a:pt x="181529" y="127918"/>
                </a:lnTo>
                <a:cubicBezTo>
                  <a:pt x="187791" y="134180"/>
                  <a:pt x="187791" y="144360"/>
                  <a:pt x="181529" y="150655"/>
                </a:cubicBezTo>
                <a:lnTo>
                  <a:pt x="161404" y="170780"/>
                </a:lnTo>
                <a:cubicBezTo>
                  <a:pt x="155142" y="177042"/>
                  <a:pt x="144962" y="177042"/>
                  <a:pt x="138667" y="170780"/>
                </a:cubicBezTo>
                <a:lnTo>
                  <a:pt x="96474" y="128588"/>
                </a:lnTo>
                <a:cubicBezTo>
                  <a:pt x="87299" y="119412"/>
                  <a:pt x="85223" y="105850"/>
                  <a:pt x="90279" y="94666"/>
                </a:cubicBezTo>
                <a:lnTo>
                  <a:pt x="59907" y="64294"/>
                </a:lnTo>
                <a:lnTo>
                  <a:pt x="43298" y="64294"/>
                </a:lnTo>
                <a:cubicBezTo>
                  <a:pt x="39715" y="64294"/>
                  <a:pt x="36366" y="62519"/>
                  <a:pt x="34390" y="59539"/>
                </a:cubicBezTo>
                <a:lnTo>
                  <a:pt x="7836" y="19723"/>
                </a:lnTo>
                <a:cubicBezTo>
                  <a:pt x="6429" y="17614"/>
                  <a:pt x="6697" y="14767"/>
                  <a:pt x="8506" y="12959"/>
                </a:cubicBezTo>
                <a:lnTo>
                  <a:pt x="23708" y="-2244"/>
                </a:lnTo>
                <a:cubicBezTo>
                  <a:pt x="25517" y="-4052"/>
                  <a:pt x="28329" y="-4320"/>
                  <a:pt x="30473" y="-2913"/>
                </a:cubicBezTo>
                <a:lnTo>
                  <a:pt x="70288" y="23608"/>
                </a:lnTo>
                <a:cubicBezTo>
                  <a:pt x="73268" y="25584"/>
                  <a:pt x="75043" y="28932"/>
                  <a:pt x="75043" y="32515"/>
                </a:cubicBezTo>
                <a:close/>
                <a:moveTo>
                  <a:pt x="72197" y="99320"/>
                </a:moveTo>
                <a:cubicBezTo>
                  <a:pt x="70087" y="111710"/>
                  <a:pt x="73000" y="124804"/>
                  <a:pt x="81037" y="135285"/>
                </a:cubicBezTo>
                <a:lnTo>
                  <a:pt x="49225" y="167063"/>
                </a:lnTo>
                <a:cubicBezTo>
                  <a:pt x="39815" y="176473"/>
                  <a:pt x="24545" y="176473"/>
                  <a:pt x="15136" y="167063"/>
                </a:cubicBezTo>
                <a:cubicBezTo>
                  <a:pt x="5726" y="157654"/>
                  <a:pt x="5726" y="142384"/>
                  <a:pt x="15136" y="132974"/>
                </a:cubicBezTo>
                <a:lnTo>
                  <a:pt x="60476" y="87634"/>
                </a:lnTo>
                <a:lnTo>
                  <a:pt x="72197" y="99354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24" name="Text 22"/>
          <p:cNvSpPr/>
          <p:nvPr/>
        </p:nvSpPr>
        <p:spPr>
          <a:xfrm>
            <a:off x="862013" y="5219700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训前准备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3400" y="5562600"/>
            <a:ext cx="5372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准备近期店铺销售数据样本（脱敏）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3400" y="5829300"/>
            <a:ext cx="5372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准备计算器或Excel模板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3400" y="6096000"/>
            <a:ext cx="5372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准备面料样品（如可行）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38875" y="1219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63088"/>
                </a:moveTo>
                <a:lnTo>
                  <a:pt x="114300" y="201186"/>
                </a:lnTo>
                <a:lnTo>
                  <a:pt x="114523" y="201097"/>
                </a:lnTo>
                <a:cubicBezTo>
                  <a:pt x="138901" y="190961"/>
                  <a:pt x="165065" y="185738"/>
                  <a:pt x="191453" y="185738"/>
                </a:cubicBezTo>
                <a:lnTo>
                  <a:pt x="200025" y="185738"/>
                </a:lnTo>
                <a:lnTo>
                  <a:pt x="200025" y="42863"/>
                </a:lnTo>
                <a:lnTo>
                  <a:pt x="191453" y="42863"/>
                </a:lnTo>
                <a:cubicBezTo>
                  <a:pt x="172611" y="42863"/>
                  <a:pt x="153903" y="46613"/>
                  <a:pt x="136490" y="53846"/>
                </a:cubicBezTo>
                <a:cubicBezTo>
                  <a:pt x="128989" y="56971"/>
                  <a:pt x="121578" y="60052"/>
                  <a:pt x="114300" y="63088"/>
                </a:cubicBezTo>
                <a:close/>
                <a:moveTo>
                  <a:pt x="103093" y="27459"/>
                </a:moveTo>
                <a:lnTo>
                  <a:pt x="114300" y="32147"/>
                </a:lnTo>
                <a:lnTo>
                  <a:pt x="125507" y="27459"/>
                </a:lnTo>
                <a:cubicBezTo>
                  <a:pt x="146402" y="18752"/>
                  <a:pt x="168816" y="14288"/>
                  <a:pt x="191453" y="14288"/>
                </a:cubicBezTo>
                <a:lnTo>
                  <a:pt x="207169" y="14288"/>
                </a:lnTo>
                <a:cubicBezTo>
                  <a:pt x="219001" y="14288"/>
                  <a:pt x="228600" y="23887"/>
                  <a:pt x="228600" y="35719"/>
                </a:cubicBezTo>
                <a:lnTo>
                  <a:pt x="228600" y="192881"/>
                </a:lnTo>
                <a:cubicBezTo>
                  <a:pt x="228600" y="204713"/>
                  <a:pt x="219001" y="214313"/>
                  <a:pt x="207169" y="214313"/>
                </a:cubicBezTo>
                <a:lnTo>
                  <a:pt x="191453" y="214313"/>
                </a:lnTo>
                <a:cubicBezTo>
                  <a:pt x="168816" y="214313"/>
                  <a:pt x="146402" y="218777"/>
                  <a:pt x="125507" y="227484"/>
                </a:cubicBezTo>
                <a:lnTo>
                  <a:pt x="119792" y="229850"/>
                </a:lnTo>
                <a:cubicBezTo>
                  <a:pt x="116265" y="231324"/>
                  <a:pt x="112335" y="231324"/>
                  <a:pt x="108808" y="229850"/>
                </a:cubicBezTo>
                <a:lnTo>
                  <a:pt x="103093" y="227484"/>
                </a:lnTo>
                <a:cubicBezTo>
                  <a:pt x="82198" y="218777"/>
                  <a:pt x="59784" y="214313"/>
                  <a:pt x="37148" y="214313"/>
                </a:cubicBezTo>
                <a:lnTo>
                  <a:pt x="21431" y="214313"/>
                </a:lnTo>
                <a:cubicBezTo>
                  <a:pt x="9599" y="214313"/>
                  <a:pt x="0" y="204713"/>
                  <a:pt x="0" y="192881"/>
                </a:cubicBezTo>
                <a:lnTo>
                  <a:pt x="0" y="35719"/>
                </a:lnTo>
                <a:cubicBezTo>
                  <a:pt x="0" y="23887"/>
                  <a:pt x="9599" y="14288"/>
                  <a:pt x="21431" y="14288"/>
                </a:cubicBezTo>
                <a:lnTo>
                  <a:pt x="37148" y="14288"/>
                </a:lnTo>
                <a:cubicBezTo>
                  <a:pt x="59784" y="14288"/>
                  <a:pt x="82198" y="18752"/>
                  <a:pt x="103093" y="27459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29" name="Text 27"/>
          <p:cNvSpPr/>
          <p:nvPr/>
        </p:nvSpPr>
        <p:spPr>
          <a:xfrm>
            <a:off x="6610350" y="1181100"/>
            <a:ext cx="17145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分模块教学内容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575032" y="1219200"/>
            <a:ext cx="1314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总计时长：95分钟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10300" y="17145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32" name="Text 30"/>
          <p:cNvSpPr/>
          <p:nvPr/>
        </p:nvSpPr>
        <p:spPr>
          <a:xfrm>
            <a:off x="6400800" y="1638300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销售公式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399044" y="1676400"/>
            <a:ext cx="476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20min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00800" y="1943100"/>
            <a:ext cx="54864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介绍客单价、客单量算法，基本的业绩构成公式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10300" y="31432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36" name="Text 34"/>
          <p:cNvSpPr/>
          <p:nvPr/>
        </p:nvSpPr>
        <p:spPr>
          <a:xfrm>
            <a:off x="6400800" y="3067050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数据分析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399044" y="3105150"/>
            <a:ext cx="476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15min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00800" y="3371850"/>
            <a:ext cx="54864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导出店铺店员数据，尝试分析店员的提升点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210300" y="45720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40" name="Text 38"/>
          <p:cNvSpPr/>
          <p:nvPr/>
        </p:nvSpPr>
        <p:spPr>
          <a:xfrm>
            <a:off x="6400800" y="4495800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客情维系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1399044" y="4533900"/>
            <a:ext cx="476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30min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400800" y="4800600"/>
            <a:ext cx="54864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讲解客情维系的目的及重要性；训后练习客情维系环节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210300" y="60007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44" name="Text 42"/>
          <p:cNvSpPr/>
          <p:nvPr/>
        </p:nvSpPr>
        <p:spPr>
          <a:xfrm>
            <a:off x="6400800" y="5924550"/>
            <a:ext cx="11811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基础产品-服装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399044" y="5962650"/>
            <a:ext cx="476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30min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400800" y="6229350"/>
            <a:ext cx="54864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介绍凯施迪的核心面料、工艺以及主要的优缺点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10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07 · PRACTICE &amp; ASSESSMENT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训后练习与阶段考核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9575" y="1257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9740" y="16207"/>
                </a:moveTo>
                <a:cubicBezTo>
                  <a:pt x="64606" y="19601"/>
                  <a:pt x="65767" y="26298"/>
                  <a:pt x="62374" y="31120"/>
                </a:cubicBezTo>
                <a:lnTo>
                  <a:pt x="37371" y="66839"/>
                </a:lnTo>
                <a:cubicBezTo>
                  <a:pt x="35540" y="69428"/>
                  <a:pt x="32683" y="71080"/>
                  <a:pt x="29513" y="71348"/>
                </a:cubicBezTo>
                <a:cubicBezTo>
                  <a:pt x="26343" y="71616"/>
                  <a:pt x="23217" y="70545"/>
                  <a:pt x="20985" y="68312"/>
                </a:cubicBezTo>
                <a:lnTo>
                  <a:pt x="3125" y="50453"/>
                </a:lnTo>
                <a:cubicBezTo>
                  <a:pt x="-1027" y="46256"/>
                  <a:pt x="-1027" y="39469"/>
                  <a:pt x="3125" y="35272"/>
                </a:cubicBezTo>
                <a:cubicBezTo>
                  <a:pt x="7278" y="31075"/>
                  <a:pt x="14109" y="31120"/>
                  <a:pt x="18306" y="35272"/>
                </a:cubicBezTo>
                <a:lnTo>
                  <a:pt x="27146" y="44113"/>
                </a:lnTo>
                <a:lnTo>
                  <a:pt x="44827" y="18842"/>
                </a:lnTo>
                <a:cubicBezTo>
                  <a:pt x="48220" y="13975"/>
                  <a:pt x="54918" y="12814"/>
                  <a:pt x="59740" y="16207"/>
                </a:cubicBezTo>
                <a:close/>
                <a:moveTo>
                  <a:pt x="59740" y="87645"/>
                </a:moveTo>
                <a:cubicBezTo>
                  <a:pt x="64606" y="91038"/>
                  <a:pt x="65767" y="97735"/>
                  <a:pt x="62374" y="102557"/>
                </a:cubicBezTo>
                <a:lnTo>
                  <a:pt x="37371" y="138276"/>
                </a:lnTo>
                <a:cubicBezTo>
                  <a:pt x="35540" y="140866"/>
                  <a:pt x="32683" y="142518"/>
                  <a:pt x="29513" y="142786"/>
                </a:cubicBezTo>
                <a:cubicBezTo>
                  <a:pt x="26343" y="143054"/>
                  <a:pt x="23217" y="141982"/>
                  <a:pt x="20985" y="139750"/>
                </a:cubicBezTo>
                <a:lnTo>
                  <a:pt x="3125" y="121890"/>
                </a:lnTo>
                <a:cubicBezTo>
                  <a:pt x="-1072" y="117693"/>
                  <a:pt x="-1072" y="110907"/>
                  <a:pt x="3125" y="106754"/>
                </a:cubicBezTo>
                <a:cubicBezTo>
                  <a:pt x="7322" y="102602"/>
                  <a:pt x="14109" y="102557"/>
                  <a:pt x="18261" y="106754"/>
                </a:cubicBezTo>
                <a:lnTo>
                  <a:pt x="27102" y="115595"/>
                </a:lnTo>
                <a:lnTo>
                  <a:pt x="44782" y="90324"/>
                </a:lnTo>
                <a:cubicBezTo>
                  <a:pt x="48176" y="85457"/>
                  <a:pt x="54873" y="84296"/>
                  <a:pt x="59695" y="87690"/>
                </a:cubicBezTo>
                <a:close/>
                <a:moveTo>
                  <a:pt x="100013" y="42863"/>
                </a:moveTo>
                <a:cubicBezTo>
                  <a:pt x="100013" y="34960"/>
                  <a:pt x="106397" y="28575"/>
                  <a:pt x="114300" y="28575"/>
                </a:cubicBezTo>
                <a:lnTo>
                  <a:pt x="214313" y="28575"/>
                </a:lnTo>
                <a:cubicBezTo>
                  <a:pt x="222215" y="28575"/>
                  <a:pt x="228600" y="34960"/>
                  <a:pt x="228600" y="42863"/>
                </a:cubicBezTo>
                <a:cubicBezTo>
                  <a:pt x="228600" y="50765"/>
                  <a:pt x="222215" y="57150"/>
                  <a:pt x="214313" y="57150"/>
                </a:cubicBezTo>
                <a:lnTo>
                  <a:pt x="114300" y="57150"/>
                </a:lnTo>
                <a:cubicBezTo>
                  <a:pt x="106397" y="57150"/>
                  <a:pt x="100013" y="50765"/>
                  <a:pt x="100013" y="42863"/>
                </a:cubicBezTo>
                <a:close/>
                <a:moveTo>
                  <a:pt x="100013" y="114300"/>
                </a:moveTo>
                <a:cubicBezTo>
                  <a:pt x="100013" y="106397"/>
                  <a:pt x="106397" y="100013"/>
                  <a:pt x="114300" y="100013"/>
                </a:cubicBezTo>
                <a:lnTo>
                  <a:pt x="214313" y="100013"/>
                </a:lnTo>
                <a:cubicBezTo>
                  <a:pt x="222215" y="100013"/>
                  <a:pt x="228600" y="106397"/>
                  <a:pt x="228600" y="114300"/>
                </a:cubicBezTo>
                <a:cubicBezTo>
                  <a:pt x="228600" y="122203"/>
                  <a:pt x="222215" y="128588"/>
                  <a:pt x="214313" y="128588"/>
                </a:cubicBezTo>
                <a:lnTo>
                  <a:pt x="114300" y="128588"/>
                </a:lnTo>
                <a:cubicBezTo>
                  <a:pt x="106397" y="128588"/>
                  <a:pt x="100013" y="122203"/>
                  <a:pt x="100013" y="114300"/>
                </a:cubicBezTo>
                <a:close/>
                <a:moveTo>
                  <a:pt x="71438" y="185738"/>
                </a:moveTo>
                <a:cubicBezTo>
                  <a:pt x="71438" y="177835"/>
                  <a:pt x="77822" y="171450"/>
                  <a:pt x="85725" y="171450"/>
                </a:cubicBezTo>
                <a:lnTo>
                  <a:pt x="214313" y="171450"/>
                </a:lnTo>
                <a:cubicBezTo>
                  <a:pt x="222215" y="171450"/>
                  <a:pt x="228600" y="177835"/>
                  <a:pt x="228600" y="185738"/>
                </a:cubicBezTo>
                <a:cubicBezTo>
                  <a:pt x="228600" y="193640"/>
                  <a:pt x="222215" y="200025"/>
                  <a:pt x="214313" y="200025"/>
                </a:cubicBezTo>
                <a:lnTo>
                  <a:pt x="85725" y="200025"/>
                </a:lnTo>
                <a:cubicBezTo>
                  <a:pt x="77822" y="200025"/>
                  <a:pt x="71438" y="193640"/>
                  <a:pt x="71438" y="185738"/>
                </a:cubicBezTo>
                <a:close/>
                <a:moveTo>
                  <a:pt x="28575" y="167878"/>
                </a:moveTo>
                <a:cubicBezTo>
                  <a:pt x="38432" y="167878"/>
                  <a:pt x="46434" y="175881"/>
                  <a:pt x="46434" y="185738"/>
                </a:cubicBezTo>
                <a:cubicBezTo>
                  <a:pt x="46434" y="195594"/>
                  <a:pt x="38432" y="203597"/>
                  <a:pt x="28575" y="203597"/>
                </a:cubicBezTo>
                <a:cubicBezTo>
                  <a:pt x="18718" y="203597"/>
                  <a:pt x="10716" y="195594"/>
                  <a:pt x="10716" y="185738"/>
                </a:cubicBezTo>
                <a:cubicBezTo>
                  <a:pt x="10716" y="175881"/>
                  <a:pt x="18718" y="167878"/>
                  <a:pt x="28575" y="167878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5" name="Text 3"/>
          <p:cNvSpPr/>
          <p:nvPr/>
        </p:nvSpPr>
        <p:spPr>
          <a:xfrm>
            <a:off x="781050" y="1219200"/>
            <a:ext cx="1485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训后落地练习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1676400"/>
            <a:ext cx="5581650" cy="971550"/>
          </a:xfrm>
          <a:custGeom>
            <a:avLst/>
            <a:gdLst/>
            <a:ahLst/>
            <a:cxnLst/>
            <a:rect l="l" t="t" r="r" b="b"/>
            <a:pathLst>
              <a:path w="5581650" h="971550">
                <a:moveTo>
                  <a:pt x="38100" y="0"/>
                </a:moveTo>
                <a:lnTo>
                  <a:pt x="5505451" y="0"/>
                </a:lnTo>
                <a:cubicBezTo>
                  <a:pt x="5547535" y="0"/>
                  <a:pt x="5581650" y="34115"/>
                  <a:pt x="5581650" y="76199"/>
                </a:cubicBezTo>
                <a:lnTo>
                  <a:pt x="5581650" y="895351"/>
                </a:lnTo>
                <a:cubicBezTo>
                  <a:pt x="5581650" y="937435"/>
                  <a:pt x="5547535" y="971550"/>
                  <a:pt x="5505451" y="971550"/>
                </a:cubicBez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" name="Shape 5"/>
          <p:cNvSpPr/>
          <p:nvPr/>
        </p:nvSpPr>
        <p:spPr>
          <a:xfrm>
            <a:off x="400050" y="1676400"/>
            <a:ext cx="38100" cy="971550"/>
          </a:xfrm>
          <a:custGeom>
            <a:avLst/>
            <a:gdLst/>
            <a:ahLst/>
            <a:cxnLst/>
            <a:rect l="l" t="t" r="r" b="b"/>
            <a:pathLst>
              <a:path w="38100" h="971550">
                <a:moveTo>
                  <a:pt x="38100" y="0"/>
                </a:moveTo>
                <a:lnTo>
                  <a:pt x="38100" y="0"/>
                </a:lnTo>
                <a:lnTo>
                  <a:pt x="38100" y="971550"/>
                </a:ln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8" name="Shape 6"/>
          <p:cNvSpPr/>
          <p:nvPr/>
        </p:nvSpPr>
        <p:spPr>
          <a:xfrm>
            <a:off x="609600" y="1866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9" name="Text 7"/>
          <p:cNvSpPr/>
          <p:nvPr/>
        </p:nvSpPr>
        <p:spPr>
          <a:xfrm>
            <a:off x="566738" y="1866900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1866900"/>
            <a:ext cx="41338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数据分析与提升建议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2209800"/>
            <a:ext cx="4124325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根据当日店铺数据计算客单价、客单量，并提出3条提升建议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0050" y="2838450"/>
            <a:ext cx="5581650" cy="971550"/>
          </a:xfrm>
          <a:custGeom>
            <a:avLst/>
            <a:gdLst/>
            <a:ahLst/>
            <a:cxnLst/>
            <a:rect l="l" t="t" r="r" b="b"/>
            <a:pathLst>
              <a:path w="5581650" h="971550">
                <a:moveTo>
                  <a:pt x="38100" y="0"/>
                </a:moveTo>
                <a:lnTo>
                  <a:pt x="5505451" y="0"/>
                </a:lnTo>
                <a:cubicBezTo>
                  <a:pt x="5547535" y="0"/>
                  <a:pt x="5581650" y="34115"/>
                  <a:pt x="5581650" y="76199"/>
                </a:cubicBezTo>
                <a:lnTo>
                  <a:pt x="5581650" y="895351"/>
                </a:lnTo>
                <a:cubicBezTo>
                  <a:pt x="5581650" y="937435"/>
                  <a:pt x="5547535" y="971550"/>
                  <a:pt x="5505451" y="971550"/>
                </a:cubicBez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3" name="Shape 11"/>
          <p:cNvSpPr/>
          <p:nvPr/>
        </p:nvSpPr>
        <p:spPr>
          <a:xfrm>
            <a:off x="400050" y="2838450"/>
            <a:ext cx="38100" cy="971550"/>
          </a:xfrm>
          <a:custGeom>
            <a:avLst/>
            <a:gdLst/>
            <a:ahLst/>
            <a:cxnLst/>
            <a:rect l="l" t="t" r="r" b="b"/>
            <a:pathLst>
              <a:path w="38100" h="971550">
                <a:moveTo>
                  <a:pt x="38100" y="0"/>
                </a:moveTo>
                <a:lnTo>
                  <a:pt x="38100" y="0"/>
                </a:lnTo>
                <a:lnTo>
                  <a:pt x="38100" y="971550"/>
                </a:ln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14" name="Shape 12"/>
          <p:cNvSpPr/>
          <p:nvPr/>
        </p:nvSpPr>
        <p:spPr>
          <a:xfrm>
            <a:off x="609600" y="30289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15" name="Text 13"/>
          <p:cNvSpPr/>
          <p:nvPr/>
        </p:nvSpPr>
        <p:spPr>
          <a:xfrm>
            <a:off x="566738" y="3028950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3028950"/>
            <a:ext cx="4591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客情维系话术练习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3371850"/>
            <a:ext cx="4581525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模拟电话回访2位会员，练习客情维系话术，提升客户关系管理能力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1000" y="5181600"/>
            <a:ext cx="5600700" cy="1295400"/>
          </a:xfrm>
          <a:custGeom>
            <a:avLst/>
            <a:gdLst/>
            <a:ahLst/>
            <a:cxnLst/>
            <a:rect l="l" t="t" r="r" b="b"/>
            <a:pathLst>
              <a:path w="5600700" h="1295400">
                <a:moveTo>
                  <a:pt x="76195" y="0"/>
                </a:moveTo>
                <a:lnTo>
                  <a:pt x="5524505" y="0"/>
                </a:lnTo>
                <a:cubicBezTo>
                  <a:pt x="5566558" y="0"/>
                  <a:pt x="5600700" y="34142"/>
                  <a:pt x="5600700" y="76195"/>
                </a:cubicBezTo>
                <a:lnTo>
                  <a:pt x="5600700" y="1219205"/>
                </a:lnTo>
                <a:cubicBezTo>
                  <a:pt x="5600700" y="1261286"/>
                  <a:pt x="5566586" y="1295400"/>
                  <a:pt x="5524505" y="1295400"/>
                </a:cubicBezTo>
                <a:lnTo>
                  <a:pt x="76195" y="1295400"/>
                </a:lnTo>
                <a:cubicBezTo>
                  <a:pt x="34142" y="1295400"/>
                  <a:pt x="0" y="1261258"/>
                  <a:pt x="0" y="121920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3A4F41">
              <a:alpha val="5098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595313" y="54102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47625" y="35719"/>
                </a:moveTo>
                <a:cubicBezTo>
                  <a:pt x="47625" y="29133"/>
                  <a:pt x="52946" y="23812"/>
                  <a:pt x="59531" y="23812"/>
                </a:cubicBezTo>
                <a:lnTo>
                  <a:pt x="130969" y="23812"/>
                </a:lnTo>
                <a:cubicBezTo>
                  <a:pt x="137554" y="23812"/>
                  <a:pt x="142875" y="29133"/>
                  <a:pt x="142875" y="35719"/>
                </a:cubicBezTo>
                <a:cubicBezTo>
                  <a:pt x="142875" y="42304"/>
                  <a:pt x="137554" y="47625"/>
                  <a:pt x="130969" y="47625"/>
                </a:cubicBezTo>
                <a:lnTo>
                  <a:pt x="59531" y="47625"/>
                </a:lnTo>
                <a:cubicBezTo>
                  <a:pt x="52946" y="47625"/>
                  <a:pt x="47625" y="42304"/>
                  <a:pt x="47625" y="35719"/>
                </a:cubicBezTo>
                <a:close/>
                <a:moveTo>
                  <a:pt x="59531" y="65484"/>
                </a:moveTo>
                <a:lnTo>
                  <a:pt x="107156" y="65484"/>
                </a:lnTo>
                <a:cubicBezTo>
                  <a:pt x="113742" y="65484"/>
                  <a:pt x="119063" y="70805"/>
                  <a:pt x="119063" y="77391"/>
                </a:cubicBezTo>
                <a:cubicBezTo>
                  <a:pt x="119063" y="83976"/>
                  <a:pt x="113742" y="89297"/>
                  <a:pt x="107156" y="89297"/>
                </a:cubicBezTo>
                <a:lnTo>
                  <a:pt x="59531" y="89297"/>
                </a:lnTo>
                <a:cubicBezTo>
                  <a:pt x="52946" y="89297"/>
                  <a:pt x="47625" y="83976"/>
                  <a:pt x="47625" y="77391"/>
                </a:cubicBezTo>
                <a:cubicBezTo>
                  <a:pt x="47625" y="70805"/>
                  <a:pt x="52946" y="65484"/>
                  <a:pt x="59531" y="65484"/>
                </a:cubicBezTo>
                <a:close/>
                <a:moveTo>
                  <a:pt x="59531" y="107156"/>
                </a:move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59531" y="130969"/>
                </a:lnTo>
                <a:cubicBezTo>
                  <a:pt x="52946" y="130969"/>
                  <a:pt x="47625" y="125648"/>
                  <a:pt x="47625" y="119063"/>
                </a:cubicBezTo>
                <a:cubicBezTo>
                  <a:pt x="47625" y="112477"/>
                  <a:pt x="52946" y="107156"/>
                  <a:pt x="59531" y="107156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20" name="Text 18"/>
          <p:cNvSpPr/>
          <p:nvPr/>
        </p:nvSpPr>
        <p:spPr>
          <a:xfrm>
            <a:off x="923925" y="5372100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业绩公式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1500" y="5753100"/>
            <a:ext cx="5219700" cy="533400"/>
          </a:xfrm>
          <a:custGeom>
            <a:avLst/>
            <a:gdLst/>
            <a:ahLst/>
            <a:cxnLst/>
            <a:rect l="l" t="t" r="r" b="b"/>
            <a:pathLst>
              <a:path w="5219700" h="533400">
                <a:moveTo>
                  <a:pt x="76202" y="0"/>
                </a:moveTo>
                <a:lnTo>
                  <a:pt x="5143498" y="0"/>
                </a:lnTo>
                <a:cubicBezTo>
                  <a:pt x="5185583" y="0"/>
                  <a:pt x="5219700" y="34117"/>
                  <a:pt x="5219700" y="76202"/>
                </a:cubicBezTo>
                <a:lnTo>
                  <a:pt x="5219700" y="457198"/>
                </a:lnTo>
                <a:cubicBezTo>
                  <a:pt x="5219700" y="499283"/>
                  <a:pt x="5185583" y="533400"/>
                  <a:pt x="51434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2" name="Text 20"/>
          <p:cNvSpPr/>
          <p:nvPr/>
        </p:nvSpPr>
        <p:spPr>
          <a:xfrm>
            <a:off x="628650" y="5867400"/>
            <a:ext cx="5105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客单价 × 客单量 = 业绩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67450" y="12573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9035" y="14288"/>
                </a:moveTo>
                <a:lnTo>
                  <a:pt x="142875" y="14288"/>
                </a:lnTo>
                <a:cubicBezTo>
                  <a:pt x="158636" y="14288"/>
                  <a:pt x="171450" y="27102"/>
                  <a:pt x="171450" y="42863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42863"/>
                </a:lnTo>
                <a:cubicBezTo>
                  <a:pt x="0" y="27102"/>
                  <a:pt x="12814" y="14288"/>
                  <a:pt x="28575" y="14288"/>
                </a:cubicBezTo>
                <a:lnTo>
                  <a:pt x="32415" y="14288"/>
                </a:lnTo>
                <a:cubicBezTo>
                  <a:pt x="37326" y="5760"/>
                  <a:pt x="46568" y="0"/>
                  <a:pt x="57150" y="0"/>
                </a:cubicBezTo>
                <a:lnTo>
                  <a:pt x="114300" y="0"/>
                </a:lnTo>
                <a:cubicBezTo>
                  <a:pt x="124882" y="0"/>
                  <a:pt x="134124" y="5760"/>
                  <a:pt x="139035" y="14288"/>
                </a:cubicBezTo>
                <a:close/>
                <a:moveTo>
                  <a:pt x="110728" y="50006"/>
                </a:moveTo>
                <a:cubicBezTo>
                  <a:pt x="116666" y="50006"/>
                  <a:pt x="121444" y="45229"/>
                  <a:pt x="121444" y="39291"/>
                </a:cubicBezTo>
                <a:cubicBezTo>
                  <a:pt x="121444" y="33352"/>
                  <a:pt x="116666" y="28575"/>
                  <a:pt x="110728" y="28575"/>
                </a:cubicBezTo>
                <a:lnTo>
                  <a:pt x="60722" y="28575"/>
                </a:lnTo>
                <a:cubicBezTo>
                  <a:pt x="54784" y="28575"/>
                  <a:pt x="50006" y="33352"/>
                  <a:pt x="50006" y="39291"/>
                </a:cubicBezTo>
                <a:cubicBezTo>
                  <a:pt x="50006" y="45229"/>
                  <a:pt x="54784" y="50006"/>
                  <a:pt x="60722" y="50006"/>
                </a:cubicBezTo>
                <a:lnTo>
                  <a:pt x="110728" y="50006"/>
                </a:lnTo>
                <a:close/>
                <a:moveTo>
                  <a:pt x="57150" y="114300"/>
                </a:moveTo>
                <a:cubicBezTo>
                  <a:pt x="57150" y="106415"/>
                  <a:pt x="50748" y="100013"/>
                  <a:pt x="42863" y="100013"/>
                </a:cubicBezTo>
                <a:cubicBezTo>
                  <a:pt x="34977" y="100013"/>
                  <a:pt x="28575" y="106415"/>
                  <a:pt x="28575" y="114300"/>
                </a:cubicBezTo>
                <a:cubicBezTo>
                  <a:pt x="28575" y="122185"/>
                  <a:pt x="34977" y="128588"/>
                  <a:pt x="42863" y="128588"/>
                </a:cubicBezTo>
                <a:cubicBezTo>
                  <a:pt x="50748" y="128588"/>
                  <a:pt x="57150" y="122185"/>
                  <a:pt x="57150" y="114300"/>
                </a:cubicBezTo>
                <a:close/>
                <a:moveTo>
                  <a:pt x="71438" y="114300"/>
                </a:moveTo>
                <a:cubicBezTo>
                  <a:pt x="71438" y="120238"/>
                  <a:pt x="76215" y="125016"/>
                  <a:pt x="82153" y="125016"/>
                </a:cubicBezTo>
                <a:lnTo>
                  <a:pt x="132159" y="125016"/>
                </a:lnTo>
                <a:cubicBezTo>
                  <a:pt x="138098" y="125016"/>
                  <a:pt x="142875" y="120238"/>
                  <a:pt x="142875" y="114300"/>
                </a:cubicBezTo>
                <a:cubicBezTo>
                  <a:pt x="142875" y="108362"/>
                  <a:pt x="138098" y="103584"/>
                  <a:pt x="132159" y="103584"/>
                </a:cubicBezTo>
                <a:lnTo>
                  <a:pt x="82153" y="103584"/>
                </a:lnTo>
                <a:cubicBezTo>
                  <a:pt x="76215" y="103584"/>
                  <a:pt x="71438" y="108362"/>
                  <a:pt x="71438" y="114300"/>
                </a:cubicBezTo>
                <a:close/>
                <a:moveTo>
                  <a:pt x="71438" y="171450"/>
                </a:moveTo>
                <a:cubicBezTo>
                  <a:pt x="71438" y="177388"/>
                  <a:pt x="76215" y="182166"/>
                  <a:pt x="82153" y="182166"/>
                </a:cubicBezTo>
                <a:lnTo>
                  <a:pt x="132159" y="182166"/>
                </a:lnTo>
                <a:cubicBezTo>
                  <a:pt x="138098" y="182166"/>
                  <a:pt x="142875" y="177388"/>
                  <a:pt x="142875" y="171450"/>
                </a:cubicBezTo>
                <a:cubicBezTo>
                  <a:pt x="142875" y="165512"/>
                  <a:pt x="138098" y="160734"/>
                  <a:pt x="132159" y="160734"/>
                </a:cubicBezTo>
                <a:lnTo>
                  <a:pt x="82153" y="160734"/>
                </a:lnTo>
                <a:cubicBezTo>
                  <a:pt x="76215" y="160734"/>
                  <a:pt x="71438" y="165512"/>
                  <a:pt x="71438" y="171450"/>
                </a:cubicBezTo>
                <a:close/>
                <a:moveTo>
                  <a:pt x="42863" y="185738"/>
                </a:moveTo>
                <a:cubicBezTo>
                  <a:pt x="50748" y="185738"/>
                  <a:pt x="57150" y="179335"/>
                  <a:pt x="57150" y="171450"/>
                </a:cubicBezTo>
                <a:cubicBezTo>
                  <a:pt x="57150" y="163565"/>
                  <a:pt x="50748" y="157163"/>
                  <a:pt x="42863" y="157163"/>
                </a:cubicBezTo>
                <a:cubicBezTo>
                  <a:pt x="34977" y="157163"/>
                  <a:pt x="28575" y="163565"/>
                  <a:pt x="28575" y="171450"/>
                </a:cubicBezTo>
                <a:cubicBezTo>
                  <a:pt x="28575" y="179335"/>
                  <a:pt x="34977" y="185738"/>
                  <a:pt x="42863" y="185738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24" name="Text 22"/>
          <p:cNvSpPr/>
          <p:nvPr/>
        </p:nvSpPr>
        <p:spPr>
          <a:xfrm>
            <a:off x="6610350" y="1219200"/>
            <a:ext cx="1485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阶段考核说明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10300" y="1676400"/>
            <a:ext cx="5600700" cy="4800600"/>
          </a:xfrm>
          <a:custGeom>
            <a:avLst/>
            <a:gdLst/>
            <a:ahLst/>
            <a:cxnLst/>
            <a:rect l="l" t="t" r="r" b="b"/>
            <a:pathLst>
              <a:path w="5600700" h="4800600">
                <a:moveTo>
                  <a:pt x="76186" y="0"/>
                </a:moveTo>
                <a:lnTo>
                  <a:pt x="5524514" y="0"/>
                </a:lnTo>
                <a:cubicBezTo>
                  <a:pt x="5566591" y="0"/>
                  <a:pt x="5600700" y="34109"/>
                  <a:pt x="5600700" y="76186"/>
                </a:cubicBezTo>
                <a:lnTo>
                  <a:pt x="5600700" y="4724414"/>
                </a:lnTo>
                <a:cubicBezTo>
                  <a:pt x="5600700" y="4766491"/>
                  <a:pt x="5566591" y="4800600"/>
                  <a:pt x="5524514" y="4800600"/>
                </a:cubicBezTo>
                <a:lnTo>
                  <a:pt x="76186" y="4800600"/>
                </a:lnTo>
                <a:cubicBezTo>
                  <a:pt x="34109" y="4800600"/>
                  <a:pt x="0" y="4766491"/>
                  <a:pt x="0" y="4724414"/>
                </a:cubicBezTo>
                <a:lnTo>
                  <a:pt x="0" y="76186"/>
                </a:lnTo>
                <a:cubicBezTo>
                  <a:pt x="0" y="34138"/>
                  <a:pt x="34138" y="0"/>
                  <a:pt x="76186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6" name="Shape 24"/>
          <p:cNvSpPr/>
          <p:nvPr/>
        </p:nvSpPr>
        <p:spPr>
          <a:xfrm>
            <a:off x="6210300" y="1676400"/>
            <a:ext cx="5600700" cy="838200"/>
          </a:xfrm>
          <a:custGeom>
            <a:avLst/>
            <a:gdLst/>
            <a:ahLst/>
            <a:cxnLst/>
            <a:rect l="l" t="t" r="r" b="b"/>
            <a:pathLst>
              <a:path w="5600700" h="838200">
                <a:moveTo>
                  <a:pt x="0" y="0"/>
                </a:moveTo>
                <a:lnTo>
                  <a:pt x="5600700" y="0"/>
                </a:lnTo>
                <a:lnTo>
                  <a:pt x="56007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A9A299"/>
          </a:solidFill>
        </p:spPr>
      </p:sp>
      <p:sp>
        <p:nvSpPr>
          <p:cNvPr id="27" name="Text 25"/>
          <p:cNvSpPr/>
          <p:nvPr/>
        </p:nvSpPr>
        <p:spPr>
          <a:xfrm>
            <a:off x="6329363" y="1828800"/>
            <a:ext cx="5362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7F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第7-8天合并考核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05550" y="2057400"/>
            <a:ext cx="5410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8F7F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总分100分，80分及格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62700" y="3089275"/>
            <a:ext cx="5295900" cy="6350"/>
          </a:xfrm>
          <a:custGeom>
            <a:avLst/>
            <a:gdLst/>
            <a:ahLst/>
            <a:cxnLst/>
            <a:rect l="l" t="t" r="r" b="b"/>
            <a:pathLst>
              <a:path w="5295900" h="6350">
                <a:moveTo>
                  <a:pt x="0" y="0"/>
                </a:moveTo>
                <a:lnTo>
                  <a:pt x="5295900" y="0"/>
                </a:lnTo>
                <a:lnTo>
                  <a:pt x="529590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A9A299">
              <a:alpha val="20000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6386513" y="27908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17805" y="8372"/>
                </a:moveTo>
                <a:cubicBezTo>
                  <a:pt x="120417" y="2076"/>
                  <a:pt x="127315" y="-1306"/>
                  <a:pt x="133912" y="502"/>
                </a:cubicBezTo>
                <a:lnTo>
                  <a:pt x="135754" y="1005"/>
                </a:lnTo>
                <a:cubicBezTo>
                  <a:pt x="157386" y="6898"/>
                  <a:pt x="175870" y="27861"/>
                  <a:pt x="170479" y="53377"/>
                </a:cubicBezTo>
                <a:cubicBezTo>
                  <a:pt x="158055" y="111978"/>
                  <a:pt x="111945" y="158089"/>
                  <a:pt x="53344" y="170512"/>
                </a:cubicBezTo>
                <a:cubicBezTo>
                  <a:pt x="27794" y="175937"/>
                  <a:pt x="6865" y="157419"/>
                  <a:pt x="971" y="135787"/>
                </a:cubicBezTo>
                <a:lnTo>
                  <a:pt x="469" y="133945"/>
                </a:lnTo>
                <a:cubicBezTo>
                  <a:pt x="-1339" y="127349"/>
                  <a:pt x="2043" y="120450"/>
                  <a:pt x="8338" y="117838"/>
                </a:cubicBezTo>
                <a:lnTo>
                  <a:pt x="40920" y="104276"/>
                </a:lnTo>
                <a:cubicBezTo>
                  <a:pt x="46446" y="101966"/>
                  <a:pt x="52841" y="103573"/>
                  <a:pt x="56659" y="108228"/>
                </a:cubicBezTo>
                <a:lnTo>
                  <a:pt x="69585" y="124033"/>
                </a:lnTo>
                <a:cubicBezTo>
                  <a:pt x="93125" y="112347"/>
                  <a:pt x="112045" y="92791"/>
                  <a:pt x="122928" y="68814"/>
                </a:cubicBezTo>
                <a:lnTo>
                  <a:pt x="108161" y="56726"/>
                </a:lnTo>
                <a:cubicBezTo>
                  <a:pt x="103506" y="52942"/>
                  <a:pt x="101932" y="46546"/>
                  <a:pt x="104209" y="40987"/>
                </a:cubicBezTo>
                <a:lnTo>
                  <a:pt x="117805" y="8372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31" name="Text 29"/>
          <p:cNvSpPr/>
          <p:nvPr/>
        </p:nvSpPr>
        <p:spPr>
          <a:xfrm>
            <a:off x="6691313" y="276225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客情维系环节实操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241881" y="2743200"/>
            <a:ext cx="5143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20分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62700" y="3965575"/>
            <a:ext cx="5295900" cy="6350"/>
          </a:xfrm>
          <a:custGeom>
            <a:avLst/>
            <a:gdLst/>
            <a:ahLst/>
            <a:cxnLst/>
            <a:rect l="l" t="t" r="r" b="b"/>
            <a:pathLst>
              <a:path w="5295900" h="6350">
                <a:moveTo>
                  <a:pt x="0" y="0"/>
                </a:moveTo>
                <a:lnTo>
                  <a:pt x="5295900" y="0"/>
                </a:lnTo>
                <a:lnTo>
                  <a:pt x="529590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A9A299">
              <a:alpha val="20000"/>
            </a:srgbClr>
          </a:solidFill>
        </p:spPr>
      </p:sp>
      <p:sp>
        <p:nvSpPr>
          <p:cNvPr id="34" name="Shape 32"/>
          <p:cNvSpPr/>
          <p:nvPr/>
        </p:nvSpPr>
        <p:spPr>
          <a:xfrm>
            <a:off x="6407944" y="366712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21431" y="0"/>
                </a:moveTo>
                <a:cubicBezTo>
                  <a:pt x="9611" y="0"/>
                  <a:pt x="0" y="9611"/>
                  <a:pt x="0" y="21431"/>
                </a:cubicBezTo>
                <a:lnTo>
                  <a:pt x="0" y="150019"/>
                </a:lnTo>
                <a:cubicBezTo>
                  <a:pt x="0" y="161839"/>
                  <a:pt x="9611" y="171450"/>
                  <a:pt x="21431" y="171450"/>
                </a:cubicBezTo>
                <a:lnTo>
                  <a:pt x="107156" y="171450"/>
                </a:lnTo>
                <a:cubicBezTo>
                  <a:pt x="118977" y="171450"/>
                  <a:pt x="128588" y="161839"/>
                  <a:pt x="128588" y="150019"/>
                </a:cubicBezTo>
                <a:lnTo>
                  <a:pt x="128588" y="21431"/>
                </a:lnTo>
                <a:cubicBezTo>
                  <a:pt x="128588" y="9611"/>
                  <a:pt x="118977" y="0"/>
                  <a:pt x="107156" y="0"/>
                </a:cubicBezTo>
                <a:lnTo>
                  <a:pt x="21431" y="0"/>
                </a:lnTo>
                <a:close/>
                <a:moveTo>
                  <a:pt x="32147" y="21431"/>
                </a:moveTo>
                <a:lnTo>
                  <a:pt x="96441" y="21431"/>
                </a:lnTo>
                <a:cubicBezTo>
                  <a:pt x="102368" y="21431"/>
                  <a:pt x="107156" y="26220"/>
                  <a:pt x="107156" y="32147"/>
                </a:cubicBezTo>
                <a:lnTo>
                  <a:pt x="107156" y="42863"/>
                </a:lnTo>
                <a:cubicBezTo>
                  <a:pt x="107156" y="48790"/>
                  <a:pt x="102368" y="53578"/>
                  <a:pt x="96441" y="53578"/>
                </a:cubicBezTo>
                <a:lnTo>
                  <a:pt x="32147" y="53578"/>
                </a:lnTo>
                <a:cubicBezTo>
                  <a:pt x="26220" y="53578"/>
                  <a:pt x="21431" y="48790"/>
                  <a:pt x="21431" y="42863"/>
                </a:cubicBezTo>
                <a:lnTo>
                  <a:pt x="21431" y="32147"/>
                </a:lnTo>
                <a:cubicBezTo>
                  <a:pt x="21431" y="26220"/>
                  <a:pt x="26220" y="21431"/>
                  <a:pt x="32147" y="21431"/>
                </a:cubicBezTo>
                <a:close/>
                <a:moveTo>
                  <a:pt x="37505" y="77688"/>
                </a:moveTo>
                <a:cubicBezTo>
                  <a:pt x="37505" y="82124"/>
                  <a:pt x="33904" y="85725"/>
                  <a:pt x="29468" y="85725"/>
                </a:cubicBezTo>
                <a:cubicBezTo>
                  <a:pt x="25032" y="85725"/>
                  <a:pt x="21431" y="82124"/>
                  <a:pt x="21431" y="77688"/>
                </a:cubicBezTo>
                <a:cubicBezTo>
                  <a:pt x="21431" y="73253"/>
                  <a:pt x="25032" y="69652"/>
                  <a:pt x="29468" y="69652"/>
                </a:cubicBezTo>
                <a:cubicBezTo>
                  <a:pt x="33904" y="69652"/>
                  <a:pt x="37505" y="73253"/>
                  <a:pt x="37505" y="77688"/>
                </a:cubicBezTo>
                <a:close/>
                <a:moveTo>
                  <a:pt x="64294" y="85725"/>
                </a:moveTo>
                <a:cubicBezTo>
                  <a:pt x="59858" y="85725"/>
                  <a:pt x="56257" y="82124"/>
                  <a:pt x="56257" y="77688"/>
                </a:cubicBezTo>
                <a:cubicBezTo>
                  <a:pt x="56257" y="73253"/>
                  <a:pt x="59858" y="69652"/>
                  <a:pt x="64294" y="69652"/>
                </a:cubicBezTo>
                <a:cubicBezTo>
                  <a:pt x="68729" y="69652"/>
                  <a:pt x="72330" y="73253"/>
                  <a:pt x="72330" y="77688"/>
                </a:cubicBezTo>
                <a:cubicBezTo>
                  <a:pt x="72330" y="82124"/>
                  <a:pt x="68729" y="85725"/>
                  <a:pt x="64294" y="85725"/>
                </a:cubicBezTo>
                <a:close/>
                <a:moveTo>
                  <a:pt x="107156" y="77688"/>
                </a:moveTo>
                <a:cubicBezTo>
                  <a:pt x="107156" y="82124"/>
                  <a:pt x="103555" y="85725"/>
                  <a:pt x="99120" y="85725"/>
                </a:cubicBezTo>
                <a:cubicBezTo>
                  <a:pt x="94684" y="85725"/>
                  <a:pt x="91083" y="82124"/>
                  <a:pt x="91083" y="77688"/>
                </a:cubicBezTo>
                <a:cubicBezTo>
                  <a:pt x="91083" y="73253"/>
                  <a:pt x="94684" y="69652"/>
                  <a:pt x="99120" y="69652"/>
                </a:cubicBezTo>
                <a:cubicBezTo>
                  <a:pt x="103555" y="69652"/>
                  <a:pt x="107156" y="73253"/>
                  <a:pt x="107156" y="77688"/>
                </a:cubicBezTo>
                <a:close/>
                <a:moveTo>
                  <a:pt x="29468" y="117872"/>
                </a:moveTo>
                <a:cubicBezTo>
                  <a:pt x="25032" y="117872"/>
                  <a:pt x="21431" y="114271"/>
                  <a:pt x="21431" y="109835"/>
                </a:cubicBezTo>
                <a:cubicBezTo>
                  <a:pt x="21431" y="105400"/>
                  <a:pt x="25032" y="101798"/>
                  <a:pt x="29468" y="101798"/>
                </a:cubicBezTo>
                <a:cubicBezTo>
                  <a:pt x="33904" y="101798"/>
                  <a:pt x="37505" y="105400"/>
                  <a:pt x="37505" y="109835"/>
                </a:cubicBezTo>
                <a:cubicBezTo>
                  <a:pt x="37505" y="114271"/>
                  <a:pt x="33904" y="117872"/>
                  <a:pt x="29468" y="117872"/>
                </a:cubicBezTo>
                <a:close/>
                <a:moveTo>
                  <a:pt x="72330" y="109835"/>
                </a:moveTo>
                <a:cubicBezTo>
                  <a:pt x="72330" y="114271"/>
                  <a:pt x="68729" y="117872"/>
                  <a:pt x="64294" y="117872"/>
                </a:cubicBezTo>
                <a:cubicBezTo>
                  <a:pt x="59858" y="117872"/>
                  <a:pt x="56257" y="114271"/>
                  <a:pt x="56257" y="109835"/>
                </a:cubicBezTo>
                <a:cubicBezTo>
                  <a:pt x="56257" y="105400"/>
                  <a:pt x="59858" y="101798"/>
                  <a:pt x="64294" y="101798"/>
                </a:cubicBezTo>
                <a:cubicBezTo>
                  <a:pt x="68729" y="101798"/>
                  <a:pt x="72330" y="105400"/>
                  <a:pt x="72330" y="109835"/>
                </a:cubicBezTo>
                <a:close/>
                <a:moveTo>
                  <a:pt x="99120" y="117872"/>
                </a:moveTo>
                <a:cubicBezTo>
                  <a:pt x="94684" y="117872"/>
                  <a:pt x="91083" y="114271"/>
                  <a:pt x="91083" y="109835"/>
                </a:cubicBezTo>
                <a:cubicBezTo>
                  <a:pt x="91083" y="105400"/>
                  <a:pt x="94684" y="101798"/>
                  <a:pt x="99120" y="101798"/>
                </a:cubicBezTo>
                <a:cubicBezTo>
                  <a:pt x="103555" y="101798"/>
                  <a:pt x="107156" y="105400"/>
                  <a:pt x="107156" y="109835"/>
                </a:cubicBezTo>
                <a:cubicBezTo>
                  <a:pt x="107156" y="114271"/>
                  <a:pt x="103555" y="117872"/>
                  <a:pt x="99120" y="117872"/>
                </a:cubicBezTo>
                <a:close/>
                <a:moveTo>
                  <a:pt x="21431" y="141982"/>
                </a:moveTo>
                <a:cubicBezTo>
                  <a:pt x="21431" y="137528"/>
                  <a:pt x="25014" y="133945"/>
                  <a:pt x="29468" y="133945"/>
                </a:cubicBezTo>
                <a:lnTo>
                  <a:pt x="66973" y="133945"/>
                </a:lnTo>
                <a:cubicBezTo>
                  <a:pt x="71426" y="133945"/>
                  <a:pt x="75009" y="137528"/>
                  <a:pt x="75009" y="141982"/>
                </a:cubicBezTo>
                <a:cubicBezTo>
                  <a:pt x="75009" y="146436"/>
                  <a:pt x="71426" y="150019"/>
                  <a:pt x="66973" y="150019"/>
                </a:cubicBezTo>
                <a:lnTo>
                  <a:pt x="29468" y="150019"/>
                </a:lnTo>
                <a:cubicBezTo>
                  <a:pt x="25014" y="150019"/>
                  <a:pt x="21431" y="146436"/>
                  <a:pt x="21431" y="141982"/>
                </a:cubicBezTo>
                <a:close/>
                <a:moveTo>
                  <a:pt x="99120" y="133945"/>
                </a:moveTo>
                <a:cubicBezTo>
                  <a:pt x="103573" y="133945"/>
                  <a:pt x="107156" y="137528"/>
                  <a:pt x="107156" y="141982"/>
                </a:cubicBezTo>
                <a:cubicBezTo>
                  <a:pt x="107156" y="146436"/>
                  <a:pt x="103573" y="150019"/>
                  <a:pt x="99120" y="150019"/>
                </a:cubicBezTo>
                <a:cubicBezTo>
                  <a:pt x="94666" y="150019"/>
                  <a:pt x="91083" y="146436"/>
                  <a:pt x="91083" y="141982"/>
                </a:cubicBezTo>
                <a:cubicBezTo>
                  <a:pt x="91083" y="137528"/>
                  <a:pt x="94666" y="133945"/>
                  <a:pt x="99120" y="133945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35" name="Text 33"/>
          <p:cNvSpPr/>
          <p:nvPr/>
        </p:nvSpPr>
        <p:spPr>
          <a:xfrm>
            <a:off x="6691313" y="3638550"/>
            <a:ext cx="2209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客单价、客单量计算及提升举措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241782" y="3619500"/>
            <a:ext cx="5143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25分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62700" y="4841875"/>
            <a:ext cx="5295900" cy="6350"/>
          </a:xfrm>
          <a:custGeom>
            <a:avLst/>
            <a:gdLst/>
            <a:ahLst/>
            <a:cxnLst/>
            <a:rect l="l" t="t" r="r" b="b"/>
            <a:pathLst>
              <a:path w="5295900" h="6350">
                <a:moveTo>
                  <a:pt x="0" y="0"/>
                </a:moveTo>
                <a:lnTo>
                  <a:pt x="5295900" y="0"/>
                </a:lnTo>
                <a:lnTo>
                  <a:pt x="529590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A9A299">
              <a:alpha val="20000"/>
            </a:srgbClr>
          </a:solidFill>
        </p:spPr>
      </p:sp>
      <p:sp>
        <p:nvSpPr>
          <p:cNvPr id="38" name="Shape 36"/>
          <p:cNvSpPr/>
          <p:nvPr/>
        </p:nvSpPr>
        <p:spPr>
          <a:xfrm>
            <a:off x="6365081" y="454342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07223" y="37505"/>
                </a:moveTo>
                <a:cubicBezTo>
                  <a:pt x="122024" y="37505"/>
                  <a:pt x="134012" y="25517"/>
                  <a:pt x="134012" y="10716"/>
                </a:cubicBezTo>
                <a:lnTo>
                  <a:pt x="151927" y="10716"/>
                </a:lnTo>
                <a:cubicBezTo>
                  <a:pt x="157620" y="10716"/>
                  <a:pt x="163078" y="12959"/>
                  <a:pt x="167097" y="16978"/>
                </a:cubicBezTo>
                <a:lnTo>
                  <a:pt x="206812" y="56726"/>
                </a:lnTo>
                <a:cubicBezTo>
                  <a:pt x="210997" y="60912"/>
                  <a:pt x="210997" y="67709"/>
                  <a:pt x="206812" y="71895"/>
                </a:cubicBezTo>
                <a:lnTo>
                  <a:pt x="189834" y="88873"/>
                </a:lnTo>
                <a:cubicBezTo>
                  <a:pt x="185648" y="93059"/>
                  <a:pt x="178850" y="93059"/>
                  <a:pt x="174665" y="88873"/>
                </a:cubicBezTo>
                <a:lnTo>
                  <a:pt x="160801" y="75009"/>
                </a:lnTo>
                <a:lnTo>
                  <a:pt x="160801" y="150019"/>
                </a:lnTo>
                <a:cubicBezTo>
                  <a:pt x="160801" y="161839"/>
                  <a:pt x="151191" y="171450"/>
                  <a:pt x="139370" y="171450"/>
                </a:cubicBezTo>
                <a:lnTo>
                  <a:pt x="75076" y="171450"/>
                </a:lnTo>
                <a:cubicBezTo>
                  <a:pt x="63256" y="171450"/>
                  <a:pt x="53645" y="161839"/>
                  <a:pt x="53645" y="150019"/>
                </a:cubicBezTo>
                <a:lnTo>
                  <a:pt x="53645" y="75009"/>
                </a:lnTo>
                <a:lnTo>
                  <a:pt x="39782" y="88873"/>
                </a:lnTo>
                <a:cubicBezTo>
                  <a:pt x="35596" y="93059"/>
                  <a:pt x="28798" y="93059"/>
                  <a:pt x="24612" y="88873"/>
                </a:cubicBezTo>
                <a:lnTo>
                  <a:pt x="7668" y="71862"/>
                </a:lnTo>
                <a:cubicBezTo>
                  <a:pt x="3483" y="67676"/>
                  <a:pt x="3483" y="60878"/>
                  <a:pt x="7668" y="56692"/>
                </a:cubicBezTo>
                <a:lnTo>
                  <a:pt x="47383" y="16978"/>
                </a:lnTo>
                <a:cubicBezTo>
                  <a:pt x="51402" y="12959"/>
                  <a:pt x="56860" y="10716"/>
                  <a:pt x="62552" y="10716"/>
                </a:cubicBezTo>
                <a:lnTo>
                  <a:pt x="80468" y="10716"/>
                </a:lnTo>
                <a:cubicBezTo>
                  <a:pt x="80468" y="25517"/>
                  <a:pt x="92456" y="37505"/>
                  <a:pt x="107257" y="37505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39" name="Text 37"/>
          <p:cNvSpPr/>
          <p:nvPr/>
        </p:nvSpPr>
        <p:spPr>
          <a:xfrm>
            <a:off x="6691313" y="451485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基础产品知识掌握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1242080" y="4495800"/>
            <a:ext cx="5143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30分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65081" y="541972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45541" y="42863"/>
                </a:moveTo>
                <a:cubicBezTo>
                  <a:pt x="45541" y="20685"/>
                  <a:pt x="63547" y="2679"/>
                  <a:pt x="85725" y="2679"/>
                </a:cubicBezTo>
                <a:cubicBezTo>
                  <a:pt x="107903" y="2679"/>
                  <a:pt x="125909" y="20685"/>
                  <a:pt x="125909" y="42862"/>
                </a:cubicBezTo>
                <a:cubicBezTo>
                  <a:pt x="125909" y="65040"/>
                  <a:pt x="107903" y="83046"/>
                  <a:pt x="85725" y="83046"/>
                </a:cubicBezTo>
                <a:cubicBezTo>
                  <a:pt x="63547" y="83046"/>
                  <a:pt x="45541" y="65040"/>
                  <a:pt x="45541" y="42863"/>
                </a:cubicBezTo>
                <a:close/>
                <a:moveTo>
                  <a:pt x="16073" y="161505"/>
                </a:moveTo>
                <a:cubicBezTo>
                  <a:pt x="16073" y="128521"/>
                  <a:pt x="42796" y="101798"/>
                  <a:pt x="75780" y="101798"/>
                </a:cubicBezTo>
                <a:lnTo>
                  <a:pt x="95670" y="101798"/>
                </a:lnTo>
                <a:cubicBezTo>
                  <a:pt x="128654" y="101798"/>
                  <a:pt x="155377" y="128521"/>
                  <a:pt x="155377" y="161505"/>
                </a:cubicBezTo>
                <a:cubicBezTo>
                  <a:pt x="155377" y="166996"/>
                  <a:pt x="150923" y="171450"/>
                  <a:pt x="145431" y="171450"/>
                </a:cubicBezTo>
                <a:lnTo>
                  <a:pt x="26019" y="171450"/>
                </a:lnTo>
                <a:cubicBezTo>
                  <a:pt x="20527" y="171450"/>
                  <a:pt x="16073" y="166996"/>
                  <a:pt x="16073" y="161505"/>
                </a:cubicBezTo>
                <a:close/>
                <a:moveTo>
                  <a:pt x="205070" y="44436"/>
                </a:moveTo>
                <a:lnTo>
                  <a:pt x="178281" y="87299"/>
                </a:lnTo>
                <a:cubicBezTo>
                  <a:pt x="176875" y="89542"/>
                  <a:pt x="174464" y="90949"/>
                  <a:pt x="171818" y="91083"/>
                </a:cubicBezTo>
                <a:cubicBezTo>
                  <a:pt x="169173" y="91217"/>
                  <a:pt x="166628" y="90011"/>
                  <a:pt x="165054" y="87868"/>
                </a:cubicBezTo>
                <a:lnTo>
                  <a:pt x="148981" y="66437"/>
                </a:lnTo>
                <a:cubicBezTo>
                  <a:pt x="146302" y="62887"/>
                  <a:pt x="147038" y="57864"/>
                  <a:pt x="150588" y="55185"/>
                </a:cubicBezTo>
                <a:cubicBezTo>
                  <a:pt x="154138" y="52507"/>
                  <a:pt x="159161" y="53243"/>
                  <a:pt x="161839" y="56793"/>
                </a:cubicBezTo>
                <a:lnTo>
                  <a:pt x="170881" y="68848"/>
                </a:lnTo>
                <a:lnTo>
                  <a:pt x="191441" y="35931"/>
                </a:lnTo>
                <a:cubicBezTo>
                  <a:pt x="193785" y="32180"/>
                  <a:pt x="198741" y="31008"/>
                  <a:pt x="202525" y="33386"/>
                </a:cubicBezTo>
                <a:cubicBezTo>
                  <a:pt x="206309" y="35763"/>
                  <a:pt x="207448" y="40686"/>
                  <a:pt x="205070" y="4447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42" name="Text 40"/>
          <p:cNvSpPr/>
          <p:nvPr/>
        </p:nvSpPr>
        <p:spPr>
          <a:xfrm>
            <a:off x="6691313" y="539115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服务流程综合测评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241782" y="5372100"/>
            <a:ext cx="5143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25分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210300" y="5867400"/>
            <a:ext cx="5600700" cy="609600"/>
          </a:xfrm>
          <a:custGeom>
            <a:avLst/>
            <a:gdLst/>
            <a:ahLst/>
            <a:cxnLst/>
            <a:rect l="l" t="t" r="r" b="b"/>
            <a:pathLst>
              <a:path w="5600700" h="609600">
                <a:moveTo>
                  <a:pt x="0" y="0"/>
                </a:moveTo>
                <a:lnTo>
                  <a:pt x="5600700" y="0"/>
                </a:lnTo>
                <a:lnTo>
                  <a:pt x="56007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A9A299">
              <a:alpha val="10196"/>
            </a:srgbClr>
          </a:solidFill>
        </p:spPr>
      </p:sp>
      <p:sp>
        <p:nvSpPr>
          <p:cNvPr id="45" name="Text 43"/>
          <p:cNvSpPr/>
          <p:nvPr/>
        </p:nvSpPr>
        <p:spPr>
          <a:xfrm>
            <a:off x="6291263" y="5981700"/>
            <a:ext cx="54387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考核说明：</a:t>
            </a:r>
            <a:r>
              <a:rPr lang="en-US" sz="105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第7-8天为一个阶段，将在第8天结束时进行综合考核，评估数据分析能力、客情维系技巧、产品知识掌握及服务流程执行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yyasw4ib73lsu/day8_practice.jpg"/>
          <p:cNvPicPr>
            <a:picLocks noChangeAspect="1"/>
          </p:cNvPicPr>
          <p:nvPr/>
        </p:nvPicPr>
        <p:blipFill>
          <a:blip r:embed="rId1"/>
          <a:srcRect t="781" b="781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A4F41">
                  <a:alpha val="90000"/>
                </a:srgbClr>
              </a:gs>
              <a:gs pos="50000">
                <a:srgbClr val="3A4F41">
                  <a:alpha val="70000"/>
                </a:srgbClr>
              </a:gs>
              <a:gs pos="100000">
                <a:srgbClr val="3A4F41">
                  <a:alpha val="90000"/>
                </a:srgbClr>
              </a:gs>
            </a:gsLst>
            <a:lin ang="5400000" scaled="1"/>
          </a:gradFill>
        </p:spPr>
      </p:sp>
      <p:sp>
        <p:nvSpPr>
          <p:cNvPr id="4" name="Text 1"/>
          <p:cNvSpPr/>
          <p:nvPr/>
        </p:nvSpPr>
        <p:spPr>
          <a:xfrm>
            <a:off x="4776887" y="2190750"/>
            <a:ext cx="26384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kern="0" spc="360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08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643537" y="2647950"/>
            <a:ext cx="2905125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F8F7F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第8天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301" y="356235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7" name="Text 4"/>
          <p:cNvSpPr/>
          <p:nvPr/>
        </p:nvSpPr>
        <p:spPr>
          <a:xfrm>
            <a:off x="4743549" y="3905250"/>
            <a:ext cx="27051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F8F7F5">
                    <a:alpha val="9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服务流程综合训练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767362" y="4400550"/>
            <a:ext cx="26574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8F7F5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强化产品知识 · 综合流程演练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10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08 · OBJECTIVES &amp; CONTENT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教学目标与教学内容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9575" y="1219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5" name="Text 3"/>
          <p:cNvSpPr/>
          <p:nvPr/>
        </p:nvSpPr>
        <p:spPr>
          <a:xfrm>
            <a:off x="781050" y="1181100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教学目标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638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7" name="Text 5"/>
          <p:cNvSpPr/>
          <p:nvPr/>
        </p:nvSpPr>
        <p:spPr>
          <a:xfrm>
            <a:off x="338138" y="1638300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638300"/>
            <a:ext cx="22193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掌握主销产品核心科技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1828800"/>
            <a:ext cx="2524125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掌握主销产品核心科技及主要优缺点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1000" y="2781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11" name="Text 9"/>
          <p:cNvSpPr/>
          <p:nvPr/>
        </p:nvSpPr>
        <p:spPr>
          <a:xfrm>
            <a:off x="338138" y="2781300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2781300"/>
            <a:ext cx="2524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了解配件种类搭配方式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3086100"/>
            <a:ext cx="25146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了解配件种类、搭配方式及销售要点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1000" y="3924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15" name="Text 13"/>
          <p:cNvSpPr/>
          <p:nvPr/>
        </p:nvSpPr>
        <p:spPr>
          <a:xfrm>
            <a:off x="338138" y="3924300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3924300"/>
            <a:ext cx="3286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独立完成完整销售流程演练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4229100"/>
            <a:ext cx="32766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能够独立完成从迎宾到送宾的完整销售流程演练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1000" y="5067300"/>
            <a:ext cx="5600700" cy="1409700"/>
          </a:xfrm>
          <a:custGeom>
            <a:avLst/>
            <a:gdLst/>
            <a:ahLst/>
            <a:cxnLst/>
            <a:rect l="l" t="t" r="r" b="b"/>
            <a:pathLst>
              <a:path w="5600700" h="1409700">
                <a:moveTo>
                  <a:pt x="76194" y="0"/>
                </a:moveTo>
                <a:lnTo>
                  <a:pt x="5524506" y="0"/>
                </a:lnTo>
                <a:cubicBezTo>
                  <a:pt x="5566558" y="0"/>
                  <a:pt x="5600700" y="34142"/>
                  <a:pt x="5600700" y="76194"/>
                </a:cubicBezTo>
                <a:lnTo>
                  <a:pt x="5600700" y="1333506"/>
                </a:lnTo>
                <a:cubicBezTo>
                  <a:pt x="5600700" y="1375587"/>
                  <a:pt x="5566587" y="1409700"/>
                  <a:pt x="5524506" y="1409700"/>
                </a:cubicBezTo>
                <a:lnTo>
                  <a:pt x="76194" y="1409700"/>
                </a:lnTo>
                <a:cubicBezTo>
                  <a:pt x="34142" y="1409700"/>
                  <a:pt x="0" y="1375558"/>
                  <a:pt x="0" y="1333506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3A4F41">
              <a:alpha val="5098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546497" y="52673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75043" y="32515"/>
                </a:moveTo>
                <a:lnTo>
                  <a:pt x="75043" y="49124"/>
                </a:lnTo>
                <a:lnTo>
                  <a:pt x="75210" y="49292"/>
                </a:lnTo>
                <a:cubicBezTo>
                  <a:pt x="77387" y="21699"/>
                  <a:pt x="100459" y="0"/>
                  <a:pt x="128621" y="0"/>
                </a:cubicBezTo>
                <a:cubicBezTo>
                  <a:pt x="135352" y="0"/>
                  <a:pt x="141815" y="1239"/>
                  <a:pt x="147742" y="3516"/>
                </a:cubicBezTo>
                <a:cubicBezTo>
                  <a:pt x="151090" y="4789"/>
                  <a:pt x="151693" y="9041"/>
                  <a:pt x="149182" y="11586"/>
                </a:cubicBezTo>
                <a:lnTo>
                  <a:pt x="119479" y="41289"/>
                </a:lnTo>
                <a:cubicBezTo>
                  <a:pt x="118475" y="42293"/>
                  <a:pt x="117905" y="43666"/>
                  <a:pt x="117905" y="45073"/>
                </a:cubicBezTo>
                <a:lnTo>
                  <a:pt x="117905" y="58936"/>
                </a:lnTo>
                <a:cubicBezTo>
                  <a:pt x="117905" y="61883"/>
                  <a:pt x="120316" y="64294"/>
                  <a:pt x="123263" y="64294"/>
                </a:cubicBezTo>
                <a:lnTo>
                  <a:pt x="137127" y="64294"/>
                </a:lnTo>
                <a:cubicBezTo>
                  <a:pt x="138533" y="64294"/>
                  <a:pt x="139906" y="63724"/>
                  <a:pt x="140910" y="62720"/>
                </a:cubicBezTo>
                <a:lnTo>
                  <a:pt x="170613" y="33018"/>
                </a:lnTo>
                <a:cubicBezTo>
                  <a:pt x="173158" y="30473"/>
                  <a:pt x="177411" y="31109"/>
                  <a:pt x="178683" y="34457"/>
                </a:cubicBezTo>
                <a:cubicBezTo>
                  <a:pt x="180960" y="40385"/>
                  <a:pt x="182199" y="46847"/>
                  <a:pt x="182199" y="53578"/>
                </a:cubicBezTo>
                <a:cubicBezTo>
                  <a:pt x="182199" y="73871"/>
                  <a:pt x="170914" y="91552"/>
                  <a:pt x="154238" y="100626"/>
                </a:cubicBezTo>
                <a:lnTo>
                  <a:pt x="181529" y="127918"/>
                </a:lnTo>
                <a:cubicBezTo>
                  <a:pt x="187791" y="134180"/>
                  <a:pt x="187791" y="144360"/>
                  <a:pt x="181529" y="150655"/>
                </a:cubicBezTo>
                <a:lnTo>
                  <a:pt x="161404" y="170780"/>
                </a:lnTo>
                <a:cubicBezTo>
                  <a:pt x="155142" y="177042"/>
                  <a:pt x="144962" y="177042"/>
                  <a:pt x="138667" y="170780"/>
                </a:cubicBezTo>
                <a:lnTo>
                  <a:pt x="96474" y="128588"/>
                </a:lnTo>
                <a:cubicBezTo>
                  <a:pt x="87299" y="119412"/>
                  <a:pt x="85223" y="105850"/>
                  <a:pt x="90279" y="94666"/>
                </a:cubicBezTo>
                <a:lnTo>
                  <a:pt x="59907" y="64294"/>
                </a:lnTo>
                <a:lnTo>
                  <a:pt x="43298" y="64294"/>
                </a:lnTo>
                <a:cubicBezTo>
                  <a:pt x="39715" y="64294"/>
                  <a:pt x="36366" y="62519"/>
                  <a:pt x="34390" y="59539"/>
                </a:cubicBezTo>
                <a:lnTo>
                  <a:pt x="7836" y="19723"/>
                </a:lnTo>
                <a:cubicBezTo>
                  <a:pt x="6429" y="17614"/>
                  <a:pt x="6697" y="14767"/>
                  <a:pt x="8506" y="12959"/>
                </a:cubicBezTo>
                <a:lnTo>
                  <a:pt x="23708" y="-2244"/>
                </a:lnTo>
                <a:cubicBezTo>
                  <a:pt x="25517" y="-4052"/>
                  <a:pt x="28329" y="-4320"/>
                  <a:pt x="30473" y="-2913"/>
                </a:cubicBezTo>
                <a:lnTo>
                  <a:pt x="70288" y="23608"/>
                </a:lnTo>
                <a:cubicBezTo>
                  <a:pt x="73268" y="25584"/>
                  <a:pt x="75043" y="28932"/>
                  <a:pt x="75043" y="32515"/>
                </a:cubicBezTo>
                <a:close/>
                <a:moveTo>
                  <a:pt x="72197" y="99320"/>
                </a:moveTo>
                <a:cubicBezTo>
                  <a:pt x="70087" y="111710"/>
                  <a:pt x="73000" y="124804"/>
                  <a:pt x="81037" y="135285"/>
                </a:cubicBezTo>
                <a:lnTo>
                  <a:pt x="49225" y="167063"/>
                </a:lnTo>
                <a:cubicBezTo>
                  <a:pt x="39815" y="176473"/>
                  <a:pt x="24545" y="176473"/>
                  <a:pt x="15136" y="167063"/>
                </a:cubicBezTo>
                <a:cubicBezTo>
                  <a:pt x="5726" y="157654"/>
                  <a:pt x="5726" y="142384"/>
                  <a:pt x="15136" y="132974"/>
                </a:cubicBezTo>
                <a:lnTo>
                  <a:pt x="60476" y="87634"/>
                </a:lnTo>
                <a:lnTo>
                  <a:pt x="72197" y="99354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20" name="Text 18"/>
          <p:cNvSpPr/>
          <p:nvPr/>
        </p:nvSpPr>
        <p:spPr>
          <a:xfrm>
            <a:off x="862013" y="5219700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训前准备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3400" y="5562600"/>
            <a:ext cx="5372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准备主推鞋款样品及科技说明资料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3400" y="5829300"/>
            <a:ext cx="5372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准备配件搭配展示（帽子、包、袜子等）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3400" y="6096000"/>
            <a:ext cx="5372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安排店铺空闲时段或模拟卖场环境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38875" y="1219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63088"/>
                </a:moveTo>
                <a:lnTo>
                  <a:pt x="114300" y="201186"/>
                </a:lnTo>
                <a:lnTo>
                  <a:pt x="114523" y="201097"/>
                </a:lnTo>
                <a:cubicBezTo>
                  <a:pt x="138901" y="190961"/>
                  <a:pt x="165065" y="185738"/>
                  <a:pt x="191453" y="185738"/>
                </a:cubicBezTo>
                <a:lnTo>
                  <a:pt x="200025" y="185738"/>
                </a:lnTo>
                <a:lnTo>
                  <a:pt x="200025" y="42863"/>
                </a:lnTo>
                <a:lnTo>
                  <a:pt x="191453" y="42863"/>
                </a:lnTo>
                <a:cubicBezTo>
                  <a:pt x="172611" y="42863"/>
                  <a:pt x="153903" y="46613"/>
                  <a:pt x="136490" y="53846"/>
                </a:cubicBezTo>
                <a:cubicBezTo>
                  <a:pt x="128989" y="56971"/>
                  <a:pt x="121578" y="60052"/>
                  <a:pt x="114300" y="63088"/>
                </a:cubicBezTo>
                <a:close/>
                <a:moveTo>
                  <a:pt x="103093" y="27459"/>
                </a:moveTo>
                <a:lnTo>
                  <a:pt x="114300" y="32147"/>
                </a:lnTo>
                <a:lnTo>
                  <a:pt x="125507" y="27459"/>
                </a:lnTo>
                <a:cubicBezTo>
                  <a:pt x="146402" y="18752"/>
                  <a:pt x="168816" y="14288"/>
                  <a:pt x="191453" y="14288"/>
                </a:cubicBezTo>
                <a:lnTo>
                  <a:pt x="207169" y="14288"/>
                </a:lnTo>
                <a:cubicBezTo>
                  <a:pt x="219001" y="14288"/>
                  <a:pt x="228600" y="23887"/>
                  <a:pt x="228600" y="35719"/>
                </a:cubicBezTo>
                <a:lnTo>
                  <a:pt x="228600" y="192881"/>
                </a:lnTo>
                <a:cubicBezTo>
                  <a:pt x="228600" y="204713"/>
                  <a:pt x="219001" y="214313"/>
                  <a:pt x="207169" y="214313"/>
                </a:cubicBezTo>
                <a:lnTo>
                  <a:pt x="191453" y="214313"/>
                </a:lnTo>
                <a:cubicBezTo>
                  <a:pt x="168816" y="214313"/>
                  <a:pt x="146402" y="218777"/>
                  <a:pt x="125507" y="227484"/>
                </a:cubicBezTo>
                <a:lnTo>
                  <a:pt x="119792" y="229850"/>
                </a:lnTo>
                <a:cubicBezTo>
                  <a:pt x="116265" y="231324"/>
                  <a:pt x="112335" y="231324"/>
                  <a:pt x="108808" y="229850"/>
                </a:cubicBezTo>
                <a:lnTo>
                  <a:pt x="103093" y="227484"/>
                </a:lnTo>
                <a:cubicBezTo>
                  <a:pt x="82198" y="218777"/>
                  <a:pt x="59784" y="214313"/>
                  <a:pt x="37148" y="214313"/>
                </a:cubicBezTo>
                <a:lnTo>
                  <a:pt x="21431" y="214313"/>
                </a:lnTo>
                <a:cubicBezTo>
                  <a:pt x="9599" y="214313"/>
                  <a:pt x="0" y="204713"/>
                  <a:pt x="0" y="192881"/>
                </a:cubicBezTo>
                <a:lnTo>
                  <a:pt x="0" y="35719"/>
                </a:lnTo>
                <a:cubicBezTo>
                  <a:pt x="0" y="23887"/>
                  <a:pt x="9599" y="14288"/>
                  <a:pt x="21431" y="14288"/>
                </a:cubicBezTo>
                <a:lnTo>
                  <a:pt x="37148" y="14288"/>
                </a:lnTo>
                <a:cubicBezTo>
                  <a:pt x="59784" y="14288"/>
                  <a:pt x="82198" y="18752"/>
                  <a:pt x="103093" y="27459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25" name="Text 23"/>
          <p:cNvSpPr/>
          <p:nvPr/>
        </p:nvSpPr>
        <p:spPr>
          <a:xfrm>
            <a:off x="6610350" y="1181100"/>
            <a:ext cx="17145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分模块教学内容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490399" y="1219200"/>
            <a:ext cx="14001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总计时长：120分钟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10300" y="17145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28" name="Text 26"/>
          <p:cNvSpPr/>
          <p:nvPr/>
        </p:nvSpPr>
        <p:spPr>
          <a:xfrm>
            <a:off x="6353175" y="1485900"/>
            <a:ext cx="4692849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主销产品-各类版型裤子、T恤/卫衣、毛衣、大衣、羽绒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399044" y="1676400"/>
            <a:ext cx="476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30min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00800" y="1943100"/>
            <a:ext cx="54864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介绍各类产品的核心科技以及主要的优缺点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10300" y="2984506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32" name="Text 30"/>
          <p:cNvSpPr/>
          <p:nvPr/>
        </p:nvSpPr>
        <p:spPr>
          <a:xfrm>
            <a:off x="6400800" y="2908306"/>
            <a:ext cx="11811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基础产品-配件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399044" y="2946406"/>
            <a:ext cx="476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30min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00800" y="3213106"/>
            <a:ext cx="54864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介绍配件的种类、搭配方式以及主要优缺点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10300" y="4254512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36" name="Text 34"/>
          <p:cNvSpPr/>
          <p:nvPr/>
        </p:nvSpPr>
        <p:spPr>
          <a:xfrm>
            <a:off x="6400800" y="4178312"/>
            <a:ext cx="9429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全流程演练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399044" y="4216412"/>
            <a:ext cx="476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60min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00800" y="4483112"/>
            <a:ext cx="54864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模拟完整销售流程，从迎宾到送宾全流程演练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210300" y="5600700"/>
            <a:ext cx="5600700" cy="876300"/>
          </a:xfrm>
          <a:custGeom>
            <a:avLst/>
            <a:gdLst/>
            <a:ahLst/>
            <a:cxnLst/>
            <a:rect l="l" t="t" r="r" b="b"/>
            <a:pathLst>
              <a:path w="5600700" h="876300">
                <a:moveTo>
                  <a:pt x="76203" y="0"/>
                </a:moveTo>
                <a:lnTo>
                  <a:pt x="5524497" y="0"/>
                </a:lnTo>
                <a:cubicBezTo>
                  <a:pt x="5566583" y="0"/>
                  <a:pt x="5600700" y="34117"/>
                  <a:pt x="5600700" y="76203"/>
                </a:cubicBezTo>
                <a:lnTo>
                  <a:pt x="5600700" y="800097"/>
                </a:lnTo>
                <a:cubicBezTo>
                  <a:pt x="5600700" y="842183"/>
                  <a:pt x="5566583" y="876300"/>
                  <a:pt x="5524497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C47A5A">
              <a:alpha val="10196"/>
            </a:srgbClr>
          </a:solidFill>
        </p:spPr>
      </p:sp>
      <p:sp>
        <p:nvSpPr>
          <p:cNvPr id="40" name="Shape 38"/>
          <p:cNvSpPr/>
          <p:nvPr/>
        </p:nvSpPr>
        <p:spPr>
          <a:xfrm>
            <a:off x="6386513" y="58007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85725" y="45541"/>
                </a:moveTo>
                <a:cubicBezTo>
                  <a:pt x="90179" y="45541"/>
                  <a:pt x="93762" y="49124"/>
                  <a:pt x="93762" y="53578"/>
                </a:cubicBezTo>
                <a:lnTo>
                  <a:pt x="93762" y="91083"/>
                </a:lnTo>
                <a:cubicBezTo>
                  <a:pt x="93762" y="95536"/>
                  <a:pt x="90179" y="99120"/>
                  <a:pt x="85725" y="99120"/>
                </a:cubicBezTo>
                <a:cubicBezTo>
                  <a:pt x="81271" y="99120"/>
                  <a:pt x="77688" y="95536"/>
                  <a:pt x="77688" y="91083"/>
                </a:cubicBezTo>
                <a:lnTo>
                  <a:pt x="77688" y="53578"/>
                </a:lnTo>
                <a:cubicBezTo>
                  <a:pt x="77688" y="49124"/>
                  <a:pt x="81271" y="45541"/>
                  <a:pt x="85725" y="45541"/>
                </a:cubicBezTo>
                <a:close/>
                <a:moveTo>
                  <a:pt x="76784" y="117872"/>
                </a:moveTo>
                <a:cubicBezTo>
                  <a:pt x="76581" y="114553"/>
                  <a:pt x="78236" y="111396"/>
                  <a:pt x="81081" y="109675"/>
                </a:cubicBezTo>
                <a:cubicBezTo>
                  <a:pt x="83926" y="107954"/>
                  <a:pt x="87491" y="107954"/>
                  <a:pt x="90336" y="109675"/>
                </a:cubicBezTo>
                <a:cubicBezTo>
                  <a:pt x="93181" y="111396"/>
                  <a:pt x="94836" y="114553"/>
                  <a:pt x="94632" y="117872"/>
                </a:cubicBezTo>
                <a:cubicBezTo>
                  <a:pt x="94836" y="121191"/>
                  <a:pt x="93181" y="124348"/>
                  <a:pt x="90336" y="126069"/>
                </a:cubicBezTo>
                <a:cubicBezTo>
                  <a:pt x="87491" y="127790"/>
                  <a:pt x="83926" y="127790"/>
                  <a:pt x="81081" y="126069"/>
                </a:cubicBezTo>
                <a:cubicBezTo>
                  <a:pt x="78236" y="124348"/>
                  <a:pt x="76581" y="121191"/>
                  <a:pt x="76784" y="117872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41" name="Text 39"/>
          <p:cNvSpPr/>
          <p:nvPr/>
        </p:nvSpPr>
        <p:spPr>
          <a:xfrm>
            <a:off x="6691313" y="5753100"/>
            <a:ext cx="11144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阶段考核提醒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362700" y="6096000"/>
            <a:ext cx="5372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第7-8天为一个阶段，今天将进行综合考核，请做好准备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10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08 · PRACTICE &amp; ASSESSMENT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训后练习与阶段考核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9575" y="1257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9740" y="16207"/>
                </a:moveTo>
                <a:cubicBezTo>
                  <a:pt x="64606" y="19601"/>
                  <a:pt x="65767" y="26298"/>
                  <a:pt x="62374" y="31120"/>
                </a:cubicBezTo>
                <a:lnTo>
                  <a:pt x="37371" y="66839"/>
                </a:lnTo>
                <a:cubicBezTo>
                  <a:pt x="35540" y="69428"/>
                  <a:pt x="32683" y="71080"/>
                  <a:pt x="29513" y="71348"/>
                </a:cubicBezTo>
                <a:cubicBezTo>
                  <a:pt x="26343" y="71616"/>
                  <a:pt x="23217" y="70545"/>
                  <a:pt x="20985" y="68312"/>
                </a:cubicBezTo>
                <a:lnTo>
                  <a:pt x="3125" y="50453"/>
                </a:lnTo>
                <a:cubicBezTo>
                  <a:pt x="-1027" y="46256"/>
                  <a:pt x="-1027" y="39469"/>
                  <a:pt x="3125" y="35272"/>
                </a:cubicBezTo>
                <a:cubicBezTo>
                  <a:pt x="7278" y="31075"/>
                  <a:pt x="14109" y="31120"/>
                  <a:pt x="18306" y="35272"/>
                </a:cubicBezTo>
                <a:lnTo>
                  <a:pt x="27146" y="44113"/>
                </a:lnTo>
                <a:lnTo>
                  <a:pt x="44827" y="18842"/>
                </a:lnTo>
                <a:cubicBezTo>
                  <a:pt x="48220" y="13975"/>
                  <a:pt x="54918" y="12814"/>
                  <a:pt x="59740" y="16207"/>
                </a:cubicBezTo>
                <a:close/>
                <a:moveTo>
                  <a:pt x="59740" y="87645"/>
                </a:moveTo>
                <a:cubicBezTo>
                  <a:pt x="64606" y="91038"/>
                  <a:pt x="65767" y="97735"/>
                  <a:pt x="62374" y="102557"/>
                </a:cubicBezTo>
                <a:lnTo>
                  <a:pt x="37371" y="138276"/>
                </a:lnTo>
                <a:cubicBezTo>
                  <a:pt x="35540" y="140866"/>
                  <a:pt x="32683" y="142518"/>
                  <a:pt x="29513" y="142786"/>
                </a:cubicBezTo>
                <a:cubicBezTo>
                  <a:pt x="26343" y="143054"/>
                  <a:pt x="23217" y="141982"/>
                  <a:pt x="20985" y="139750"/>
                </a:cubicBezTo>
                <a:lnTo>
                  <a:pt x="3125" y="121890"/>
                </a:lnTo>
                <a:cubicBezTo>
                  <a:pt x="-1072" y="117693"/>
                  <a:pt x="-1072" y="110907"/>
                  <a:pt x="3125" y="106754"/>
                </a:cubicBezTo>
                <a:cubicBezTo>
                  <a:pt x="7322" y="102602"/>
                  <a:pt x="14109" y="102557"/>
                  <a:pt x="18261" y="106754"/>
                </a:cubicBezTo>
                <a:lnTo>
                  <a:pt x="27102" y="115595"/>
                </a:lnTo>
                <a:lnTo>
                  <a:pt x="44782" y="90324"/>
                </a:lnTo>
                <a:cubicBezTo>
                  <a:pt x="48176" y="85457"/>
                  <a:pt x="54873" y="84296"/>
                  <a:pt x="59695" y="87690"/>
                </a:cubicBezTo>
                <a:close/>
                <a:moveTo>
                  <a:pt x="100013" y="42863"/>
                </a:moveTo>
                <a:cubicBezTo>
                  <a:pt x="100013" y="34960"/>
                  <a:pt x="106397" y="28575"/>
                  <a:pt x="114300" y="28575"/>
                </a:cubicBezTo>
                <a:lnTo>
                  <a:pt x="214313" y="28575"/>
                </a:lnTo>
                <a:cubicBezTo>
                  <a:pt x="222215" y="28575"/>
                  <a:pt x="228600" y="34960"/>
                  <a:pt x="228600" y="42863"/>
                </a:cubicBezTo>
                <a:cubicBezTo>
                  <a:pt x="228600" y="50765"/>
                  <a:pt x="222215" y="57150"/>
                  <a:pt x="214313" y="57150"/>
                </a:cubicBezTo>
                <a:lnTo>
                  <a:pt x="114300" y="57150"/>
                </a:lnTo>
                <a:cubicBezTo>
                  <a:pt x="106397" y="57150"/>
                  <a:pt x="100013" y="50765"/>
                  <a:pt x="100013" y="42863"/>
                </a:cubicBezTo>
                <a:close/>
                <a:moveTo>
                  <a:pt x="100013" y="114300"/>
                </a:moveTo>
                <a:cubicBezTo>
                  <a:pt x="100013" y="106397"/>
                  <a:pt x="106397" y="100013"/>
                  <a:pt x="114300" y="100013"/>
                </a:cubicBezTo>
                <a:lnTo>
                  <a:pt x="214313" y="100013"/>
                </a:lnTo>
                <a:cubicBezTo>
                  <a:pt x="222215" y="100013"/>
                  <a:pt x="228600" y="106397"/>
                  <a:pt x="228600" y="114300"/>
                </a:cubicBezTo>
                <a:cubicBezTo>
                  <a:pt x="228600" y="122203"/>
                  <a:pt x="222215" y="128588"/>
                  <a:pt x="214313" y="128588"/>
                </a:cubicBezTo>
                <a:lnTo>
                  <a:pt x="114300" y="128588"/>
                </a:lnTo>
                <a:cubicBezTo>
                  <a:pt x="106397" y="128588"/>
                  <a:pt x="100013" y="122203"/>
                  <a:pt x="100013" y="114300"/>
                </a:cubicBezTo>
                <a:close/>
                <a:moveTo>
                  <a:pt x="71438" y="185738"/>
                </a:moveTo>
                <a:cubicBezTo>
                  <a:pt x="71438" y="177835"/>
                  <a:pt x="77822" y="171450"/>
                  <a:pt x="85725" y="171450"/>
                </a:cubicBezTo>
                <a:lnTo>
                  <a:pt x="214313" y="171450"/>
                </a:lnTo>
                <a:cubicBezTo>
                  <a:pt x="222215" y="171450"/>
                  <a:pt x="228600" y="177835"/>
                  <a:pt x="228600" y="185738"/>
                </a:cubicBezTo>
                <a:cubicBezTo>
                  <a:pt x="228600" y="193640"/>
                  <a:pt x="222215" y="200025"/>
                  <a:pt x="214313" y="200025"/>
                </a:cubicBezTo>
                <a:lnTo>
                  <a:pt x="85725" y="200025"/>
                </a:lnTo>
                <a:cubicBezTo>
                  <a:pt x="77822" y="200025"/>
                  <a:pt x="71438" y="193640"/>
                  <a:pt x="71438" y="185738"/>
                </a:cubicBezTo>
                <a:close/>
                <a:moveTo>
                  <a:pt x="28575" y="167878"/>
                </a:moveTo>
                <a:cubicBezTo>
                  <a:pt x="38432" y="167878"/>
                  <a:pt x="46434" y="175881"/>
                  <a:pt x="46434" y="185738"/>
                </a:cubicBezTo>
                <a:cubicBezTo>
                  <a:pt x="46434" y="195594"/>
                  <a:pt x="38432" y="203597"/>
                  <a:pt x="28575" y="203597"/>
                </a:cubicBezTo>
                <a:cubicBezTo>
                  <a:pt x="18718" y="203597"/>
                  <a:pt x="10716" y="195594"/>
                  <a:pt x="10716" y="185738"/>
                </a:cubicBezTo>
                <a:cubicBezTo>
                  <a:pt x="10716" y="175881"/>
                  <a:pt x="18718" y="167878"/>
                  <a:pt x="28575" y="167878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5" name="Text 3"/>
          <p:cNvSpPr/>
          <p:nvPr/>
        </p:nvSpPr>
        <p:spPr>
          <a:xfrm>
            <a:off x="781050" y="1219200"/>
            <a:ext cx="1485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训后落地练习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1676400"/>
            <a:ext cx="5581650" cy="1219200"/>
          </a:xfrm>
          <a:custGeom>
            <a:avLst/>
            <a:gdLst/>
            <a:ahLst/>
            <a:cxnLst/>
            <a:rect l="l" t="t" r="r" b="b"/>
            <a:pathLst>
              <a:path w="5581650" h="1219200">
                <a:moveTo>
                  <a:pt x="38100" y="0"/>
                </a:moveTo>
                <a:lnTo>
                  <a:pt x="5505450" y="0"/>
                </a:lnTo>
                <a:cubicBezTo>
                  <a:pt x="5547506" y="0"/>
                  <a:pt x="5581650" y="34144"/>
                  <a:pt x="5581650" y="76200"/>
                </a:cubicBezTo>
                <a:lnTo>
                  <a:pt x="5581650" y="1143000"/>
                </a:lnTo>
                <a:cubicBezTo>
                  <a:pt x="5581650" y="1185056"/>
                  <a:pt x="5547506" y="1219200"/>
                  <a:pt x="5505450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" name="Shape 5"/>
          <p:cNvSpPr/>
          <p:nvPr/>
        </p:nvSpPr>
        <p:spPr>
          <a:xfrm>
            <a:off x="400050" y="167640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8" name="Shape 6"/>
          <p:cNvSpPr/>
          <p:nvPr/>
        </p:nvSpPr>
        <p:spPr>
          <a:xfrm>
            <a:off x="609600" y="1866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9" name="Text 7"/>
          <p:cNvSpPr/>
          <p:nvPr/>
        </p:nvSpPr>
        <p:spPr>
          <a:xfrm>
            <a:off x="566738" y="1866900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1866900"/>
            <a:ext cx="47339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完整销售流程演练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2209800"/>
            <a:ext cx="47244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独立完成一次完整销售流程（由带教老师扮演顾客并评分），检验学习成果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0050" y="3086100"/>
            <a:ext cx="5581650" cy="971550"/>
          </a:xfrm>
          <a:custGeom>
            <a:avLst/>
            <a:gdLst/>
            <a:ahLst/>
            <a:cxnLst/>
            <a:rect l="l" t="t" r="r" b="b"/>
            <a:pathLst>
              <a:path w="5581650" h="971550">
                <a:moveTo>
                  <a:pt x="38100" y="0"/>
                </a:moveTo>
                <a:lnTo>
                  <a:pt x="5505451" y="0"/>
                </a:lnTo>
                <a:cubicBezTo>
                  <a:pt x="5547535" y="0"/>
                  <a:pt x="5581650" y="34115"/>
                  <a:pt x="5581650" y="76199"/>
                </a:cubicBezTo>
                <a:lnTo>
                  <a:pt x="5581650" y="895351"/>
                </a:lnTo>
                <a:cubicBezTo>
                  <a:pt x="5581650" y="937435"/>
                  <a:pt x="5547535" y="971550"/>
                  <a:pt x="5505451" y="971550"/>
                </a:cubicBez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3" name="Shape 11"/>
          <p:cNvSpPr/>
          <p:nvPr/>
        </p:nvSpPr>
        <p:spPr>
          <a:xfrm>
            <a:off x="400050" y="3086100"/>
            <a:ext cx="38100" cy="971550"/>
          </a:xfrm>
          <a:custGeom>
            <a:avLst/>
            <a:gdLst/>
            <a:ahLst/>
            <a:cxnLst/>
            <a:rect l="l" t="t" r="r" b="b"/>
            <a:pathLst>
              <a:path w="38100" h="971550">
                <a:moveTo>
                  <a:pt x="38100" y="0"/>
                </a:moveTo>
                <a:lnTo>
                  <a:pt x="38100" y="0"/>
                </a:lnTo>
                <a:lnTo>
                  <a:pt x="38100" y="971550"/>
                </a:ln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14" name="Shape 12"/>
          <p:cNvSpPr/>
          <p:nvPr/>
        </p:nvSpPr>
        <p:spPr>
          <a:xfrm>
            <a:off x="609600" y="3276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15" name="Text 13"/>
          <p:cNvSpPr/>
          <p:nvPr/>
        </p:nvSpPr>
        <p:spPr>
          <a:xfrm>
            <a:off x="566738" y="3276600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3276600"/>
            <a:ext cx="4048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制定改进计划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3619500"/>
            <a:ext cx="40386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整理今日演练中的不足，制定改进计划，持续提升服务能力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1000" y="4572000"/>
            <a:ext cx="5600700" cy="1905000"/>
          </a:xfrm>
          <a:custGeom>
            <a:avLst/>
            <a:gdLst/>
            <a:ahLst/>
            <a:cxnLst/>
            <a:rect l="l" t="t" r="r" b="b"/>
            <a:pathLst>
              <a:path w="5600700" h="1905000">
                <a:moveTo>
                  <a:pt x="76200" y="0"/>
                </a:moveTo>
                <a:lnTo>
                  <a:pt x="5524500" y="0"/>
                </a:lnTo>
                <a:cubicBezTo>
                  <a:pt x="5566556" y="0"/>
                  <a:pt x="5600700" y="34144"/>
                  <a:pt x="5600700" y="76200"/>
                </a:cubicBezTo>
                <a:lnTo>
                  <a:pt x="5600700" y="1828800"/>
                </a:lnTo>
                <a:cubicBezTo>
                  <a:pt x="5600700" y="1870856"/>
                  <a:pt x="5566556" y="1905000"/>
                  <a:pt x="5524500" y="1905000"/>
                </a:cubicBezTo>
                <a:lnTo>
                  <a:pt x="76200" y="1905000"/>
                </a:lnTo>
                <a:cubicBezTo>
                  <a:pt x="34144" y="1905000"/>
                  <a:pt x="0" y="1870856"/>
                  <a:pt x="0" y="1828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A4F41">
              <a:alpha val="5098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595313" y="48006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9783" y="13506"/>
                </a:moveTo>
                <a:cubicBezTo>
                  <a:pt x="53839" y="16334"/>
                  <a:pt x="54806" y="21915"/>
                  <a:pt x="51978" y="25933"/>
                </a:cubicBezTo>
                <a:lnTo>
                  <a:pt x="31142" y="55699"/>
                </a:lnTo>
                <a:cubicBezTo>
                  <a:pt x="29617" y="57857"/>
                  <a:pt x="27236" y="59234"/>
                  <a:pt x="24594" y="59457"/>
                </a:cubicBezTo>
                <a:cubicBezTo>
                  <a:pt x="21952" y="59680"/>
                  <a:pt x="19348" y="58787"/>
                  <a:pt x="17487" y="56927"/>
                </a:cubicBezTo>
                <a:lnTo>
                  <a:pt x="2604" y="42044"/>
                </a:lnTo>
                <a:cubicBezTo>
                  <a:pt x="-856" y="38546"/>
                  <a:pt x="-856" y="32891"/>
                  <a:pt x="2604" y="29394"/>
                </a:cubicBezTo>
                <a:cubicBezTo>
                  <a:pt x="6065" y="25896"/>
                  <a:pt x="11757" y="25933"/>
                  <a:pt x="15255" y="29394"/>
                </a:cubicBezTo>
                <a:lnTo>
                  <a:pt x="22622" y="36761"/>
                </a:lnTo>
                <a:lnTo>
                  <a:pt x="37356" y="15701"/>
                </a:lnTo>
                <a:cubicBezTo>
                  <a:pt x="40184" y="11646"/>
                  <a:pt x="45765" y="10678"/>
                  <a:pt x="49783" y="13506"/>
                </a:cubicBezTo>
                <a:close/>
                <a:moveTo>
                  <a:pt x="49783" y="73037"/>
                </a:moveTo>
                <a:cubicBezTo>
                  <a:pt x="53839" y="75865"/>
                  <a:pt x="54806" y="81446"/>
                  <a:pt x="51978" y="85465"/>
                </a:cubicBezTo>
                <a:lnTo>
                  <a:pt x="31142" y="115230"/>
                </a:lnTo>
                <a:cubicBezTo>
                  <a:pt x="29617" y="117388"/>
                  <a:pt x="27236" y="118765"/>
                  <a:pt x="24594" y="118988"/>
                </a:cubicBezTo>
                <a:cubicBezTo>
                  <a:pt x="21952" y="119211"/>
                  <a:pt x="19348" y="118318"/>
                  <a:pt x="17487" y="116458"/>
                </a:cubicBezTo>
                <a:lnTo>
                  <a:pt x="2604" y="101575"/>
                </a:lnTo>
                <a:cubicBezTo>
                  <a:pt x="-893" y="98078"/>
                  <a:pt x="-893" y="92422"/>
                  <a:pt x="2604" y="88962"/>
                </a:cubicBezTo>
                <a:cubicBezTo>
                  <a:pt x="6102" y="85502"/>
                  <a:pt x="11757" y="85465"/>
                  <a:pt x="15218" y="88962"/>
                </a:cubicBezTo>
                <a:lnTo>
                  <a:pt x="22585" y="96329"/>
                </a:lnTo>
                <a:lnTo>
                  <a:pt x="37319" y="75270"/>
                </a:lnTo>
                <a:cubicBezTo>
                  <a:pt x="40146" y="71214"/>
                  <a:pt x="45727" y="70247"/>
                  <a:pt x="49746" y="73075"/>
                </a:cubicBezTo>
                <a:close/>
                <a:moveTo>
                  <a:pt x="83344" y="35719"/>
                </a:moveTo>
                <a:cubicBezTo>
                  <a:pt x="83344" y="29133"/>
                  <a:pt x="88664" y="23812"/>
                  <a:pt x="95250" y="23812"/>
                </a:cubicBezTo>
                <a:lnTo>
                  <a:pt x="178594" y="23812"/>
                </a:lnTo>
                <a:cubicBezTo>
                  <a:pt x="185179" y="23812"/>
                  <a:pt x="190500" y="29133"/>
                  <a:pt x="190500" y="35719"/>
                </a:cubicBezTo>
                <a:cubicBezTo>
                  <a:pt x="190500" y="42304"/>
                  <a:pt x="185179" y="47625"/>
                  <a:pt x="178594" y="47625"/>
                </a:cubicBezTo>
                <a:lnTo>
                  <a:pt x="95250" y="47625"/>
                </a:lnTo>
                <a:cubicBezTo>
                  <a:pt x="88664" y="47625"/>
                  <a:pt x="83344" y="42304"/>
                  <a:pt x="83344" y="35719"/>
                </a:cubicBezTo>
                <a:close/>
                <a:moveTo>
                  <a:pt x="83344" y="95250"/>
                </a:moveTo>
                <a:cubicBezTo>
                  <a:pt x="83344" y="88664"/>
                  <a:pt x="88664" y="83344"/>
                  <a:pt x="95250" y="83344"/>
                </a:cubicBez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95250" y="107156"/>
                </a:lnTo>
                <a:cubicBezTo>
                  <a:pt x="88664" y="107156"/>
                  <a:pt x="83344" y="101836"/>
                  <a:pt x="83344" y="95250"/>
                </a:cubicBezTo>
                <a:close/>
                <a:moveTo>
                  <a:pt x="59531" y="154781"/>
                </a:moveTo>
                <a:cubicBezTo>
                  <a:pt x="59531" y="148196"/>
                  <a:pt x="64852" y="142875"/>
                  <a:pt x="71438" y="142875"/>
                </a:cubicBezTo>
                <a:lnTo>
                  <a:pt x="178594" y="142875"/>
                </a:lnTo>
                <a:cubicBezTo>
                  <a:pt x="185179" y="142875"/>
                  <a:pt x="190500" y="148196"/>
                  <a:pt x="190500" y="154781"/>
                </a:cubicBezTo>
                <a:cubicBezTo>
                  <a:pt x="190500" y="161367"/>
                  <a:pt x="185179" y="166688"/>
                  <a:pt x="178594" y="166688"/>
                </a:cubicBezTo>
                <a:lnTo>
                  <a:pt x="71438" y="166688"/>
                </a:lnTo>
                <a:cubicBezTo>
                  <a:pt x="64852" y="166688"/>
                  <a:pt x="59531" y="161367"/>
                  <a:pt x="59531" y="154781"/>
                </a:cubicBezTo>
                <a:close/>
                <a:moveTo>
                  <a:pt x="23812" y="139898"/>
                </a:moveTo>
                <a:cubicBezTo>
                  <a:pt x="32027" y="139898"/>
                  <a:pt x="38695" y="146567"/>
                  <a:pt x="38695" y="154781"/>
                </a:cubicBezTo>
                <a:cubicBezTo>
                  <a:pt x="38695" y="162995"/>
                  <a:pt x="32027" y="169664"/>
                  <a:pt x="23812" y="169664"/>
                </a:cubicBezTo>
                <a:cubicBezTo>
                  <a:pt x="15598" y="169664"/>
                  <a:pt x="8930" y="162995"/>
                  <a:pt x="8930" y="154781"/>
                </a:cubicBezTo>
                <a:cubicBezTo>
                  <a:pt x="8930" y="146567"/>
                  <a:pt x="15598" y="139898"/>
                  <a:pt x="23812" y="139898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20" name="Text 18"/>
          <p:cNvSpPr/>
          <p:nvPr/>
        </p:nvSpPr>
        <p:spPr>
          <a:xfrm>
            <a:off x="923925" y="4762500"/>
            <a:ext cx="1733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8步服务流程检查清单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8884" y="51911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22" name="Text 20"/>
          <p:cNvSpPr/>
          <p:nvPr/>
        </p:nvSpPr>
        <p:spPr>
          <a:xfrm>
            <a:off x="814388" y="514350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亲切迎宾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246834" y="51911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24" name="Text 22"/>
          <p:cNvSpPr/>
          <p:nvPr/>
        </p:nvSpPr>
        <p:spPr>
          <a:xfrm>
            <a:off x="3462338" y="514350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探寻需求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98884" y="54959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26" name="Text 24"/>
          <p:cNvSpPr/>
          <p:nvPr/>
        </p:nvSpPr>
        <p:spPr>
          <a:xfrm>
            <a:off x="814388" y="544830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产品介绍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246834" y="54959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28" name="Text 26"/>
          <p:cNvSpPr/>
          <p:nvPr/>
        </p:nvSpPr>
        <p:spPr>
          <a:xfrm>
            <a:off x="3462338" y="544830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试衣服务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98884" y="58007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30" name="Text 28"/>
          <p:cNvSpPr/>
          <p:nvPr/>
        </p:nvSpPr>
        <p:spPr>
          <a:xfrm>
            <a:off x="814388" y="575310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促成交易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46834" y="58007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32" name="Text 30"/>
          <p:cNvSpPr/>
          <p:nvPr/>
        </p:nvSpPr>
        <p:spPr>
          <a:xfrm>
            <a:off x="3462338" y="575310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收银服务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98884" y="61055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34" name="Text 32"/>
          <p:cNvSpPr/>
          <p:nvPr/>
        </p:nvSpPr>
        <p:spPr>
          <a:xfrm>
            <a:off x="814388" y="605790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客情维系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246834" y="61055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36" name="Text 34"/>
          <p:cNvSpPr/>
          <p:nvPr/>
        </p:nvSpPr>
        <p:spPr>
          <a:xfrm>
            <a:off x="3462338" y="605790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送宾服务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267450" y="12573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9035" y="14288"/>
                </a:moveTo>
                <a:lnTo>
                  <a:pt x="142875" y="14288"/>
                </a:lnTo>
                <a:cubicBezTo>
                  <a:pt x="158636" y="14288"/>
                  <a:pt x="171450" y="27102"/>
                  <a:pt x="171450" y="42863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42863"/>
                </a:lnTo>
                <a:cubicBezTo>
                  <a:pt x="0" y="27102"/>
                  <a:pt x="12814" y="14288"/>
                  <a:pt x="28575" y="14288"/>
                </a:cubicBezTo>
                <a:lnTo>
                  <a:pt x="32415" y="14288"/>
                </a:lnTo>
                <a:cubicBezTo>
                  <a:pt x="37326" y="5760"/>
                  <a:pt x="46568" y="0"/>
                  <a:pt x="57150" y="0"/>
                </a:cubicBezTo>
                <a:lnTo>
                  <a:pt x="114300" y="0"/>
                </a:lnTo>
                <a:cubicBezTo>
                  <a:pt x="124882" y="0"/>
                  <a:pt x="134124" y="5760"/>
                  <a:pt x="139035" y="14288"/>
                </a:cubicBezTo>
                <a:close/>
                <a:moveTo>
                  <a:pt x="110728" y="50006"/>
                </a:moveTo>
                <a:cubicBezTo>
                  <a:pt x="116666" y="50006"/>
                  <a:pt x="121444" y="45229"/>
                  <a:pt x="121444" y="39291"/>
                </a:cubicBezTo>
                <a:cubicBezTo>
                  <a:pt x="121444" y="33352"/>
                  <a:pt x="116666" y="28575"/>
                  <a:pt x="110728" y="28575"/>
                </a:cubicBezTo>
                <a:lnTo>
                  <a:pt x="60722" y="28575"/>
                </a:lnTo>
                <a:cubicBezTo>
                  <a:pt x="54784" y="28575"/>
                  <a:pt x="50006" y="33352"/>
                  <a:pt x="50006" y="39291"/>
                </a:cubicBezTo>
                <a:cubicBezTo>
                  <a:pt x="50006" y="45229"/>
                  <a:pt x="54784" y="50006"/>
                  <a:pt x="60722" y="50006"/>
                </a:cubicBezTo>
                <a:lnTo>
                  <a:pt x="110728" y="50006"/>
                </a:lnTo>
                <a:close/>
                <a:moveTo>
                  <a:pt x="57150" y="114300"/>
                </a:moveTo>
                <a:cubicBezTo>
                  <a:pt x="57150" y="106415"/>
                  <a:pt x="50748" y="100013"/>
                  <a:pt x="42863" y="100013"/>
                </a:cubicBezTo>
                <a:cubicBezTo>
                  <a:pt x="34977" y="100013"/>
                  <a:pt x="28575" y="106415"/>
                  <a:pt x="28575" y="114300"/>
                </a:cubicBezTo>
                <a:cubicBezTo>
                  <a:pt x="28575" y="122185"/>
                  <a:pt x="34977" y="128588"/>
                  <a:pt x="42863" y="128588"/>
                </a:cubicBezTo>
                <a:cubicBezTo>
                  <a:pt x="50748" y="128588"/>
                  <a:pt x="57150" y="122185"/>
                  <a:pt x="57150" y="114300"/>
                </a:cubicBezTo>
                <a:close/>
                <a:moveTo>
                  <a:pt x="71438" y="114300"/>
                </a:moveTo>
                <a:cubicBezTo>
                  <a:pt x="71438" y="120238"/>
                  <a:pt x="76215" y="125016"/>
                  <a:pt x="82153" y="125016"/>
                </a:cubicBezTo>
                <a:lnTo>
                  <a:pt x="132159" y="125016"/>
                </a:lnTo>
                <a:cubicBezTo>
                  <a:pt x="138098" y="125016"/>
                  <a:pt x="142875" y="120238"/>
                  <a:pt x="142875" y="114300"/>
                </a:cubicBezTo>
                <a:cubicBezTo>
                  <a:pt x="142875" y="108362"/>
                  <a:pt x="138098" y="103584"/>
                  <a:pt x="132159" y="103584"/>
                </a:cubicBezTo>
                <a:lnTo>
                  <a:pt x="82153" y="103584"/>
                </a:lnTo>
                <a:cubicBezTo>
                  <a:pt x="76215" y="103584"/>
                  <a:pt x="71438" y="108362"/>
                  <a:pt x="71438" y="114300"/>
                </a:cubicBezTo>
                <a:close/>
                <a:moveTo>
                  <a:pt x="71438" y="171450"/>
                </a:moveTo>
                <a:cubicBezTo>
                  <a:pt x="71438" y="177388"/>
                  <a:pt x="76215" y="182166"/>
                  <a:pt x="82153" y="182166"/>
                </a:cubicBezTo>
                <a:lnTo>
                  <a:pt x="132159" y="182166"/>
                </a:lnTo>
                <a:cubicBezTo>
                  <a:pt x="138098" y="182166"/>
                  <a:pt x="142875" y="177388"/>
                  <a:pt x="142875" y="171450"/>
                </a:cubicBezTo>
                <a:cubicBezTo>
                  <a:pt x="142875" y="165512"/>
                  <a:pt x="138098" y="160734"/>
                  <a:pt x="132159" y="160734"/>
                </a:cubicBezTo>
                <a:lnTo>
                  <a:pt x="82153" y="160734"/>
                </a:lnTo>
                <a:cubicBezTo>
                  <a:pt x="76215" y="160734"/>
                  <a:pt x="71438" y="165512"/>
                  <a:pt x="71438" y="171450"/>
                </a:cubicBezTo>
                <a:close/>
                <a:moveTo>
                  <a:pt x="42863" y="185738"/>
                </a:moveTo>
                <a:cubicBezTo>
                  <a:pt x="50748" y="185738"/>
                  <a:pt x="57150" y="179335"/>
                  <a:pt x="57150" y="171450"/>
                </a:cubicBezTo>
                <a:cubicBezTo>
                  <a:pt x="57150" y="163565"/>
                  <a:pt x="50748" y="157163"/>
                  <a:pt x="42863" y="157163"/>
                </a:cubicBezTo>
                <a:cubicBezTo>
                  <a:pt x="34977" y="157163"/>
                  <a:pt x="28575" y="163565"/>
                  <a:pt x="28575" y="171450"/>
                </a:cubicBezTo>
                <a:cubicBezTo>
                  <a:pt x="28575" y="179335"/>
                  <a:pt x="34977" y="185738"/>
                  <a:pt x="42863" y="185738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38" name="Text 36"/>
          <p:cNvSpPr/>
          <p:nvPr/>
        </p:nvSpPr>
        <p:spPr>
          <a:xfrm>
            <a:off x="6610350" y="1219200"/>
            <a:ext cx="18383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第7-8天综合考核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210300" y="1676400"/>
            <a:ext cx="5600700" cy="4800600"/>
          </a:xfrm>
          <a:custGeom>
            <a:avLst/>
            <a:gdLst/>
            <a:ahLst/>
            <a:cxnLst/>
            <a:rect l="l" t="t" r="r" b="b"/>
            <a:pathLst>
              <a:path w="5600700" h="4800600">
                <a:moveTo>
                  <a:pt x="76186" y="0"/>
                </a:moveTo>
                <a:lnTo>
                  <a:pt x="5524514" y="0"/>
                </a:lnTo>
                <a:cubicBezTo>
                  <a:pt x="5566591" y="0"/>
                  <a:pt x="5600700" y="34109"/>
                  <a:pt x="5600700" y="76186"/>
                </a:cubicBezTo>
                <a:lnTo>
                  <a:pt x="5600700" y="4724414"/>
                </a:lnTo>
                <a:cubicBezTo>
                  <a:pt x="5600700" y="4766491"/>
                  <a:pt x="5566591" y="4800600"/>
                  <a:pt x="5524514" y="4800600"/>
                </a:cubicBezTo>
                <a:lnTo>
                  <a:pt x="76186" y="4800600"/>
                </a:lnTo>
                <a:cubicBezTo>
                  <a:pt x="34109" y="4800600"/>
                  <a:pt x="0" y="4766491"/>
                  <a:pt x="0" y="4724414"/>
                </a:cubicBezTo>
                <a:lnTo>
                  <a:pt x="0" y="76186"/>
                </a:lnTo>
                <a:cubicBezTo>
                  <a:pt x="0" y="34138"/>
                  <a:pt x="34138" y="0"/>
                  <a:pt x="76186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0" name="Shape 38"/>
          <p:cNvSpPr/>
          <p:nvPr/>
        </p:nvSpPr>
        <p:spPr>
          <a:xfrm>
            <a:off x="6210300" y="1676400"/>
            <a:ext cx="5600700" cy="762000"/>
          </a:xfrm>
          <a:custGeom>
            <a:avLst/>
            <a:gdLst/>
            <a:ahLst/>
            <a:cxnLst/>
            <a:rect l="l" t="t" r="r" b="b"/>
            <a:pathLst>
              <a:path w="5600700" h="762000">
                <a:moveTo>
                  <a:pt x="0" y="0"/>
                </a:moveTo>
                <a:lnTo>
                  <a:pt x="5600700" y="0"/>
                </a:lnTo>
                <a:lnTo>
                  <a:pt x="56007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A9A299"/>
          </a:solidFill>
        </p:spPr>
      </p:sp>
      <p:sp>
        <p:nvSpPr>
          <p:cNvPr id="41" name="Text 39"/>
          <p:cNvSpPr/>
          <p:nvPr/>
        </p:nvSpPr>
        <p:spPr>
          <a:xfrm>
            <a:off x="6291263" y="1790700"/>
            <a:ext cx="5438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7F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总分100分，80分及格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267450" y="2019300"/>
            <a:ext cx="5486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8F7F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阶段考核评分标准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62700" y="2936875"/>
            <a:ext cx="5295900" cy="6350"/>
          </a:xfrm>
          <a:custGeom>
            <a:avLst/>
            <a:gdLst/>
            <a:ahLst/>
            <a:cxnLst/>
            <a:rect l="l" t="t" r="r" b="b"/>
            <a:pathLst>
              <a:path w="5295900" h="6350">
                <a:moveTo>
                  <a:pt x="0" y="0"/>
                </a:moveTo>
                <a:lnTo>
                  <a:pt x="5295900" y="0"/>
                </a:lnTo>
                <a:lnTo>
                  <a:pt x="529590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A9A299">
              <a:alpha val="20000"/>
            </a:srgbClr>
          </a:solidFill>
        </p:spPr>
      </p:sp>
      <p:sp>
        <p:nvSpPr>
          <p:cNvPr id="44" name="Shape 42"/>
          <p:cNvSpPr/>
          <p:nvPr/>
        </p:nvSpPr>
        <p:spPr>
          <a:xfrm>
            <a:off x="6386513" y="26765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17805" y="8372"/>
                </a:moveTo>
                <a:cubicBezTo>
                  <a:pt x="120417" y="2076"/>
                  <a:pt x="127315" y="-1306"/>
                  <a:pt x="133912" y="502"/>
                </a:cubicBezTo>
                <a:lnTo>
                  <a:pt x="135754" y="1005"/>
                </a:lnTo>
                <a:cubicBezTo>
                  <a:pt x="157386" y="6898"/>
                  <a:pt x="175870" y="27861"/>
                  <a:pt x="170479" y="53377"/>
                </a:cubicBezTo>
                <a:cubicBezTo>
                  <a:pt x="158055" y="111978"/>
                  <a:pt x="111945" y="158089"/>
                  <a:pt x="53344" y="170512"/>
                </a:cubicBezTo>
                <a:cubicBezTo>
                  <a:pt x="27794" y="175937"/>
                  <a:pt x="6865" y="157419"/>
                  <a:pt x="971" y="135787"/>
                </a:cubicBezTo>
                <a:lnTo>
                  <a:pt x="469" y="133945"/>
                </a:lnTo>
                <a:cubicBezTo>
                  <a:pt x="-1339" y="127349"/>
                  <a:pt x="2043" y="120450"/>
                  <a:pt x="8338" y="117838"/>
                </a:cubicBezTo>
                <a:lnTo>
                  <a:pt x="40920" y="104276"/>
                </a:lnTo>
                <a:cubicBezTo>
                  <a:pt x="46446" y="101966"/>
                  <a:pt x="52841" y="103573"/>
                  <a:pt x="56659" y="108228"/>
                </a:cubicBezTo>
                <a:lnTo>
                  <a:pt x="69585" y="124033"/>
                </a:lnTo>
                <a:cubicBezTo>
                  <a:pt x="93125" y="112347"/>
                  <a:pt x="112045" y="92791"/>
                  <a:pt x="122928" y="68814"/>
                </a:cubicBezTo>
                <a:lnTo>
                  <a:pt x="108161" y="56726"/>
                </a:lnTo>
                <a:cubicBezTo>
                  <a:pt x="103506" y="52942"/>
                  <a:pt x="101932" y="46546"/>
                  <a:pt x="104209" y="40987"/>
                </a:cubicBezTo>
                <a:lnTo>
                  <a:pt x="117805" y="8372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45" name="Text 43"/>
          <p:cNvSpPr/>
          <p:nvPr/>
        </p:nvSpPr>
        <p:spPr>
          <a:xfrm>
            <a:off x="6691313" y="264795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客情维系环节实操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1241881" y="2628900"/>
            <a:ext cx="5143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20分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62700" y="3800487"/>
            <a:ext cx="5295900" cy="6350"/>
          </a:xfrm>
          <a:custGeom>
            <a:avLst/>
            <a:gdLst/>
            <a:ahLst/>
            <a:cxnLst/>
            <a:rect l="l" t="t" r="r" b="b"/>
            <a:pathLst>
              <a:path w="5295900" h="6350">
                <a:moveTo>
                  <a:pt x="0" y="0"/>
                </a:moveTo>
                <a:lnTo>
                  <a:pt x="5295900" y="0"/>
                </a:lnTo>
                <a:lnTo>
                  <a:pt x="529590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A9A299">
              <a:alpha val="20000"/>
            </a:srgbClr>
          </a:solidFill>
        </p:spPr>
      </p:sp>
      <p:sp>
        <p:nvSpPr>
          <p:cNvPr id="48" name="Shape 46"/>
          <p:cNvSpPr/>
          <p:nvPr/>
        </p:nvSpPr>
        <p:spPr>
          <a:xfrm>
            <a:off x="6407944" y="3540137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21431" y="0"/>
                </a:moveTo>
                <a:cubicBezTo>
                  <a:pt x="9611" y="0"/>
                  <a:pt x="0" y="9611"/>
                  <a:pt x="0" y="21431"/>
                </a:cubicBezTo>
                <a:lnTo>
                  <a:pt x="0" y="150019"/>
                </a:lnTo>
                <a:cubicBezTo>
                  <a:pt x="0" y="161839"/>
                  <a:pt x="9611" y="171450"/>
                  <a:pt x="21431" y="171450"/>
                </a:cubicBezTo>
                <a:lnTo>
                  <a:pt x="107156" y="171450"/>
                </a:lnTo>
                <a:cubicBezTo>
                  <a:pt x="118977" y="171450"/>
                  <a:pt x="128588" y="161839"/>
                  <a:pt x="128588" y="150019"/>
                </a:cubicBezTo>
                <a:lnTo>
                  <a:pt x="128588" y="21431"/>
                </a:lnTo>
                <a:cubicBezTo>
                  <a:pt x="128588" y="9611"/>
                  <a:pt x="118977" y="0"/>
                  <a:pt x="107156" y="0"/>
                </a:cubicBezTo>
                <a:lnTo>
                  <a:pt x="21431" y="0"/>
                </a:lnTo>
                <a:close/>
                <a:moveTo>
                  <a:pt x="32147" y="21431"/>
                </a:moveTo>
                <a:lnTo>
                  <a:pt x="96441" y="21431"/>
                </a:lnTo>
                <a:cubicBezTo>
                  <a:pt x="102368" y="21431"/>
                  <a:pt x="107156" y="26220"/>
                  <a:pt x="107156" y="32147"/>
                </a:cubicBezTo>
                <a:lnTo>
                  <a:pt x="107156" y="42863"/>
                </a:lnTo>
                <a:cubicBezTo>
                  <a:pt x="107156" y="48790"/>
                  <a:pt x="102368" y="53578"/>
                  <a:pt x="96441" y="53578"/>
                </a:cubicBezTo>
                <a:lnTo>
                  <a:pt x="32147" y="53578"/>
                </a:lnTo>
                <a:cubicBezTo>
                  <a:pt x="26220" y="53578"/>
                  <a:pt x="21431" y="48790"/>
                  <a:pt x="21431" y="42863"/>
                </a:cubicBezTo>
                <a:lnTo>
                  <a:pt x="21431" y="32147"/>
                </a:lnTo>
                <a:cubicBezTo>
                  <a:pt x="21431" y="26220"/>
                  <a:pt x="26220" y="21431"/>
                  <a:pt x="32147" y="21431"/>
                </a:cubicBezTo>
                <a:close/>
                <a:moveTo>
                  <a:pt x="37505" y="77688"/>
                </a:moveTo>
                <a:cubicBezTo>
                  <a:pt x="37505" y="82124"/>
                  <a:pt x="33904" y="85725"/>
                  <a:pt x="29468" y="85725"/>
                </a:cubicBezTo>
                <a:cubicBezTo>
                  <a:pt x="25032" y="85725"/>
                  <a:pt x="21431" y="82124"/>
                  <a:pt x="21431" y="77688"/>
                </a:cubicBezTo>
                <a:cubicBezTo>
                  <a:pt x="21431" y="73253"/>
                  <a:pt x="25032" y="69652"/>
                  <a:pt x="29468" y="69652"/>
                </a:cubicBezTo>
                <a:cubicBezTo>
                  <a:pt x="33904" y="69652"/>
                  <a:pt x="37505" y="73253"/>
                  <a:pt x="37505" y="77688"/>
                </a:cubicBezTo>
                <a:close/>
                <a:moveTo>
                  <a:pt x="64294" y="85725"/>
                </a:moveTo>
                <a:cubicBezTo>
                  <a:pt x="59858" y="85725"/>
                  <a:pt x="56257" y="82124"/>
                  <a:pt x="56257" y="77688"/>
                </a:cubicBezTo>
                <a:cubicBezTo>
                  <a:pt x="56257" y="73253"/>
                  <a:pt x="59858" y="69652"/>
                  <a:pt x="64294" y="69652"/>
                </a:cubicBezTo>
                <a:cubicBezTo>
                  <a:pt x="68729" y="69652"/>
                  <a:pt x="72330" y="73253"/>
                  <a:pt x="72330" y="77688"/>
                </a:cubicBezTo>
                <a:cubicBezTo>
                  <a:pt x="72330" y="82124"/>
                  <a:pt x="68729" y="85725"/>
                  <a:pt x="64294" y="85725"/>
                </a:cubicBezTo>
                <a:close/>
                <a:moveTo>
                  <a:pt x="107156" y="77688"/>
                </a:moveTo>
                <a:cubicBezTo>
                  <a:pt x="107156" y="82124"/>
                  <a:pt x="103555" y="85725"/>
                  <a:pt x="99120" y="85725"/>
                </a:cubicBezTo>
                <a:cubicBezTo>
                  <a:pt x="94684" y="85725"/>
                  <a:pt x="91083" y="82124"/>
                  <a:pt x="91083" y="77688"/>
                </a:cubicBezTo>
                <a:cubicBezTo>
                  <a:pt x="91083" y="73253"/>
                  <a:pt x="94684" y="69652"/>
                  <a:pt x="99120" y="69652"/>
                </a:cubicBezTo>
                <a:cubicBezTo>
                  <a:pt x="103555" y="69652"/>
                  <a:pt x="107156" y="73253"/>
                  <a:pt x="107156" y="77688"/>
                </a:cubicBezTo>
                <a:close/>
                <a:moveTo>
                  <a:pt x="29468" y="117872"/>
                </a:moveTo>
                <a:cubicBezTo>
                  <a:pt x="25032" y="117872"/>
                  <a:pt x="21431" y="114271"/>
                  <a:pt x="21431" y="109835"/>
                </a:cubicBezTo>
                <a:cubicBezTo>
                  <a:pt x="21431" y="105400"/>
                  <a:pt x="25032" y="101798"/>
                  <a:pt x="29468" y="101798"/>
                </a:cubicBezTo>
                <a:cubicBezTo>
                  <a:pt x="33904" y="101798"/>
                  <a:pt x="37505" y="105400"/>
                  <a:pt x="37505" y="109835"/>
                </a:cubicBezTo>
                <a:cubicBezTo>
                  <a:pt x="37505" y="114271"/>
                  <a:pt x="33904" y="117872"/>
                  <a:pt x="29468" y="117872"/>
                </a:cubicBezTo>
                <a:close/>
                <a:moveTo>
                  <a:pt x="72330" y="109835"/>
                </a:moveTo>
                <a:cubicBezTo>
                  <a:pt x="72330" y="114271"/>
                  <a:pt x="68729" y="117872"/>
                  <a:pt x="64294" y="117872"/>
                </a:cubicBezTo>
                <a:cubicBezTo>
                  <a:pt x="59858" y="117872"/>
                  <a:pt x="56257" y="114271"/>
                  <a:pt x="56257" y="109835"/>
                </a:cubicBezTo>
                <a:cubicBezTo>
                  <a:pt x="56257" y="105400"/>
                  <a:pt x="59858" y="101798"/>
                  <a:pt x="64294" y="101798"/>
                </a:cubicBezTo>
                <a:cubicBezTo>
                  <a:pt x="68729" y="101798"/>
                  <a:pt x="72330" y="105400"/>
                  <a:pt x="72330" y="109835"/>
                </a:cubicBezTo>
                <a:close/>
                <a:moveTo>
                  <a:pt x="99120" y="117872"/>
                </a:moveTo>
                <a:cubicBezTo>
                  <a:pt x="94684" y="117872"/>
                  <a:pt x="91083" y="114271"/>
                  <a:pt x="91083" y="109835"/>
                </a:cubicBezTo>
                <a:cubicBezTo>
                  <a:pt x="91083" y="105400"/>
                  <a:pt x="94684" y="101798"/>
                  <a:pt x="99120" y="101798"/>
                </a:cubicBezTo>
                <a:cubicBezTo>
                  <a:pt x="103555" y="101798"/>
                  <a:pt x="107156" y="105400"/>
                  <a:pt x="107156" y="109835"/>
                </a:cubicBezTo>
                <a:cubicBezTo>
                  <a:pt x="107156" y="114271"/>
                  <a:pt x="103555" y="117872"/>
                  <a:pt x="99120" y="117872"/>
                </a:cubicBezTo>
                <a:close/>
                <a:moveTo>
                  <a:pt x="21431" y="141982"/>
                </a:moveTo>
                <a:cubicBezTo>
                  <a:pt x="21431" y="137528"/>
                  <a:pt x="25014" y="133945"/>
                  <a:pt x="29468" y="133945"/>
                </a:cubicBezTo>
                <a:lnTo>
                  <a:pt x="66973" y="133945"/>
                </a:lnTo>
                <a:cubicBezTo>
                  <a:pt x="71426" y="133945"/>
                  <a:pt x="75009" y="137528"/>
                  <a:pt x="75009" y="141982"/>
                </a:cubicBezTo>
                <a:cubicBezTo>
                  <a:pt x="75009" y="146436"/>
                  <a:pt x="71426" y="150019"/>
                  <a:pt x="66973" y="150019"/>
                </a:cubicBezTo>
                <a:lnTo>
                  <a:pt x="29468" y="150019"/>
                </a:lnTo>
                <a:cubicBezTo>
                  <a:pt x="25014" y="150019"/>
                  <a:pt x="21431" y="146436"/>
                  <a:pt x="21431" y="141982"/>
                </a:cubicBezTo>
                <a:close/>
                <a:moveTo>
                  <a:pt x="99120" y="133945"/>
                </a:moveTo>
                <a:cubicBezTo>
                  <a:pt x="103573" y="133945"/>
                  <a:pt x="107156" y="137528"/>
                  <a:pt x="107156" y="141982"/>
                </a:cubicBezTo>
                <a:cubicBezTo>
                  <a:pt x="107156" y="146436"/>
                  <a:pt x="103573" y="150019"/>
                  <a:pt x="99120" y="150019"/>
                </a:cubicBezTo>
                <a:cubicBezTo>
                  <a:pt x="94666" y="150019"/>
                  <a:pt x="91083" y="146436"/>
                  <a:pt x="91083" y="141982"/>
                </a:cubicBezTo>
                <a:cubicBezTo>
                  <a:pt x="91083" y="137528"/>
                  <a:pt x="94666" y="133945"/>
                  <a:pt x="99120" y="133945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49" name="Text 47"/>
          <p:cNvSpPr/>
          <p:nvPr/>
        </p:nvSpPr>
        <p:spPr>
          <a:xfrm>
            <a:off x="6691313" y="3511562"/>
            <a:ext cx="2209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客单价、客单量计算及提升举措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1241782" y="3492512"/>
            <a:ext cx="5143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25分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62700" y="4664081"/>
            <a:ext cx="5295900" cy="6350"/>
          </a:xfrm>
          <a:custGeom>
            <a:avLst/>
            <a:gdLst/>
            <a:ahLst/>
            <a:cxnLst/>
            <a:rect l="l" t="t" r="r" b="b"/>
            <a:pathLst>
              <a:path w="5295900" h="6350">
                <a:moveTo>
                  <a:pt x="0" y="0"/>
                </a:moveTo>
                <a:lnTo>
                  <a:pt x="5295900" y="0"/>
                </a:lnTo>
                <a:lnTo>
                  <a:pt x="529590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A9A299">
              <a:alpha val="20000"/>
            </a:srgbClr>
          </a:solidFill>
        </p:spPr>
      </p:sp>
      <p:sp>
        <p:nvSpPr>
          <p:cNvPr id="52" name="Shape 50"/>
          <p:cNvSpPr/>
          <p:nvPr/>
        </p:nvSpPr>
        <p:spPr>
          <a:xfrm>
            <a:off x="6375797" y="4403731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99120" y="64294"/>
                </a:moveTo>
                <a:cubicBezTo>
                  <a:pt x="92054" y="60242"/>
                  <a:pt x="84955" y="56190"/>
                  <a:pt x="75009" y="54482"/>
                </a:cubicBezTo>
                <a:lnTo>
                  <a:pt x="75009" y="7501"/>
                </a:lnTo>
                <a:cubicBezTo>
                  <a:pt x="86294" y="4353"/>
                  <a:pt x="104276" y="0"/>
                  <a:pt x="117872" y="0"/>
                </a:cubicBezTo>
                <a:cubicBezTo>
                  <a:pt x="150019" y="0"/>
                  <a:pt x="192881" y="16073"/>
                  <a:pt x="192881" y="42863"/>
                </a:cubicBezTo>
                <a:cubicBezTo>
                  <a:pt x="192881" y="69652"/>
                  <a:pt x="152832" y="75009"/>
                  <a:pt x="133945" y="75009"/>
                </a:cubicBezTo>
                <a:cubicBezTo>
                  <a:pt x="117872" y="75009"/>
                  <a:pt x="108496" y="69652"/>
                  <a:pt x="99120" y="64294"/>
                </a:cubicBezTo>
                <a:close/>
                <a:moveTo>
                  <a:pt x="42863" y="10716"/>
                </a:moveTo>
                <a:lnTo>
                  <a:pt x="58936" y="10716"/>
                </a:lnTo>
                <a:lnTo>
                  <a:pt x="58936" y="53578"/>
                </a:lnTo>
                <a:lnTo>
                  <a:pt x="42863" y="53578"/>
                </a:lnTo>
                <a:cubicBezTo>
                  <a:pt x="31042" y="53578"/>
                  <a:pt x="21431" y="43968"/>
                  <a:pt x="21431" y="32147"/>
                </a:cubicBezTo>
                <a:cubicBezTo>
                  <a:pt x="21431" y="20326"/>
                  <a:pt x="31042" y="10716"/>
                  <a:pt x="42863" y="10716"/>
                </a:cubicBezTo>
                <a:close/>
                <a:moveTo>
                  <a:pt x="77688" y="107156"/>
                </a:moveTo>
                <a:cubicBezTo>
                  <a:pt x="87064" y="101798"/>
                  <a:pt x="96441" y="96441"/>
                  <a:pt x="112514" y="96441"/>
                </a:cubicBezTo>
                <a:cubicBezTo>
                  <a:pt x="131400" y="96441"/>
                  <a:pt x="171450" y="101798"/>
                  <a:pt x="171450" y="128588"/>
                </a:cubicBezTo>
                <a:cubicBezTo>
                  <a:pt x="171450" y="155377"/>
                  <a:pt x="128588" y="171450"/>
                  <a:pt x="96441" y="171450"/>
                </a:cubicBezTo>
                <a:cubicBezTo>
                  <a:pt x="82879" y="171450"/>
                  <a:pt x="64863" y="167097"/>
                  <a:pt x="53578" y="163949"/>
                </a:cubicBezTo>
                <a:lnTo>
                  <a:pt x="53578" y="116968"/>
                </a:lnTo>
                <a:cubicBezTo>
                  <a:pt x="63524" y="115226"/>
                  <a:pt x="70623" y="111175"/>
                  <a:pt x="77688" y="107123"/>
                </a:cubicBezTo>
                <a:close/>
                <a:moveTo>
                  <a:pt x="21431" y="160734"/>
                </a:moveTo>
                <a:cubicBezTo>
                  <a:pt x="9611" y="160734"/>
                  <a:pt x="0" y="151124"/>
                  <a:pt x="0" y="139303"/>
                </a:cubicBezTo>
                <a:cubicBezTo>
                  <a:pt x="0" y="127482"/>
                  <a:pt x="9611" y="117872"/>
                  <a:pt x="21431" y="117872"/>
                </a:cubicBezTo>
                <a:lnTo>
                  <a:pt x="37505" y="117872"/>
                </a:lnTo>
                <a:lnTo>
                  <a:pt x="37505" y="160734"/>
                </a:lnTo>
                <a:lnTo>
                  <a:pt x="21431" y="160734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53" name="Text 51"/>
          <p:cNvSpPr/>
          <p:nvPr/>
        </p:nvSpPr>
        <p:spPr>
          <a:xfrm>
            <a:off x="6691313" y="4375156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基础产品知识掌握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1242080" y="4356106"/>
            <a:ext cx="5143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30分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65081" y="526732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45541" y="42863"/>
                </a:moveTo>
                <a:cubicBezTo>
                  <a:pt x="45541" y="20685"/>
                  <a:pt x="63547" y="2679"/>
                  <a:pt x="85725" y="2679"/>
                </a:cubicBezTo>
                <a:cubicBezTo>
                  <a:pt x="107903" y="2679"/>
                  <a:pt x="125909" y="20685"/>
                  <a:pt x="125909" y="42862"/>
                </a:cubicBezTo>
                <a:cubicBezTo>
                  <a:pt x="125909" y="65040"/>
                  <a:pt x="107903" y="83046"/>
                  <a:pt x="85725" y="83046"/>
                </a:cubicBezTo>
                <a:cubicBezTo>
                  <a:pt x="63547" y="83046"/>
                  <a:pt x="45541" y="65040"/>
                  <a:pt x="45541" y="42863"/>
                </a:cubicBezTo>
                <a:close/>
                <a:moveTo>
                  <a:pt x="16073" y="161505"/>
                </a:moveTo>
                <a:cubicBezTo>
                  <a:pt x="16073" y="128521"/>
                  <a:pt x="42796" y="101798"/>
                  <a:pt x="75780" y="101798"/>
                </a:cubicBezTo>
                <a:lnTo>
                  <a:pt x="95670" y="101798"/>
                </a:lnTo>
                <a:cubicBezTo>
                  <a:pt x="128654" y="101798"/>
                  <a:pt x="155377" y="128521"/>
                  <a:pt x="155377" y="161505"/>
                </a:cubicBezTo>
                <a:cubicBezTo>
                  <a:pt x="155377" y="166996"/>
                  <a:pt x="150923" y="171450"/>
                  <a:pt x="145431" y="171450"/>
                </a:cubicBezTo>
                <a:lnTo>
                  <a:pt x="26019" y="171450"/>
                </a:lnTo>
                <a:cubicBezTo>
                  <a:pt x="20527" y="171450"/>
                  <a:pt x="16073" y="166996"/>
                  <a:pt x="16073" y="161505"/>
                </a:cubicBezTo>
                <a:close/>
                <a:moveTo>
                  <a:pt x="205070" y="44436"/>
                </a:moveTo>
                <a:lnTo>
                  <a:pt x="178281" y="87299"/>
                </a:lnTo>
                <a:cubicBezTo>
                  <a:pt x="176875" y="89542"/>
                  <a:pt x="174464" y="90949"/>
                  <a:pt x="171818" y="91083"/>
                </a:cubicBezTo>
                <a:cubicBezTo>
                  <a:pt x="169173" y="91217"/>
                  <a:pt x="166628" y="90011"/>
                  <a:pt x="165054" y="87868"/>
                </a:cubicBezTo>
                <a:lnTo>
                  <a:pt x="148981" y="66437"/>
                </a:lnTo>
                <a:cubicBezTo>
                  <a:pt x="146302" y="62887"/>
                  <a:pt x="147038" y="57864"/>
                  <a:pt x="150588" y="55185"/>
                </a:cubicBezTo>
                <a:cubicBezTo>
                  <a:pt x="154138" y="52507"/>
                  <a:pt x="159161" y="53243"/>
                  <a:pt x="161839" y="56793"/>
                </a:cubicBezTo>
                <a:lnTo>
                  <a:pt x="170881" y="68848"/>
                </a:lnTo>
                <a:lnTo>
                  <a:pt x="191441" y="35931"/>
                </a:lnTo>
                <a:cubicBezTo>
                  <a:pt x="193785" y="32180"/>
                  <a:pt x="198741" y="31008"/>
                  <a:pt x="202525" y="33386"/>
                </a:cubicBezTo>
                <a:cubicBezTo>
                  <a:pt x="206309" y="35763"/>
                  <a:pt x="207448" y="40686"/>
                  <a:pt x="205070" y="4447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56" name="Text 54"/>
          <p:cNvSpPr/>
          <p:nvPr/>
        </p:nvSpPr>
        <p:spPr>
          <a:xfrm>
            <a:off x="6691313" y="523875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服务流程综合测评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1241782" y="5219700"/>
            <a:ext cx="5143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25分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210300" y="5676900"/>
            <a:ext cx="5600700" cy="800100"/>
          </a:xfrm>
          <a:custGeom>
            <a:avLst/>
            <a:gdLst/>
            <a:ahLst/>
            <a:cxnLst/>
            <a:rect l="l" t="t" r="r" b="b"/>
            <a:pathLst>
              <a:path w="5600700" h="800100">
                <a:moveTo>
                  <a:pt x="0" y="0"/>
                </a:moveTo>
                <a:lnTo>
                  <a:pt x="5600700" y="0"/>
                </a:lnTo>
                <a:lnTo>
                  <a:pt x="560070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A9A299">
              <a:alpha val="10196"/>
            </a:srgbClr>
          </a:solidFill>
        </p:spPr>
      </p:sp>
      <p:sp>
        <p:nvSpPr>
          <p:cNvPr id="59" name="Text 57"/>
          <p:cNvSpPr/>
          <p:nvPr/>
        </p:nvSpPr>
        <p:spPr>
          <a:xfrm>
            <a:off x="6291263" y="5791200"/>
            <a:ext cx="5438775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评分标准：</a:t>
            </a:r>
            <a:r>
              <a:rPr lang="en-US" sz="105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自然完成会员信息确认，主动推荐入会或维护；准确计算，提出3条以上可执行提升方案；准确说明服装面料、鞋类科技、配件特点；完整流畅完成8步服务流程，无明显失误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yyasw4ib73lsu/day9_assessment.jpg"/>
          <p:cNvPicPr>
            <a:picLocks noChangeAspect="1"/>
          </p:cNvPicPr>
          <p:nvPr/>
        </p:nvPicPr>
        <p:blipFill>
          <a:blip r:embed="rId1"/>
          <a:srcRect t="781" b="781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A4F41">
                  <a:alpha val="90000"/>
                </a:srgbClr>
              </a:gs>
              <a:gs pos="50000">
                <a:srgbClr val="3A4F41">
                  <a:alpha val="70000"/>
                </a:srgbClr>
              </a:gs>
              <a:gs pos="100000">
                <a:srgbClr val="3A4F41">
                  <a:alpha val="90000"/>
                </a:srgbClr>
              </a:gs>
            </a:gsLst>
            <a:lin ang="5400000" scaled="1"/>
          </a:gradFill>
        </p:spPr>
      </p:sp>
      <p:sp>
        <p:nvSpPr>
          <p:cNvPr id="4" name="Text 1"/>
          <p:cNvSpPr/>
          <p:nvPr/>
        </p:nvSpPr>
        <p:spPr>
          <a:xfrm>
            <a:off x="4677668" y="2190750"/>
            <a:ext cx="2838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kern="0" spc="360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09-10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44318" y="2647950"/>
            <a:ext cx="310515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F8F7F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第9-10天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301" y="356235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7" name="Text 4"/>
          <p:cNvSpPr/>
          <p:nvPr/>
        </p:nvSpPr>
        <p:spPr>
          <a:xfrm>
            <a:off x="4644330" y="3905250"/>
            <a:ext cx="29051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F8F7F5">
                    <a:alpha val="9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综合实践与评估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668143" y="4400550"/>
            <a:ext cx="28575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8F7F5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实战检验成果 · 评估上岗资格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10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09-10 · OBJECTIVES &amp; CONTENT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教学目标与教学内容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9575" y="1219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5" name="Text 3"/>
          <p:cNvSpPr/>
          <p:nvPr/>
        </p:nvSpPr>
        <p:spPr>
          <a:xfrm>
            <a:off x="781050" y="1181100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教学目标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638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7" name="Text 5"/>
          <p:cNvSpPr/>
          <p:nvPr/>
        </p:nvSpPr>
        <p:spPr>
          <a:xfrm>
            <a:off x="338138" y="1638300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638300"/>
            <a:ext cx="31337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跟进产品知识运用情况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1943100"/>
            <a:ext cx="31242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跟进学员销售过程中产品知识运用情况并整改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1000" y="255746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11" name="Text 9"/>
          <p:cNvSpPr/>
          <p:nvPr/>
        </p:nvSpPr>
        <p:spPr>
          <a:xfrm>
            <a:off x="338138" y="2557463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2557463"/>
            <a:ext cx="2524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跟进服务流程执行情况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2862263"/>
            <a:ext cx="25146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跟进学员日常销售服务流程执行情况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1000" y="34766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15" name="Text 13"/>
          <p:cNvSpPr/>
          <p:nvPr/>
        </p:nvSpPr>
        <p:spPr>
          <a:xfrm>
            <a:off x="338138" y="3476625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3476625"/>
            <a:ext cx="2676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综合评估上岗资格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3781425"/>
            <a:ext cx="26670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综合评估新员工是否满足正式员工要求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1000" y="439578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19" name="Text 17"/>
          <p:cNvSpPr/>
          <p:nvPr/>
        </p:nvSpPr>
        <p:spPr>
          <a:xfrm>
            <a:off x="338138" y="4395788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4395788"/>
            <a:ext cx="29813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了解品牌文化理解及未来规划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" y="4700588"/>
            <a:ext cx="29718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通过面谈了解品牌文化理解及未来发展规划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1000" y="5314950"/>
            <a:ext cx="5600700" cy="1409700"/>
          </a:xfrm>
          <a:custGeom>
            <a:avLst/>
            <a:gdLst/>
            <a:ahLst/>
            <a:cxnLst/>
            <a:rect l="l" t="t" r="r" b="b"/>
            <a:pathLst>
              <a:path w="5600700" h="1409700">
                <a:moveTo>
                  <a:pt x="76194" y="0"/>
                </a:moveTo>
                <a:lnTo>
                  <a:pt x="5524506" y="0"/>
                </a:lnTo>
                <a:cubicBezTo>
                  <a:pt x="5566558" y="0"/>
                  <a:pt x="5600700" y="34142"/>
                  <a:pt x="5600700" y="76194"/>
                </a:cubicBezTo>
                <a:lnTo>
                  <a:pt x="5600700" y="1333506"/>
                </a:lnTo>
                <a:cubicBezTo>
                  <a:pt x="5600700" y="1375587"/>
                  <a:pt x="5566587" y="1409700"/>
                  <a:pt x="5524506" y="1409700"/>
                </a:cubicBezTo>
                <a:lnTo>
                  <a:pt x="76194" y="1409700"/>
                </a:lnTo>
                <a:cubicBezTo>
                  <a:pt x="34142" y="1409700"/>
                  <a:pt x="0" y="1375558"/>
                  <a:pt x="0" y="1333506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3A4F41">
              <a:alpha val="5098"/>
            </a:srgbClr>
          </a:solidFill>
        </p:spPr>
      </p:sp>
      <p:sp>
        <p:nvSpPr>
          <p:cNvPr id="23" name="Shape 21"/>
          <p:cNvSpPr/>
          <p:nvPr/>
        </p:nvSpPr>
        <p:spPr>
          <a:xfrm>
            <a:off x="546497" y="551497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75043" y="32515"/>
                </a:moveTo>
                <a:lnTo>
                  <a:pt x="75043" y="49124"/>
                </a:lnTo>
                <a:lnTo>
                  <a:pt x="75210" y="49292"/>
                </a:lnTo>
                <a:cubicBezTo>
                  <a:pt x="77387" y="21699"/>
                  <a:pt x="100459" y="0"/>
                  <a:pt x="128621" y="0"/>
                </a:cubicBezTo>
                <a:cubicBezTo>
                  <a:pt x="135352" y="0"/>
                  <a:pt x="141815" y="1239"/>
                  <a:pt x="147742" y="3516"/>
                </a:cubicBezTo>
                <a:cubicBezTo>
                  <a:pt x="151090" y="4789"/>
                  <a:pt x="151693" y="9041"/>
                  <a:pt x="149182" y="11586"/>
                </a:cubicBezTo>
                <a:lnTo>
                  <a:pt x="119479" y="41289"/>
                </a:lnTo>
                <a:cubicBezTo>
                  <a:pt x="118475" y="42293"/>
                  <a:pt x="117905" y="43666"/>
                  <a:pt x="117905" y="45073"/>
                </a:cubicBezTo>
                <a:lnTo>
                  <a:pt x="117905" y="58936"/>
                </a:lnTo>
                <a:cubicBezTo>
                  <a:pt x="117905" y="61883"/>
                  <a:pt x="120316" y="64294"/>
                  <a:pt x="123263" y="64294"/>
                </a:cubicBezTo>
                <a:lnTo>
                  <a:pt x="137127" y="64294"/>
                </a:lnTo>
                <a:cubicBezTo>
                  <a:pt x="138533" y="64294"/>
                  <a:pt x="139906" y="63724"/>
                  <a:pt x="140910" y="62720"/>
                </a:cubicBezTo>
                <a:lnTo>
                  <a:pt x="170613" y="33018"/>
                </a:lnTo>
                <a:cubicBezTo>
                  <a:pt x="173158" y="30473"/>
                  <a:pt x="177411" y="31109"/>
                  <a:pt x="178683" y="34457"/>
                </a:cubicBezTo>
                <a:cubicBezTo>
                  <a:pt x="180960" y="40385"/>
                  <a:pt x="182199" y="46847"/>
                  <a:pt x="182199" y="53578"/>
                </a:cubicBezTo>
                <a:cubicBezTo>
                  <a:pt x="182199" y="73871"/>
                  <a:pt x="170914" y="91552"/>
                  <a:pt x="154238" y="100626"/>
                </a:cubicBezTo>
                <a:lnTo>
                  <a:pt x="181529" y="127918"/>
                </a:lnTo>
                <a:cubicBezTo>
                  <a:pt x="187791" y="134180"/>
                  <a:pt x="187791" y="144360"/>
                  <a:pt x="181529" y="150655"/>
                </a:cubicBezTo>
                <a:lnTo>
                  <a:pt x="161404" y="170780"/>
                </a:lnTo>
                <a:cubicBezTo>
                  <a:pt x="155142" y="177042"/>
                  <a:pt x="144962" y="177042"/>
                  <a:pt x="138667" y="170780"/>
                </a:cubicBezTo>
                <a:lnTo>
                  <a:pt x="96474" y="128588"/>
                </a:lnTo>
                <a:cubicBezTo>
                  <a:pt x="87299" y="119412"/>
                  <a:pt x="85223" y="105850"/>
                  <a:pt x="90279" y="94666"/>
                </a:cubicBezTo>
                <a:lnTo>
                  <a:pt x="59907" y="64294"/>
                </a:lnTo>
                <a:lnTo>
                  <a:pt x="43298" y="64294"/>
                </a:lnTo>
                <a:cubicBezTo>
                  <a:pt x="39715" y="64294"/>
                  <a:pt x="36366" y="62519"/>
                  <a:pt x="34390" y="59539"/>
                </a:cubicBezTo>
                <a:lnTo>
                  <a:pt x="7836" y="19723"/>
                </a:lnTo>
                <a:cubicBezTo>
                  <a:pt x="6429" y="17614"/>
                  <a:pt x="6697" y="14767"/>
                  <a:pt x="8506" y="12959"/>
                </a:cubicBezTo>
                <a:lnTo>
                  <a:pt x="23708" y="-2244"/>
                </a:lnTo>
                <a:cubicBezTo>
                  <a:pt x="25517" y="-4052"/>
                  <a:pt x="28329" y="-4320"/>
                  <a:pt x="30473" y="-2913"/>
                </a:cubicBezTo>
                <a:lnTo>
                  <a:pt x="70288" y="23608"/>
                </a:lnTo>
                <a:cubicBezTo>
                  <a:pt x="73268" y="25584"/>
                  <a:pt x="75043" y="28932"/>
                  <a:pt x="75043" y="32515"/>
                </a:cubicBezTo>
                <a:close/>
                <a:moveTo>
                  <a:pt x="72197" y="99320"/>
                </a:moveTo>
                <a:cubicBezTo>
                  <a:pt x="70087" y="111710"/>
                  <a:pt x="73000" y="124804"/>
                  <a:pt x="81037" y="135285"/>
                </a:cubicBezTo>
                <a:lnTo>
                  <a:pt x="49225" y="167063"/>
                </a:lnTo>
                <a:cubicBezTo>
                  <a:pt x="39815" y="176473"/>
                  <a:pt x="24545" y="176473"/>
                  <a:pt x="15136" y="167063"/>
                </a:cubicBezTo>
                <a:cubicBezTo>
                  <a:pt x="5726" y="157654"/>
                  <a:pt x="5726" y="142384"/>
                  <a:pt x="15136" y="132974"/>
                </a:cubicBezTo>
                <a:lnTo>
                  <a:pt x="60476" y="87634"/>
                </a:lnTo>
                <a:lnTo>
                  <a:pt x="72197" y="99354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24" name="Text 22"/>
          <p:cNvSpPr/>
          <p:nvPr/>
        </p:nvSpPr>
        <p:spPr>
          <a:xfrm>
            <a:off x="862013" y="5467350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训前准备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3400" y="5810250"/>
            <a:ext cx="5372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准备《凯施迪新员工差异化要求》评估表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3400" y="6076950"/>
            <a:ext cx="5372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安排店长面谈时间（约30分钟）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3400" y="6343650"/>
            <a:ext cx="5372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准备学员10天学习记录及考核成绩汇总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38875" y="1219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63088"/>
                </a:moveTo>
                <a:lnTo>
                  <a:pt x="114300" y="201186"/>
                </a:lnTo>
                <a:lnTo>
                  <a:pt x="114523" y="201097"/>
                </a:lnTo>
                <a:cubicBezTo>
                  <a:pt x="138901" y="190961"/>
                  <a:pt x="165065" y="185738"/>
                  <a:pt x="191453" y="185738"/>
                </a:cubicBezTo>
                <a:lnTo>
                  <a:pt x="200025" y="185738"/>
                </a:lnTo>
                <a:lnTo>
                  <a:pt x="200025" y="42863"/>
                </a:lnTo>
                <a:lnTo>
                  <a:pt x="191453" y="42863"/>
                </a:lnTo>
                <a:cubicBezTo>
                  <a:pt x="172611" y="42863"/>
                  <a:pt x="153903" y="46613"/>
                  <a:pt x="136490" y="53846"/>
                </a:cubicBezTo>
                <a:cubicBezTo>
                  <a:pt x="128989" y="56971"/>
                  <a:pt x="121578" y="60052"/>
                  <a:pt x="114300" y="63088"/>
                </a:cubicBezTo>
                <a:close/>
                <a:moveTo>
                  <a:pt x="103093" y="27459"/>
                </a:moveTo>
                <a:lnTo>
                  <a:pt x="114300" y="32147"/>
                </a:lnTo>
                <a:lnTo>
                  <a:pt x="125507" y="27459"/>
                </a:lnTo>
                <a:cubicBezTo>
                  <a:pt x="146402" y="18752"/>
                  <a:pt x="168816" y="14288"/>
                  <a:pt x="191453" y="14288"/>
                </a:cubicBezTo>
                <a:lnTo>
                  <a:pt x="207169" y="14288"/>
                </a:lnTo>
                <a:cubicBezTo>
                  <a:pt x="219001" y="14288"/>
                  <a:pt x="228600" y="23887"/>
                  <a:pt x="228600" y="35719"/>
                </a:cubicBezTo>
                <a:lnTo>
                  <a:pt x="228600" y="192881"/>
                </a:lnTo>
                <a:cubicBezTo>
                  <a:pt x="228600" y="204713"/>
                  <a:pt x="219001" y="214313"/>
                  <a:pt x="207169" y="214313"/>
                </a:cubicBezTo>
                <a:lnTo>
                  <a:pt x="191453" y="214313"/>
                </a:lnTo>
                <a:cubicBezTo>
                  <a:pt x="168816" y="214313"/>
                  <a:pt x="146402" y="218777"/>
                  <a:pt x="125507" y="227484"/>
                </a:cubicBezTo>
                <a:lnTo>
                  <a:pt x="119792" y="229850"/>
                </a:lnTo>
                <a:cubicBezTo>
                  <a:pt x="116265" y="231324"/>
                  <a:pt x="112335" y="231324"/>
                  <a:pt x="108808" y="229850"/>
                </a:cubicBezTo>
                <a:lnTo>
                  <a:pt x="103093" y="227484"/>
                </a:lnTo>
                <a:cubicBezTo>
                  <a:pt x="82198" y="218777"/>
                  <a:pt x="59784" y="214313"/>
                  <a:pt x="37148" y="214313"/>
                </a:cubicBezTo>
                <a:lnTo>
                  <a:pt x="21431" y="214313"/>
                </a:lnTo>
                <a:cubicBezTo>
                  <a:pt x="9599" y="214313"/>
                  <a:pt x="0" y="204713"/>
                  <a:pt x="0" y="192881"/>
                </a:cubicBezTo>
                <a:lnTo>
                  <a:pt x="0" y="35719"/>
                </a:lnTo>
                <a:cubicBezTo>
                  <a:pt x="0" y="23887"/>
                  <a:pt x="9599" y="14288"/>
                  <a:pt x="21431" y="14288"/>
                </a:cubicBezTo>
                <a:lnTo>
                  <a:pt x="37148" y="14288"/>
                </a:lnTo>
                <a:cubicBezTo>
                  <a:pt x="59784" y="14288"/>
                  <a:pt x="82198" y="18752"/>
                  <a:pt x="103093" y="27459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29" name="Text 27"/>
          <p:cNvSpPr/>
          <p:nvPr/>
        </p:nvSpPr>
        <p:spPr>
          <a:xfrm>
            <a:off x="6610350" y="1181100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带教大纲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29350" y="1638300"/>
            <a:ext cx="5581650" cy="2343150"/>
          </a:xfrm>
          <a:custGeom>
            <a:avLst/>
            <a:gdLst/>
            <a:ahLst/>
            <a:cxnLst/>
            <a:rect l="l" t="t" r="r" b="b"/>
            <a:pathLst>
              <a:path w="5581650" h="2343150">
                <a:moveTo>
                  <a:pt x="38100" y="0"/>
                </a:moveTo>
                <a:lnTo>
                  <a:pt x="5505451" y="0"/>
                </a:lnTo>
                <a:cubicBezTo>
                  <a:pt x="5547534" y="0"/>
                  <a:pt x="5581650" y="34116"/>
                  <a:pt x="5581650" y="76199"/>
                </a:cubicBezTo>
                <a:lnTo>
                  <a:pt x="5581650" y="2266951"/>
                </a:lnTo>
                <a:cubicBezTo>
                  <a:pt x="5581650" y="2309034"/>
                  <a:pt x="5547534" y="2343150"/>
                  <a:pt x="5505451" y="2343150"/>
                </a:cubicBezTo>
                <a:lnTo>
                  <a:pt x="38100" y="2343150"/>
                </a:lnTo>
                <a:cubicBezTo>
                  <a:pt x="17058" y="2343150"/>
                  <a:pt x="0" y="2326092"/>
                  <a:pt x="0" y="2305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1" name="Shape 29"/>
          <p:cNvSpPr/>
          <p:nvPr/>
        </p:nvSpPr>
        <p:spPr>
          <a:xfrm>
            <a:off x="6229350" y="1638300"/>
            <a:ext cx="38100" cy="2343150"/>
          </a:xfrm>
          <a:custGeom>
            <a:avLst/>
            <a:gdLst/>
            <a:ahLst/>
            <a:cxnLst/>
            <a:rect l="l" t="t" r="r" b="b"/>
            <a:pathLst>
              <a:path w="38100" h="2343150">
                <a:moveTo>
                  <a:pt x="38100" y="0"/>
                </a:moveTo>
                <a:lnTo>
                  <a:pt x="38100" y="0"/>
                </a:lnTo>
                <a:lnTo>
                  <a:pt x="38100" y="2343150"/>
                </a:lnTo>
                <a:lnTo>
                  <a:pt x="38100" y="2343150"/>
                </a:lnTo>
                <a:cubicBezTo>
                  <a:pt x="17072" y="2343150"/>
                  <a:pt x="0" y="2326078"/>
                  <a:pt x="0" y="2305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32" name="Shape 30"/>
          <p:cNvSpPr/>
          <p:nvPr/>
        </p:nvSpPr>
        <p:spPr>
          <a:xfrm>
            <a:off x="6438900" y="1828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33" name="Text 31"/>
          <p:cNvSpPr/>
          <p:nvPr/>
        </p:nvSpPr>
        <p:spPr>
          <a:xfrm>
            <a:off x="6391275" y="1828800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D9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10400" y="1924050"/>
            <a:ext cx="1543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第9天：实战跟进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53188" y="24384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0883" y="32147"/>
                </a:moveTo>
                <a:lnTo>
                  <a:pt x="10883" y="82209"/>
                </a:lnTo>
                <a:cubicBezTo>
                  <a:pt x="10883" y="87902"/>
                  <a:pt x="13127" y="93360"/>
                  <a:pt x="17145" y="97378"/>
                </a:cubicBezTo>
                <a:lnTo>
                  <a:pt x="81439" y="161672"/>
                </a:lnTo>
                <a:cubicBezTo>
                  <a:pt x="89810" y="170044"/>
                  <a:pt x="103372" y="170044"/>
                  <a:pt x="111744" y="161672"/>
                </a:cubicBezTo>
                <a:lnTo>
                  <a:pt x="161806" y="111610"/>
                </a:lnTo>
                <a:cubicBezTo>
                  <a:pt x="170178" y="103238"/>
                  <a:pt x="170178" y="89676"/>
                  <a:pt x="161806" y="81305"/>
                </a:cubicBezTo>
                <a:lnTo>
                  <a:pt x="97512" y="17011"/>
                </a:lnTo>
                <a:cubicBezTo>
                  <a:pt x="93494" y="12959"/>
                  <a:pt x="88069" y="10716"/>
                  <a:pt x="82376" y="10716"/>
                </a:cubicBezTo>
                <a:lnTo>
                  <a:pt x="32314" y="10716"/>
                </a:lnTo>
                <a:cubicBezTo>
                  <a:pt x="20494" y="10716"/>
                  <a:pt x="10883" y="20326"/>
                  <a:pt x="10883" y="32147"/>
                </a:cubicBezTo>
                <a:close/>
                <a:moveTo>
                  <a:pt x="48388" y="37505"/>
                </a:moveTo>
                <a:cubicBezTo>
                  <a:pt x="54302" y="37505"/>
                  <a:pt x="59103" y="42306"/>
                  <a:pt x="59103" y="48220"/>
                </a:cubicBezTo>
                <a:cubicBezTo>
                  <a:pt x="59103" y="54134"/>
                  <a:pt x="54302" y="58936"/>
                  <a:pt x="48388" y="58936"/>
                </a:cubicBezTo>
                <a:cubicBezTo>
                  <a:pt x="42474" y="58936"/>
                  <a:pt x="37672" y="54134"/>
                  <a:pt x="37672" y="48220"/>
                </a:cubicBezTo>
                <a:cubicBezTo>
                  <a:pt x="37672" y="42306"/>
                  <a:pt x="42474" y="37505"/>
                  <a:pt x="48388" y="37505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36" name="Text 34"/>
          <p:cNvSpPr/>
          <p:nvPr/>
        </p:nvSpPr>
        <p:spPr>
          <a:xfrm>
            <a:off x="6754416" y="2400300"/>
            <a:ext cx="49434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产品知识运用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754416" y="2667000"/>
            <a:ext cx="4943475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跟进学员销售过程中产品知识的运用情况，并给出提升建议并跟进整改的情况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62713" y="33147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72330" y="21431"/>
                </a:moveTo>
                <a:cubicBezTo>
                  <a:pt x="67877" y="21431"/>
                  <a:pt x="64294" y="25014"/>
                  <a:pt x="64294" y="29468"/>
                </a:cubicBezTo>
                <a:cubicBezTo>
                  <a:pt x="64294" y="33922"/>
                  <a:pt x="67877" y="37505"/>
                  <a:pt x="72330" y="37505"/>
                </a:cubicBezTo>
                <a:lnTo>
                  <a:pt x="77688" y="37505"/>
                </a:lnTo>
                <a:lnTo>
                  <a:pt x="77688" y="48656"/>
                </a:lnTo>
                <a:cubicBezTo>
                  <a:pt x="41791" y="52473"/>
                  <a:pt x="13462" y="81606"/>
                  <a:pt x="10917" y="117872"/>
                </a:cubicBezTo>
                <a:lnTo>
                  <a:pt x="160567" y="117872"/>
                </a:lnTo>
                <a:cubicBezTo>
                  <a:pt x="157988" y="81606"/>
                  <a:pt x="129659" y="52473"/>
                  <a:pt x="93762" y="48656"/>
                </a:cubicBezTo>
                <a:lnTo>
                  <a:pt x="93762" y="37505"/>
                </a:lnTo>
                <a:lnTo>
                  <a:pt x="99120" y="37505"/>
                </a:lnTo>
                <a:cubicBezTo>
                  <a:pt x="103573" y="37505"/>
                  <a:pt x="107156" y="33922"/>
                  <a:pt x="107156" y="29468"/>
                </a:cubicBezTo>
                <a:cubicBezTo>
                  <a:pt x="107156" y="25014"/>
                  <a:pt x="103573" y="21431"/>
                  <a:pt x="99120" y="21431"/>
                </a:cubicBezTo>
                <a:lnTo>
                  <a:pt x="72330" y="21431"/>
                </a:lnTo>
                <a:close/>
                <a:moveTo>
                  <a:pt x="8037" y="133945"/>
                </a:moveTo>
                <a:cubicBezTo>
                  <a:pt x="3583" y="133945"/>
                  <a:pt x="0" y="137528"/>
                  <a:pt x="0" y="141982"/>
                </a:cubicBezTo>
                <a:cubicBezTo>
                  <a:pt x="0" y="146436"/>
                  <a:pt x="3583" y="150019"/>
                  <a:pt x="8037" y="150019"/>
                </a:cubicBezTo>
                <a:lnTo>
                  <a:pt x="163413" y="150019"/>
                </a:lnTo>
                <a:cubicBezTo>
                  <a:pt x="167867" y="150019"/>
                  <a:pt x="171450" y="146436"/>
                  <a:pt x="171450" y="141982"/>
                </a:cubicBezTo>
                <a:cubicBezTo>
                  <a:pt x="171450" y="137528"/>
                  <a:pt x="167867" y="133945"/>
                  <a:pt x="163413" y="133945"/>
                </a:cubicBezTo>
                <a:lnTo>
                  <a:pt x="8037" y="133945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39" name="Text 37"/>
          <p:cNvSpPr/>
          <p:nvPr/>
        </p:nvSpPr>
        <p:spPr>
          <a:xfrm>
            <a:off x="6767513" y="3276600"/>
            <a:ext cx="4648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服务流程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767513" y="3543300"/>
            <a:ext cx="46482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跟进学员日常销售过程的服务流程，给出提升建议并跟进整改的情况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229350" y="4133850"/>
            <a:ext cx="5581650" cy="2590800"/>
          </a:xfrm>
          <a:custGeom>
            <a:avLst/>
            <a:gdLst/>
            <a:ahLst/>
            <a:cxnLst/>
            <a:rect l="l" t="t" r="r" b="b"/>
            <a:pathLst>
              <a:path w="5581650" h="2590800">
                <a:moveTo>
                  <a:pt x="38100" y="0"/>
                </a:moveTo>
                <a:lnTo>
                  <a:pt x="5505455" y="0"/>
                </a:lnTo>
                <a:cubicBezTo>
                  <a:pt x="5547508" y="0"/>
                  <a:pt x="5581650" y="34142"/>
                  <a:pt x="5581650" y="76195"/>
                </a:cubicBezTo>
                <a:lnTo>
                  <a:pt x="5581650" y="2514605"/>
                </a:lnTo>
                <a:cubicBezTo>
                  <a:pt x="5581650" y="2556686"/>
                  <a:pt x="5547536" y="2590800"/>
                  <a:pt x="5505455" y="2590800"/>
                </a:cubicBezTo>
                <a:lnTo>
                  <a:pt x="38100" y="2590800"/>
                </a:lnTo>
                <a:cubicBezTo>
                  <a:pt x="17072" y="2590800"/>
                  <a:pt x="0" y="2573728"/>
                  <a:pt x="0" y="2552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2" name="Shape 40"/>
          <p:cNvSpPr/>
          <p:nvPr/>
        </p:nvSpPr>
        <p:spPr>
          <a:xfrm>
            <a:off x="6229350" y="4133850"/>
            <a:ext cx="38100" cy="2590800"/>
          </a:xfrm>
          <a:custGeom>
            <a:avLst/>
            <a:gdLst/>
            <a:ahLst/>
            <a:cxnLst/>
            <a:rect l="l" t="t" r="r" b="b"/>
            <a:pathLst>
              <a:path w="38100" h="2590800">
                <a:moveTo>
                  <a:pt x="38100" y="0"/>
                </a:moveTo>
                <a:lnTo>
                  <a:pt x="38100" y="0"/>
                </a:lnTo>
                <a:lnTo>
                  <a:pt x="38100" y="2590800"/>
                </a:lnTo>
                <a:lnTo>
                  <a:pt x="38100" y="2590800"/>
                </a:lnTo>
                <a:cubicBezTo>
                  <a:pt x="17072" y="2590800"/>
                  <a:pt x="0" y="2573728"/>
                  <a:pt x="0" y="2552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43" name="Shape 41"/>
          <p:cNvSpPr/>
          <p:nvPr/>
        </p:nvSpPr>
        <p:spPr>
          <a:xfrm>
            <a:off x="6438900" y="43243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44" name="Text 42"/>
          <p:cNvSpPr/>
          <p:nvPr/>
        </p:nvSpPr>
        <p:spPr>
          <a:xfrm>
            <a:off x="6391275" y="4324350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D10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010400" y="4419600"/>
            <a:ext cx="16573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第10天：综合评估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474619" y="4933950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104276" y="10716"/>
                </a:moveTo>
                <a:lnTo>
                  <a:pt x="107156" y="10716"/>
                </a:lnTo>
                <a:cubicBezTo>
                  <a:pt x="118977" y="10716"/>
                  <a:pt x="128588" y="20326"/>
                  <a:pt x="128588" y="32147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32147"/>
                </a:lnTo>
                <a:cubicBezTo>
                  <a:pt x="0" y="20326"/>
                  <a:pt x="9611" y="10716"/>
                  <a:pt x="21431" y="10716"/>
                </a:cubicBezTo>
                <a:lnTo>
                  <a:pt x="24311" y="10716"/>
                </a:lnTo>
                <a:cubicBezTo>
                  <a:pt x="27995" y="4320"/>
                  <a:pt x="34926" y="0"/>
                  <a:pt x="42863" y="0"/>
                </a:cubicBezTo>
                <a:lnTo>
                  <a:pt x="85725" y="0"/>
                </a:lnTo>
                <a:cubicBezTo>
                  <a:pt x="93661" y="0"/>
                  <a:pt x="100593" y="4320"/>
                  <a:pt x="104276" y="10716"/>
                </a:cubicBezTo>
                <a:close/>
                <a:moveTo>
                  <a:pt x="83046" y="37505"/>
                </a:moveTo>
                <a:cubicBezTo>
                  <a:pt x="87500" y="37505"/>
                  <a:pt x="91083" y="33922"/>
                  <a:pt x="91083" y="29468"/>
                </a:cubicBezTo>
                <a:cubicBezTo>
                  <a:pt x="91083" y="25014"/>
                  <a:pt x="87500" y="21431"/>
                  <a:pt x="83046" y="21431"/>
                </a:cubicBezTo>
                <a:lnTo>
                  <a:pt x="45541" y="21431"/>
                </a:lnTo>
                <a:cubicBezTo>
                  <a:pt x="41088" y="21431"/>
                  <a:pt x="37505" y="25014"/>
                  <a:pt x="37505" y="29468"/>
                </a:cubicBezTo>
                <a:cubicBezTo>
                  <a:pt x="37505" y="33922"/>
                  <a:pt x="41088" y="37505"/>
                  <a:pt x="45541" y="37505"/>
                </a:cubicBezTo>
                <a:lnTo>
                  <a:pt x="83046" y="37505"/>
                </a:lnTo>
                <a:close/>
                <a:moveTo>
                  <a:pt x="92556" y="87299"/>
                </a:moveTo>
                <a:cubicBezTo>
                  <a:pt x="94900" y="83548"/>
                  <a:pt x="93762" y="78592"/>
                  <a:pt x="90011" y="76215"/>
                </a:cubicBezTo>
                <a:cubicBezTo>
                  <a:pt x="86261" y="73837"/>
                  <a:pt x="81305" y="75009"/>
                  <a:pt x="78927" y="78760"/>
                </a:cubicBezTo>
                <a:lnTo>
                  <a:pt x="58367" y="111677"/>
                </a:lnTo>
                <a:lnTo>
                  <a:pt x="49325" y="99622"/>
                </a:lnTo>
                <a:cubicBezTo>
                  <a:pt x="46646" y="96072"/>
                  <a:pt x="41624" y="95336"/>
                  <a:pt x="38074" y="98014"/>
                </a:cubicBezTo>
                <a:cubicBezTo>
                  <a:pt x="34524" y="100693"/>
                  <a:pt x="33788" y="105716"/>
                  <a:pt x="36467" y="109266"/>
                </a:cubicBezTo>
                <a:lnTo>
                  <a:pt x="52540" y="130697"/>
                </a:lnTo>
                <a:cubicBezTo>
                  <a:pt x="54114" y="132807"/>
                  <a:pt x="56659" y="134012"/>
                  <a:pt x="59304" y="133912"/>
                </a:cubicBezTo>
                <a:cubicBezTo>
                  <a:pt x="61950" y="133811"/>
                  <a:pt x="64361" y="132405"/>
                  <a:pt x="65767" y="130128"/>
                </a:cubicBezTo>
                <a:lnTo>
                  <a:pt x="92556" y="87265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47" name="Text 45"/>
          <p:cNvSpPr/>
          <p:nvPr/>
        </p:nvSpPr>
        <p:spPr>
          <a:xfrm>
            <a:off x="6748959" y="4895850"/>
            <a:ext cx="49434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综合评估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748959" y="5162550"/>
            <a:ext cx="4943475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根据《凯施迪新员工差异化要求》综合评估新员工是否已经满足当前阶段的要求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447234" y="581025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28588" y="48220"/>
                </a:moveTo>
                <a:cubicBezTo>
                  <a:pt x="128588" y="80769"/>
                  <a:pt x="99789" y="107156"/>
                  <a:pt x="64294" y="107156"/>
                </a:cubicBezTo>
                <a:cubicBezTo>
                  <a:pt x="55353" y="107156"/>
                  <a:pt x="46847" y="105482"/>
                  <a:pt x="39112" y="102468"/>
                </a:cubicBezTo>
                <a:lnTo>
                  <a:pt x="11787" y="116934"/>
                </a:lnTo>
                <a:cubicBezTo>
                  <a:pt x="8673" y="118575"/>
                  <a:pt x="4856" y="118006"/>
                  <a:pt x="2344" y="115528"/>
                </a:cubicBezTo>
                <a:cubicBezTo>
                  <a:pt x="-167" y="113050"/>
                  <a:pt x="-737" y="109199"/>
                  <a:pt x="938" y="106085"/>
                </a:cubicBezTo>
                <a:lnTo>
                  <a:pt x="12859" y="83582"/>
                </a:lnTo>
                <a:cubicBezTo>
                  <a:pt x="4789" y="73737"/>
                  <a:pt x="0" y="61481"/>
                  <a:pt x="0" y="48220"/>
                </a:cubicBezTo>
                <a:cubicBezTo>
                  <a:pt x="0" y="15672"/>
                  <a:pt x="28798" y="-10716"/>
                  <a:pt x="64294" y="-10716"/>
                </a:cubicBezTo>
                <a:cubicBezTo>
                  <a:pt x="99789" y="-10716"/>
                  <a:pt x="128588" y="15672"/>
                  <a:pt x="128588" y="48220"/>
                </a:cubicBezTo>
                <a:close/>
                <a:moveTo>
                  <a:pt x="128588" y="171450"/>
                </a:moveTo>
                <a:cubicBezTo>
                  <a:pt x="97077" y="171450"/>
                  <a:pt x="70857" y="150655"/>
                  <a:pt x="65365" y="123230"/>
                </a:cubicBezTo>
                <a:cubicBezTo>
                  <a:pt x="105549" y="122727"/>
                  <a:pt x="140475" y="94130"/>
                  <a:pt x="144326" y="55353"/>
                </a:cubicBezTo>
                <a:cubicBezTo>
                  <a:pt x="172220" y="61782"/>
                  <a:pt x="192881" y="84921"/>
                  <a:pt x="192881" y="112514"/>
                </a:cubicBezTo>
                <a:cubicBezTo>
                  <a:pt x="192881" y="125775"/>
                  <a:pt x="188093" y="138031"/>
                  <a:pt x="180023" y="147876"/>
                </a:cubicBezTo>
                <a:lnTo>
                  <a:pt x="191944" y="170378"/>
                </a:lnTo>
                <a:cubicBezTo>
                  <a:pt x="193584" y="173493"/>
                  <a:pt x="193015" y="177310"/>
                  <a:pt x="190537" y="179822"/>
                </a:cubicBezTo>
                <a:cubicBezTo>
                  <a:pt x="188059" y="182333"/>
                  <a:pt x="184208" y="182902"/>
                  <a:pt x="181094" y="181228"/>
                </a:cubicBezTo>
                <a:lnTo>
                  <a:pt x="153769" y="166762"/>
                </a:lnTo>
                <a:cubicBezTo>
                  <a:pt x="146034" y="169776"/>
                  <a:pt x="137528" y="171450"/>
                  <a:pt x="128588" y="17145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50" name="Text 48"/>
          <p:cNvSpPr/>
          <p:nvPr/>
        </p:nvSpPr>
        <p:spPr>
          <a:xfrm>
            <a:off x="6766521" y="5772150"/>
            <a:ext cx="49339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店长面谈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766521" y="6038850"/>
            <a:ext cx="493395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浅谈对于品牌文化的理解和运用，交流学习收获，畅谈今后个人发展规划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10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09-10 · PRACTICE &amp; ASSESSMENT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训后练习与综合评估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9575" y="1257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9740" y="16207"/>
                </a:moveTo>
                <a:cubicBezTo>
                  <a:pt x="64606" y="19601"/>
                  <a:pt x="65767" y="26298"/>
                  <a:pt x="62374" y="31120"/>
                </a:cubicBezTo>
                <a:lnTo>
                  <a:pt x="37371" y="66839"/>
                </a:lnTo>
                <a:cubicBezTo>
                  <a:pt x="35540" y="69428"/>
                  <a:pt x="32683" y="71080"/>
                  <a:pt x="29513" y="71348"/>
                </a:cubicBezTo>
                <a:cubicBezTo>
                  <a:pt x="26343" y="71616"/>
                  <a:pt x="23217" y="70545"/>
                  <a:pt x="20985" y="68312"/>
                </a:cubicBezTo>
                <a:lnTo>
                  <a:pt x="3125" y="50453"/>
                </a:lnTo>
                <a:cubicBezTo>
                  <a:pt x="-1027" y="46256"/>
                  <a:pt x="-1027" y="39469"/>
                  <a:pt x="3125" y="35272"/>
                </a:cubicBezTo>
                <a:cubicBezTo>
                  <a:pt x="7278" y="31075"/>
                  <a:pt x="14109" y="31120"/>
                  <a:pt x="18306" y="35272"/>
                </a:cubicBezTo>
                <a:lnTo>
                  <a:pt x="27146" y="44113"/>
                </a:lnTo>
                <a:lnTo>
                  <a:pt x="44827" y="18842"/>
                </a:lnTo>
                <a:cubicBezTo>
                  <a:pt x="48220" y="13975"/>
                  <a:pt x="54918" y="12814"/>
                  <a:pt x="59740" y="16207"/>
                </a:cubicBezTo>
                <a:close/>
                <a:moveTo>
                  <a:pt x="59740" y="87645"/>
                </a:moveTo>
                <a:cubicBezTo>
                  <a:pt x="64606" y="91038"/>
                  <a:pt x="65767" y="97735"/>
                  <a:pt x="62374" y="102557"/>
                </a:cubicBezTo>
                <a:lnTo>
                  <a:pt x="37371" y="138276"/>
                </a:lnTo>
                <a:cubicBezTo>
                  <a:pt x="35540" y="140866"/>
                  <a:pt x="32683" y="142518"/>
                  <a:pt x="29513" y="142786"/>
                </a:cubicBezTo>
                <a:cubicBezTo>
                  <a:pt x="26343" y="143054"/>
                  <a:pt x="23217" y="141982"/>
                  <a:pt x="20985" y="139750"/>
                </a:cubicBezTo>
                <a:lnTo>
                  <a:pt x="3125" y="121890"/>
                </a:lnTo>
                <a:cubicBezTo>
                  <a:pt x="-1072" y="117693"/>
                  <a:pt x="-1072" y="110907"/>
                  <a:pt x="3125" y="106754"/>
                </a:cubicBezTo>
                <a:cubicBezTo>
                  <a:pt x="7322" y="102602"/>
                  <a:pt x="14109" y="102557"/>
                  <a:pt x="18261" y="106754"/>
                </a:cubicBezTo>
                <a:lnTo>
                  <a:pt x="27102" y="115595"/>
                </a:lnTo>
                <a:lnTo>
                  <a:pt x="44782" y="90324"/>
                </a:lnTo>
                <a:cubicBezTo>
                  <a:pt x="48176" y="85457"/>
                  <a:pt x="54873" y="84296"/>
                  <a:pt x="59695" y="87690"/>
                </a:cubicBezTo>
                <a:close/>
                <a:moveTo>
                  <a:pt x="100013" y="42863"/>
                </a:moveTo>
                <a:cubicBezTo>
                  <a:pt x="100013" y="34960"/>
                  <a:pt x="106397" y="28575"/>
                  <a:pt x="114300" y="28575"/>
                </a:cubicBezTo>
                <a:lnTo>
                  <a:pt x="214313" y="28575"/>
                </a:lnTo>
                <a:cubicBezTo>
                  <a:pt x="222215" y="28575"/>
                  <a:pt x="228600" y="34960"/>
                  <a:pt x="228600" y="42863"/>
                </a:cubicBezTo>
                <a:cubicBezTo>
                  <a:pt x="228600" y="50765"/>
                  <a:pt x="222215" y="57150"/>
                  <a:pt x="214313" y="57150"/>
                </a:cubicBezTo>
                <a:lnTo>
                  <a:pt x="114300" y="57150"/>
                </a:lnTo>
                <a:cubicBezTo>
                  <a:pt x="106397" y="57150"/>
                  <a:pt x="100013" y="50765"/>
                  <a:pt x="100013" y="42863"/>
                </a:cubicBezTo>
                <a:close/>
                <a:moveTo>
                  <a:pt x="100013" y="114300"/>
                </a:moveTo>
                <a:cubicBezTo>
                  <a:pt x="100013" y="106397"/>
                  <a:pt x="106397" y="100013"/>
                  <a:pt x="114300" y="100013"/>
                </a:cubicBezTo>
                <a:lnTo>
                  <a:pt x="214313" y="100013"/>
                </a:lnTo>
                <a:cubicBezTo>
                  <a:pt x="222215" y="100013"/>
                  <a:pt x="228600" y="106397"/>
                  <a:pt x="228600" y="114300"/>
                </a:cubicBezTo>
                <a:cubicBezTo>
                  <a:pt x="228600" y="122203"/>
                  <a:pt x="222215" y="128588"/>
                  <a:pt x="214313" y="128588"/>
                </a:cubicBezTo>
                <a:lnTo>
                  <a:pt x="114300" y="128588"/>
                </a:lnTo>
                <a:cubicBezTo>
                  <a:pt x="106397" y="128588"/>
                  <a:pt x="100013" y="122203"/>
                  <a:pt x="100013" y="114300"/>
                </a:cubicBezTo>
                <a:close/>
                <a:moveTo>
                  <a:pt x="71438" y="185738"/>
                </a:moveTo>
                <a:cubicBezTo>
                  <a:pt x="71438" y="177835"/>
                  <a:pt x="77822" y="171450"/>
                  <a:pt x="85725" y="171450"/>
                </a:cubicBezTo>
                <a:lnTo>
                  <a:pt x="214313" y="171450"/>
                </a:lnTo>
                <a:cubicBezTo>
                  <a:pt x="222215" y="171450"/>
                  <a:pt x="228600" y="177835"/>
                  <a:pt x="228600" y="185738"/>
                </a:cubicBezTo>
                <a:cubicBezTo>
                  <a:pt x="228600" y="193640"/>
                  <a:pt x="222215" y="200025"/>
                  <a:pt x="214313" y="200025"/>
                </a:cubicBezTo>
                <a:lnTo>
                  <a:pt x="85725" y="200025"/>
                </a:lnTo>
                <a:cubicBezTo>
                  <a:pt x="77822" y="200025"/>
                  <a:pt x="71438" y="193640"/>
                  <a:pt x="71438" y="185738"/>
                </a:cubicBezTo>
                <a:close/>
                <a:moveTo>
                  <a:pt x="28575" y="167878"/>
                </a:moveTo>
                <a:cubicBezTo>
                  <a:pt x="38432" y="167878"/>
                  <a:pt x="46434" y="175881"/>
                  <a:pt x="46434" y="185738"/>
                </a:cubicBezTo>
                <a:cubicBezTo>
                  <a:pt x="46434" y="195594"/>
                  <a:pt x="38432" y="203597"/>
                  <a:pt x="28575" y="203597"/>
                </a:cubicBezTo>
                <a:cubicBezTo>
                  <a:pt x="18718" y="203597"/>
                  <a:pt x="10716" y="195594"/>
                  <a:pt x="10716" y="185738"/>
                </a:cubicBezTo>
                <a:cubicBezTo>
                  <a:pt x="10716" y="175881"/>
                  <a:pt x="18718" y="167878"/>
                  <a:pt x="28575" y="167878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5" name="Text 3"/>
          <p:cNvSpPr/>
          <p:nvPr/>
        </p:nvSpPr>
        <p:spPr>
          <a:xfrm>
            <a:off x="781050" y="1219200"/>
            <a:ext cx="1485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训后落地练习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1676400"/>
            <a:ext cx="5581650" cy="1219200"/>
          </a:xfrm>
          <a:custGeom>
            <a:avLst/>
            <a:gdLst/>
            <a:ahLst/>
            <a:cxnLst/>
            <a:rect l="l" t="t" r="r" b="b"/>
            <a:pathLst>
              <a:path w="5581650" h="1219200">
                <a:moveTo>
                  <a:pt x="38100" y="0"/>
                </a:moveTo>
                <a:lnTo>
                  <a:pt x="5505450" y="0"/>
                </a:lnTo>
                <a:cubicBezTo>
                  <a:pt x="5547506" y="0"/>
                  <a:pt x="5581650" y="34144"/>
                  <a:pt x="5581650" y="76200"/>
                </a:cubicBezTo>
                <a:lnTo>
                  <a:pt x="5581650" y="1143000"/>
                </a:lnTo>
                <a:cubicBezTo>
                  <a:pt x="5581650" y="1185056"/>
                  <a:pt x="5547506" y="1219200"/>
                  <a:pt x="5505450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" name="Shape 5"/>
          <p:cNvSpPr/>
          <p:nvPr/>
        </p:nvSpPr>
        <p:spPr>
          <a:xfrm>
            <a:off x="400050" y="167640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8" name="Shape 6"/>
          <p:cNvSpPr/>
          <p:nvPr/>
        </p:nvSpPr>
        <p:spPr>
          <a:xfrm>
            <a:off x="609600" y="1866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9" name="Text 7"/>
          <p:cNvSpPr/>
          <p:nvPr/>
        </p:nvSpPr>
        <p:spPr>
          <a:xfrm>
            <a:off x="566738" y="1866900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D9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1866900"/>
            <a:ext cx="47339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真实销售场景实战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2209800"/>
            <a:ext cx="47244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在真实销售场景中运用所学，接受带教老师现场观察指导，及时发现并改正问题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0050" y="3086100"/>
            <a:ext cx="5581650" cy="971550"/>
          </a:xfrm>
          <a:custGeom>
            <a:avLst/>
            <a:gdLst/>
            <a:ahLst/>
            <a:cxnLst/>
            <a:rect l="l" t="t" r="r" b="b"/>
            <a:pathLst>
              <a:path w="5581650" h="971550">
                <a:moveTo>
                  <a:pt x="38100" y="0"/>
                </a:moveTo>
                <a:lnTo>
                  <a:pt x="5505451" y="0"/>
                </a:lnTo>
                <a:cubicBezTo>
                  <a:pt x="5547535" y="0"/>
                  <a:pt x="5581650" y="34115"/>
                  <a:pt x="5581650" y="76199"/>
                </a:cubicBezTo>
                <a:lnTo>
                  <a:pt x="5581650" y="895351"/>
                </a:lnTo>
                <a:cubicBezTo>
                  <a:pt x="5581650" y="937435"/>
                  <a:pt x="5547535" y="971550"/>
                  <a:pt x="5505451" y="971550"/>
                </a:cubicBez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3" name="Shape 11"/>
          <p:cNvSpPr/>
          <p:nvPr/>
        </p:nvSpPr>
        <p:spPr>
          <a:xfrm>
            <a:off x="400050" y="3086100"/>
            <a:ext cx="38100" cy="971550"/>
          </a:xfrm>
          <a:custGeom>
            <a:avLst/>
            <a:gdLst/>
            <a:ahLst/>
            <a:cxnLst/>
            <a:rect l="l" t="t" r="r" b="b"/>
            <a:pathLst>
              <a:path w="38100" h="971550">
                <a:moveTo>
                  <a:pt x="38100" y="0"/>
                </a:moveTo>
                <a:lnTo>
                  <a:pt x="38100" y="0"/>
                </a:lnTo>
                <a:lnTo>
                  <a:pt x="38100" y="971550"/>
                </a:ln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14" name="Shape 12"/>
          <p:cNvSpPr/>
          <p:nvPr/>
        </p:nvSpPr>
        <p:spPr>
          <a:xfrm>
            <a:off x="609600" y="3276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15" name="Text 13"/>
          <p:cNvSpPr/>
          <p:nvPr/>
        </p:nvSpPr>
        <p:spPr>
          <a:xfrm>
            <a:off x="566738" y="3276600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D10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3276600"/>
            <a:ext cx="37433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培训总结与规划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3619500"/>
            <a:ext cx="37338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准备个人培训总结及未来工作规划，明确职业发展方向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1000" y="5219700"/>
            <a:ext cx="5600700" cy="1257300"/>
          </a:xfrm>
          <a:custGeom>
            <a:avLst/>
            <a:gdLst/>
            <a:ahLst/>
            <a:cxnLst/>
            <a:rect l="l" t="t" r="r" b="b"/>
            <a:pathLst>
              <a:path w="5600700" h="1257300">
                <a:moveTo>
                  <a:pt x="76205" y="0"/>
                </a:moveTo>
                <a:lnTo>
                  <a:pt x="5524495" y="0"/>
                </a:lnTo>
                <a:cubicBezTo>
                  <a:pt x="5566582" y="0"/>
                  <a:pt x="5600700" y="34118"/>
                  <a:pt x="5600700" y="76205"/>
                </a:cubicBezTo>
                <a:lnTo>
                  <a:pt x="5600700" y="1181095"/>
                </a:lnTo>
                <a:cubicBezTo>
                  <a:pt x="5600700" y="1223182"/>
                  <a:pt x="5566582" y="1257300"/>
                  <a:pt x="5524495" y="1257300"/>
                </a:cubicBezTo>
                <a:lnTo>
                  <a:pt x="76205" y="1257300"/>
                </a:lnTo>
                <a:cubicBezTo>
                  <a:pt x="34118" y="1257300"/>
                  <a:pt x="0" y="1223182"/>
                  <a:pt x="0" y="11810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3A4F41">
              <a:alpha val="5098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583406" y="54483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88999" y="-2977"/>
                </a:moveTo>
                <a:cubicBezTo>
                  <a:pt x="86730" y="-5283"/>
                  <a:pt x="83418" y="-6214"/>
                  <a:pt x="80293" y="-5358"/>
                </a:cubicBezTo>
                <a:cubicBezTo>
                  <a:pt x="77167" y="-4502"/>
                  <a:pt x="74749" y="-2084"/>
                  <a:pt x="73968" y="1042"/>
                </a:cubicBezTo>
                <a:lnTo>
                  <a:pt x="68275" y="23440"/>
                </a:lnTo>
                <a:cubicBezTo>
                  <a:pt x="67866" y="25078"/>
                  <a:pt x="66191" y="26045"/>
                  <a:pt x="64591" y="25561"/>
                </a:cubicBezTo>
                <a:lnTo>
                  <a:pt x="42342" y="19310"/>
                </a:lnTo>
                <a:cubicBezTo>
                  <a:pt x="39216" y="18417"/>
                  <a:pt x="35868" y="19310"/>
                  <a:pt x="33598" y="21580"/>
                </a:cubicBezTo>
                <a:cubicBezTo>
                  <a:pt x="31328" y="23850"/>
                  <a:pt x="30435" y="27198"/>
                  <a:pt x="31328" y="30324"/>
                </a:cubicBezTo>
                <a:lnTo>
                  <a:pt x="37616" y="52574"/>
                </a:lnTo>
                <a:cubicBezTo>
                  <a:pt x="38063" y="54173"/>
                  <a:pt x="37095" y="55848"/>
                  <a:pt x="35496" y="56257"/>
                </a:cubicBezTo>
                <a:lnTo>
                  <a:pt x="13060" y="61950"/>
                </a:lnTo>
                <a:cubicBezTo>
                  <a:pt x="9934" y="62731"/>
                  <a:pt x="7479" y="65187"/>
                  <a:pt x="6623" y="68312"/>
                </a:cubicBezTo>
                <a:cubicBezTo>
                  <a:pt x="5767" y="71438"/>
                  <a:pt x="6697" y="74749"/>
                  <a:pt x="9004" y="77019"/>
                </a:cubicBezTo>
                <a:lnTo>
                  <a:pt x="25561" y="93129"/>
                </a:lnTo>
                <a:cubicBezTo>
                  <a:pt x="26752" y="94283"/>
                  <a:pt x="26752" y="96217"/>
                  <a:pt x="25561" y="97408"/>
                </a:cubicBezTo>
                <a:lnTo>
                  <a:pt x="9041" y="113519"/>
                </a:lnTo>
                <a:cubicBezTo>
                  <a:pt x="6734" y="115788"/>
                  <a:pt x="5804" y="119100"/>
                  <a:pt x="6660" y="122225"/>
                </a:cubicBezTo>
                <a:cubicBezTo>
                  <a:pt x="7516" y="125350"/>
                  <a:pt x="9971" y="127769"/>
                  <a:pt x="13097" y="128588"/>
                </a:cubicBezTo>
                <a:lnTo>
                  <a:pt x="35496" y="134280"/>
                </a:lnTo>
                <a:cubicBezTo>
                  <a:pt x="37133" y="134689"/>
                  <a:pt x="38100" y="136364"/>
                  <a:pt x="37616" y="137964"/>
                </a:cubicBezTo>
                <a:lnTo>
                  <a:pt x="31328" y="160176"/>
                </a:lnTo>
                <a:cubicBezTo>
                  <a:pt x="30435" y="163302"/>
                  <a:pt x="31328" y="166650"/>
                  <a:pt x="33598" y="168920"/>
                </a:cubicBezTo>
                <a:cubicBezTo>
                  <a:pt x="35868" y="171190"/>
                  <a:pt x="39216" y="172083"/>
                  <a:pt x="42342" y="171190"/>
                </a:cubicBezTo>
                <a:lnTo>
                  <a:pt x="64591" y="164902"/>
                </a:lnTo>
                <a:cubicBezTo>
                  <a:pt x="66191" y="164455"/>
                  <a:pt x="67866" y="165422"/>
                  <a:pt x="68275" y="167022"/>
                </a:cubicBezTo>
                <a:lnTo>
                  <a:pt x="73968" y="189421"/>
                </a:lnTo>
                <a:cubicBezTo>
                  <a:pt x="74749" y="192546"/>
                  <a:pt x="77205" y="195002"/>
                  <a:pt x="80330" y="195858"/>
                </a:cubicBezTo>
                <a:cubicBezTo>
                  <a:pt x="83455" y="196714"/>
                  <a:pt x="86767" y="195783"/>
                  <a:pt x="89036" y="193477"/>
                </a:cubicBezTo>
                <a:lnTo>
                  <a:pt x="105147" y="176919"/>
                </a:lnTo>
                <a:cubicBezTo>
                  <a:pt x="106300" y="175729"/>
                  <a:pt x="108235" y="175729"/>
                  <a:pt x="109426" y="176919"/>
                </a:cubicBezTo>
                <a:lnTo>
                  <a:pt x="125499" y="193477"/>
                </a:lnTo>
                <a:cubicBezTo>
                  <a:pt x="127769" y="195783"/>
                  <a:pt x="131080" y="196714"/>
                  <a:pt x="134206" y="195858"/>
                </a:cubicBezTo>
                <a:cubicBezTo>
                  <a:pt x="137331" y="195002"/>
                  <a:pt x="139750" y="192546"/>
                  <a:pt x="140568" y="189421"/>
                </a:cubicBezTo>
                <a:lnTo>
                  <a:pt x="146261" y="167060"/>
                </a:lnTo>
                <a:cubicBezTo>
                  <a:pt x="146670" y="165422"/>
                  <a:pt x="148344" y="164455"/>
                  <a:pt x="149944" y="164939"/>
                </a:cubicBezTo>
                <a:lnTo>
                  <a:pt x="172194" y="171227"/>
                </a:lnTo>
                <a:cubicBezTo>
                  <a:pt x="175320" y="172120"/>
                  <a:pt x="178668" y="171227"/>
                  <a:pt x="180938" y="168957"/>
                </a:cubicBezTo>
                <a:cubicBezTo>
                  <a:pt x="183207" y="166687"/>
                  <a:pt x="184100" y="163339"/>
                  <a:pt x="183207" y="160213"/>
                </a:cubicBezTo>
                <a:lnTo>
                  <a:pt x="176919" y="137964"/>
                </a:lnTo>
                <a:cubicBezTo>
                  <a:pt x="176473" y="136364"/>
                  <a:pt x="177440" y="134689"/>
                  <a:pt x="179040" y="134280"/>
                </a:cubicBezTo>
                <a:lnTo>
                  <a:pt x="201439" y="128588"/>
                </a:lnTo>
                <a:cubicBezTo>
                  <a:pt x="204564" y="127806"/>
                  <a:pt x="207020" y="125350"/>
                  <a:pt x="207876" y="122225"/>
                </a:cubicBezTo>
                <a:cubicBezTo>
                  <a:pt x="208731" y="119100"/>
                  <a:pt x="207801" y="115751"/>
                  <a:pt x="205494" y="113519"/>
                </a:cubicBezTo>
                <a:lnTo>
                  <a:pt x="188937" y="97408"/>
                </a:lnTo>
                <a:cubicBezTo>
                  <a:pt x="187747" y="96255"/>
                  <a:pt x="187747" y="94320"/>
                  <a:pt x="188937" y="93129"/>
                </a:cubicBezTo>
                <a:lnTo>
                  <a:pt x="205494" y="77019"/>
                </a:lnTo>
                <a:cubicBezTo>
                  <a:pt x="207801" y="74749"/>
                  <a:pt x="208731" y="71437"/>
                  <a:pt x="207876" y="68312"/>
                </a:cubicBezTo>
                <a:cubicBezTo>
                  <a:pt x="207020" y="65187"/>
                  <a:pt x="204564" y="62768"/>
                  <a:pt x="201439" y="61950"/>
                </a:cubicBezTo>
                <a:lnTo>
                  <a:pt x="179040" y="56257"/>
                </a:lnTo>
                <a:cubicBezTo>
                  <a:pt x="177403" y="55848"/>
                  <a:pt x="176436" y="54173"/>
                  <a:pt x="176919" y="52574"/>
                </a:cubicBezTo>
                <a:lnTo>
                  <a:pt x="183207" y="30324"/>
                </a:lnTo>
                <a:cubicBezTo>
                  <a:pt x="184100" y="27198"/>
                  <a:pt x="183207" y="23850"/>
                  <a:pt x="180938" y="21580"/>
                </a:cubicBezTo>
                <a:cubicBezTo>
                  <a:pt x="178668" y="19310"/>
                  <a:pt x="175320" y="18417"/>
                  <a:pt x="172194" y="19310"/>
                </a:cubicBezTo>
                <a:lnTo>
                  <a:pt x="149944" y="25598"/>
                </a:lnTo>
                <a:cubicBezTo>
                  <a:pt x="148344" y="26045"/>
                  <a:pt x="146670" y="25078"/>
                  <a:pt x="146261" y="23478"/>
                </a:cubicBezTo>
                <a:lnTo>
                  <a:pt x="140568" y="1042"/>
                </a:lnTo>
                <a:cubicBezTo>
                  <a:pt x="139787" y="-2084"/>
                  <a:pt x="137331" y="-4539"/>
                  <a:pt x="134206" y="-5395"/>
                </a:cubicBezTo>
                <a:cubicBezTo>
                  <a:pt x="131080" y="-6251"/>
                  <a:pt x="127769" y="-5321"/>
                  <a:pt x="125499" y="-3014"/>
                </a:cubicBezTo>
                <a:lnTo>
                  <a:pt x="109389" y="13581"/>
                </a:lnTo>
                <a:cubicBezTo>
                  <a:pt x="108235" y="14771"/>
                  <a:pt x="106300" y="14771"/>
                  <a:pt x="105110" y="13581"/>
                </a:cubicBezTo>
                <a:lnTo>
                  <a:pt x="88999" y="-2977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20" name="Text 18"/>
          <p:cNvSpPr/>
          <p:nvPr/>
        </p:nvSpPr>
        <p:spPr>
          <a:xfrm>
            <a:off x="923925" y="5410200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合格标准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1500" y="5791200"/>
            <a:ext cx="52959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总分100分，80分视为培训合格，可正式上岗。未达标者需延长培训期或重新参加培训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67450" y="12573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9035" y="14288"/>
                </a:moveTo>
                <a:lnTo>
                  <a:pt x="142875" y="14288"/>
                </a:lnTo>
                <a:cubicBezTo>
                  <a:pt x="158636" y="14288"/>
                  <a:pt x="171450" y="27102"/>
                  <a:pt x="171450" y="42863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42863"/>
                </a:lnTo>
                <a:cubicBezTo>
                  <a:pt x="0" y="27102"/>
                  <a:pt x="12814" y="14288"/>
                  <a:pt x="28575" y="14288"/>
                </a:cubicBezTo>
                <a:lnTo>
                  <a:pt x="32415" y="14288"/>
                </a:lnTo>
                <a:cubicBezTo>
                  <a:pt x="37326" y="5760"/>
                  <a:pt x="46568" y="0"/>
                  <a:pt x="57150" y="0"/>
                </a:cubicBezTo>
                <a:lnTo>
                  <a:pt x="114300" y="0"/>
                </a:lnTo>
                <a:cubicBezTo>
                  <a:pt x="124882" y="0"/>
                  <a:pt x="134124" y="5760"/>
                  <a:pt x="139035" y="14288"/>
                </a:cubicBezTo>
                <a:close/>
                <a:moveTo>
                  <a:pt x="110728" y="50006"/>
                </a:moveTo>
                <a:cubicBezTo>
                  <a:pt x="116666" y="50006"/>
                  <a:pt x="121444" y="45229"/>
                  <a:pt x="121444" y="39291"/>
                </a:cubicBezTo>
                <a:cubicBezTo>
                  <a:pt x="121444" y="33352"/>
                  <a:pt x="116666" y="28575"/>
                  <a:pt x="110728" y="28575"/>
                </a:cubicBezTo>
                <a:lnTo>
                  <a:pt x="60722" y="28575"/>
                </a:lnTo>
                <a:cubicBezTo>
                  <a:pt x="54784" y="28575"/>
                  <a:pt x="50006" y="33352"/>
                  <a:pt x="50006" y="39291"/>
                </a:cubicBezTo>
                <a:cubicBezTo>
                  <a:pt x="50006" y="45229"/>
                  <a:pt x="54784" y="50006"/>
                  <a:pt x="60722" y="50006"/>
                </a:cubicBezTo>
                <a:lnTo>
                  <a:pt x="110728" y="50006"/>
                </a:lnTo>
                <a:close/>
                <a:moveTo>
                  <a:pt x="57150" y="114300"/>
                </a:moveTo>
                <a:cubicBezTo>
                  <a:pt x="57150" y="106415"/>
                  <a:pt x="50748" y="100013"/>
                  <a:pt x="42863" y="100013"/>
                </a:cubicBezTo>
                <a:cubicBezTo>
                  <a:pt x="34977" y="100013"/>
                  <a:pt x="28575" y="106415"/>
                  <a:pt x="28575" y="114300"/>
                </a:cubicBezTo>
                <a:cubicBezTo>
                  <a:pt x="28575" y="122185"/>
                  <a:pt x="34977" y="128588"/>
                  <a:pt x="42863" y="128588"/>
                </a:cubicBezTo>
                <a:cubicBezTo>
                  <a:pt x="50748" y="128588"/>
                  <a:pt x="57150" y="122185"/>
                  <a:pt x="57150" y="114300"/>
                </a:cubicBezTo>
                <a:close/>
                <a:moveTo>
                  <a:pt x="71438" y="114300"/>
                </a:moveTo>
                <a:cubicBezTo>
                  <a:pt x="71438" y="120238"/>
                  <a:pt x="76215" y="125016"/>
                  <a:pt x="82153" y="125016"/>
                </a:cubicBezTo>
                <a:lnTo>
                  <a:pt x="132159" y="125016"/>
                </a:lnTo>
                <a:cubicBezTo>
                  <a:pt x="138098" y="125016"/>
                  <a:pt x="142875" y="120238"/>
                  <a:pt x="142875" y="114300"/>
                </a:cubicBezTo>
                <a:cubicBezTo>
                  <a:pt x="142875" y="108362"/>
                  <a:pt x="138098" y="103584"/>
                  <a:pt x="132159" y="103584"/>
                </a:cubicBezTo>
                <a:lnTo>
                  <a:pt x="82153" y="103584"/>
                </a:lnTo>
                <a:cubicBezTo>
                  <a:pt x="76215" y="103584"/>
                  <a:pt x="71438" y="108362"/>
                  <a:pt x="71438" y="114300"/>
                </a:cubicBezTo>
                <a:close/>
                <a:moveTo>
                  <a:pt x="71438" y="171450"/>
                </a:moveTo>
                <a:cubicBezTo>
                  <a:pt x="71438" y="177388"/>
                  <a:pt x="76215" y="182166"/>
                  <a:pt x="82153" y="182166"/>
                </a:cubicBezTo>
                <a:lnTo>
                  <a:pt x="132159" y="182166"/>
                </a:lnTo>
                <a:cubicBezTo>
                  <a:pt x="138098" y="182166"/>
                  <a:pt x="142875" y="177388"/>
                  <a:pt x="142875" y="171450"/>
                </a:cubicBezTo>
                <a:cubicBezTo>
                  <a:pt x="142875" y="165512"/>
                  <a:pt x="138098" y="160734"/>
                  <a:pt x="132159" y="160734"/>
                </a:cubicBezTo>
                <a:lnTo>
                  <a:pt x="82153" y="160734"/>
                </a:lnTo>
                <a:cubicBezTo>
                  <a:pt x="76215" y="160734"/>
                  <a:pt x="71438" y="165512"/>
                  <a:pt x="71438" y="171450"/>
                </a:cubicBezTo>
                <a:close/>
                <a:moveTo>
                  <a:pt x="42863" y="185738"/>
                </a:moveTo>
                <a:cubicBezTo>
                  <a:pt x="50748" y="185738"/>
                  <a:pt x="57150" y="179335"/>
                  <a:pt x="57150" y="171450"/>
                </a:cubicBezTo>
                <a:cubicBezTo>
                  <a:pt x="57150" y="163565"/>
                  <a:pt x="50748" y="157163"/>
                  <a:pt x="42863" y="157163"/>
                </a:cubicBezTo>
                <a:cubicBezTo>
                  <a:pt x="34977" y="157163"/>
                  <a:pt x="28575" y="163565"/>
                  <a:pt x="28575" y="171450"/>
                </a:cubicBezTo>
                <a:cubicBezTo>
                  <a:pt x="28575" y="179335"/>
                  <a:pt x="34977" y="185738"/>
                  <a:pt x="42863" y="185738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23" name="Text 21"/>
          <p:cNvSpPr/>
          <p:nvPr/>
        </p:nvSpPr>
        <p:spPr>
          <a:xfrm>
            <a:off x="6610350" y="1219200"/>
            <a:ext cx="1485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综合评估标准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10300" y="1676400"/>
            <a:ext cx="5600700" cy="4800600"/>
          </a:xfrm>
          <a:custGeom>
            <a:avLst/>
            <a:gdLst/>
            <a:ahLst/>
            <a:cxnLst/>
            <a:rect l="l" t="t" r="r" b="b"/>
            <a:pathLst>
              <a:path w="5600700" h="4800600">
                <a:moveTo>
                  <a:pt x="76186" y="0"/>
                </a:moveTo>
                <a:lnTo>
                  <a:pt x="5524514" y="0"/>
                </a:lnTo>
                <a:cubicBezTo>
                  <a:pt x="5566591" y="0"/>
                  <a:pt x="5600700" y="34109"/>
                  <a:pt x="5600700" y="76186"/>
                </a:cubicBezTo>
                <a:lnTo>
                  <a:pt x="5600700" y="4724414"/>
                </a:lnTo>
                <a:cubicBezTo>
                  <a:pt x="5600700" y="4766491"/>
                  <a:pt x="5566591" y="4800600"/>
                  <a:pt x="5524514" y="4800600"/>
                </a:cubicBezTo>
                <a:lnTo>
                  <a:pt x="76186" y="4800600"/>
                </a:lnTo>
                <a:cubicBezTo>
                  <a:pt x="34109" y="4800600"/>
                  <a:pt x="0" y="4766491"/>
                  <a:pt x="0" y="4724414"/>
                </a:cubicBezTo>
                <a:lnTo>
                  <a:pt x="0" y="76186"/>
                </a:lnTo>
                <a:cubicBezTo>
                  <a:pt x="0" y="34138"/>
                  <a:pt x="34138" y="0"/>
                  <a:pt x="76186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5" name="Shape 23"/>
          <p:cNvSpPr/>
          <p:nvPr/>
        </p:nvSpPr>
        <p:spPr>
          <a:xfrm>
            <a:off x="6210300" y="1676400"/>
            <a:ext cx="5600700" cy="838200"/>
          </a:xfrm>
          <a:custGeom>
            <a:avLst/>
            <a:gdLst/>
            <a:ahLst/>
            <a:cxnLst/>
            <a:rect l="l" t="t" r="r" b="b"/>
            <a:pathLst>
              <a:path w="5600700" h="838200">
                <a:moveTo>
                  <a:pt x="0" y="0"/>
                </a:moveTo>
                <a:lnTo>
                  <a:pt x="5600700" y="0"/>
                </a:lnTo>
                <a:lnTo>
                  <a:pt x="56007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3A4F41"/>
          </a:solidFill>
        </p:spPr>
      </p:sp>
      <p:sp>
        <p:nvSpPr>
          <p:cNvPr id="26" name="Text 24"/>
          <p:cNvSpPr/>
          <p:nvPr/>
        </p:nvSpPr>
        <p:spPr>
          <a:xfrm>
            <a:off x="6329363" y="1828800"/>
            <a:ext cx="5362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7F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总分100分，80分合格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05550" y="2057400"/>
            <a:ext cx="5410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8F7F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五大评估维度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00800" y="3413125"/>
            <a:ext cx="5219700" cy="6350"/>
          </a:xfrm>
          <a:custGeom>
            <a:avLst/>
            <a:gdLst/>
            <a:ahLst/>
            <a:cxnLst/>
            <a:rect l="l" t="t" r="r" b="b"/>
            <a:pathLst>
              <a:path w="5219700" h="6350">
                <a:moveTo>
                  <a:pt x="0" y="0"/>
                </a:moveTo>
                <a:lnTo>
                  <a:pt x="5219700" y="0"/>
                </a:lnTo>
                <a:lnTo>
                  <a:pt x="521970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A9A299">
              <a:alpha val="20000"/>
            </a:srgbClr>
          </a:solidFill>
        </p:spPr>
      </p:sp>
      <p:sp>
        <p:nvSpPr>
          <p:cNvPr id="29" name="Shape 27"/>
          <p:cNvSpPr/>
          <p:nvPr/>
        </p:nvSpPr>
        <p:spPr>
          <a:xfrm>
            <a:off x="6400800" y="2781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A4F41">
              <a:alpha val="10196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6518672" y="288607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21431" y="10716"/>
                </a:moveTo>
                <a:cubicBezTo>
                  <a:pt x="21431" y="4789"/>
                  <a:pt x="16643" y="0"/>
                  <a:pt x="10716" y="0"/>
                </a:cubicBezTo>
                <a:cubicBezTo>
                  <a:pt x="4789" y="0"/>
                  <a:pt x="0" y="4789"/>
                  <a:pt x="0" y="10716"/>
                </a:cubicBezTo>
                <a:lnTo>
                  <a:pt x="0" y="160734"/>
                </a:lnTo>
                <a:cubicBezTo>
                  <a:pt x="0" y="166661"/>
                  <a:pt x="4789" y="171450"/>
                  <a:pt x="10716" y="171450"/>
                </a:cubicBezTo>
                <a:cubicBezTo>
                  <a:pt x="16643" y="171450"/>
                  <a:pt x="21431" y="166661"/>
                  <a:pt x="21431" y="160734"/>
                </a:cubicBezTo>
                <a:lnTo>
                  <a:pt x="21431" y="120015"/>
                </a:lnTo>
                <a:lnTo>
                  <a:pt x="42427" y="113720"/>
                </a:lnTo>
                <a:cubicBezTo>
                  <a:pt x="56458" y="109500"/>
                  <a:pt x="71594" y="110806"/>
                  <a:pt x="84687" y="117370"/>
                </a:cubicBezTo>
                <a:cubicBezTo>
                  <a:pt x="98986" y="124536"/>
                  <a:pt x="115662" y="125406"/>
                  <a:pt x="130630" y="119781"/>
                </a:cubicBezTo>
                <a:lnTo>
                  <a:pt x="143054" y="115126"/>
                </a:lnTo>
                <a:cubicBezTo>
                  <a:pt x="147239" y="113552"/>
                  <a:pt x="150019" y="109567"/>
                  <a:pt x="150019" y="105080"/>
                </a:cubicBezTo>
                <a:lnTo>
                  <a:pt x="150019" y="22134"/>
                </a:lnTo>
                <a:cubicBezTo>
                  <a:pt x="150019" y="14433"/>
                  <a:pt x="141915" y="9410"/>
                  <a:pt x="135017" y="12859"/>
                </a:cubicBezTo>
                <a:lnTo>
                  <a:pt x="131065" y="14834"/>
                </a:lnTo>
                <a:cubicBezTo>
                  <a:pt x="116030" y="22369"/>
                  <a:pt x="98316" y="22369"/>
                  <a:pt x="83247" y="14834"/>
                </a:cubicBezTo>
                <a:cubicBezTo>
                  <a:pt x="71058" y="8740"/>
                  <a:pt x="57027" y="7534"/>
                  <a:pt x="44001" y="11452"/>
                </a:cubicBezTo>
                <a:lnTo>
                  <a:pt x="21431" y="18217"/>
                </a:lnTo>
                <a:lnTo>
                  <a:pt x="21431" y="10716"/>
                </a:lnTo>
                <a:close/>
              </a:path>
            </a:pathLst>
          </a:custGeom>
          <a:solidFill>
            <a:srgbClr val="3A4F41"/>
          </a:solidFill>
        </p:spPr>
      </p:sp>
      <p:sp>
        <p:nvSpPr>
          <p:cNvPr id="31" name="Text 29"/>
          <p:cNvSpPr/>
          <p:nvPr/>
        </p:nvSpPr>
        <p:spPr>
          <a:xfrm>
            <a:off x="6934200" y="2781300"/>
            <a:ext cx="47720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品牌文化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34200" y="3086100"/>
            <a:ext cx="47625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了解凯施迪的起源及发展历史，能一句话介绍凯施迪品牌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00800" y="4132263"/>
            <a:ext cx="5219700" cy="6350"/>
          </a:xfrm>
          <a:custGeom>
            <a:avLst/>
            <a:gdLst/>
            <a:ahLst/>
            <a:cxnLst/>
            <a:rect l="l" t="t" r="r" b="b"/>
            <a:pathLst>
              <a:path w="5219700" h="6350">
                <a:moveTo>
                  <a:pt x="0" y="0"/>
                </a:moveTo>
                <a:lnTo>
                  <a:pt x="5219700" y="0"/>
                </a:lnTo>
                <a:lnTo>
                  <a:pt x="521970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A9A299">
              <a:alpha val="20000"/>
            </a:srgbClr>
          </a:solidFill>
        </p:spPr>
      </p:sp>
      <p:sp>
        <p:nvSpPr>
          <p:cNvPr id="34" name="Shape 32"/>
          <p:cNvSpPr/>
          <p:nvPr/>
        </p:nvSpPr>
        <p:spPr>
          <a:xfrm>
            <a:off x="6400800" y="350043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A4F41">
              <a:alpha val="10196"/>
            </a:srgbClr>
          </a:solidFill>
        </p:spPr>
      </p:sp>
      <p:sp>
        <p:nvSpPr>
          <p:cNvPr id="35" name="Shape 33"/>
          <p:cNvSpPr/>
          <p:nvPr/>
        </p:nvSpPr>
        <p:spPr>
          <a:xfrm>
            <a:off x="6507956" y="360521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72330" y="21431"/>
                </a:moveTo>
                <a:cubicBezTo>
                  <a:pt x="67877" y="21431"/>
                  <a:pt x="64294" y="25014"/>
                  <a:pt x="64294" y="29468"/>
                </a:cubicBezTo>
                <a:cubicBezTo>
                  <a:pt x="64294" y="33922"/>
                  <a:pt x="67877" y="37505"/>
                  <a:pt x="72330" y="37505"/>
                </a:cubicBezTo>
                <a:lnTo>
                  <a:pt x="77688" y="37505"/>
                </a:lnTo>
                <a:lnTo>
                  <a:pt x="77688" y="48656"/>
                </a:lnTo>
                <a:cubicBezTo>
                  <a:pt x="41791" y="52473"/>
                  <a:pt x="13462" y="81606"/>
                  <a:pt x="10917" y="117872"/>
                </a:cubicBezTo>
                <a:lnTo>
                  <a:pt x="160567" y="117872"/>
                </a:lnTo>
                <a:cubicBezTo>
                  <a:pt x="157988" y="81606"/>
                  <a:pt x="129659" y="52473"/>
                  <a:pt x="93762" y="48656"/>
                </a:cubicBezTo>
                <a:lnTo>
                  <a:pt x="93762" y="37505"/>
                </a:lnTo>
                <a:lnTo>
                  <a:pt x="99120" y="37505"/>
                </a:lnTo>
                <a:cubicBezTo>
                  <a:pt x="103573" y="37505"/>
                  <a:pt x="107156" y="33922"/>
                  <a:pt x="107156" y="29468"/>
                </a:cubicBezTo>
                <a:cubicBezTo>
                  <a:pt x="107156" y="25014"/>
                  <a:pt x="103573" y="21431"/>
                  <a:pt x="99120" y="21431"/>
                </a:cubicBezTo>
                <a:lnTo>
                  <a:pt x="72330" y="21431"/>
                </a:lnTo>
                <a:close/>
                <a:moveTo>
                  <a:pt x="8037" y="133945"/>
                </a:moveTo>
                <a:cubicBezTo>
                  <a:pt x="3583" y="133945"/>
                  <a:pt x="0" y="137528"/>
                  <a:pt x="0" y="141982"/>
                </a:cubicBezTo>
                <a:cubicBezTo>
                  <a:pt x="0" y="146436"/>
                  <a:pt x="3583" y="150019"/>
                  <a:pt x="8037" y="150019"/>
                </a:cubicBezTo>
                <a:lnTo>
                  <a:pt x="163413" y="150019"/>
                </a:lnTo>
                <a:cubicBezTo>
                  <a:pt x="167867" y="150019"/>
                  <a:pt x="171450" y="146436"/>
                  <a:pt x="171450" y="141982"/>
                </a:cubicBezTo>
                <a:cubicBezTo>
                  <a:pt x="171450" y="137528"/>
                  <a:pt x="167867" y="133945"/>
                  <a:pt x="163413" y="133945"/>
                </a:cubicBezTo>
                <a:lnTo>
                  <a:pt x="8037" y="133945"/>
                </a:lnTo>
                <a:close/>
              </a:path>
            </a:pathLst>
          </a:custGeom>
          <a:solidFill>
            <a:srgbClr val="3A4F41"/>
          </a:solidFill>
        </p:spPr>
      </p:sp>
      <p:sp>
        <p:nvSpPr>
          <p:cNvPr id="36" name="Text 34"/>
          <p:cNvSpPr/>
          <p:nvPr/>
        </p:nvSpPr>
        <p:spPr>
          <a:xfrm>
            <a:off x="6934200" y="3500438"/>
            <a:ext cx="47720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服务流程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934200" y="3805237"/>
            <a:ext cx="47625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能独立完成从迎宾到送宾的完整销售流程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00800" y="4851400"/>
            <a:ext cx="5219700" cy="6350"/>
          </a:xfrm>
          <a:custGeom>
            <a:avLst/>
            <a:gdLst/>
            <a:ahLst/>
            <a:cxnLst/>
            <a:rect l="l" t="t" r="r" b="b"/>
            <a:pathLst>
              <a:path w="5219700" h="6350">
                <a:moveTo>
                  <a:pt x="0" y="0"/>
                </a:moveTo>
                <a:lnTo>
                  <a:pt x="5219700" y="0"/>
                </a:lnTo>
                <a:lnTo>
                  <a:pt x="521970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A9A299">
              <a:alpha val="20000"/>
            </a:srgbClr>
          </a:solidFill>
        </p:spPr>
      </p:sp>
      <p:sp>
        <p:nvSpPr>
          <p:cNvPr id="39" name="Shape 37"/>
          <p:cNvSpPr/>
          <p:nvPr/>
        </p:nvSpPr>
        <p:spPr>
          <a:xfrm>
            <a:off x="6400800" y="42195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A4F41">
              <a:alpha val="10196"/>
            </a:srgbClr>
          </a:solidFill>
        </p:spPr>
      </p:sp>
      <p:sp>
        <p:nvSpPr>
          <p:cNvPr id="40" name="Shape 38"/>
          <p:cNvSpPr/>
          <p:nvPr/>
        </p:nvSpPr>
        <p:spPr>
          <a:xfrm>
            <a:off x="6486525" y="4324350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07223" y="37505"/>
                </a:moveTo>
                <a:cubicBezTo>
                  <a:pt x="122024" y="37505"/>
                  <a:pt x="134012" y="25517"/>
                  <a:pt x="134012" y="10716"/>
                </a:cubicBezTo>
                <a:lnTo>
                  <a:pt x="151927" y="10716"/>
                </a:lnTo>
                <a:cubicBezTo>
                  <a:pt x="157620" y="10716"/>
                  <a:pt x="163078" y="12959"/>
                  <a:pt x="167097" y="16978"/>
                </a:cubicBezTo>
                <a:lnTo>
                  <a:pt x="206812" y="56726"/>
                </a:lnTo>
                <a:cubicBezTo>
                  <a:pt x="210997" y="60912"/>
                  <a:pt x="210997" y="67709"/>
                  <a:pt x="206812" y="71895"/>
                </a:cubicBezTo>
                <a:lnTo>
                  <a:pt x="189834" y="88873"/>
                </a:lnTo>
                <a:cubicBezTo>
                  <a:pt x="185648" y="93059"/>
                  <a:pt x="178850" y="93059"/>
                  <a:pt x="174665" y="88873"/>
                </a:cubicBezTo>
                <a:lnTo>
                  <a:pt x="160801" y="75009"/>
                </a:lnTo>
                <a:lnTo>
                  <a:pt x="160801" y="150019"/>
                </a:lnTo>
                <a:cubicBezTo>
                  <a:pt x="160801" y="161839"/>
                  <a:pt x="151191" y="171450"/>
                  <a:pt x="139370" y="171450"/>
                </a:cubicBezTo>
                <a:lnTo>
                  <a:pt x="75076" y="171450"/>
                </a:lnTo>
                <a:cubicBezTo>
                  <a:pt x="63256" y="171450"/>
                  <a:pt x="53645" y="161839"/>
                  <a:pt x="53645" y="150019"/>
                </a:cubicBezTo>
                <a:lnTo>
                  <a:pt x="53645" y="75009"/>
                </a:lnTo>
                <a:lnTo>
                  <a:pt x="39782" y="88873"/>
                </a:lnTo>
                <a:cubicBezTo>
                  <a:pt x="35596" y="93059"/>
                  <a:pt x="28798" y="93059"/>
                  <a:pt x="24612" y="88873"/>
                </a:cubicBezTo>
                <a:lnTo>
                  <a:pt x="7668" y="71862"/>
                </a:lnTo>
                <a:cubicBezTo>
                  <a:pt x="3483" y="67676"/>
                  <a:pt x="3483" y="60878"/>
                  <a:pt x="7668" y="56692"/>
                </a:cubicBezTo>
                <a:lnTo>
                  <a:pt x="47383" y="16978"/>
                </a:lnTo>
                <a:cubicBezTo>
                  <a:pt x="51402" y="12959"/>
                  <a:pt x="56860" y="10716"/>
                  <a:pt x="62552" y="10716"/>
                </a:cubicBezTo>
                <a:lnTo>
                  <a:pt x="80468" y="10716"/>
                </a:lnTo>
                <a:cubicBezTo>
                  <a:pt x="80468" y="25517"/>
                  <a:pt x="92456" y="37505"/>
                  <a:pt x="107257" y="37505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41" name="Text 39"/>
          <p:cNvSpPr/>
          <p:nvPr/>
        </p:nvSpPr>
        <p:spPr>
          <a:xfrm>
            <a:off x="6934200" y="4219575"/>
            <a:ext cx="47720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产品知识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934200" y="4524375"/>
            <a:ext cx="47625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掌握产品系列及风格，能运用BFE介绍法介绍产品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400800" y="5570538"/>
            <a:ext cx="5219700" cy="6350"/>
          </a:xfrm>
          <a:custGeom>
            <a:avLst/>
            <a:gdLst/>
            <a:ahLst/>
            <a:cxnLst/>
            <a:rect l="l" t="t" r="r" b="b"/>
            <a:pathLst>
              <a:path w="5219700" h="6350">
                <a:moveTo>
                  <a:pt x="0" y="0"/>
                </a:moveTo>
                <a:lnTo>
                  <a:pt x="5219700" y="0"/>
                </a:lnTo>
                <a:lnTo>
                  <a:pt x="521970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A9A299">
              <a:alpha val="20000"/>
            </a:srgbClr>
          </a:solidFill>
        </p:spPr>
      </p:sp>
      <p:sp>
        <p:nvSpPr>
          <p:cNvPr id="44" name="Shape 42"/>
          <p:cNvSpPr/>
          <p:nvPr/>
        </p:nvSpPr>
        <p:spPr>
          <a:xfrm>
            <a:off x="6400800" y="493871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A4F41">
              <a:alpha val="10196"/>
            </a:srgbClr>
          </a:solidFill>
        </p:spPr>
      </p:sp>
      <p:sp>
        <p:nvSpPr>
          <p:cNvPr id="45" name="Shape 43"/>
          <p:cNvSpPr/>
          <p:nvPr/>
        </p:nvSpPr>
        <p:spPr>
          <a:xfrm>
            <a:off x="6507956" y="504348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10716"/>
                </a:moveTo>
                <a:cubicBezTo>
                  <a:pt x="9611" y="10716"/>
                  <a:pt x="0" y="20326"/>
                  <a:pt x="0" y="32147"/>
                </a:cubicBezTo>
                <a:lnTo>
                  <a:pt x="0" y="117872"/>
                </a:lnTo>
                <a:cubicBezTo>
                  <a:pt x="0" y="129693"/>
                  <a:pt x="9611" y="139303"/>
                  <a:pt x="21431" y="139303"/>
                </a:cubicBezTo>
                <a:lnTo>
                  <a:pt x="69652" y="139303"/>
                </a:lnTo>
                <a:lnTo>
                  <a:pt x="64294" y="155377"/>
                </a:lnTo>
                <a:lnTo>
                  <a:pt x="40184" y="155377"/>
                </a:lnTo>
                <a:cubicBezTo>
                  <a:pt x="35730" y="155377"/>
                  <a:pt x="32147" y="158960"/>
                  <a:pt x="32147" y="163413"/>
                </a:cubicBezTo>
                <a:cubicBezTo>
                  <a:pt x="32147" y="167867"/>
                  <a:pt x="35730" y="171450"/>
                  <a:pt x="40184" y="171450"/>
                </a:cubicBezTo>
                <a:lnTo>
                  <a:pt x="131266" y="171450"/>
                </a:lnTo>
                <a:cubicBezTo>
                  <a:pt x="135720" y="171450"/>
                  <a:pt x="139303" y="167867"/>
                  <a:pt x="139303" y="163413"/>
                </a:cubicBezTo>
                <a:cubicBezTo>
                  <a:pt x="139303" y="158960"/>
                  <a:pt x="135720" y="155377"/>
                  <a:pt x="131266" y="155377"/>
                </a:cubicBezTo>
                <a:lnTo>
                  <a:pt x="107156" y="155377"/>
                </a:lnTo>
                <a:lnTo>
                  <a:pt x="101798" y="139303"/>
                </a:lnTo>
                <a:lnTo>
                  <a:pt x="150019" y="139303"/>
                </a:lnTo>
                <a:cubicBezTo>
                  <a:pt x="161839" y="139303"/>
                  <a:pt x="171450" y="129693"/>
                  <a:pt x="171450" y="117872"/>
                </a:cubicBezTo>
                <a:lnTo>
                  <a:pt x="171450" y="32147"/>
                </a:lnTo>
                <a:cubicBezTo>
                  <a:pt x="171450" y="20326"/>
                  <a:pt x="161839" y="10716"/>
                  <a:pt x="150019" y="10716"/>
                </a:cubicBezTo>
                <a:lnTo>
                  <a:pt x="21431" y="10716"/>
                </a:lnTo>
                <a:close/>
                <a:moveTo>
                  <a:pt x="32147" y="32147"/>
                </a:moveTo>
                <a:lnTo>
                  <a:pt x="139303" y="32147"/>
                </a:lnTo>
                <a:cubicBezTo>
                  <a:pt x="145230" y="32147"/>
                  <a:pt x="150019" y="36935"/>
                  <a:pt x="150019" y="42863"/>
                </a:cubicBezTo>
                <a:lnTo>
                  <a:pt x="150019" y="96441"/>
                </a:lnTo>
                <a:cubicBezTo>
                  <a:pt x="150019" y="102368"/>
                  <a:pt x="145230" y="107156"/>
                  <a:pt x="139303" y="107156"/>
                </a:cubicBezTo>
                <a:lnTo>
                  <a:pt x="32147" y="107156"/>
                </a:lnTo>
                <a:cubicBezTo>
                  <a:pt x="26220" y="107156"/>
                  <a:pt x="21431" y="102368"/>
                  <a:pt x="21431" y="96441"/>
                </a:cubicBezTo>
                <a:lnTo>
                  <a:pt x="21431" y="42863"/>
                </a:lnTo>
                <a:cubicBezTo>
                  <a:pt x="21431" y="36935"/>
                  <a:pt x="26220" y="32147"/>
                  <a:pt x="32147" y="32147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46" name="Text 44"/>
          <p:cNvSpPr/>
          <p:nvPr/>
        </p:nvSpPr>
        <p:spPr>
          <a:xfrm>
            <a:off x="6934200" y="4938713"/>
            <a:ext cx="47720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系统操作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934200" y="5243513"/>
            <a:ext cx="47625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能独立完成收银、查库存、导出报表等基础操作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400800" y="56578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A4F41">
              <a:alpha val="10196"/>
            </a:srgbClr>
          </a:solidFill>
        </p:spPr>
      </p:sp>
      <p:sp>
        <p:nvSpPr>
          <p:cNvPr id="49" name="Shape 47"/>
          <p:cNvSpPr/>
          <p:nvPr/>
        </p:nvSpPr>
        <p:spPr>
          <a:xfrm>
            <a:off x="6497241" y="57626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0" y="32147"/>
                </a:moveTo>
                <a:cubicBezTo>
                  <a:pt x="0" y="20326"/>
                  <a:pt x="9611" y="10716"/>
                  <a:pt x="21431" y="10716"/>
                </a:cubicBezTo>
                <a:lnTo>
                  <a:pt x="171450" y="10716"/>
                </a:lnTo>
                <a:cubicBezTo>
                  <a:pt x="183271" y="10716"/>
                  <a:pt x="192881" y="20326"/>
                  <a:pt x="192881" y="32147"/>
                </a:cubicBezTo>
                <a:lnTo>
                  <a:pt x="0" y="32147"/>
                </a:lnTo>
                <a:close/>
                <a:moveTo>
                  <a:pt x="0" y="48220"/>
                </a:moveTo>
                <a:lnTo>
                  <a:pt x="192881" y="48220"/>
                </a:lnTo>
                <a:lnTo>
                  <a:pt x="192881" y="139303"/>
                </a:lnTo>
                <a:cubicBezTo>
                  <a:pt x="192881" y="151124"/>
                  <a:pt x="183271" y="160734"/>
                  <a:pt x="171450" y="160734"/>
                </a:cubicBezTo>
                <a:lnTo>
                  <a:pt x="21431" y="160734"/>
                </a:lnTo>
                <a:cubicBezTo>
                  <a:pt x="9611" y="160734"/>
                  <a:pt x="0" y="151124"/>
                  <a:pt x="0" y="139303"/>
                </a:cubicBezTo>
                <a:lnTo>
                  <a:pt x="0" y="48220"/>
                </a:lnTo>
                <a:close/>
                <a:moveTo>
                  <a:pt x="82812" y="139303"/>
                </a:moveTo>
                <a:cubicBezTo>
                  <a:pt x="89576" y="139303"/>
                  <a:pt x="94632" y="132807"/>
                  <a:pt x="90313" y="127583"/>
                </a:cubicBezTo>
                <a:cubicBezTo>
                  <a:pt x="85390" y="121656"/>
                  <a:pt x="77956" y="117872"/>
                  <a:pt x="69652" y="117872"/>
                </a:cubicBezTo>
                <a:lnTo>
                  <a:pt x="48220" y="117872"/>
                </a:lnTo>
                <a:cubicBezTo>
                  <a:pt x="39916" y="117872"/>
                  <a:pt x="32482" y="121656"/>
                  <a:pt x="27559" y="127583"/>
                </a:cubicBezTo>
                <a:cubicBezTo>
                  <a:pt x="23240" y="132807"/>
                  <a:pt x="28296" y="139303"/>
                  <a:pt x="35060" y="139303"/>
                </a:cubicBezTo>
                <a:lnTo>
                  <a:pt x="82778" y="139303"/>
                </a:lnTo>
                <a:close/>
                <a:moveTo>
                  <a:pt x="58936" y="104477"/>
                </a:moveTo>
                <a:cubicBezTo>
                  <a:pt x="69286" y="104477"/>
                  <a:pt x="77688" y="96075"/>
                  <a:pt x="77688" y="85725"/>
                </a:cubicBezTo>
                <a:cubicBezTo>
                  <a:pt x="77688" y="75375"/>
                  <a:pt x="69286" y="66973"/>
                  <a:pt x="58936" y="66973"/>
                </a:cubicBezTo>
                <a:cubicBezTo>
                  <a:pt x="48586" y="66973"/>
                  <a:pt x="40184" y="75375"/>
                  <a:pt x="40184" y="85725"/>
                </a:cubicBezTo>
                <a:cubicBezTo>
                  <a:pt x="40184" y="96075"/>
                  <a:pt x="48586" y="104477"/>
                  <a:pt x="58936" y="104477"/>
                </a:cubicBezTo>
                <a:close/>
                <a:moveTo>
                  <a:pt x="120551" y="69652"/>
                </a:moveTo>
                <a:cubicBezTo>
                  <a:pt x="116097" y="69652"/>
                  <a:pt x="112514" y="73235"/>
                  <a:pt x="112514" y="77688"/>
                </a:cubicBezTo>
                <a:cubicBezTo>
                  <a:pt x="112514" y="82142"/>
                  <a:pt x="116097" y="85725"/>
                  <a:pt x="120551" y="85725"/>
                </a:cubicBezTo>
                <a:lnTo>
                  <a:pt x="158055" y="85725"/>
                </a:lnTo>
                <a:cubicBezTo>
                  <a:pt x="162509" y="85725"/>
                  <a:pt x="166092" y="82142"/>
                  <a:pt x="166092" y="77688"/>
                </a:cubicBezTo>
                <a:cubicBezTo>
                  <a:pt x="166092" y="73235"/>
                  <a:pt x="162509" y="69652"/>
                  <a:pt x="158055" y="69652"/>
                </a:cubicBezTo>
                <a:lnTo>
                  <a:pt x="120551" y="69652"/>
                </a:lnTo>
                <a:close/>
                <a:moveTo>
                  <a:pt x="120551" y="101798"/>
                </a:moveTo>
                <a:cubicBezTo>
                  <a:pt x="116097" y="101798"/>
                  <a:pt x="112514" y="105381"/>
                  <a:pt x="112514" y="109835"/>
                </a:cubicBezTo>
                <a:cubicBezTo>
                  <a:pt x="112514" y="114289"/>
                  <a:pt x="116097" y="117872"/>
                  <a:pt x="120551" y="117872"/>
                </a:cubicBezTo>
                <a:lnTo>
                  <a:pt x="158055" y="117872"/>
                </a:lnTo>
                <a:cubicBezTo>
                  <a:pt x="162509" y="117872"/>
                  <a:pt x="166092" y="114289"/>
                  <a:pt x="166092" y="109835"/>
                </a:cubicBezTo>
                <a:cubicBezTo>
                  <a:pt x="166092" y="105381"/>
                  <a:pt x="162509" y="101798"/>
                  <a:pt x="158055" y="101798"/>
                </a:cubicBezTo>
                <a:lnTo>
                  <a:pt x="120551" y="101798"/>
                </a:lnTo>
                <a:close/>
              </a:path>
            </a:pathLst>
          </a:custGeom>
          <a:solidFill>
            <a:srgbClr val="3A4F41"/>
          </a:solidFill>
        </p:spPr>
      </p:sp>
      <p:sp>
        <p:nvSpPr>
          <p:cNvPr id="50" name="Text 48"/>
          <p:cNvSpPr/>
          <p:nvPr/>
        </p:nvSpPr>
        <p:spPr>
          <a:xfrm>
            <a:off x="6934200" y="5657850"/>
            <a:ext cx="47720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会员管理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934200" y="5962650"/>
            <a:ext cx="47625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掌握会员卡基础信息，能独立完成VIP开卡流程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10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COMPREHENSIVE EVALUATION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新员工差异化要求速查表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入职10天要求 · 12项能力要求评估表</a:t>
            </a:r>
            <a:endParaRPr lang="en-US" sz="16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/>
        </p:nvGraphicFramePr>
        <p:xfrm>
          <a:off x="381000" y="1485900"/>
          <a:ext cx="11430000" cy="4105275"/>
        </p:xfrm>
        <a:graphic>
          <a:graphicData uri="http://schemas.openxmlformats.org/drawingml/2006/table">
            <a:tbl>
              <a:tblPr/>
              <a:tblGrid>
                <a:gridCol w="1714500"/>
                <a:gridCol w="2857500"/>
                <a:gridCol w="6858000"/>
              </a:tblGrid>
              <a:tr h="315790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8F7F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模块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4F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8F7F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内容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4F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8F7F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入职10天要求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4F41"/>
                    </a:solidFill>
                  </a:tcPr>
                </a:tc>
              </a:tr>
              <a:tr h="315790">
                <a:tc rowSpan="2"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2E2E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品牌文化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3A4F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品牌历史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2E2E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了解凯施迪的起源及发展历史；一句话介绍凯施迪品牌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15790"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3A4F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品牌定位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2E2E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理解凯施迪的愿景、使命、SLOGAN的意义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15790">
                <a:tc rowSpan="8"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2E2E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服务流程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3A4F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亲切迎宾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2E2E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了解凯施迪人员形象标准；主动问候顾客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15790"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3A4F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探寻需求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2E2E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有主动探寻需求的意识；听懂顾客的需求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15790"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3A4F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产品介绍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2E2E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利用了解的情况做出推荐；介绍产品的好处；鼓励顾客试穿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15790"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3A4F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试衣服务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2E2E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创造良好的环境；布置试衣间体验；与顾客交流；为顾客推荐备款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15790"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3A4F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促成交易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2E2E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有主动成交的意识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15790"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3A4F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收银服务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2E2E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自主完成收银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15790"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3A4F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客情维系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2E2E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了解会员基础信息；主动询问顾客会员信息，无会员顾客推荐入会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15790"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3A4F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送宾服务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2E2E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送至店门口；送宾语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15790">
                <a:tc rowSpan="2"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2E2E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产品知识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3A4F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产品基础知识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2E2E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了解产品系列及风格；了解产品的货号信息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15790"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3A4F4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波段产品知识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2E2E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掌握一句话板墙话术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400" marR="1524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yyasw4ib73lsu/final_career.jpg"/>
          <p:cNvPicPr>
            <a:picLocks noChangeAspect="1"/>
          </p:cNvPicPr>
          <p:nvPr/>
        </p:nvPicPr>
        <p:blipFill>
          <a:blip r:embed="rId1"/>
          <a:srcRect t="781" b="781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A4F41">
                  <a:alpha val="95000"/>
                </a:srgbClr>
              </a:gs>
              <a:gs pos="50000">
                <a:srgbClr val="3A4F41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</p:spPr>
      </p:sp>
      <p:sp>
        <p:nvSpPr>
          <p:cNvPr id="4" name="Shape 1"/>
          <p:cNvSpPr/>
          <p:nvPr/>
        </p:nvSpPr>
        <p:spPr>
          <a:xfrm>
            <a:off x="5638800" y="200025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5" name="Text 2"/>
          <p:cNvSpPr/>
          <p:nvPr/>
        </p:nvSpPr>
        <p:spPr>
          <a:xfrm>
            <a:off x="238125" y="2266950"/>
            <a:ext cx="11715750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F8F7F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开启凯施迪职业之旅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752600" y="3067050"/>
            <a:ext cx="8686800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8F7F5">
                    <a:alpha val="9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10天系统培训，从品牌认知到实战演练，从基础规范到专业技能，助力每一位新员工快速成长，成为凯施迪优秀的一员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429125" y="41148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C47A5A">
              <a:alpha val="20000"/>
            </a:srgbClr>
          </a:solidFill>
        </p:spPr>
      </p:sp>
      <p:sp>
        <p:nvSpPr>
          <p:cNvPr id="8" name="Shape 5"/>
          <p:cNvSpPr/>
          <p:nvPr/>
        </p:nvSpPr>
        <p:spPr>
          <a:xfrm>
            <a:off x="4651772" y="435292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6789" y="109277"/>
                </a:moveTo>
                <a:lnTo>
                  <a:pt x="143545" y="157330"/>
                </a:lnTo>
                <a:cubicBezTo>
                  <a:pt x="149014" y="159562"/>
                  <a:pt x="154818" y="160734"/>
                  <a:pt x="160734" y="160734"/>
                </a:cubicBezTo>
                <a:cubicBezTo>
                  <a:pt x="166650" y="160734"/>
                  <a:pt x="172455" y="159562"/>
                  <a:pt x="177924" y="157330"/>
                </a:cubicBezTo>
                <a:lnTo>
                  <a:pt x="313209" y="101631"/>
                </a:lnTo>
                <a:cubicBezTo>
                  <a:pt x="318232" y="99566"/>
                  <a:pt x="321469" y="94710"/>
                  <a:pt x="321469" y="89297"/>
                </a:cubicBezTo>
                <a:cubicBezTo>
                  <a:pt x="321469" y="83883"/>
                  <a:pt x="318232" y="79028"/>
                  <a:pt x="313209" y="76963"/>
                </a:cubicBezTo>
                <a:lnTo>
                  <a:pt x="177924" y="21264"/>
                </a:lnTo>
                <a:cubicBezTo>
                  <a:pt x="172455" y="19031"/>
                  <a:pt x="166650" y="17859"/>
                  <a:pt x="160734" y="17859"/>
                </a:cubicBezTo>
                <a:cubicBezTo>
                  <a:pt x="154818" y="17859"/>
                  <a:pt x="149014" y="19031"/>
                  <a:pt x="143545" y="21264"/>
                </a:cubicBezTo>
                <a:lnTo>
                  <a:pt x="8260" y="76963"/>
                </a:lnTo>
                <a:cubicBezTo>
                  <a:pt x="3237" y="79028"/>
                  <a:pt x="0" y="83883"/>
                  <a:pt x="0" y="89297"/>
                </a:cubicBezTo>
                <a:lnTo>
                  <a:pt x="0" y="254496"/>
                </a:lnTo>
                <a:cubicBezTo>
                  <a:pt x="0" y="261919"/>
                  <a:pt x="5972" y="267891"/>
                  <a:pt x="13395" y="267891"/>
                </a:cubicBezTo>
                <a:cubicBezTo>
                  <a:pt x="20817" y="267891"/>
                  <a:pt x="26789" y="261919"/>
                  <a:pt x="26789" y="254496"/>
                </a:cubicBezTo>
                <a:lnTo>
                  <a:pt x="26789" y="109277"/>
                </a:lnTo>
                <a:close/>
                <a:moveTo>
                  <a:pt x="53578" y="149293"/>
                </a:moveTo>
                <a:lnTo>
                  <a:pt x="53578" y="214313"/>
                </a:lnTo>
                <a:cubicBezTo>
                  <a:pt x="53578" y="243892"/>
                  <a:pt x="101575" y="267891"/>
                  <a:pt x="160734" y="267891"/>
                </a:cubicBezTo>
                <a:cubicBezTo>
                  <a:pt x="219894" y="267891"/>
                  <a:pt x="267891" y="243892"/>
                  <a:pt x="267891" y="214313"/>
                </a:cubicBezTo>
                <a:lnTo>
                  <a:pt x="267891" y="149237"/>
                </a:lnTo>
                <a:lnTo>
                  <a:pt x="188137" y="182110"/>
                </a:lnTo>
                <a:cubicBezTo>
                  <a:pt x="179431" y="185682"/>
                  <a:pt x="170166" y="187523"/>
                  <a:pt x="160734" y="187523"/>
                </a:cubicBezTo>
                <a:cubicBezTo>
                  <a:pt x="151302" y="187523"/>
                  <a:pt x="142038" y="185682"/>
                  <a:pt x="133331" y="182110"/>
                </a:cubicBezTo>
                <a:lnTo>
                  <a:pt x="53578" y="149237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9" name="Text 6"/>
          <p:cNvSpPr/>
          <p:nvPr/>
        </p:nvSpPr>
        <p:spPr>
          <a:xfrm>
            <a:off x="4226521" y="4991100"/>
            <a:ext cx="11715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8F7F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系统学习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236046" y="5257800"/>
            <a:ext cx="11525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7F5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10天完整培训体系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855693" y="41148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C47A5A">
              <a:alpha val="20000"/>
            </a:srgbClr>
          </a:solidFill>
        </p:spPr>
      </p:sp>
      <p:sp>
        <p:nvSpPr>
          <p:cNvPr id="12" name="Shape 9"/>
          <p:cNvSpPr/>
          <p:nvPr/>
        </p:nvSpPr>
        <p:spPr>
          <a:xfrm>
            <a:off x="6078339" y="435292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50075" y="29691"/>
                </a:moveTo>
                <a:lnTo>
                  <a:pt x="84999" y="102022"/>
                </a:lnTo>
                <a:cubicBezTo>
                  <a:pt x="82432" y="104868"/>
                  <a:pt x="82544" y="109277"/>
                  <a:pt x="85279" y="112012"/>
                </a:cubicBezTo>
                <a:cubicBezTo>
                  <a:pt x="102301" y="129034"/>
                  <a:pt x="129927" y="129034"/>
                  <a:pt x="146949" y="112012"/>
                </a:cubicBezTo>
                <a:lnTo>
                  <a:pt x="164697" y="94264"/>
                </a:lnTo>
                <a:cubicBezTo>
                  <a:pt x="167041" y="91920"/>
                  <a:pt x="169999" y="90636"/>
                  <a:pt x="173013" y="90413"/>
                </a:cubicBezTo>
                <a:cubicBezTo>
                  <a:pt x="176808" y="90078"/>
                  <a:pt x="180715" y="91362"/>
                  <a:pt x="183617" y="94264"/>
                </a:cubicBezTo>
                <a:lnTo>
                  <a:pt x="282178" y="191988"/>
                </a:lnTo>
                <a:lnTo>
                  <a:pt x="321469" y="160734"/>
                </a:lnTo>
                <a:lnTo>
                  <a:pt x="321469" y="0"/>
                </a:lnTo>
                <a:lnTo>
                  <a:pt x="258961" y="35719"/>
                </a:lnTo>
                <a:lnTo>
                  <a:pt x="245678" y="26845"/>
                </a:lnTo>
                <a:cubicBezTo>
                  <a:pt x="236860" y="20985"/>
                  <a:pt x="226535" y="17859"/>
                  <a:pt x="215931" y="17859"/>
                </a:cubicBezTo>
                <a:lnTo>
                  <a:pt x="176640" y="17859"/>
                </a:lnTo>
                <a:cubicBezTo>
                  <a:pt x="176026" y="17859"/>
                  <a:pt x="175357" y="17859"/>
                  <a:pt x="174743" y="17915"/>
                </a:cubicBezTo>
                <a:cubicBezTo>
                  <a:pt x="165311" y="18417"/>
                  <a:pt x="156437" y="22659"/>
                  <a:pt x="150075" y="29691"/>
                </a:cubicBezTo>
                <a:close/>
                <a:moveTo>
                  <a:pt x="65075" y="84106"/>
                </a:moveTo>
                <a:lnTo>
                  <a:pt x="124681" y="17859"/>
                </a:lnTo>
                <a:lnTo>
                  <a:pt x="102580" y="17859"/>
                </a:lnTo>
                <a:cubicBezTo>
                  <a:pt x="88348" y="17859"/>
                  <a:pt x="74730" y="23496"/>
                  <a:pt x="64684" y="33542"/>
                </a:cubicBezTo>
                <a:lnTo>
                  <a:pt x="0" y="107156"/>
                </a:lnTo>
                <a:lnTo>
                  <a:pt x="0" y="303609"/>
                </a:lnTo>
                <a:lnTo>
                  <a:pt x="80367" y="227707"/>
                </a:lnTo>
                <a:lnTo>
                  <a:pt x="87288" y="233456"/>
                </a:lnTo>
                <a:cubicBezTo>
                  <a:pt x="100124" y="244171"/>
                  <a:pt x="116309" y="250031"/>
                  <a:pt x="132997" y="250031"/>
                </a:cubicBezTo>
                <a:lnTo>
                  <a:pt x="141759" y="250031"/>
                </a:lnTo>
                <a:lnTo>
                  <a:pt x="137852" y="246125"/>
                </a:lnTo>
                <a:cubicBezTo>
                  <a:pt x="132606" y="240878"/>
                  <a:pt x="132606" y="232395"/>
                  <a:pt x="137852" y="227205"/>
                </a:cubicBezTo>
                <a:cubicBezTo>
                  <a:pt x="143098" y="222014"/>
                  <a:pt x="151581" y="221959"/>
                  <a:pt x="156772" y="227205"/>
                </a:cubicBezTo>
                <a:lnTo>
                  <a:pt x="179654" y="250087"/>
                </a:lnTo>
                <a:lnTo>
                  <a:pt x="184677" y="250087"/>
                </a:lnTo>
                <a:cubicBezTo>
                  <a:pt x="195337" y="250087"/>
                  <a:pt x="205773" y="247687"/>
                  <a:pt x="215261" y="243222"/>
                </a:cubicBezTo>
                <a:lnTo>
                  <a:pt x="200360" y="228265"/>
                </a:lnTo>
                <a:cubicBezTo>
                  <a:pt x="195114" y="223019"/>
                  <a:pt x="195114" y="214536"/>
                  <a:pt x="200360" y="209345"/>
                </a:cubicBezTo>
                <a:cubicBezTo>
                  <a:pt x="205606" y="204155"/>
                  <a:pt x="214089" y="204099"/>
                  <a:pt x="219280" y="209345"/>
                </a:cubicBezTo>
                <a:lnTo>
                  <a:pt x="237139" y="227205"/>
                </a:lnTo>
                <a:lnTo>
                  <a:pt x="246906" y="217438"/>
                </a:lnTo>
                <a:cubicBezTo>
                  <a:pt x="251873" y="212471"/>
                  <a:pt x="253324" y="205271"/>
                  <a:pt x="251147" y="198965"/>
                </a:cubicBezTo>
                <a:lnTo>
                  <a:pt x="174185" y="122616"/>
                </a:lnTo>
                <a:lnTo>
                  <a:pt x="165869" y="130932"/>
                </a:lnTo>
                <a:cubicBezTo>
                  <a:pt x="138354" y="158446"/>
                  <a:pt x="93818" y="158446"/>
                  <a:pt x="66303" y="130932"/>
                </a:cubicBezTo>
                <a:cubicBezTo>
                  <a:pt x="53467" y="118095"/>
                  <a:pt x="52964" y="97501"/>
                  <a:pt x="65075" y="84051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13" name="Text 10"/>
          <p:cNvSpPr/>
          <p:nvPr/>
        </p:nvSpPr>
        <p:spPr>
          <a:xfrm>
            <a:off x="5765205" y="4991100"/>
            <a:ext cx="9429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8F7F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一对一指导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774730" y="5257800"/>
            <a:ext cx="9239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7F5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专业带教师傅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141568" y="41148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C47A5A">
              <a:alpha val="20000"/>
            </a:srgbClr>
          </a:solidFill>
        </p:spPr>
      </p:sp>
      <p:sp>
        <p:nvSpPr>
          <p:cNvPr id="16" name="Shape 13"/>
          <p:cNvSpPr/>
          <p:nvPr/>
        </p:nvSpPr>
        <p:spPr>
          <a:xfrm>
            <a:off x="7382074" y="43529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35719"/>
                </a:moveTo>
                <a:cubicBezTo>
                  <a:pt x="35719" y="25840"/>
                  <a:pt x="27738" y="17859"/>
                  <a:pt x="17859" y="17859"/>
                </a:cubicBezTo>
                <a:cubicBezTo>
                  <a:pt x="7981" y="17859"/>
                  <a:pt x="0" y="25840"/>
                  <a:pt x="0" y="35719"/>
                </a:cubicBezTo>
                <a:lnTo>
                  <a:pt x="0" y="223242"/>
                </a:lnTo>
                <a:cubicBezTo>
                  <a:pt x="0" y="247910"/>
                  <a:pt x="19980" y="267891"/>
                  <a:pt x="44648" y="267891"/>
                </a:cubicBezTo>
                <a:lnTo>
                  <a:pt x="267891" y="267891"/>
                </a:lnTo>
                <a:cubicBezTo>
                  <a:pt x="277769" y="267891"/>
                  <a:pt x="285750" y="259910"/>
                  <a:pt x="285750" y="250031"/>
                </a:cubicBezTo>
                <a:cubicBezTo>
                  <a:pt x="285750" y="240153"/>
                  <a:pt x="277769" y="232172"/>
                  <a:pt x="267891" y="232172"/>
                </a:cubicBezTo>
                <a:lnTo>
                  <a:pt x="44648" y="232172"/>
                </a:lnTo>
                <a:cubicBezTo>
                  <a:pt x="39737" y="232172"/>
                  <a:pt x="35719" y="228154"/>
                  <a:pt x="35719" y="223242"/>
                </a:cubicBezTo>
                <a:lnTo>
                  <a:pt x="35719" y="35719"/>
                </a:lnTo>
                <a:close/>
                <a:moveTo>
                  <a:pt x="262644" y="84051"/>
                </a:moveTo>
                <a:cubicBezTo>
                  <a:pt x="269621" y="77074"/>
                  <a:pt x="269621" y="65745"/>
                  <a:pt x="262644" y="58769"/>
                </a:cubicBezTo>
                <a:cubicBezTo>
                  <a:pt x="255668" y="51792"/>
                  <a:pt x="244339" y="51792"/>
                  <a:pt x="237362" y="58769"/>
                </a:cubicBezTo>
                <a:lnTo>
                  <a:pt x="178594" y="117593"/>
                </a:lnTo>
                <a:lnTo>
                  <a:pt x="146558" y="85613"/>
                </a:lnTo>
                <a:cubicBezTo>
                  <a:pt x="139582" y="78637"/>
                  <a:pt x="128253" y="78637"/>
                  <a:pt x="121276" y="85613"/>
                </a:cubicBezTo>
                <a:lnTo>
                  <a:pt x="67698" y="139192"/>
                </a:lnTo>
                <a:cubicBezTo>
                  <a:pt x="60722" y="146168"/>
                  <a:pt x="60722" y="157497"/>
                  <a:pt x="67698" y="164474"/>
                </a:cubicBezTo>
                <a:cubicBezTo>
                  <a:pt x="74675" y="171450"/>
                  <a:pt x="86004" y="171450"/>
                  <a:pt x="92980" y="164474"/>
                </a:cubicBezTo>
                <a:lnTo>
                  <a:pt x="133945" y="123509"/>
                </a:lnTo>
                <a:lnTo>
                  <a:pt x="165981" y="155544"/>
                </a:lnTo>
                <a:cubicBezTo>
                  <a:pt x="172957" y="162520"/>
                  <a:pt x="184286" y="162520"/>
                  <a:pt x="191263" y="155544"/>
                </a:cubicBezTo>
                <a:lnTo>
                  <a:pt x="262700" y="84106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17" name="Text 14"/>
          <p:cNvSpPr/>
          <p:nvPr/>
        </p:nvSpPr>
        <p:spPr>
          <a:xfrm>
            <a:off x="7079655" y="4991100"/>
            <a:ext cx="8858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8F7F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持续成长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089180" y="5257800"/>
            <a:ext cx="866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7F5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职业发展规划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33375" y="5753100"/>
            <a:ext cx="11525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期待与你共同创造卓越的零售体验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DIAGRAM_VIRTUALLY_FRAME" val="{&quot;height&quot;:340,&quot;left&quot;:80,&quot;top&quot;:130,&quot;width&quot;:820}"/>
</p:tagLst>
</file>

<file path=ppt/tags/tag2.xml><?xml version="1.0" encoding="utf-8"?>
<p:tagLst xmlns:p="http://schemas.openxmlformats.org/presentationml/2006/main">
  <p:tag name="KSO_WM_DIAGRAM_VIRTUALLY_FRAME" val="{&quot;height&quot;:340,&quot;left&quot;:80,&quot;top&quot;:130,&quot;width&quot;:820}"/>
</p:tagLst>
</file>

<file path=ppt/tags/tag3.xml><?xml version="1.0" encoding="utf-8"?>
<p:tagLst xmlns:p="http://schemas.openxmlformats.org/presentationml/2006/main">
  <p:tag name="KSO_WM_DIAGRAM_VIRTUALLY_FRAME" val="{&quot;height&quot;:340,&quot;left&quot;:80,&quot;top&quot;:130,&quot;width&quot;:820}"/>
</p:tagLst>
</file>

<file path=ppt/tags/tag4.xml><?xml version="1.0" encoding="utf-8"?>
<p:tagLst xmlns:p="http://schemas.openxmlformats.org/presentationml/2006/main">
  <p:tag name="KSO_WM_DIAGRAM_VIRTUALLY_FRAME" val="{&quot;height&quot;:340,&quot;left&quot;:80,&quot;top&quot;:130,&quot;width&quot;:820}"/>
</p:tagLst>
</file>

<file path=ppt/tags/tag5.xml><?xml version="1.0" encoding="utf-8"?>
<p:tagLst xmlns:p="http://schemas.openxmlformats.org/presentationml/2006/main">
  <p:tag name="KSO_WM_DIAGRAM_VIRTUALLY_FRAME" val="{&quot;height&quot;:340,&quot;left&quot;:80,&quot;top&quot;:130,&quot;width&quot;:820}"/>
</p:tagLst>
</file>

<file path=ppt/tags/tag6.xml><?xml version="1.0" encoding="utf-8"?>
<p:tagLst xmlns:p="http://schemas.openxmlformats.org/presentationml/2006/main">
  <p:tag name="KSO_WM_DIAGRAM_VIRTUALLY_FRAME" val="{&quot;height&quot;:340,&quot;left&quot;:80,&quot;top&quot;:130,&quot;width&quot;:820}"/>
</p:tagLst>
</file>

<file path=ppt/tags/tag7.xml><?xml version="1.0" encoding="utf-8"?>
<p:tagLst xmlns:p="http://schemas.openxmlformats.org/presentationml/2006/main">
  <p:tag name="KSO_WM_DIAGRAM_VIRTUALLY_FRAME" val="{&quot;height&quot;:340,&quot;left&quot;:80,&quot;top&quot;:130,&quot;width&quot;:820}"/>
</p:tagLst>
</file>

<file path=ppt/tags/tag8.xml><?xml version="1.0" encoding="utf-8"?>
<p:tagLst xmlns:p="http://schemas.openxmlformats.org/presentationml/2006/main">
  <p:tag name="KSO_WM_DIAGRAM_VIRTUALLY_FRAME" val="{&quot;height&quot;:340,&quot;left&quot;:80,&quot;top&quot;:130,&quot;width&quot;:820}"/>
</p:tagLst>
</file>

<file path=ppt/tags/tag9.xml><?xml version="1.0" encoding="utf-8"?>
<p:tagLst xmlns:p="http://schemas.openxmlformats.org/presentationml/2006/main">
  <p:tag name="KSO_WM_DIAGRAM_VIRTUALLY_FRAME" val="{&quot;height&quot;:340,&quot;left&quot;:80,&quot;top&quot;:130,&quot;width&quot;:820}"/>
</p:tagLst>
</file>

<file path=ppt/tags/tag10.xml><?xml version="1.0" encoding="utf-8"?>
<p:tagLst xmlns:p="http://schemas.openxmlformats.org/presentationml/2006/main">
  <p:tag name="KSO_WM_DIAGRAM_VIRTUALLY_FRAME" val="{&quot;height&quot;:340,&quot;left&quot;:80,&quot;top&quot;:130,&quot;width&quot;:820}"/>
</p:tagLst>
</file>

<file path=ppt/tags/tag11.xml><?xml version="1.0" encoding="utf-8"?>
<p:tagLst xmlns:p="http://schemas.openxmlformats.org/presentationml/2006/main">
  <p:tag name="KSO_WM_DIAGRAM_VIRTUALLY_FRAME" val="{&quot;height&quot;:340,&quot;left&quot;:80,&quot;top&quot;:130,&quot;width&quot;:820}"/>
</p:tagLst>
</file>

<file path=ppt/tags/tag12.xml><?xml version="1.0" encoding="utf-8"?>
<p:tagLst xmlns:p="http://schemas.openxmlformats.org/presentationml/2006/main">
  <p:tag name="KSO_WM_DIAGRAM_VIRTUALLY_FRAME" val="{&quot;height&quot;:340,&quot;left&quot;:80,&quot;top&quot;:130,&quot;width&quot;:820}"/>
</p:tagLst>
</file>

<file path=ppt/tags/tag13.xml><?xml version="1.0" encoding="utf-8"?>
<p:tagLst xmlns:p="http://schemas.openxmlformats.org/presentationml/2006/main">
  <p:tag name="KSO_WM_DIAGRAM_VIRTUALLY_FRAME" val="{&quot;height&quot;:340,&quot;left&quot;:80,&quot;top&quot;:130,&quot;width&quot;:820}"/>
</p:tagLst>
</file>

<file path=ppt/tags/tag14.xml><?xml version="1.0" encoding="utf-8"?>
<p:tagLst xmlns:p="http://schemas.openxmlformats.org/presentationml/2006/main">
  <p:tag name="KSO_WM_DIAGRAM_VIRTUALLY_FRAME" val="{&quot;height&quot;:340,&quot;left&quot;:80,&quot;top&quot;:130,&quot;width&quot;:820}"/>
</p:tagLst>
</file>

<file path=ppt/tags/tag15.xml><?xml version="1.0" encoding="utf-8"?>
<p:tagLst xmlns:p="http://schemas.openxmlformats.org/presentationml/2006/main">
  <p:tag name="KSO_WM_DIAGRAM_VIRTUALLY_FRAME" val="{&quot;height&quot;:340,&quot;left&quot;:80,&quot;top&quot;:130,&quot;width&quot;:820}"/>
</p:tagLst>
</file>

<file path=ppt/tags/tag16.xml><?xml version="1.0" encoding="utf-8"?>
<p:tagLst xmlns:p="http://schemas.openxmlformats.org/presentationml/2006/main">
  <p:tag name="KSO_WM_DIAGRAM_VIRTUALLY_FRAME" val="{&quot;height&quot;:340,&quot;left&quot;:80,&quot;top&quot;:130,&quot;width&quot;:820}"/>
</p:tagLst>
</file>

<file path=ppt/tags/tag17.xml><?xml version="1.0" encoding="utf-8"?>
<p:tagLst xmlns:p="http://schemas.openxmlformats.org/presentationml/2006/main">
  <p:tag name="KSO_WM_DIAGRAM_VIRTUALLY_FRAME" val="{&quot;height&quot;:340,&quot;left&quot;:80,&quot;top&quot;:130,&quot;width&quot;:820}"/>
</p:tagLst>
</file>

<file path=ppt/tags/tag18.xml><?xml version="1.0" encoding="utf-8"?>
<p:tagLst xmlns:p="http://schemas.openxmlformats.org/presentationml/2006/main">
  <p:tag name="KSO_WM_DIAGRAM_VIRTUALLY_FRAME" val="{&quot;height&quot;:340,&quot;left&quot;:80,&quot;top&quot;:130,&quot;width&quot;:820}"/>
</p:tagLst>
</file>

<file path=ppt/tags/tag19.xml><?xml version="1.0" encoding="utf-8"?>
<p:tagLst xmlns:p="http://schemas.openxmlformats.org/presentationml/2006/main">
  <p:tag name="KSO_WM_DIAGRAM_VIRTUALLY_FRAME" val="{&quot;height&quot;:340,&quot;left&quot;:80,&quot;top&quot;:130,&quot;width&quot;:820}"/>
</p:tagLst>
</file>

<file path=ppt/tags/tag20.xml><?xml version="1.0" encoding="utf-8"?>
<p:tagLst xmlns:p="http://schemas.openxmlformats.org/presentationml/2006/main">
  <p:tag name="KSO_WM_DIAGRAM_VIRTUALLY_FRAME" val="{&quot;height&quot;:340,&quot;left&quot;:80,&quot;top&quot;:130,&quot;width&quot;:820}"/>
</p:tagLst>
</file>

<file path=ppt/tags/tag21.xml><?xml version="1.0" encoding="utf-8"?>
<p:tagLst xmlns:p="http://schemas.openxmlformats.org/presentationml/2006/main">
  <p:tag name="KSO_WM_DIAGRAM_VIRTUALLY_FRAME" val="{&quot;height&quot;:340,&quot;left&quot;:80,&quot;top&quot;:130,&quot;width&quot;:820}"/>
</p:tagLst>
</file>

<file path=ppt/tags/tag22.xml><?xml version="1.0" encoding="utf-8"?>
<p:tagLst xmlns:p="http://schemas.openxmlformats.org/presentationml/2006/main">
  <p:tag name="KSO_WM_DIAGRAM_VIRTUALLY_FRAME" val="{&quot;height&quot;:340,&quot;left&quot;:80,&quot;top&quot;:130,&quot;width&quot;:820}"/>
</p:tagLst>
</file>

<file path=ppt/tags/tag23.xml><?xml version="1.0" encoding="utf-8"?>
<p:tagLst xmlns:p="http://schemas.openxmlformats.org/presentationml/2006/main">
  <p:tag name="KSO_WM_DIAGRAM_VIRTUALLY_FRAME" val="{&quot;height&quot;:340,&quot;left&quot;:80,&quot;top&quot;:130,&quot;width&quot;:820}"/>
</p:tagLst>
</file>

<file path=ppt/tags/tag24.xml><?xml version="1.0" encoding="utf-8"?>
<p:tagLst xmlns:p="http://schemas.openxmlformats.org/presentationml/2006/main">
  <p:tag name="KSO_WM_DIAGRAM_VIRTUALLY_FRAME" val="{&quot;height&quot;:340,&quot;left&quot;:80,&quot;top&quot;:130,&quot;width&quot;:820}"/>
</p:tagLst>
</file>

<file path=ppt/tags/tag25.xml><?xml version="1.0" encoding="utf-8"?>
<p:tagLst xmlns:p="http://schemas.openxmlformats.org/presentationml/2006/main">
  <p:tag name="KSO_WM_DIAGRAM_VIRTUALLY_FRAME" val="{&quot;height&quot;:340,&quot;left&quot;:80,&quot;top&quot;:130,&quot;width&quot;:820}"/>
</p:tagLst>
</file>

<file path=ppt/tags/tag26.xml><?xml version="1.0" encoding="utf-8"?>
<p:tagLst xmlns:p="http://schemas.openxmlformats.org/presentationml/2006/main">
  <p:tag name="KSO_WM_DIAGRAM_VIRTUALLY_FRAME" val="{&quot;height&quot;:340,&quot;left&quot;:80,&quot;top&quot;:130,&quot;width&quot;:820}"/>
</p:tagLst>
</file>

<file path=ppt/tags/tag27.xml><?xml version="1.0" encoding="utf-8"?>
<p:tagLst xmlns:p="http://schemas.openxmlformats.org/presentationml/2006/main">
  <p:tag name="KSO_WM_DIAGRAM_VIRTUALLY_FRAME" val="{&quot;height&quot;:340,&quot;left&quot;:80,&quot;top&quot;:130,&quot;width&quot;:820}"/>
</p:tagLst>
</file>

<file path=ppt/tags/tag28.xml><?xml version="1.0" encoding="utf-8"?>
<p:tagLst xmlns:p="http://schemas.openxmlformats.org/presentationml/2006/main">
  <p:tag name="KSO_WM_DIAGRAM_VIRTUALLY_FRAME" val="{&quot;height&quot;:340,&quot;left&quot;:80,&quot;top&quot;:130,&quot;width&quot;:820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8133</Words>
  <Application>WPS 演示</Application>
  <PresentationFormat>On-screen Show (16:9)</PresentationFormat>
  <Paragraphs>1425</Paragraphs>
  <Slides>33</Slides>
  <Notes>32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5" baseType="lpstr">
      <vt:lpstr>Arial</vt:lpstr>
      <vt:lpstr>宋体</vt:lpstr>
      <vt:lpstr>Wingdings</vt:lpstr>
      <vt:lpstr>Noto Sans SC</vt:lpstr>
      <vt:lpstr>Noto Sans SC</vt:lpstr>
      <vt:lpstr>微软雅黑</vt:lpstr>
      <vt:lpstr>微软雅黑</vt:lpstr>
      <vt:lpstr>Calibri</vt:lpstr>
      <vt:lpstr>Arial Unicode MS</vt:lpstr>
      <vt:lpstr>等线</vt:lpstr>
      <vt:lpstr>Yu Gothic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凯施迪新员工10天训练计划</dc:title>
  <dc:creator>Kimi</dc:creator>
  <dc:subject>凯施迪新员工10天训练计划</dc:subject>
  <cp:lastModifiedBy>big-eyed girl</cp:lastModifiedBy>
  <cp:revision>3</cp:revision>
  <dcterms:created xsi:type="dcterms:W3CDTF">2026-04-14T06:18:00Z</dcterms:created>
  <dcterms:modified xsi:type="dcterms:W3CDTF">2026-04-14T10:13:03Z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凯施迪新员工10天训练计划","ContentProducer":"001191110108MACG2KBH8F10000","ProduceID":"19d8a898-a212-8a23-8000-0000c59a40a5","ReservedCode1":"","ContentPropagator":"001191110108MACG2KBH8F20000","PropagateID":"19d8a898-a212-8a23-8000-0000c59a40a5","ReservedCode2":""}</vt:lpwstr>
  </property>
  <property fmtid="{D5CDD505-2E9C-101B-9397-08002B2CF9AE}" pid="3" name="ICV">
    <vt:lpwstr>E2A1335085244CAA8234E50781585697_13</vt:lpwstr>
  </property>
  <property fmtid="{D5CDD505-2E9C-101B-9397-08002B2CF9AE}" pid="4" name="KSOProductBuildVer">
    <vt:lpwstr>2052-12.1.0.25225</vt:lpwstr>
  </property>
</Properties>
</file>